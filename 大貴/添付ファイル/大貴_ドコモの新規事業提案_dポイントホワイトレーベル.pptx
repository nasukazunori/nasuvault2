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3"/>
  </p:notesMasterIdLst>
  <p:sldIdLst>
    <p:sldId id="256" r:id="rId3"/>
    <p:sldId id="288" r:id="rId38"/>
    <p:sldId id="289" r:id="rId39"/>
    <p:sldId id="271" r:id="rId4"/>
    <p:sldId id="275" r:id="rId5"/>
    <p:sldId id="272" r:id="rId6"/>
    <p:sldId id="257" r:id="rId7"/>
    <p:sldId id="273" r:id="rId8"/>
    <p:sldId id="274" r:id="rId9"/>
    <p:sldId id="276" r:id="rId10"/>
    <p:sldId id="287" r:id="rId11"/>
    <p:sldId id="258" r:id="rId12"/>
    <p:sldId id="259" r:id="rId13"/>
    <p:sldId id="260" r:id="rId14"/>
    <p:sldId id="261" r:id="rId15"/>
    <p:sldId id="262" r:id="rId16"/>
    <p:sldId id="263" r:id="rId17"/>
    <p:sldId id="264" r:id="rId18"/>
    <p:sldId id="269" r:id="rId19"/>
    <p:sldId id="265" r:id="rId20"/>
    <p:sldId id="266" r:id="rId21"/>
    <p:sldId id="277" r:id="rId22"/>
    <p:sldId id="278" r:id="rId23"/>
    <p:sldId id="279" r:id="rId24"/>
    <p:sldId id="280" r:id="rId25"/>
    <p:sldId id="281" r:id="rId26"/>
    <p:sldId id="282" r:id="rId27"/>
    <p:sldId id="283" r:id="rId28"/>
    <p:sldId id="284" r:id="rId29"/>
    <p:sldId id="285" r:id="rId30"/>
    <p:sldId id="286" r:id="rId31"/>
    <p:sldId id="26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619"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  <Relationship Id="rId38" Type="http://schemas.openxmlformats.org/officeDocument/2006/relationships/slide" Target="slides/slide31.xml"/>
  <Relationship Id="rId39" Type="http://schemas.openxmlformats.org/officeDocument/2006/relationships/slide" Target="slides/slide3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B261F-1F9A-4038-9033-D889137BA4CD}"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6F2D7A-CE24-4F76-BA82-718C692A70B2}" type="slidenum">
              <a:rPr kumimoji="1" lang="ja-JP" altLang="en-US" smtClean="0"/>
              <a:t>‹#›</a:t>
            </a:fld>
            <a:endParaRPr kumimoji="1" lang="ja-JP" altLang="en-US"/>
          </a:p>
        </p:txBody>
      </p:sp>
    </p:spTree>
    <p:extLst>
      <p:ext uri="{BB962C8B-B14F-4D97-AF65-F5344CB8AC3E}">
        <p14:creationId xmlns:p14="http://schemas.microsoft.com/office/powerpoint/2010/main" val="422230223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188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867648"/>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Box 16"/>
          <p:cNvSpPr txBox="1"/>
          <p:nvPr/>
        </p:nvSpPr>
        <p:spPr>
          <a:xfrm>
            <a:off x="658368" y="448389"/>
            <a:ext cx="5029200" cy="246221"/>
          </a:xfrm>
          <a:prstGeom prst="rect">
            <a:avLst/>
          </a:prstGeom>
          <a:noFill/>
        </p:spPr>
        <p:txBody>
          <a:bodyPr wrap="square" lIns="45720" rIns="45720" anchor="ctr">
            <a:spAutoFit/>
          </a:bodyPr>
          <a:lstStyle/>
          <a:p>
            <a:pPr algn="l"/>
            <a:r>
              <a:rPr sz="1000" b="1">
                <a:solidFill>
                  <a:srgbClr val="00AEEF"/>
                </a:solidFill>
                <a:latin typeface="Meiryo UI" panose="020B0604030504040204" pitchFamily="50" charset="-128"/>
                <a:ea typeface="Meiryo UI" panose="020B0604030504040204" pitchFamily="50" charset="-128"/>
              </a:rPr>
              <a:t>DOCOMO BUSINESS CREATION INTERNSHIP</a:t>
            </a:r>
          </a:p>
        </p:txBody>
      </p:sp>
      <p:sp>
        <p:nvSpPr>
          <p:cNvPr id="18" name="TextBox 17"/>
          <p:cNvSpPr txBox="1"/>
          <p:nvPr/>
        </p:nvSpPr>
        <p:spPr>
          <a:xfrm>
            <a:off x="4027170" y="371444"/>
            <a:ext cx="5669280" cy="400110"/>
          </a:xfrm>
          <a:prstGeom prst="rect">
            <a:avLst/>
          </a:prstGeom>
          <a:noFill/>
        </p:spPr>
        <p:txBody>
          <a:bodyPr wrap="square" lIns="45720" rIns="45720" anchor="ctr">
            <a:spAutoFit/>
          </a:bodyPr>
          <a:lstStyle/>
          <a:p>
            <a:pPr algn="l"/>
            <a:r>
              <a:rPr lang="ja-JP" altLang="en-US" sz="2000" dirty="0">
                <a:solidFill>
                  <a:srgbClr val="0A1B34"/>
                </a:solidFill>
                <a:latin typeface="Meiryo UI" panose="020B0604030504040204" pitchFamily="50" charset="-128"/>
                <a:ea typeface="Meiryo UI" panose="020B0604030504040204" pitchFamily="50" charset="-128"/>
              </a:rPr>
              <a:t>ドコモの新規事業提案</a:t>
            </a:r>
            <a:endParaRPr sz="2000" dirty="0">
              <a:solidFill>
                <a:srgbClr val="0A1B34"/>
              </a:solidFill>
              <a:latin typeface="Meiryo UI" panose="020B0604030504040204" pitchFamily="50" charset="-128"/>
              <a:ea typeface="Meiryo UI" panose="020B0604030504040204" pitchFamily="50" charset="-128"/>
            </a:endParaRPr>
          </a:p>
        </p:txBody>
      </p:sp>
      <p:sp>
        <p:nvSpPr>
          <p:cNvPr id="20" name="TextBox 19"/>
          <p:cNvSpPr txBox="1"/>
          <p:nvPr/>
        </p:nvSpPr>
        <p:spPr>
          <a:xfrm>
            <a:off x="1738883" y="2321004"/>
            <a:ext cx="8333233" cy="1107996"/>
          </a:xfrm>
          <a:prstGeom prst="rect">
            <a:avLst/>
          </a:prstGeom>
          <a:noFill/>
        </p:spPr>
        <p:txBody>
          <a:bodyPr wrap="square" lIns="45720" rIns="45720" anchor="ctr">
            <a:spAutoFit/>
          </a:bodyPr>
          <a:lstStyle/>
          <a:p>
            <a:pPr algn="ctr">
              <a:spcAft>
                <a:spcPts val="1200"/>
              </a:spcAft>
            </a:pPr>
            <a:r>
              <a:rPr sz="2800" b="1" dirty="0">
                <a:solidFill>
                  <a:srgbClr val="0A1B34"/>
                </a:solidFill>
                <a:latin typeface="Meiryo UI" panose="020B0604030504040204" pitchFamily="50" charset="-128"/>
                <a:ea typeface="Meiryo UI" panose="020B0604030504040204" pitchFamily="50" charset="-128"/>
              </a:rPr>
              <a:t>「</a:t>
            </a:r>
            <a:r>
              <a:rPr lang="ja-JP" altLang="en-US" sz="2800" b="1" dirty="0">
                <a:solidFill>
                  <a:srgbClr val="0A1B34"/>
                </a:solidFill>
                <a:latin typeface="Meiryo UI" panose="020B0604030504040204" pitchFamily="50" charset="-128"/>
                <a:ea typeface="Meiryo UI" panose="020B0604030504040204" pitchFamily="50" charset="-128"/>
              </a:rPr>
              <a:t>誰でも生成</a:t>
            </a:r>
            <a:r>
              <a:rPr lang="en-US" altLang="ja-JP" sz="2800" b="1" dirty="0">
                <a:solidFill>
                  <a:srgbClr val="0A1B34"/>
                </a:solidFill>
                <a:latin typeface="Meiryo UI" panose="020B0604030504040204" pitchFamily="50" charset="-128"/>
                <a:ea typeface="Meiryo UI" panose="020B0604030504040204" pitchFamily="50" charset="-128"/>
              </a:rPr>
              <a:t>AI</a:t>
            </a:r>
            <a:r>
              <a:rPr lang="ja-JP" altLang="en-US" sz="2800" b="1" dirty="0">
                <a:solidFill>
                  <a:srgbClr val="0A1B34"/>
                </a:solidFill>
                <a:latin typeface="Meiryo UI" panose="020B0604030504040204" pitchFamily="50" charset="-128"/>
                <a:ea typeface="Meiryo UI" panose="020B0604030504040204" pitchFamily="50" charset="-128"/>
              </a:rPr>
              <a:t>の便利を享受できるサービス</a:t>
            </a:r>
            <a:r>
              <a:rPr sz="2800" b="1" dirty="0">
                <a:solidFill>
                  <a:srgbClr val="0A1B34"/>
                </a:solidFill>
                <a:latin typeface="Meiryo UI" panose="020B0604030504040204" pitchFamily="50" charset="-128"/>
                <a:ea typeface="Meiryo UI" panose="020B0604030504040204" pitchFamily="50" charset="-128"/>
              </a:rPr>
              <a:t>」</a:t>
            </a:r>
            <a:r>
              <a:rPr lang="ja-JP" altLang="en-US" sz="2800" b="1" dirty="0">
                <a:solidFill>
                  <a:srgbClr val="0A1B34"/>
                </a:solidFill>
                <a:latin typeface="Meiryo UI" panose="020B0604030504040204" pitchFamily="50" charset="-128"/>
                <a:ea typeface="Meiryo UI" panose="020B0604030504040204" pitchFamily="50" charset="-128"/>
              </a:rPr>
              <a:t>　</a:t>
            </a:r>
            <a:r>
              <a:rPr lang="ja-JP" altLang="en-US" sz="2000" dirty="0">
                <a:solidFill>
                  <a:srgbClr val="0A1B34"/>
                </a:solidFill>
                <a:latin typeface="Meiryo UI" panose="020B0604030504040204" pitchFamily="50" charset="-128"/>
                <a:ea typeface="Meiryo UI" panose="020B0604030504040204" pitchFamily="50" charset="-128"/>
              </a:rPr>
              <a:t>を実現する</a:t>
            </a:r>
            <a:endParaRPr lang="en-US" altLang="ja-JP" sz="2000" dirty="0">
              <a:solidFill>
                <a:srgbClr val="0A1B34"/>
              </a:solidFill>
              <a:latin typeface="Meiryo UI" panose="020B0604030504040204" pitchFamily="50" charset="-128"/>
              <a:ea typeface="Meiryo UI" panose="020B0604030504040204" pitchFamily="50" charset="-128"/>
            </a:endParaRPr>
          </a:p>
          <a:p>
            <a:pPr algn="ctr">
              <a:spcAft>
                <a:spcPts val="1200"/>
              </a:spcAft>
            </a:pPr>
            <a:r>
              <a:rPr lang="en-US" sz="2800" b="1" dirty="0">
                <a:solidFill>
                  <a:srgbClr val="0A1B34"/>
                </a:solidFill>
                <a:latin typeface="Meiryo UI" panose="020B0604030504040204" pitchFamily="50" charset="-128"/>
                <a:ea typeface="Meiryo UI" panose="020B0604030504040204" pitchFamily="50" charset="-128"/>
              </a:rPr>
              <a:t>d-point</a:t>
            </a:r>
            <a:r>
              <a:rPr lang="ja-JP" altLang="en-US" sz="2800" b="1" dirty="0">
                <a:solidFill>
                  <a:srgbClr val="0A1B34"/>
                </a:solidFill>
                <a:latin typeface="Meiryo UI" panose="020B0604030504040204" pitchFamily="50" charset="-128"/>
                <a:ea typeface="Meiryo UI" panose="020B0604030504040204" pitchFamily="50" charset="-128"/>
              </a:rPr>
              <a:t>ホワイトレーベルの提案</a:t>
            </a:r>
            <a:endParaRPr sz="2800" b="1" dirty="0">
              <a:solidFill>
                <a:srgbClr val="0A1B34"/>
              </a:solidFill>
              <a:latin typeface="Meiryo UI" panose="020B0604030504040204" pitchFamily="50" charset="-128"/>
              <a:ea typeface="Meiryo UI" panose="020B0604030504040204" pitchFamily="50" charset="-128"/>
            </a:endParaRPr>
          </a:p>
        </p:txBody>
      </p:sp>
      <p:sp>
        <p:nvSpPr>
          <p:cNvPr id="21" name="TextBox 20"/>
          <p:cNvSpPr txBox="1"/>
          <p:nvPr/>
        </p:nvSpPr>
        <p:spPr>
          <a:xfrm>
            <a:off x="2350008" y="3732993"/>
            <a:ext cx="8051292" cy="400110"/>
          </a:xfrm>
          <a:prstGeom prst="rect">
            <a:avLst/>
          </a:prstGeom>
          <a:noFill/>
        </p:spPr>
        <p:txBody>
          <a:bodyPr wrap="square" lIns="45720" rIns="45720" anchor="ctr">
            <a:spAutoFit/>
          </a:bodyPr>
          <a:lstStyle/>
          <a:p>
            <a:r>
              <a:rPr lang="ja-JP" altLang="en-US" sz="2000" b="0" dirty="0">
                <a:solidFill>
                  <a:srgbClr val="66798F"/>
                </a:solidFill>
                <a:latin typeface="Meiryo UI" panose="020B0604030504040204" pitchFamily="50" charset="-128"/>
                <a:ea typeface="Meiryo UI" panose="020B0604030504040204" pitchFamily="50" charset="-128"/>
              </a:rPr>
              <a:t>ー　</a:t>
            </a:r>
            <a:r>
              <a:rPr lang="en-US" altLang="ja-JP" sz="2000" dirty="0">
                <a:solidFill>
                  <a:srgbClr val="66798F"/>
                </a:solidFill>
                <a:latin typeface="Meiryo UI" panose="020B0604030504040204" pitchFamily="50" charset="-128"/>
                <a:ea typeface="Meiryo UI" panose="020B0604030504040204" pitchFamily="50" charset="-128"/>
              </a:rPr>
              <a:t>『SyncML』</a:t>
            </a:r>
            <a:r>
              <a:rPr lang="ja-JP" altLang="en-US" sz="2000" dirty="0">
                <a:solidFill>
                  <a:srgbClr val="66798F"/>
                </a:solidFill>
                <a:latin typeface="Meiryo UI" panose="020B0604030504040204" pitchFamily="50" charset="-128"/>
                <a:ea typeface="Meiryo UI" panose="020B0604030504040204" pitchFamily="50" charset="-128"/>
              </a:rPr>
              <a:t>　と　</a:t>
            </a:r>
            <a:r>
              <a:rPr lang="en-US" altLang="ja-JP" sz="2000" dirty="0">
                <a:solidFill>
                  <a:srgbClr val="66798F"/>
                </a:solidFill>
                <a:latin typeface="Meiryo UI" panose="020B0604030504040204" pitchFamily="50" charset="-128"/>
                <a:ea typeface="Meiryo UI" panose="020B0604030504040204" pitchFamily="50" charset="-128"/>
              </a:rPr>
              <a:t>『Ahamo</a:t>
            </a:r>
            <a:r>
              <a:rPr lang="ja-JP" altLang="en-US" sz="2000" dirty="0">
                <a:solidFill>
                  <a:srgbClr val="66798F"/>
                </a:solidFill>
                <a:latin typeface="Meiryo UI" panose="020B0604030504040204" pitchFamily="50" charset="-128"/>
                <a:ea typeface="Meiryo UI" panose="020B0604030504040204" pitchFamily="50" charset="-128"/>
              </a:rPr>
              <a:t>ホワイトレーベル</a:t>
            </a:r>
            <a:r>
              <a:rPr lang="en-US" altLang="ja-JP" sz="2000" dirty="0">
                <a:solidFill>
                  <a:srgbClr val="66798F"/>
                </a:solidFill>
                <a:latin typeface="Meiryo UI" panose="020B0604030504040204" pitchFamily="50" charset="-128"/>
                <a:ea typeface="Meiryo UI" panose="020B0604030504040204" pitchFamily="50" charset="-128"/>
              </a:rPr>
              <a:t>』</a:t>
            </a:r>
            <a:r>
              <a:rPr lang="ja-JP" altLang="en-US" sz="2000" dirty="0">
                <a:solidFill>
                  <a:srgbClr val="66798F"/>
                </a:solidFill>
                <a:latin typeface="Meiryo UI" panose="020B0604030504040204" pitchFamily="50" charset="-128"/>
                <a:ea typeface="Meiryo UI" panose="020B0604030504040204" pitchFamily="50" charset="-128"/>
              </a:rPr>
              <a:t>　の次の一手について　ー</a:t>
            </a:r>
            <a:endParaRPr sz="2000" b="0" dirty="0">
              <a:solidFill>
                <a:srgbClr val="66798F"/>
              </a:solidFill>
              <a:latin typeface="Meiryo UI" panose="020B0604030504040204" pitchFamily="50" charset="-128"/>
              <a:ea typeface="Meiryo UI" panose="020B0604030504040204" pitchFamily="50" charset="-128"/>
            </a:endParaRPr>
          </a:p>
        </p:txBody>
      </p:sp>
      <p:sp>
        <p:nvSpPr>
          <p:cNvPr id="30" name="TextBox 29"/>
          <p:cNvSpPr txBox="1"/>
          <p:nvPr/>
        </p:nvSpPr>
        <p:spPr>
          <a:xfrm>
            <a:off x="4895850" y="4624253"/>
            <a:ext cx="1828800" cy="461665"/>
          </a:xfrm>
          <a:prstGeom prst="rect">
            <a:avLst/>
          </a:prstGeom>
          <a:noFill/>
        </p:spPr>
        <p:txBody>
          <a:bodyPr wrap="square" lIns="45720" rIns="45720" anchor="ctr">
            <a:spAutoFit/>
          </a:bodyPr>
          <a:lstStyle/>
          <a:p>
            <a:pPr algn="l"/>
            <a:r>
              <a:rPr sz="2400" b="1" dirty="0">
                <a:solidFill>
                  <a:srgbClr val="66798F"/>
                </a:solidFill>
                <a:latin typeface="Meiryo UI" panose="020B0604030504040204" pitchFamily="50" charset="-128"/>
                <a:ea typeface="Meiryo UI" panose="020B0604030504040204" pitchFamily="50" charset="-128"/>
              </a:rPr>
              <a:t>那須 大貴</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4FAE1-70A5-CA60-AB72-FFD9835D3A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52A892-BE3A-14A6-1E08-610534AC4487}"/>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ストーリーライン</a:t>
            </a:r>
            <a:endParaRPr dirty="0">
              <a:solidFill>
                <a:srgbClr val="00AEEF"/>
              </a:solidFill>
              <a:latin typeface="Meiryo UI" panose="020B0604030504040204" pitchFamily="50" charset="-128"/>
              <a:ea typeface="Meiryo UI" panose="020B0604030504040204" pitchFamily="50" charset="-128"/>
            </a:endParaRPr>
          </a:p>
        </p:txBody>
      </p:sp>
      <p:cxnSp>
        <p:nvCxnSpPr>
          <p:cNvPr id="4" name="Connector 3">
            <a:extLst>
              <a:ext uri="{FF2B5EF4-FFF2-40B4-BE49-F238E27FC236}">
                <a16:creationId xmlns:a16="http://schemas.microsoft.com/office/drawing/2014/main" id="{07499E6E-1423-BB4F-E799-7D8DF27CBC97}"/>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5" name="TextBox 2">
            <a:extLst>
              <a:ext uri="{FF2B5EF4-FFF2-40B4-BE49-F238E27FC236}">
                <a16:creationId xmlns:a16="http://schemas.microsoft.com/office/drawing/2014/main" id="{87B06968-9A9C-FD93-DCF8-46AD1BCEBD80}"/>
              </a:ext>
            </a:extLst>
          </p:cNvPr>
          <p:cNvSpPr txBox="1"/>
          <p:nvPr/>
        </p:nvSpPr>
        <p:spPr>
          <a:xfrm>
            <a:off x="1407218" y="966088"/>
            <a:ext cx="8973525" cy="5170646"/>
          </a:xfrm>
          <a:prstGeom prst="rect">
            <a:avLst/>
          </a:prstGeom>
          <a:noFill/>
        </p:spPr>
        <p:txBody>
          <a:bodyPr wrap="square" lIns="45720" rIns="45720" anchor="t">
            <a:spAutoFit/>
          </a:bodyPr>
          <a:lstStyle/>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生成</a:t>
            </a:r>
            <a:r>
              <a:rPr lang="en-US" altLang="ja-JP" sz="2400" b="1" dirty="0">
                <a:solidFill>
                  <a:srgbClr val="0A1B34"/>
                </a:solidFill>
                <a:latin typeface="Meiryo UI" panose="020B0604030504040204" pitchFamily="50" charset="-128"/>
                <a:ea typeface="Meiryo UI" panose="020B0604030504040204" pitchFamily="50" charset="-128"/>
              </a:rPr>
              <a:t>AI</a:t>
            </a:r>
            <a:r>
              <a:rPr lang="ja-JP" altLang="en-US" sz="2400" b="1" dirty="0">
                <a:solidFill>
                  <a:srgbClr val="0A1B34"/>
                </a:solidFill>
                <a:latin typeface="Meiryo UI" panose="020B0604030504040204" pitchFamily="50" charset="-128"/>
                <a:ea typeface="Meiryo UI" panose="020B0604030504040204" pitchFamily="50" charset="-128"/>
              </a:rPr>
              <a:t>の利用状況</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生成</a:t>
            </a:r>
            <a:r>
              <a:rPr lang="en-US" altLang="ja-JP" sz="2400" b="1" dirty="0">
                <a:solidFill>
                  <a:srgbClr val="0A1B34"/>
                </a:solidFill>
                <a:latin typeface="Meiryo UI" panose="020B0604030504040204" pitchFamily="50" charset="-128"/>
                <a:ea typeface="Meiryo UI" panose="020B0604030504040204" pitchFamily="50" charset="-128"/>
              </a:rPr>
              <a:t>AI</a:t>
            </a:r>
            <a:r>
              <a:rPr lang="ja-JP" altLang="en-US" sz="2400" b="1" dirty="0">
                <a:solidFill>
                  <a:srgbClr val="0A1B34"/>
                </a:solidFill>
                <a:latin typeface="Meiryo UI" panose="020B0604030504040204" pitchFamily="50" charset="-128"/>
                <a:ea typeface="Meiryo UI" panose="020B0604030504040204" pitchFamily="50" charset="-128"/>
              </a:rPr>
              <a:t>の利用普及を妨げる要因</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en-US" altLang="ja-JP" sz="2400" b="1" dirty="0">
                <a:solidFill>
                  <a:srgbClr val="0A1B34"/>
                </a:solidFill>
                <a:latin typeface="Meiryo UI" panose="020B0604030504040204" pitchFamily="50" charset="-128"/>
                <a:ea typeface="Meiryo UI" panose="020B0604030504040204" pitchFamily="50" charset="-128"/>
              </a:rPr>
              <a:t>Chat-GPT</a:t>
            </a:r>
            <a:r>
              <a:rPr lang="ja-JP" altLang="en-US" sz="2400" b="1" dirty="0">
                <a:solidFill>
                  <a:srgbClr val="0A1B34"/>
                </a:solidFill>
                <a:latin typeface="Meiryo UI" panose="020B0604030504040204" pitchFamily="50" charset="-128"/>
                <a:ea typeface="Meiryo UI" panose="020B0604030504040204" pitchFamily="50" charset="-128"/>
              </a:rPr>
              <a:t>や</a:t>
            </a:r>
            <a:r>
              <a:rPr lang="en-US" altLang="ja-JP" sz="2400" b="1" dirty="0">
                <a:solidFill>
                  <a:srgbClr val="0A1B34"/>
                </a:solidFill>
                <a:latin typeface="Meiryo UI" panose="020B0604030504040204" pitchFamily="50" charset="-128"/>
                <a:ea typeface="Meiryo UI" panose="020B0604030504040204" pitchFamily="50" charset="-128"/>
              </a:rPr>
              <a:t>Cloude</a:t>
            </a:r>
            <a:r>
              <a:rPr lang="ja-JP" altLang="en-US" sz="2400" b="1" dirty="0">
                <a:solidFill>
                  <a:srgbClr val="0A1B34"/>
                </a:solidFill>
                <a:latin typeface="Meiryo UI" panose="020B0604030504040204" pitchFamily="50" charset="-128"/>
                <a:ea typeface="Meiryo UI" panose="020B0604030504040204" pitchFamily="50" charset="-128"/>
              </a:rPr>
              <a:t>の課題</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ドコモの　</a:t>
            </a:r>
            <a:r>
              <a:rPr lang="en-US" altLang="ja-JP" sz="2400" b="1" dirty="0">
                <a:solidFill>
                  <a:srgbClr val="0A1B34"/>
                </a:solidFill>
                <a:latin typeface="Meiryo UI" panose="020B0604030504040204" pitchFamily="50" charset="-128"/>
                <a:ea typeface="Meiryo UI" panose="020B0604030504040204" pitchFamily="50" charset="-128"/>
              </a:rPr>
              <a:t>『</a:t>
            </a:r>
            <a:r>
              <a:rPr lang="en-US" altLang="ja-JP" sz="2400" b="1" dirty="0" err="1">
                <a:solidFill>
                  <a:srgbClr val="0A1B34"/>
                </a:solidFill>
                <a:latin typeface="Meiryo UI" panose="020B0604030504040204" pitchFamily="50" charset="-128"/>
                <a:ea typeface="Meiryo UI" panose="020B0604030504040204" pitchFamily="50" charset="-128"/>
              </a:rPr>
              <a:t>SyncME</a:t>
            </a:r>
            <a:r>
              <a:rPr lang="en-US" altLang="ja-JP" sz="2400" b="1" dirty="0">
                <a:solidFill>
                  <a:srgbClr val="0A1B34"/>
                </a:solidFill>
                <a:latin typeface="Meiryo UI" panose="020B0604030504040204" pitchFamily="50" charset="-128"/>
                <a:ea typeface="Meiryo UI" panose="020B0604030504040204" pitchFamily="50" charset="-128"/>
              </a:rPr>
              <a:t>』</a:t>
            </a:r>
            <a:r>
              <a:rPr lang="ja-JP" altLang="en-US" sz="2400" b="1" dirty="0">
                <a:solidFill>
                  <a:srgbClr val="0A1B34"/>
                </a:solidFill>
                <a:latin typeface="Meiryo UI" panose="020B0604030504040204" pitchFamily="50" charset="-128"/>
                <a:ea typeface="Meiryo UI" panose="020B0604030504040204" pitchFamily="50" charset="-128"/>
              </a:rPr>
              <a:t>　について　</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en-US" altLang="ja-JP" sz="2400" b="1" dirty="0" err="1">
                <a:solidFill>
                  <a:srgbClr val="0A1B34"/>
                </a:solidFill>
                <a:latin typeface="Meiryo UI" panose="020B0604030504040204" pitchFamily="50" charset="-128"/>
                <a:ea typeface="Meiryo UI" panose="020B0604030504040204" pitchFamily="50" charset="-128"/>
              </a:rPr>
              <a:t>SyncME</a:t>
            </a:r>
            <a:r>
              <a:rPr lang="ja-JP" altLang="en-US" sz="2400" b="1" dirty="0">
                <a:solidFill>
                  <a:srgbClr val="0A1B34"/>
                </a:solidFill>
                <a:latin typeface="Meiryo UI" panose="020B0604030504040204" pitchFamily="50" charset="-128"/>
                <a:ea typeface="Meiryo UI" panose="020B0604030504040204" pitchFamily="50" charset="-128"/>
              </a:rPr>
              <a:t>とｄポイントの相互循環</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更なる成長に向けた課題・・・行動データの多様性</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対策となる、</a:t>
            </a:r>
            <a:r>
              <a:rPr lang="en-US" altLang="ja-JP" sz="2400" b="1" dirty="0">
                <a:solidFill>
                  <a:srgbClr val="0A1B34"/>
                </a:solidFill>
                <a:latin typeface="Meiryo UI" panose="020B0604030504040204" pitchFamily="50" charset="-128"/>
                <a:ea typeface="Meiryo UI" panose="020B0604030504040204" pitchFamily="50" charset="-128"/>
              </a:rPr>
              <a:t>『</a:t>
            </a:r>
            <a:r>
              <a:rPr lang="ja-JP" altLang="en-US" sz="2400" b="1" dirty="0">
                <a:solidFill>
                  <a:srgbClr val="0A1B34"/>
                </a:solidFill>
                <a:latin typeface="Meiryo UI" panose="020B0604030504040204" pitchFamily="50" charset="-128"/>
                <a:ea typeface="Meiryo UI" panose="020B0604030504040204" pitchFamily="50" charset="-128"/>
              </a:rPr>
              <a:t>ｄポイントのホワイトレーベル</a:t>
            </a:r>
            <a:r>
              <a:rPr lang="en-US" altLang="ja-JP" sz="2400" b="1" dirty="0">
                <a:solidFill>
                  <a:srgbClr val="0A1B34"/>
                </a:solidFill>
                <a:latin typeface="Meiryo UI" panose="020B0604030504040204" pitchFamily="50" charset="-128"/>
                <a:ea typeface="Meiryo UI" panose="020B0604030504040204" pitchFamily="50" charset="-128"/>
              </a:rPr>
              <a:t>』</a:t>
            </a:r>
            <a:r>
              <a:rPr lang="ja-JP" altLang="en-US" sz="2400" b="1" dirty="0">
                <a:solidFill>
                  <a:srgbClr val="0A1B34"/>
                </a:solidFill>
                <a:latin typeface="Meiryo UI" panose="020B0604030504040204" pitchFamily="50" charset="-128"/>
                <a:ea typeface="Meiryo UI" panose="020B0604030504040204" pitchFamily="50" charset="-128"/>
              </a:rPr>
              <a:t>のご提案</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en-US" altLang="ja-JP" sz="2400" b="1" dirty="0" err="1">
                <a:solidFill>
                  <a:srgbClr val="0A1B34"/>
                </a:solidFill>
                <a:latin typeface="Meiryo UI" panose="020B0604030504040204" pitchFamily="50" charset="-128"/>
                <a:ea typeface="Meiryo UI" panose="020B0604030504040204" pitchFamily="50" charset="-128"/>
              </a:rPr>
              <a:t>ahamo</a:t>
            </a:r>
            <a:r>
              <a:rPr lang="ja-JP" altLang="en-US" sz="2400" b="1" dirty="0">
                <a:solidFill>
                  <a:srgbClr val="0A1B34"/>
                </a:solidFill>
                <a:latin typeface="Meiryo UI" panose="020B0604030504040204" pitchFamily="50" charset="-128"/>
                <a:ea typeface="Meiryo UI" panose="020B0604030504040204" pitchFamily="50" charset="-128"/>
              </a:rPr>
              <a:t>のホワイトレーベル化</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日常の買い物客へのリーチ</a:t>
            </a:r>
            <a:endParaRPr lang="en-US" altLang="ja-JP"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おわりに</a:t>
            </a:r>
            <a:endParaRPr lang="en-US" altLang="ja-JP" sz="2400" b="1" dirty="0">
              <a:solidFill>
                <a:srgbClr val="0A1B34"/>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98469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1CC4-B490-322A-CD86-B1049364FE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77E28C-F1DE-E453-6129-30462E0CB078}"/>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１．生成</a:t>
            </a:r>
            <a:r>
              <a:rPr lang="en-US" altLang="ja-JP" dirty="0">
                <a:solidFill>
                  <a:srgbClr val="00AEEF"/>
                </a:solidFill>
                <a:latin typeface="Meiryo UI" panose="020B0604030504040204" pitchFamily="50" charset="-128"/>
                <a:ea typeface="Meiryo UI" panose="020B0604030504040204" pitchFamily="50" charset="-128"/>
              </a:rPr>
              <a:t>AI</a:t>
            </a:r>
            <a:r>
              <a:rPr lang="ja-JP" altLang="en-US" dirty="0">
                <a:solidFill>
                  <a:srgbClr val="00AEEF"/>
                </a:solidFill>
                <a:latin typeface="Meiryo UI" panose="020B0604030504040204" pitchFamily="50" charset="-128"/>
                <a:ea typeface="Meiryo UI" panose="020B0604030504040204" pitchFamily="50" charset="-128"/>
              </a:rPr>
              <a:t>の利用状況</a:t>
            </a:r>
            <a:endParaRPr dirty="0">
              <a:solidFill>
                <a:srgbClr val="00AEEF"/>
              </a:solidFill>
              <a:latin typeface="Meiryo UI" panose="020B0604030504040204" pitchFamily="50" charset="-128"/>
              <a:ea typeface="Meiryo UI" panose="020B0604030504040204" pitchFamily="50" charset="-128"/>
            </a:endParaRPr>
          </a:p>
        </p:txBody>
      </p:sp>
      <p:sp>
        <p:nvSpPr>
          <p:cNvPr id="3" name="TextBox 2">
            <a:extLst>
              <a:ext uri="{FF2B5EF4-FFF2-40B4-BE49-F238E27FC236}">
                <a16:creationId xmlns:a16="http://schemas.microsoft.com/office/drawing/2014/main" id="{501920E4-636C-0534-72E2-6B2EF3147BB3}"/>
              </a:ext>
            </a:extLst>
          </p:cNvPr>
          <p:cNvSpPr txBox="1"/>
          <p:nvPr/>
        </p:nvSpPr>
        <p:spPr>
          <a:xfrm>
            <a:off x="312466" y="636903"/>
            <a:ext cx="11064240" cy="1969770"/>
          </a:xfrm>
          <a:prstGeom prst="rect">
            <a:avLst/>
          </a:prstGeom>
          <a:noFill/>
        </p:spPr>
        <p:txBody>
          <a:bodyPr wrap="square" lIns="45720" rIns="45720" anchor="t">
            <a:spAutoFit/>
          </a:bodyPr>
          <a:lstStyle/>
          <a:p>
            <a:pPr marL="457200" indent="-457200" algn="l">
              <a:spcAft>
                <a:spcPts val="600"/>
              </a:spcAft>
              <a:buFont typeface="Wingdings" panose="05000000000000000000" pitchFamily="2" charset="2"/>
              <a:buChar char="u"/>
            </a:pPr>
            <a:r>
              <a:rPr lang="ja-JP" altLang="en-US" sz="2400" b="1" dirty="0">
                <a:solidFill>
                  <a:srgbClr val="0A1B34"/>
                </a:solidFill>
                <a:latin typeface="Meiryo UI" panose="020B0604030504040204" pitchFamily="50" charset="-128"/>
                <a:ea typeface="Meiryo UI" panose="020B0604030504040204" pitchFamily="50" charset="-128"/>
              </a:rPr>
              <a:t>生成</a:t>
            </a:r>
            <a:r>
              <a:rPr lang="en-US" altLang="ja-JP" sz="2400" b="1" dirty="0">
                <a:solidFill>
                  <a:srgbClr val="0A1B34"/>
                </a:solidFill>
                <a:latin typeface="Meiryo UI" panose="020B0604030504040204" pitchFamily="50" charset="-128"/>
                <a:ea typeface="Meiryo UI" panose="020B0604030504040204" pitchFamily="50" charset="-128"/>
              </a:rPr>
              <a:t>AI</a:t>
            </a:r>
            <a:r>
              <a:rPr lang="ja-JP" altLang="en-US" sz="2400" b="1" dirty="0">
                <a:solidFill>
                  <a:srgbClr val="0A1B34"/>
                </a:solidFill>
                <a:latin typeface="Meiryo UI" panose="020B0604030504040204" pitchFamily="50" charset="-128"/>
                <a:ea typeface="Meiryo UI" panose="020B0604030504040204" pitchFamily="50" charset="-128"/>
              </a:rPr>
              <a:t>の出現は、便利な世界を構築しつつある。</a:t>
            </a:r>
            <a:endParaRPr lang="en-US" altLang="ja-JP" sz="2400" b="1" dirty="0">
              <a:solidFill>
                <a:srgbClr val="0A1B34"/>
              </a:solidFill>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利用者の、「情報を探す」「考えを整理する」「資料などを作る」などに対し、大変大きな便利を与えてくれる。</a:t>
            </a:r>
            <a:endParaRPr lang="en-US" altLang="ja-JP" dirty="0">
              <a:solidFill>
                <a:srgbClr val="0A1B34"/>
              </a:solidFill>
              <a:latin typeface="Meiryo UI" panose="020B0604030504040204" pitchFamily="50" charset="-128"/>
              <a:ea typeface="Meiryo UI" panose="020B0604030504040204" pitchFamily="50" charset="-128"/>
            </a:endParaRPr>
          </a:p>
          <a:p>
            <a:pPr marL="457200" indent="-457200">
              <a:spcAft>
                <a:spcPts val="600"/>
              </a:spcAft>
              <a:buFont typeface="Wingdings" panose="05000000000000000000" pitchFamily="2" charset="2"/>
              <a:buChar char="u"/>
            </a:pPr>
            <a:r>
              <a:rPr lang="ja-JP" altLang="ja-JP" sz="2400" b="1" dirty="0">
                <a:latin typeface="Meiryo UI" panose="020B0604030504040204" pitchFamily="50" charset="-128"/>
                <a:ea typeface="Meiryo UI" panose="020B0604030504040204" pitchFamily="50" charset="-128"/>
              </a:rPr>
              <a:t>しかし、生成AIの恩恵を誰もが等しく受けられるわけではない。</a:t>
            </a:r>
            <a:endParaRPr lang="en-US" altLang="ja-JP" sz="2400" b="1" dirty="0">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年々利用者は増加しているが、日本では</a:t>
            </a:r>
            <a:r>
              <a:rPr lang="en-US" altLang="ja-JP" dirty="0">
                <a:solidFill>
                  <a:srgbClr val="0A1B34"/>
                </a:solidFill>
                <a:latin typeface="Meiryo UI" panose="020B0604030504040204" pitchFamily="50" charset="-128"/>
                <a:ea typeface="Meiryo UI" panose="020B0604030504040204" pitchFamily="50" charset="-128"/>
              </a:rPr>
              <a:t>40</a:t>
            </a:r>
            <a:r>
              <a:rPr lang="ja-JP" altLang="en-US" dirty="0">
                <a:solidFill>
                  <a:srgbClr val="0A1B34"/>
                </a:solidFill>
                <a:latin typeface="Meiryo UI" panose="020B0604030504040204" pitchFamily="50" charset="-128"/>
                <a:ea typeface="Meiryo UI" panose="020B0604030504040204" pitchFamily="50" charset="-128"/>
              </a:rPr>
              <a:t>％は利用したことがない。</a:t>
            </a:r>
            <a:endParaRPr lang="en-US" altLang="ja-JP" dirty="0">
              <a:solidFill>
                <a:srgbClr val="0A1B34"/>
              </a:solidFill>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毎日利用する利用者は</a:t>
            </a:r>
            <a:r>
              <a:rPr lang="en-US" altLang="ja-JP" dirty="0">
                <a:solidFill>
                  <a:srgbClr val="0A1B34"/>
                </a:solidFill>
                <a:latin typeface="Meiryo UI" panose="020B0604030504040204" pitchFamily="50" charset="-128"/>
                <a:ea typeface="Meiryo UI" panose="020B0604030504040204" pitchFamily="50" charset="-128"/>
              </a:rPr>
              <a:t>30</a:t>
            </a:r>
            <a:r>
              <a:rPr lang="ja-JP" altLang="en-US" dirty="0">
                <a:solidFill>
                  <a:srgbClr val="0A1B34"/>
                </a:solidFill>
                <a:latin typeface="Meiryo UI" panose="020B0604030504040204" pitchFamily="50" charset="-128"/>
                <a:ea typeface="Meiryo UI" panose="020B0604030504040204" pitchFamily="50" charset="-128"/>
              </a:rPr>
              <a:t>％未満であり、日常で必須の便利ツールとはなっていない。</a:t>
            </a:r>
            <a:endParaRPr lang="en-US" altLang="ja-JP" dirty="0">
              <a:solidFill>
                <a:srgbClr val="0A1B34"/>
              </a:solidFill>
              <a:latin typeface="Meiryo UI" panose="020B0604030504040204" pitchFamily="50" charset="-128"/>
              <a:ea typeface="Meiryo UI" panose="020B0604030504040204" pitchFamily="50" charset="-128"/>
            </a:endParaRPr>
          </a:p>
        </p:txBody>
      </p:sp>
      <p:cxnSp>
        <p:nvCxnSpPr>
          <p:cNvPr id="4" name="Connector 3">
            <a:extLst>
              <a:ext uri="{FF2B5EF4-FFF2-40B4-BE49-F238E27FC236}">
                <a16:creationId xmlns:a16="http://schemas.microsoft.com/office/drawing/2014/main" id="{64D7C638-705D-63CB-6080-E5A0F1DD4EF8}"/>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EABCCB85-6BC5-2DED-C9BE-15417E77E93F}"/>
              </a:ext>
            </a:extLst>
          </p:cNvPr>
          <p:cNvSpPr/>
          <p:nvPr/>
        </p:nvSpPr>
        <p:spPr>
          <a:xfrm>
            <a:off x="525978" y="2896331"/>
            <a:ext cx="11140044" cy="3403287"/>
          </a:xfrm>
          <a:prstGeom prst="rect">
            <a:avLst/>
          </a:prstGeom>
          <a:solidFill>
            <a:schemeClr val="bg1"/>
          </a:solidFill>
          <a:ln w="285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23" name="図 22">
            <a:extLst>
              <a:ext uri="{FF2B5EF4-FFF2-40B4-BE49-F238E27FC236}">
                <a16:creationId xmlns:a16="http://schemas.microsoft.com/office/drawing/2014/main" id="{0E3088F2-0E60-C706-1382-FD4DBA89576A}"/>
              </a:ext>
            </a:extLst>
          </p:cNvPr>
          <p:cNvPicPr>
            <a:picLocks noChangeAspect="1"/>
          </p:cNvPicPr>
          <p:nvPr/>
        </p:nvPicPr>
        <p:blipFill>
          <a:blip r:embed="rId2"/>
          <a:srcRect t="6211"/>
          <a:stretch>
            <a:fillRect/>
          </a:stretch>
        </p:blipFill>
        <p:spPr>
          <a:xfrm>
            <a:off x="680207" y="3381415"/>
            <a:ext cx="3449879" cy="2838873"/>
          </a:xfrm>
          <a:prstGeom prst="rect">
            <a:avLst/>
          </a:prstGeom>
          <a:ln>
            <a:solidFill>
              <a:schemeClr val="bg1">
                <a:lumMod val="50000"/>
              </a:schemeClr>
            </a:solidFill>
          </a:ln>
        </p:spPr>
      </p:pic>
      <p:sp>
        <p:nvSpPr>
          <p:cNvPr id="26" name="Text 7">
            <a:extLst>
              <a:ext uri="{FF2B5EF4-FFF2-40B4-BE49-F238E27FC236}">
                <a16:creationId xmlns:a16="http://schemas.microsoft.com/office/drawing/2014/main" id="{D08F11D4-3D0C-8B7D-DB34-370AE53BDC51}"/>
              </a:ext>
            </a:extLst>
          </p:cNvPr>
          <p:cNvSpPr/>
          <p:nvPr/>
        </p:nvSpPr>
        <p:spPr>
          <a:xfrm>
            <a:off x="6236772" y="6380449"/>
            <a:ext cx="4277802" cy="403529"/>
          </a:xfrm>
          <a:prstGeom prst="rect">
            <a:avLst/>
          </a:prstGeom>
          <a:noFill/>
          <a:ln/>
        </p:spPr>
        <p:txBody>
          <a:bodyPr wrap="square" lIns="0" tIns="0" rIns="0" bIns="0" rtlCol="0" anchor="ctr"/>
          <a:lstStyle/>
          <a:p>
            <a:pPr marL="0" indent="0">
              <a:buNone/>
            </a:pPr>
            <a:r>
              <a:rPr lang="en-US" sz="1100" dirty="0">
                <a:solidFill>
                  <a:srgbClr val="6B7280"/>
                </a:solidFill>
                <a:latin typeface="Meiryo" pitchFamily="34" charset="0"/>
                <a:ea typeface="Meiryo" pitchFamily="34" charset="-122"/>
                <a:cs typeface="Meiryo" pitchFamily="34" charset="-120"/>
              </a:rPr>
              <a:t>（出典）総務省「令和8年版 情報通信白書」（2025年度調査）</a:t>
            </a:r>
            <a:endParaRPr lang="en-US" sz="1100" dirty="0"/>
          </a:p>
        </p:txBody>
      </p:sp>
      <p:sp>
        <p:nvSpPr>
          <p:cNvPr id="30" name="Text 7">
            <a:extLst>
              <a:ext uri="{FF2B5EF4-FFF2-40B4-BE49-F238E27FC236}">
                <a16:creationId xmlns:a16="http://schemas.microsoft.com/office/drawing/2014/main" id="{1CE32F73-6BA1-B180-89B5-EBEBF44A2ED3}"/>
              </a:ext>
            </a:extLst>
          </p:cNvPr>
          <p:cNvSpPr/>
          <p:nvPr/>
        </p:nvSpPr>
        <p:spPr>
          <a:xfrm>
            <a:off x="1040329" y="2962094"/>
            <a:ext cx="3348594"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＜日本：</a:t>
            </a:r>
            <a:r>
              <a:rPr lang="en-US" altLang="ja-JP" sz="1600" dirty="0">
                <a:solidFill>
                  <a:srgbClr val="6B7280"/>
                </a:solidFill>
                <a:latin typeface="Meiryo UI" panose="020B0604030504040204" pitchFamily="50" charset="-128"/>
                <a:ea typeface="Meiryo UI" panose="020B0604030504040204" pitchFamily="50" charset="-128"/>
              </a:rPr>
              <a:t>3</a:t>
            </a:r>
            <a:r>
              <a:rPr lang="ja-JP" altLang="en-US" sz="1600" dirty="0">
                <a:solidFill>
                  <a:srgbClr val="6B7280"/>
                </a:solidFill>
                <a:latin typeface="Meiryo UI" panose="020B0604030504040204" pitchFamily="50" charset="-128"/>
                <a:ea typeface="Meiryo UI" panose="020B0604030504040204" pitchFamily="50" charset="-128"/>
              </a:rPr>
              <a:t>か年＞</a:t>
            </a:r>
            <a:endParaRPr lang="en-US" sz="1600" dirty="0">
              <a:latin typeface="Meiryo UI" panose="020B0604030504040204" pitchFamily="50" charset="-128"/>
              <a:ea typeface="Meiryo UI" panose="020B0604030504040204" pitchFamily="50" charset="-128"/>
            </a:endParaRPr>
          </a:p>
        </p:txBody>
      </p:sp>
      <p:pic>
        <p:nvPicPr>
          <p:cNvPr id="36" name="図 35">
            <a:extLst>
              <a:ext uri="{FF2B5EF4-FFF2-40B4-BE49-F238E27FC236}">
                <a16:creationId xmlns:a16="http://schemas.microsoft.com/office/drawing/2014/main" id="{5B6FBF95-0663-49FF-CF35-D0862390E15A}"/>
              </a:ext>
            </a:extLst>
          </p:cNvPr>
          <p:cNvPicPr>
            <a:picLocks noChangeAspect="1"/>
          </p:cNvPicPr>
          <p:nvPr/>
        </p:nvPicPr>
        <p:blipFill>
          <a:blip r:embed="rId3"/>
          <a:srcRect t="23879" b="13894"/>
          <a:stretch>
            <a:fillRect/>
          </a:stretch>
        </p:blipFill>
        <p:spPr>
          <a:xfrm>
            <a:off x="7979847" y="3381415"/>
            <a:ext cx="3456301" cy="2170598"/>
          </a:xfrm>
          <a:prstGeom prst="rect">
            <a:avLst/>
          </a:prstGeom>
          <a:ln>
            <a:solidFill>
              <a:schemeClr val="bg1">
                <a:lumMod val="50000"/>
              </a:schemeClr>
            </a:solidFill>
          </a:ln>
        </p:spPr>
      </p:pic>
      <p:sp>
        <p:nvSpPr>
          <p:cNvPr id="40" name="Text 7">
            <a:extLst>
              <a:ext uri="{FF2B5EF4-FFF2-40B4-BE49-F238E27FC236}">
                <a16:creationId xmlns:a16="http://schemas.microsoft.com/office/drawing/2014/main" id="{1E6A481A-972A-657F-FBD6-96DBD7A631DB}"/>
              </a:ext>
            </a:extLst>
          </p:cNvPr>
          <p:cNvSpPr/>
          <p:nvPr/>
        </p:nvSpPr>
        <p:spPr>
          <a:xfrm>
            <a:off x="1595438" y="6369780"/>
            <a:ext cx="5586969"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図１．日本と世界の生成</a:t>
            </a:r>
            <a:r>
              <a:rPr lang="en-US" altLang="ja-JP" sz="1600" dirty="0">
                <a:solidFill>
                  <a:srgbClr val="6B7280"/>
                </a:solidFill>
                <a:latin typeface="Meiryo UI" panose="020B0604030504040204" pitchFamily="50" charset="-128"/>
                <a:ea typeface="Meiryo UI" panose="020B0604030504040204" pitchFamily="50" charset="-128"/>
              </a:rPr>
              <a:t>AI</a:t>
            </a:r>
            <a:r>
              <a:rPr lang="ja-JP" altLang="en-US" sz="1600" dirty="0">
                <a:solidFill>
                  <a:srgbClr val="6B7280"/>
                </a:solidFill>
                <a:latin typeface="Meiryo UI" panose="020B0604030504040204" pitchFamily="50" charset="-128"/>
                <a:ea typeface="Meiryo UI" panose="020B0604030504040204" pitchFamily="50" charset="-128"/>
              </a:rPr>
              <a:t>の利用状況</a:t>
            </a:r>
            <a:endParaRPr lang="en-US" sz="1600" dirty="0">
              <a:latin typeface="Meiryo UI" panose="020B0604030504040204" pitchFamily="50" charset="-128"/>
              <a:ea typeface="Meiryo UI" panose="020B0604030504040204" pitchFamily="50" charset="-128"/>
            </a:endParaRPr>
          </a:p>
        </p:txBody>
      </p:sp>
      <p:sp>
        <p:nvSpPr>
          <p:cNvPr id="42" name="Text 7">
            <a:extLst>
              <a:ext uri="{FF2B5EF4-FFF2-40B4-BE49-F238E27FC236}">
                <a16:creationId xmlns:a16="http://schemas.microsoft.com/office/drawing/2014/main" id="{F78051FE-D50D-291F-8EB9-A4EE8C3234BB}"/>
              </a:ext>
            </a:extLst>
          </p:cNvPr>
          <p:cNvSpPr/>
          <p:nvPr/>
        </p:nvSpPr>
        <p:spPr>
          <a:xfrm>
            <a:off x="7027347" y="3027857"/>
            <a:ext cx="4638675"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＜外国：</a:t>
            </a:r>
            <a:r>
              <a:rPr lang="en-US" altLang="ja-JP" sz="1600" dirty="0">
                <a:solidFill>
                  <a:srgbClr val="6B7280"/>
                </a:solidFill>
                <a:latin typeface="Meiryo UI" panose="020B0604030504040204" pitchFamily="50" charset="-128"/>
                <a:ea typeface="Meiryo UI" panose="020B0604030504040204" pitchFamily="50" charset="-128"/>
              </a:rPr>
              <a:t>2025</a:t>
            </a:r>
            <a:r>
              <a:rPr lang="ja-JP" altLang="en-US" sz="1600" dirty="0">
                <a:solidFill>
                  <a:srgbClr val="6B7280"/>
                </a:solidFill>
                <a:latin typeface="Meiryo UI" panose="020B0604030504040204" pitchFamily="50" charset="-128"/>
                <a:ea typeface="Meiryo UI" panose="020B0604030504040204" pitchFamily="50" charset="-128"/>
              </a:rPr>
              <a:t>年度＞</a:t>
            </a:r>
            <a:endParaRPr lang="en-US" sz="1600" dirty="0">
              <a:latin typeface="Meiryo UI" panose="020B0604030504040204" pitchFamily="50" charset="-128"/>
              <a:ea typeface="Meiryo UI" panose="020B0604030504040204" pitchFamily="50" charset="-128"/>
            </a:endParaRPr>
          </a:p>
        </p:txBody>
      </p:sp>
      <p:pic>
        <p:nvPicPr>
          <p:cNvPr id="44" name="図 43">
            <a:extLst>
              <a:ext uri="{FF2B5EF4-FFF2-40B4-BE49-F238E27FC236}">
                <a16:creationId xmlns:a16="http://schemas.microsoft.com/office/drawing/2014/main" id="{89C46FD3-7CF1-858F-AD7B-6D37F9A5CC59}"/>
              </a:ext>
            </a:extLst>
          </p:cNvPr>
          <p:cNvPicPr>
            <a:picLocks noChangeAspect="1"/>
          </p:cNvPicPr>
          <p:nvPr/>
        </p:nvPicPr>
        <p:blipFill>
          <a:blip r:embed="rId4"/>
          <a:stretch>
            <a:fillRect/>
          </a:stretch>
        </p:blipFill>
        <p:spPr>
          <a:xfrm>
            <a:off x="4274622" y="3477448"/>
            <a:ext cx="3189232" cy="2464406"/>
          </a:xfrm>
          <a:prstGeom prst="rect">
            <a:avLst/>
          </a:prstGeom>
        </p:spPr>
      </p:pic>
      <p:sp>
        <p:nvSpPr>
          <p:cNvPr id="46" name="Text 7">
            <a:extLst>
              <a:ext uri="{FF2B5EF4-FFF2-40B4-BE49-F238E27FC236}">
                <a16:creationId xmlns:a16="http://schemas.microsoft.com/office/drawing/2014/main" id="{2C78324A-F047-AC76-6BAB-B4101B4692C9}"/>
              </a:ext>
            </a:extLst>
          </p:cNvPr>
          <p:cNvSpPr/>
          <p:nvPr/>
        </p:nvSpPr>
        <p:spPr>
          <a:xfrm>
            <a:off x="4130086" y="2926230"/>
            <a:ext cx="3348594"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＜日本利用頻度＞</a:t>
            </a:r>
            <a:endParaRPr lang="en-US"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16406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725F3-F341-C7BB-77D3-7005BFC50F19}"/>
            </a:ext>
          </a:extLst>
        </p:cNvPr>
        <p:cNvGrpSpPr/>
        <p:nvPr/>
      </p:nvGrpSpPr>
      <p:grpSpPr>
        <a:xfrm>
          <a:off x="0" y="0"/>
          <a:ext cx="0" cy="0"/>
          <a:chOff x="0" y="0"/>
          <a:chExt cx="0" cy="0"/>
        </a:xfrm>
      </p:grpSpPr>
      <p:sp>
        <p:nvSpPr>
          <p:cNvPr id="15" name="吹き出し: 四角形 14">
            <a:extLst>
              <a:ext uri="{FF2B5EF4-FFF2-40B4-BE49-F238E27FC236}">
                <a16:creationId xmlns:a16="http://schemas.microsoft.com/office/drawing/2014/main" id="{836EFBF9-52FF-98B7-9394-4522737BE985}"/>
              </a:ext>
            </a:extLst>
          </p:cNvPr>
          <p:cNvSpPr/>
          <p:nvPr/>
        </p:nvSpPr>
        <p:spPr>
          <a:xfrm>
            <a:off x="5531243" y="3176098"/>
            <a:ext cx="6431513" cy="3552952"/>
          </a:xfrm>
          <a:prstGeom prst="wedgeRectCallout">
            <a:avLst>
              <a:gd name="adj1" fmla="val -55901"/>
              <a:gd name="adj2" fmla="val 12381"/>
            </a:avLst>
          </a:prstGeom>
          <a:solidFill>
            <a:schemeClr val="bg1"/>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TextBox 1">
            <a:extLst>
              <a:ext uri="{FF2B5EF4-FFF2-40B4-BE49-F238E27FC236}">
                <a16:creationId xmlns:a16="http://schemas.microsoft.com/office/drawing/2014/main" id="{C38E8DCC-BC23-04CB-8200-067C18083B6B}"/>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２．生成</a:t>
            </a:r>
            <a:r>
              <a:rPr lang="en-US" altLang="ja-JP" dirty="0">
                <a:solidFill>
                  <a:srgbClr val="00AEEF"/>
                </a:solidFill>
                <a:latin typeface="Meiryo UI" panose="020B0604030504040204" pitchFamily="50" charset="-128"/>
                <a:ea typeface="Meiryo UI" panose="020B0604030504040204" pitchFamily="50" charset="-128"/>
              </a:rPr>
              <a:t>AI</a:t>
            </a:r>
            <a:r>
              <a:rPr lang="ja-JP" altLang="en-US" dirty="0">
                <a:solidFill>
                  <a:srgbClr val="00AEEF"/>
                </a:solidFill>
                <a:latin typeface="Meiryo UI" panose="020B0604030504040204" pitchFamily="50" charset="-128"/>
                <a:ea typeface="Meiryo UI" panose="020B0604030504040204" pitchFamily="50" charset="-128"/>
              </a:rPr>
              <a:t>の利用普及を妨げる要因</a:t>
            </a:r>
            <a:endParaRPr dirty="0">
              <a:solidFill>
                <a:srgbClr val="00AEEF"/>
              </a:solidFill>
              <a:latin typeface="Meiryo UI" panose="020B0604030504040204" pitchFamily="50" charset="-128"/>
              <a:ea typeface="Meiryo UI" panose="020B0604030504040204" pitchFamily="50" charset="-128"/>
            </a:endParaRPr>
          </a:p>
        </p:txBody>
      </p:sp>
      <p:cxnSp>
        <p:nvCxnSpPr>
          <p:cNvPr id="4" name="Connector 3">
            <a:extLst>
              <a:ext uri="{FF2B5EF4-FFF2-40B4-BE49-F238E27FC236}">
                <a16:creationId xmlns:a16="http://schemas.microsoft.com/office/drawing/2014/main" id="{56186C76-0B5D-ECE8-3B2D-773A86E2677C}"/>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1D194A52-15C2-3D37-4EE1-C841719CA6B4}"/>
              </a:ext>
            </a:extLst>
          </p:cNvPr>
          <p:cNvSpPr/>
          <p:nvPr/>
        </p:nvSpPr>
        <p:spPr>
          <a:xfrm>
            <a:off x="229243" y="3128943"/>
            <a:ext cx="4678037" cy="3179268"/>
          </a:xfrm>
          <a:prstGeom prst="rect">
            <a:avLst/>
          </a:prstGeom>
          <a:solidFill>
            <a:schemeClr val="bg1"/>
          </a:solidFill>
          <a:ln w="285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6" name="Text 7">
            <a:extLst>
              <a:ext uri="{FF2B5EF4-FFF2-40B4-BE49-F238E27FC236}">
                <a16:creationId xmlns:a16="http://schemas.microsoft.com/office/drawing/2014/main" id="{B3C78A89-7019-491F-7FC3-C99219D8B92A}"/>
              </a:ext>
            </a:extLst>
          </p:cNvPr>
          <p:cNvSpPr/>
          <p:nvPr/>
        </p:nvSpPr>
        <p:spPr>
          <a:xfrm>
            <a:off x="386963" y="5961456"/>
            <a:ext cx="4857559" cy="403529"/>
          </a:xfrm>
          <a:prstGeom prst="rect">
            <a:avLst/>
          </a:prstGeom>
          <a:noFill/>
          <a:ln/>
        </p:spPr>
        <p:txBody>
          <a:bodyPr wrap="square" lIns="0" tIns="0" rIns="0" bIns="0" rtlCol="0" anchor="ctr"/>
          <a:lstStyle/>
          <a:p>
            <a:pPr marL="0" indent="0">
              <a:buNone/>
            </a:pPr>
            <a:r>
              <a:rPr lang="en-US" sz="1100" dirty="0">
                <a:solidFill>
                  <a:srgbClr val="6B7280"/>
                </a:solidFill>
                <a:latin typeface="Meiryo" pitchFamily="34" charset="0"/>
                <a:ea typeface="Meiryo" pitchFamily="34" charset="-122"/>
                <a:cs typeface="Meiryo" pitchFamily="34" charset="-120"/>
              </a:rPr>
              <a:t>（出典）総務省「令和8年版 情報通信白書」（2025年度調査）</a:t>
            </a:r>
            <a:endParaRPr lang="en-US" sz="1100" dirty="0"/>
          </a:p>
        </p:txBody>
      </p:sp>
      <p:sp>
        <p:nvSpPr>
          <p:cNvPr id="30" name="Text 7">
            <a:extLst>
              <a:ext uri="{FF2B5EF4-FFF2-40B4-BE49-F238E27FC236}">
                <a16:creationId xmlns:a16="http://schemas.microsoft.com/office/drawing/2014/main" id="{C27DF2EC-F33C-E9D5-039B-143039C4FB25}"/>
              </a:ext>
            </a:extLst>
          </p:cNvPr>
          <p:cNvSpPr/>
          <p:nvPr/>
        </p:nvSpPr>
        <p:spPr>
          <a:xfrm>
            <a:off x="327914" y="6325521"/>
            <a:ext cx="5440673"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図２．生成</a:t>
            </a:r>
            <a:r>
              <a:rPr lang="en-US" altLang="ja-JP" sz="1600" dirty="0">
                <a:solidFill>
                  <a:srgbClr val="6B7280"/>
                </a:solidFill>
                <a:latin typeface="Meiryo UI" panose="020B0604030504040204" pitchFamily="50" charset="-128"/>
                <a:ea typeface="Meiryo UI" panose="020B0604030504040204" pitchFamily="50" charset="-128"/>
              </a:rPr>
              <a:t>AI</a:t>
            </a:r>
            <a:r>
              <a:rPr lang="ja-JP" altLang="en-US" sz="1600" dirty="0">
                <a:solidFill>
                  <a:srgbClr val="6B7280"/>
                </a:solidFill>
                <a:latin typeface="Meiryo UI" panose="020B0604030504040204" pitchFamily="50" charset="-128"/>
                <a:ea typeface="Meiryo UI" panose="020B0604030504040204" pitchFamily="50" charset="-128"/>
              </a:rPr>
              <a:t>を利用しない理由（日本）</a:t>
            </a:r>
            <a:endParaRPr lang="en-US" sz="1600" dirty="0">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6F454A81-F713-04B9-DB21-7E3ED07C3638}"/>
              </a:ext>
            </a:extLst>
          </p:cNvPr>
          <p:cNvPicPr>
            <a:picLocks noChangeAspect="1"/>
          </p:cNvPicPr>
          <p:nvPr/>
        </p:nvPicPr>
        <p:blipFill>
          <a:blip r:embed="rId2"/>
          <a:stretch>
            <a:fillRect/>
          </a:stretch>
        </p:blipFill>
        <p:spPr>
          <a:xfrm>
            <a:off x="386963" y="3128943"/>
            <a:ext cx="4520317" cy="2850155"/>
          </a:xfrm>
          <a:prstGeom prst="rect">
            <a:avLst/>
          </a:prstGeom>
        </p:spPr>
      </p:pic>
      <p:sp>
        <p:nvSpPr>
          <p:cNvPr id="10" name="TextBox 2">
            <a:extLst>
              <a:ext uri="{FF2B5EF4-FFF2-40B4-BE49-F238E27FC236}">
                <a16:creationId xmlns:a16="http://schemas.microsoft.com/office/drawing/2014/main" id="{FC850209-26E9-76CF-DB78-0CE7BE671271}"/>
              </a:ext>
            </a:extLst>
          </p:cNvPr>
          <p:cNvSpPr txBox="1"/>
          <p:nvPr/>
        </p:nvSpPr>
        <p:spPr>
          <a:xfrm>
            <a:off x="276472" y="583320"/>
            <a:ext cx="11817350" cy="2323713"/>
          </a:xfrm>
          <a:prstGeom prst="rect">
            <a:avLst/>
          </a:prstGeom>
          <a:noFill/>
        </p:spPr>
        <p:txBody>
          <a:bodyPr wrap="square" lIns="45720" rIns="45720" anchor="t">
            <a:spAutoFit/>
          </a:bodyPr>
          <a:lstStyle/>
          <a:p>
            <a:pPr marL="457200" indent="-457200">
              <a:spcAft>
                <a:spcPts val="600"/>
              </a:spcAft>
              <a:buFont typeface="Wingdings" panose="05000000000000000000" pitchFamily="2" charset="2"/>
              <a:buChar char="u"/>
            </a:pPr>
            <a:r>
              <a:rPr lang="ja-JP" altLang="en-US" sz="2400" b="1" dirty="0">
                <a:solidFill>
                  <a:srgbClr val="0A1B34"/>
                </a:solidFill>
                <a:latin typeface="Meiryo UI" panose="020B0604030504040204" pitchFamily="50" charset="-128"/>
                <a:ea typeface="Meiryo UI" panose="020B0604030504040204" pitchFamily="50" charset="-128"/>
              </a:rPr>
              <a:t>「情報を探す」「考えを整理する」「資料などを作る」の利用は、社会人や学生のみ？</a:t>
            </a:r>
            <a:endParaRPr lang="en-US" altLang="ja-JP" sz="2400" b="1" dirty="0">
              <a:solidFill>
                <a:srgbClr val="0A1B34"/>
              </a:solidFill>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生活者は「情報を探す」は利用するが、必要なのは</a:t>
            </a:r>
            <a:r>
              <a:rPr lang="ja-JP" altLang="en-US" b="1" dirty="0">
                <a:solidFill>
                  <a:schemeClr val="accent6">
                    <a:lumMod val="50000"/>
                  </a:schemeClr>
                </a:solidFill>
                <a:latin typeface="Meiryo UI" panose="020B0604030504040204" pitchFamily="50" charset="-128"/>
                <a:ea typeface="Meiryo UI" panose="020B0604030504040204" pitchFamily="50" charset="-128"/>
              </a:rPr>
              <a:t>「買物注文・施設予約・行政手続き」などの手続き代行</a:t>
            </a:r>
            <a:r>
              <a:rPr lang="ja-JP" altLang="en-US" dirty="0">
                <a:solidFill>
                  <a:srgbClr val="0A1B34"/>
                </a:solidFill>
                <a:latin typeface="Meiryo UI" panose="020B0604030504040204" pitchFamily="50" charset="-128"/>
                <a:ea typeface="Meiryo UI" panose="020B0604030504040204" pitchFamily="50" charset="-128"/>
              </a:rPr>
              <a:t>。</a:t>
            </a:r>
            <a:endParaRPr lang="en-US" altLang="ja-JP" dirty="0">
              <a:solidFill>
                <a:srgbClr val="0A1B34"/>
              </a:solidFill>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現時点では代行ができないため、</a:t>
            </a:r>
            <a:r>
              <a:rPr lang="ja-JP" altLang="en-US" b="1" dirty="0">
                <a:solidFill>
                  <a:schemeClr val="accent6">
                    <a:lumMod val="50000"/>
                  </a:schemeClr>
                </a:solidFill>
                <a:latin typeface="Meiryo UI" panose="020B0604030504040204" pitchFamily="50" charset="-128"/>
                <a:ea typeface="Meiryo UI" panose="020B0604030504040204" pitchFamily="50" charset="-128"/>
              </a:rPr>
              <a:t>「自分の生活には必要ない」と利用を放棄</a:t>
            </a:r>
            <a:r>
              <a:rPr lang="ja-JP" altLang="en-US" dirty="0">
                <a:solidFill>
                  <a:srgbClr val="0A1B34"/>
                </a:solidFill>
                <a:latin typeface="Meiryo UI" panose="020B0604030504040204" pitchFamily="50" charset="-128"/>
                <a:ea typeface="Meiryo UI" panose="020B0604030504040204" pitchFamily="50" charset="-128"/>
              </a:rPr>
              <a:t>。　結果、情報探索も使わなくなる。</a:t>
            </a:r>
            <a:endParaRPr lang="en-US" altLang="ja-JP" dirty="0">
              <a:solidFill>
                <a:srgbClr val="0A1B34"/>
              </a:solidFill>
              <a:latin typeface="Meiryo UI" panose="020B0604030504040204" pitchFamily="50" charset="-128"/>
              <a:ea typeface="Meiryo UI" panose="020B0604030504040204" pitchFamily="50" charset="-128"/>
            </a:endParaRPr>
          </a:p>
          <a:p>
            <a:pPr marL="457200" indent="-457200">
              <a:spcAft>
                <a:spcPts val="600"/>
              </a:spcAft>
              <a:buFont typeface="Wingdings" panose="05000000000000000000" pitchFamily="2" charset="2"/>
              <a:buChar char="u"/>
            </a:pPr>
            <a:r>
              <a:rPr lang="ja-JP" altLang="en-US" sz="2400" b="1" dirty="0">
                <a:latin typeface="Meiryo UI" panose="020B0604030504040204" pitchFamily="50" charset="-128"/>
                <a:ea typeface="Meiryo UI" panose="020B0604030504040204" pitchFamily="50" charset="-128"/>
              </a:rPr>
              <a:t>リテラシーが必要</a:t>
            </a:r>
            <a:r>
              <a:rPr lang="ja-JP" altLang="ja-JP" sz="2400" b="1" dirty="0">
                <a:latin typeface="Meiryo UI" panose="020B0604030504040204" pitchFamily="50" charset="-128"/>
                <a:ea typeface="Meiryo UI" panose="020B0604030504040204" pitchFamily="50" charset="-128"/>
              </a:rPr>
              <a:t>。</a:t>
            </a:r>
            <a:endParaRPr lang="en-US" altLang="ja-JP" sz="2400" b="1" dirty="0">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生成</a:t>
            </a:r>
            <a:r>
              <a:rPr lang="en-US" altLang="ja-JP" dirty="0">
                <a:solidFill>
                  <a:srgbClr val="0A1B34"/>
                </a:solidFill>
                <a:latin typeface="Meiryo UI" panose="020B0604030504040204" pitchFamily="50" charset="-128"/>
                <a:ea typeface="Meiryo UI" panose="020B0604030504040204" pitchFamily="50" charset="-128"/>
              </a:rPr>
              <a:t>AI</a:t>
            </a:r>
            <a:r>
              <a:rPr lang="ja-JP" altLang="en-US" dirty="0">
                <a:solidFill>
                  <a:srgbClr val="0A1B34"/>
                </a:solidFill>
                <a:latin typeface="Meiryo UI" panose="020B0604030504040204" pitchFamily="50" charset="-128"/>
                <a:ea typeface="Meiryo UI" panose="020B0604030504040204" pitchFamily="50" charset="-128"/>
              </a:rPr>
              <a:t>利用は、利用準備</a:t>
            </a:r>
            <a:r>
              <a:rPr lang="ja-JP" altLang="en-US" sz="1400" dirty="0">
                <a:solidFill>
                  <a:srgbClr val="0A1B34"/>
                </a:solidFill>
                <a:latin typeface="Meiryo UI" panose="020B0604030504040204" pitchFamily="50" charset="-128"/>
                <a:ea typeface="Meiryo UI" panose="020B0604030504040204" pitchFamily="50" charset="-128"/>
              </a:rPr>
              <a:t>（インストールなど）</a:t>
            </a:r>
            <a:r>
              <a:rPr lang="ja-JP" altLang="en-US" dirty="0">
                <a:solidFill>
                  <a:srgbClr val="0A1B34"/>
                </a:solidFill>
                <a:latin typeface="Meiryo UI" panose="020B0604030504040204" pitchFamily="50" charset="-128"/>
                <a:ea typeface="Meiryo UI" panose="020B0604030504040204" pitchFamily="50" charset="-128"/>
              </a:rPr>
              <a:t>⇒プロンプト入力が出来れば可能。</a:t>
            </a:r>
            <a:endParaRPr lang="en-US" altLang="ja-JP" dirty="0">
              <a:solidFill>
                <a:srgbClr val="0A1B34"/>
              </a:solidFill>
              <a:latin typeface="Meiryo UI" panose="020B0604030504040204" pitchFamily="50" charset="-128"/>
              <a:ea typeface="Meiryo UI" panose="020B0604030504040204" pitchFamily="50" charset="-128"/>
            </a:endParaRPr>
          </a:p>
          <a:p>
            <a:pPr marL="1371600" lvl="2" indent="-457200">
              <a:spcAft>
                <a:spcPts val="600"/>
              </a:spcAft>
              <a:buFont typeface="Wingdings" panose="05000000000000000000" pitchFamily="2" charset="2"/>
              <a:buChar char="ü"/>
            </a:pPr>
            <a:r>
              <a:rPr lang="ja-JP" altLang="en-US" dirty="0">
                <a:solidFill>
                  <a:srgbClr val="0A1B34"/>
                </a:solidFill>
                <a:latin typeface="Meiryo UI" panose="020B0604030504040204" pitchFamily="50" charset="-128"/>
                <a:ea typeface="Meiryo UI" panose="020B0604030504040204" pitchFamily="50" charset="-128"/>
              </a:rPr>
              <a:t>能力を引き出すには、</a:t>
            </a:r>
            <a:r>
              <a:rPr lang="en-US" altLang="ja-JP" dirty="0">
                <a:solidFill>
                  <a:srgbClr val="0A1B34"/>
                </a:solidFill>
                <a:latin typeface="Meiryo UI" panose="020B0604030504040204" pitchFamily="50" charset="-128"/>
                <a:ea typeface="Meiryo UI" panose="020B0604030504040204" pitchFamily="50" charset="-128"/>
              </a:rPr>
              <a:t>Obsidian</a:t>
            </a:r>
            <a:r>
              <a:rPr lang="ja-JP" altLang="en-US" dirty="0">
                <a:solidFill>
                  <a:srgbClr val="0A1B34"/>
                </a:solidFill>
                <a:latin typeface="Meiryo UI" panose="020B0604030504040204" pitchFamily="50" charset="-128"/>
                <a:ea typeface="Meiryo UI" panose="020B0604030504040204" pitchFamily="50" charset="-128"/>
              </a:rPr>
              <a:t>などで</a:t>
            </a:r>
            <a:r>
              <a:rPr lang="ja-JP" altLang="en-US" b="1" dirty="0">
                <a:solidFill>
                  <a:schemeClr val="accent6">
                    <a:lumMod val="50000"/>
                  </a:schemeClr>
                </a:solidFill>
                <a:latin typeface="Meiryo UI" panose="020B0604030504040204" pitchFamily="50" charset="-128"/>
                <a:ea typeface="Meiryo UI" panose="020B0604030504040204" pitchFamily="50" charset="-128"/>
              </a:rPr>
              <a:t>自分のデータを生成</a:t>
            </a:r>
            <a:r>
              <a:rPr lang="en-US" altLang="ja-JP" b="1" dirty="0">
                <a:solidFill>
                  <a:schemeClr val="accent6">
                    <a:lumMod val="50000"/>
                  </a:schemeClr>
                </a:solidFill>
                <a:latin typeface="Meiryo UI" panose="020B0604030504040204" pitchFamily="50" charset="-128"/>
                <a:ea typeface="Meiryo UI" panose="020B0604030504040204" pitchFamily="50" charset="-128"/>
              </a:rPr>
              <a:t>AI</a:t>
            </a:r>
            <a:r>
              <a:rPr lang="ja-JP" altLang="en-US" b="1" dirty="0">
                <a:solidFill>
                  <a:schemeClr val="accent6">
                    <a:lumMod val="50000"/>
                  </a:schemeClr>
                </a:solidFill>
                <a:latin typeface="Meiryo UI" panose="020B0604030504040204" pitchFamily="50" charset="-128"/>
                <a:ea typeface="Meiryo UI" panose="020B0604030504040204" pitchFamily="50" charset="-128"/>
              </a:rPr>
              <a:t>に渡すことが必要</a:t>
            </a:r>
            <a:r>
              <a:rPr lang="ja-JP" altLang="en-US" dirty="0">
                <a:solidFill>
                  <a:srgbClr val="0A1B34"/>
                </a:solidFill>
                <a:latin typeface="Meiryo UI" panose="020B0604030504040204" pitchFamily="50" charset="-128"/>
                <a:ea typeface="Meiryo UI" panose="020B0604030504040204" pitchFamily="50" charset="-128"/>
              </a:rPr>
              <a:t>。　難易度は高い。　</a:t>
            </a:r>
            <a:endParaRPr lang="en-US" altLang="ja-JP" dirty="0">
              <a:solidFill>
                <a:srgbClr val="0A1B34"/>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792D2718-B2BB-98BD-344C-A4DEC9BDC7A0}"/>
              </a:ext>
            </a:extLst>
          </p:cNvPr>
          <p:cNvSpPr/>
          <p:nvPr/>
        </p:nvSpPr>
        <p:spPr>
          <a:xfrm>
            <a:off x="591193" y="5231886"/>
            <a:ext cx="4473807" cy="285750"/>
          </a:xfrm>
          <a:prstGeom prst="rect">
            <a:avLst/>
          </a:prstGeom>
          <a:noFill/>
          <a:ln w="2857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A0994DBC-16EF-0620-2F40-DFA4AD2070BD}"/>
              </a:ext>
            </a:extLst>
          </p:cNvPr>
          <p:cNvSpPr/>
          <p:nvPr/>
        </p:nvSpPr>
        <p:spPr>
          <a:xfrm>
            <a:off x="591193" y="5584310"/>
            <a:ext cx="4473807" cy="359835"/>
          </a:xfrm>
          <a:prstGeom prst="rect">
            <a:avLst/>
          </a:prstGeom>
          <a:noFill/>
          <a:ln w="28575">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EA4F909A-DABB-40B7-F8D9-450FA624C15B}"/>
              </a:ext>
            </a:extLst>
          </p:cNvPr>
          <p:cNvPicPr>
            <a:picLocks noChangeAspect="1"/>
          </p:cNvPicPr>
          <p:nvPr/>
        </p:nvPicPr>
        <p:blipFill>
          <a:blip r:embed="rId3"/>
          <a:srcRect t="8576" b="18986"/>
          <a:stretch>
            <a:fillRect/>
          </a:stretch>
        </p:blipFill>
        <p:spPr>
          <a:xfrm>
            <a:off x="5568881" y="3429000"/>
            <a:ext cx="6325685" cy="3242184"/>
          </a:xfrm>
          <a:prstGeom prst="rect">
            <a:avLst/>
          </a:prstGeom>
        </p:spPr>
      </p:pic>
      <p:sp>
        <p:nvSpPr>
          <p:cNvPr id="13" name="Text 7">
            <a:extLst>
              <a:ext uri="{FF2B5EF4-FFF2-40B4-BE49-F238E27FC236}">
                <a16:creationId xmlns:a16="http://schemas.microsoft.com/office/drawing/2014/main" id="{9E8C3348-EED0-989C-CCF8-326F90C85698}"/>
              </a:ext>
            </a:extLst>
          </p:cNvPr>
          <p:cNvSpPr/>
          <p:nvPr/>
        </p:nvSpPr>
        <p:spPr>
          <a:xfrm>
            <a:off x="5531244" y="3176098"/>
            <a:ext cx="5440673"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＜利用に必要な</a:t>
            </a:r>
            <a:r>
              <a:rPr lang="en-US" altLang="ja-JP" sz="1600" dirty="0">
                <a:solidFill>
                  <a:srgbClr val="6B7280"/>
                </a:solidFill>
                <a:latin typeface="Meiryo UI" panose="020B0604030504040204" pitchFamily="50" charset="-128"/>
                <a:ea typeface="Meiryo UI" panose="020B0604030504040204" pitchFamily="50" charset="-128"/>
              </a:rPr>
              <a:t>IT</a:t>
            </a:r>
            <a:r>
              <a:rPr lang="ja-JP" altLang="en-US" sz="1600" dirty="0">
                <a:solidFill>
                  <a:srgbClr val="6B7280"/>
                </a:solidFill>
                <a:latin typeface="Meiryo UI" panose="020B0604030504040204" pitchFamily="50" charset="-128"/>
                <a:ea typeface="Meiryo UI" panose="020B0604030504040204" pitchFamily="50" charset="-128"/>
              </a:rPr>
              <a:t>リテラシー＞</a:t>
            </a:r>
            <a:endParaRPr lang="en-US"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15063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AAACF99B-DC79-5194-F4F6-3307490392B6}"/>
              </a:ext>
            </a:extLst>
          </p:cNvPr>
          <p:cNvSpPr/>
          <p:nvPr/>
        </p:nvSpPr>
        <p:spPr>
          <a:xfrm>
            <a:off x="229243" y="2042166"/>
            <a:ext cx="5622917" cy="4643114"/>
          </a:xfrm>
          <a:prstGeom prst="rect">
            <a:avLst/>
          </a:prstGeom>
          <a:solidFill>
            <a:schemeClr val="bg1"/>
          </a:solidFill>
          <a:ln w="285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TextBox 1"/>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３．</a:t>
            </a:r>
            <a:r>
              <a:rPr lang="en-US" altLang="ja-JP" dirty="0">
                <a:solidFill>
                  <a:srgbClr val="00AEEF"/>
                </a:solidFill>
                <a:latin typeface="Meiryo UI" panose="020B0604030504040204" pitchFamily="50" charset="-128"/>
                <a:ea typeface="Meiryo UI" panose="020B0604030504040204" pitchFamily="50" charset="-128"/>
              </a:rPr>
              <a:t>Chat-GPT</a:t>
            </a:r>
            <a:r>
              <a:rPr lang="ja-JP" altLang="en-US" dirty="0">
                <a:solidFill>
                  <a:srgbClr val="00AEEF"/>
                </a:solidFill>
                <a:latin typeface="Meiryo UI" panose="020B0604030504040204" pitchFamily="50" charset="-128"/>
                <a:ea typeface="Meiryo UI" panose="020B0604030504040204" pitchFamily="50" charset="-128"/>
              </a:rPr>
              <a:t>や</a:t>
            </a:r>
            <a:r>
              <a:rPr lang="en-US" altLang="ja-JP" dirty="0">
                <a:solidFill>
                  <a:srgbClr val="00AEEF"/>
                </a:solidFill>
                <a:latin typeface="Meiryo UI" panose="020B0604030504040204" pitchFamily="50" charset="-128"/>
                <a:ea typeface="Meiryo UI" panose="020B0604030504040204" pitchFamily="50" charset="-128"/>
              </a:rPr>
              <a:t>Cloude</a:t>
            </a:r>
            <a:r>
              <a:rPr lang="ja-JP" altLang="en-US" dirty="0">
                <a:solidFill>
                  <a:srgbClr val="00AEEF"/>
                </a:solidFill>
                <a:latin typeface="Meiryo UI" panose="020B0604030504040204" pitchFamily="50" charset="-128"/>
                <a:ea typeface="Meiryo UI" panose="020B0604030504040204" pitchFamily="50" charset="-128"/>
              </a:rPr>
              <a:t>の課題</a:t>
            </a:r>
            <a:endParaRPr dirty="0">
              <a:solidFill>
                <a:srgbClr val="00AEEF"/>
              </a:solidFill>
              <a:latin typeface="Meiryo UI" panose="020B0604030504040204" pitchFamily="50" charset="-128"/>
              <a:ea typeface="Meiryo UI" panose="020B0604030504040204" pitchFamily="50" charset="-128"/>
            </a:endParaRPr>
          </a:p>
        </p:txBody>
      </p:sp>
      <p:cxnSp>
        <p:nvCxnSpPr>
          <p:cNvPr id="4" name="Connector 3"/>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1" name="TextBox 2">
            <a:extLst>
              <a:ext uri="{FF2B5EF4-FFF2-40B4-BE49-F238E27FC236}">
                <a16:creationId xmlns:a16="http://schemas.microsoft.com/office/drawing/2014/main" id="{6AC0EA80-4E6E-A449-883D-74B633945D0A}"/>
              </a:ext>
            </a:extLst>
          </p:cNvPr>
          <p:cNvSpPr txBox="1"/>
          <p:nvPr/>
        </p:nvSpPr>
        <p:spPr>
          <a:xfrm>
            <a:off x="381485" y="745077"/>
            <a:ext cx="11173848" cy="461665"/>
          </a:xfrm>
          <a:prstGeom prst="rect">
            <a:avLst/>
          </a:prstGeom>
          <a:noFill/>
        </p:spPr>
        <p:txBody>
          <a:bodyPr wrap="square" lIns="45720" rIns="45720" anchor="t">
            <a:spAutoFit/>
          </a:bodyPr>
          <a:lstStyle/>
          <a:p>
            <a:pPr marL="457200" indent="-457200">
              <a:spcAft>
                <a:spcPts val="600"/>
              </a:spcAft>
              <a:buFont typeface="Wingdings" panose="05000000000000000000" pitchFamily="2" charset="2"/>
              <a:buChar char="u"/>
            </a:pPr>
            <a:r>
              <a:rPr lang="en-US" altLang="ja-JP" sz="2400" b="1" dirty="0">
                <a:latin typeface="Meiryo UI" panose="020B0604030504040204" pitchFamily="50" charset="-128"/>
                <a:ea typeface="Meiryo UI" panose="020B0604030504040204" pitchFamily="50" charset="-128"/>
              </a:rPr>
              <a:t>ChatGPT</a:t>
            </a:r>
            <a:r>
              <a:rPr lang="ja-JP" altLang="en-US" sz="2400" b="1" dirty="0">
                <a:latin typeface="Meiryo UI" panose="020B0604030504040204" pitchFamily="50" charset="-128"/>
                <a:ea typeface="Meiryo UI" panose="020B0604030504040204" pitchFamily="50" charset="-128"/>
              </a:rPr>
              <a:t>・</a:t>
            </a:r>
            <a:r>
              <a:rPr lang="en-US" altLang="ja-JP" sz="2400" b="1" dirty="0">
                <a:latin typeface="Meiryo UI" panose="020B0604030504040204" pitchFamily="50" charset="-128"/>
                <a:ea typeface="Meiryo UI" panose="020B0604030504040204" pitchFamily="50" charset="-128"/>
              </a:rPr>
              <a:t>Claude</a:t>
            </a:r>
            <a:r>
              <a:rPr lang="ja-JP" altLang="en-US" sz="2400" b="1" dirty="0">
                <a:latin typeface="Meiryo UI" panose="020B0604030504040204" pitchFamily="50" charset="-128"/>
                <a:ea typeface="Meiryo UI" panose="020B0604030504040204" pitchFamily="50" charset="-128"/>
              </a:rPr>
              <a:t>　などの現在の生成</a:t>
            </a:r>
            <a:r>
              <a:rPr lang="en-US" altLang="ja-JP" sz="2400" b="1" dirty="0">
                <a:latin typeface="Meiryo UI" panose="020B0604030504040204" pitchFamily="50" charset="-128"/>
                <a:ea typeface="Meiryo UI" panose="020B0604030504040204" pitchFamily="50" charset="-128"/>
              </a:rPr>
              <a:t>AI</a:t>
            </a:r>
            <a:r>
              <a:rPr lang="ja-JP" altLang="en-US" sz="2400" b="1" dirty="0">
                <a:latin typeface="Meiryo UI" panose="020B0604030504040204" pitchFamily="50" charset="-128"/>
                <a:ea typeface="Meiryo UI" panose="020B0604030504040204" pitchFamily="50" charset="-128"/>
              </a:rPr>
              <a:t>の弱点は</a:t>
            </a:r>
            <a:r>
              <a:rPr lang="en-US" altLang="ja-JP" sz="2400" b="1" dirty="0">
                <a:latin typeface="Meiryo UI" panose="020B0604030504040204" pitchFamily="50" charset="-128"/>
                <a:ea typeface="Meiryo UI" panose="020B0604030504040204" pitchFamily="50" charset="-128"/>
              </a:rPr>
              <a:t>2</a:t>
            </a:r>
            <a:r>
              <a:rPr lang="ja-JP" altLang="en-US" sz="2400" b="1" dirty="0">
                <a:latin typeface="Meiryo UI" panose="020B0604030504040204" pitchFamily="50" charset="-128"/>
                <a:ea typeface="Meiryo UI" panose="020B0604030504040204" pitchFamily="50" charset="-128"/>
              </a:rPr>
              <a:t>つ。　</a:t>
            </a:r>
            <a:endParaRPr lang="en-US" altLang="ja-JP" sz="2400" b="1" dirty="0">
              <a:latin typeface="Meiryo UI" panose="020B0604030504040204" pitchFamily="50" charset="-128"/>
              <a:ea typeface="Meiryo UI" panose="020B0604030504040204" pitchFamily="50" charset="-128"/>
            </a:endParaRPr>
          </a:p>
        </p:txBody>
      </p:sp>
      <p:pic>
        <p:nvPicPr>
          <p:cNvPr id="26" name="図 25">
            <a:extLst>
              <a:ext uri="{FF2B5EF4-FFF2-40B4-BE49-F238E27FC236}">
                <a16:creationId xmlns:a16="http://schemas.microsoft.com/office/drawing/2014/main" id="{0EFB680D-CB1C-45E6-4B79-717354320805}"/>
              </a:ext>
            </a:extLst>
          </p:cNvPr>
          <p:cNvPicPr>
            <a:picLocks noChangeAspect="1"/>
          </p:cNvPicPr>
          <p:nvPr/>
        </p:nvPicPr>
        <p:blipFill>
          <a:blip r:embed="rId2"/>
          <a:stretch>
            <a:fillRect/>
          </a:stretch>
        </p:blipFill>
        <p:spPr>
          <a:xfrm>
            <a:off x="509076" y="3167143"/>
            <a:ext cx="5102860" cy="3401907"/>
          </a:xfrm>
          <a:prstGeom prst="rect">
            <a:avLst/>
          </a:prstGeom>
        </p:spPr>
      </p:pic>
      <p:sp>
        <p:nvSpPr>
          <p:cNvPr id="30" name="テキスト ボックス 29">
            <a:extLst>
              <a:ext uri="{FF2B5EF4-FFF2-40B4-BE49-F238E27FC236}">
                <a16:creationId xmlns:a16="http://schemas.microsoft.com/office/drawing/2014/main" id="{8F0D8441-8B6F-2369-9D09-B6EBC4A83B22}"/>
              </a:ext>
            </a:extLst>
          </p:cNvPr>
          <p:cNvSpPr txBox="1"/>
          <p:nvPr/>
        </p:nvSpPr>
        <p:spPr>
          <a:xfrm>
            <a:off x="509076" y="2115001"/>
            <a:ext cx="5102860" cy="1077218"/>
          </a:xfrm>
          <a:prstGeom prst="rect">
            <a:avLst/>
          </a:prstGeom>
          <a:noFill/>
        </p:spPr>
        <p:txBody>
          <a:bodyPr wrap="square">
            <a:spAutoFit/>
          </a:bodyPr>
          <a:lstStyle/>
          <a:p>
            <a:r>
              <a:rPr lang="ja-JP" altLang="ja-JP" sz="1600" b="1" dirty="0">
                <a:solidFill>
                  <a:schemeClr val="accent6">
                    <a:lumMod val="50000"/>
                  </a:schemeClr>
                </a:solidFill>
              </a:rPr>
              <a:t>現在の生成AIは、主にインターネット上の文章から知識を学習しているため、現実の環境や人間の行動を理解しているわけではない。そのため、</a:t>
            </a:r>
            <a:br>
              <a:rPr lang="en-US" altLang="ja-JP" sz="1600" b="1" dirty="0">
                <a:solidFill>
                  <a:schemeClr val="accent6">
                    <a:lumMod val="50000"/>
                  </a:schemeClr>
                </a:solidFill>
              </a:rPr>
            </a:br>
            <a:r>
              <a:rPr lang="ja-JP" altLang="ja-JP" sz="1600" b="1" dirty="0">
                <a:solidFill>
                  <a:schemeClr val="accent6">
                    <a:lumMod val="50000"/>
                  </a:schemeClr>
                </a:solidFill>
              </a:rPr>
              <a:t>リアル空間での判断やレコメンドには限界があ</a:t>
            </a:r>
            <a:r>
              <a:rPr lang="ja-JP" altLang="en-US" sz="1600" b="1" dirty="0">
                <a:solidFill>
                  <a:schemeClr val="accent6">
                    <a:lumMod val="50000"/>
                  </a:schemeClr>
                </a:solidFill>
              </a:rPr>
              <a:t>る。</a:t>
            </a:r>
          </a:p>
        </p:txBody>
      </p:sp>
      <p:sp>
        <p:nvSpPr>
          <p:cNvPr id="34" name="TextBox 7">
            <a:extLst>
              <a:ext uri="{FF2B5EF4-FFF2-40B4-BE49-F238E27FC236}">
                <a16:creationId xmlns:a16="http://schemas.microsoft.com/office/drawing/2014/main" id="{BD3F6B2B-71AF-35CD-6146-903D8C00EC7A}"/>
              </a:ext>
            </a:extLst>
          </p:cNvPr>
          <p:cNvSpPr txBox="1"/>
          <p:nvPr/>
        </p:nvSpPr>
        <p:spPr>
          <a:xfrm>
            <a:off x="767748" y="1582495"/>
            <a:ext cx="4964364" cy="400110"/>
          </a:xfrm>
          <a:prstGeom prst="rect">
            <a:avLst/>
          </a:prstGeom>
          <a:noFill/>
        </p:spPr>
        <p:txBody>
          <a:bodyPr wrap="square" lIns="45720" rIns="45720" anchor="ctr">
            <a:spAutoFit/>
          </a:bodyPr>
          <a:lstStyle/>
          <a:p>
            <a:pPr algn="l"/>
            <a:r>
              <a:rPr sz="2000" b="1" dirty="0" err="1">
                <a:solidFill>
                  <a:srgbClr val="0A1B34"/>
                </a:solidFill>
                <a:latin typeface="Aptos"/>
              </a:rPr>
              <a:t>弱点</a:t>
            </a:r>
            <a:r>
              <a:rPr lang="ja-JP" altLang="en-US" sz="2000" b="1" dirty="0">
                <a:solidFill>
                  <a:srgbClr val="0A1B34"/>
                </a:solidFill>
                <a:latin typeface="Aptos"/>
              </a:rPr>
              <a:t>①</a:t>
            </a:r>
            <a:r>
              <a:rPr sz="2000" b="1" dirty="0">
                <a:solidFill>
                  <a:srgbClr val="0A1B34"/>
                </a:solidFill>
                <a:latin typeface="Aptos"/>
              </a:rPr>
              <a:t>：行動データを学んでいない</a:t>
            </a:r>
          </a:p>
        </p:txBody>
      </p:sp>
      <p:sp>
        <p:nvSpPr>
          <p:cNvPr id="5" name="正方形/長方形 4">
            <a:extLst>
              <a:ext uri="{FF2B5EF4-FFF2-40B4-BE49-F238E27FC236}">
                <a16:creationId xmlns:a16="http://schemas.microsoft.com/office/drawing/2014/main" id="{D033FF09-3B3E-75A3-19DC-9B0C2F23C72B}"/>
              </a:ext>
            </a:extLst>
          </p:cNvPr>
          <p:cNvSpPr/>
          <p:nvPr/>
        </p:nvSpPr>
        <p:spPr>
          <a:xfrm>
            <a:off x="6267450" y="2035792"/>
            <a:ext cx="5622917" cy="4643114"/>
          </a:xfrm>
          <a:prstGeom prst="rect">
            <a:avLst/>
          </a:prstGeom>
          <a:solidFill>
            <a:schemeClr val="bg1"/>
          </a:solidFill>
          <a:ln w="285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TextBox 7">
            <a:extLst>
              <a:ext uri="{FF2B5EF4-FFF2-40B4-BE49-F238E27FC236}">
                <a16:creationId xmlns:a16="http://schemas.microsoft.com/office/drawing/2014/main" id="{6D44F9F7-A396-B834-A4FD-CB5E5331EB55}"/>
              </a:ext>
            </a:extLst>
          </p:cNvPr>
          <p:cNvSpPr txBox="1"/>
          <p:nvPr/>
        </p:nvSpPr>
        <p:spPr>
          <a:xfrm>
            <a:off x="6926003" y="1582495"/>
            <a:ext cx="4964364" cy="400110"/>
          </a:xfrm>
          <a:prstGeom prst="rect">
            <a:avLst/>
          </a:prstGeom>
          <a:noFill/>
        </p:spPr>
        <p:txBody>
          <a:bodyPr wrap="square" lIns="45720" rIns="45720" anchor="ctr">
            <a:spAutoFit/>
          </a:bodyPr>
          <a:lstStyle/>
          <a:p>
            <a:pPr algn="l"/>
            <a:r>
              <a:rPr sz="2000" b="1" dirty="0" err="1">
                <a:solidFill>
                  <a:srgbClr val="0A1B34"/>
                </a:solidFill>
                <a:latin typeface="Aptos"/>
              </a:rPr>
              <a:t>弱点</a:t>
            </a:r>
            <a:r>
              <a:rPr lang="ja-JP" altLang="en-US" sz="2000" b="1" dirty="0">
                <a:solidFill>
                  <a:srgbClr val="0A1B34"/>
                </a:solidFill>
                <a:latin typeface="Aptos"/>
              </a:rPr>
              <a:t>②</a:t>
            </a:r>
            <a:r>
              <a:rPr sz="2000" b="1" dirty="0">
                <a:solidFill>
                  <a:srgbClr val="0A1B34"/>
                </a:solidFill>
                <a:latin typeface="Aptos"/>
              </a:rPr>
              <a:t>：</a:t>
            </a:r>
            <a:r>
              <a:rPr lang="ja-JP" altLang="en-US" sz="2000" b="1" dirty="0">
                <a:solidFill>
                  <a:srgbClr val="0A1B34"/>
                </a:solidFill>
                <a:latin typeface="Aptos"/>
              </a:rPr>
              <a:t>利用者のことを知らない</a:t>
            </a:r>
            <a:endParaRPr sz="2000" b="1" dirty="0">
              <a:solidFill>
                <a:srgbClr val="0A1B34"/>
              </a:solidFill>
              <a:latin typeface="Aptos"/>
            </a:endParaRPr>
          </a:p>
        </p:txBody>
      </p:sp>
      <p:sp>
        <p:nvSpPr>
          <p:cNvPr id="9" name="テキスト ボックス 8">
            <a:extLst>
              <a:ext uri="{FF2B5EF4-FFF2-40B4-BE49-F238E27FC236}">
                <a16:creationId xmlns:a16="http://schemas.microsoft.com/office/drawing/2014/main" id="{EB16F63B-8C1F-18DA-E745-8BBD43E87F0A}"/>
              </a:ext>
            </a:extLst>
          </p:cNvPr>
          <p:cNvSpPr txBox="1"/>
          <p:nvPr/>
        </p:nvSpPr>
        <p:spPr>
          <a:xfrm>
            <a:off x="6527478" y="2076529"/>
            <a:ext cx="5102860" cy="1154162"/>
          </a:xfrm>
          <a:prstGeom prst="rect">
            <a:avLst/>
          </a:prstGeom>
          <a:noFill/>
        </p:spPr>
        <p:txBody>
          <a:bodyPr wrap="square">
            <a:spAutoFit/>
          </a:bodyPr>
          <a:lstStyle/>
          <a:p>
            <a:pPr>
              <a:spcAft>
                <a:spcPts val="600"/>
              </a:spcAft>
            </a:pPr>
            <a:r>
              <a:rPr lang="ja-JP" altLang="en-US" sz="1600" b="1" dirty="0">
                <a:solidFill>
                  <a:schemeClr val="accent6">
                    <a:lumMod val="50000"/>
                  </a:schemeClr>
                </a:solidFill>
              </a:rPr>
              <a:t>生成</a:t>
            </a:r>
            <a:r>
              <a:rPr lang="en-US" altLang="ja-JP" sz="1600" b="1" dirty="0">
                <a:solidFill>
                  <a:schemeClr val="accent6">
                    <a:lumMod val="50000"/>
                  </a:schemeClr>
                </a:solidFill>
              </a:rPr>
              <a:t>AI</a:t>
            </a:r>
            <a:r>
              <a:rPr lang="ja-JP" altLang="en-US" sz="1600" b="1" dirty="0">
                <a:solidFill>
                  <a:schemeClr val="accent6">
                    <a:lumMod val="50000"/>
                  </a:schemeClr>
                </a:solidFill>
              </a:rPr>
              <a:t>は利用者の考え方や属性や業務内容などを知らない。そのため回答が一般論となる傾向がある。</a:t>
            </a:r>
            <a:endParaRPr lang="en-US" altLang="ja-JP" sz="1600" b="1" dirty="0">
              <a:solidFill>
                <a:schemeClr val="accent6">
                  <a:lumMod val="50000"/>
                </a:schemeClr>
              </a:solidFill>
            </a:endParaRPr>
          </a:p>
          <a:p>
            <a:pPr>
              <a:spcAft>
                <a:spcPts val="600"/>
              </a:spcAft>
            </a:pPr>
            <a:r>
              <a:rPr lang="ja-JP" altLang="en-US" sz="1600" b="1" dirty="0">
                <a:solidFill>
                  <a:schemeClr val="accent6">
                    <a:lumMod val="50000"/>
                  </a:schemeClr>
                </a:solidFill>
              </a:rPr>
              <a:t>しかし利用者が適切な情報を与えれば、</a:t>
            </a:r>
            <a:r>
              <a:rPr lang="en-US" altLang="ja-JP" sz="1600" b="1" dirty="0">
                <a:solidFill>
                  <a:schemeClr val="accent6">
                    <a:lumMod val="50000"/>
                  </a:schemeClr>
                </a:solidFill>
              </a:rPr>
              <a:t>IT</a:t>
            </a:r>
            <a:r>
              <a:rPr lang="ja-JP" altLang="en-US" sz="1600" b="1" dirty="0">
                <a:solidFill>
                  <a:schemeClr val="accent6">
                    <a:lumMod val="50000"/>
                  </a:schemeClr>
                </a:solidFill>
              </a:rPr>
              <a:t>リテラシーが</a:t>
            </a:r>
            <a:br>
              <a:rPr lang="en-US" altLang="ja-JP" sz="1600" b="1" dirty="0">
                <a:solidFill>
                  <a:schemeClr val="accent6">
                    <a:lumMod val="50000"/>
                  </a:schemeClr>
                </a:solidFill>
              </a:rPr>
            </a:br>
            <a:r>
              <a:rPr lang="ja-JP" altLang="en-US" sz="1600" b="1" dirty="0">
                <a:solidFill>
                  <a:schemeClr val="accent6">
                    <a:lumMod val="50000"/>
                  </a:schemeClr>
                </a:solidFill>
              </a:rPr>
              <a:t>あれば解決できる。</a:t>
            </a:r>
          </a:p>
        </p:txBody>
      </p:sp>
      <p:pic>
        <p:nvPicPr>
          <p:cNvPr id="13" name="図 12">
            <a:extLst>
              <a:ext uri="{FF2B5EF4-FFF2-40B4-BE49-F238E27FC236}">
                <a16:creationId xmlns:a16="http://schemas.microsoft.com/office/drawing/2014/main" id="{8A711471-1972-4EBE-1922-80BA25476548}"/>
              </a:ext>
            </a:extLst>
          </p:cNvPr>
          <p:cNvPicPr>
            <a:picLocks noChangeAspect="1"/>
          </p:cNvPicPr>
          <p:nvPr/>
        </p:nvPicPr>
        <p:blipFill>
          <a:blip r:embed="rId3"/>
          <a:srcRect t="12090" r="1098" b="13184"/>
          <a:stretch>
            <a:fillRect/>
          </a:stretch>
        </p:blipFill>
        <p:spPr>
          <a:xfrm>
            <a:off x="6365766" y="3167143"/>
            <a:ext cx="5482069" cy="34019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4D7FF-10AE-FE11-FC0B-A258B25B38E5}"/>
            </a:ext>
          </a:extLst>
        </p:cNvPr>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FAF6035A-D704-E3D8-0CE3-A5321B9B4074}"/>
              </a:ext>
            </a:extLst>
          </p:cNvPr>
          <p:cNvSpPr/>
          <p:nvPr/>
        </p:nvSpPr>
        <p:spPr>
          <a:xfrm>
            <a:off x="1089981" y="1903843"/>
            <a:ext cx="10012037" cy="4362892"/>
          </a:xfrm>
          <a:prstGeom prst="rect">
            <a:avLst/>
          </a:prstGeom>
          <a:solidFill>
            <a:schemeClr val="bg1"/>
          </a:solidFill>
          <a:ln w="285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TextBox 1">
            <a:extLst>
              <a:ext uri="{FF2B5EF4-FFF2-40B4-BE49-F238E27FC236}">
                <a16:creationId xmlns:a16="http://schemas.microsoft.com/office/drawing/2014/main" id="{3FAB27EE-D553-EB47-ECB4-010AABF38B79}"/>
              </a:ext>
            </a:extLst>
          </p:cNvPr>
          <p:cNvSpPr txBox="1"/>
          <p:nvPr/>
        </p:nvSpPr>
        <p:spPr>
          <a:xfrm>
            <a:off x="232410" y="84691"/>
            <a:ext cx="6035040" cy="369332"/>
          </a:xfrm>
          <a:prstGeom prst="rect">
            <a:avLst/>
          </a:prstGeom>
          <a:noFill/>
        </p:spPr>
        <p:txBody>
          <a:bodyPr wrap="square" lIns="45720" rIns="45720" anchor="ctr">
            <a:spAutoFit/>
          </a:bodyPr>
          <a:lstStyle/>
          <a:p>
            <a:pPr algn="l"/>
            <a:r>
              <a:rPr lang="en-US" altLang="ja-JP" dirty="0">
                <a:solidFill>
                  <a:srgbClr val="00AEEF"/>
                </a:solidFill>
                <a:latin typeface="Meiryo UI" panose="020B0604030504040204" pitchFamily="50" charset="-128"/>
                <a:ea typeface="Meiryo UI" panose="020B0604030504040204" pitchFamily="50" charset="-128"/>
              </a:rPr>
              <a:t>4</a:t>
            </a:r>
            <a:r>
              <a:rPr lang="ja-JP" altLang="en-US" dirty="0">
                <a:solidFill>
                  <a:srgbClr val="00AEEF"/>
                </a:solidFill>
                <a:latin typeface="Meiryo UI" panose="020B0604030504040204" pitchFamily="50" charset="-128"/>
                <a:ea typeface="Meiryo UI" panose="020B0604030504040204" pitchFamily="50" charset="-128"/>
              </a:rPr>
              <a:t>．ドコモの　</a:t>
            </a:r>
            <a:r>
              <a:rPr lang="en-US" altLang="ja-JP" dirty="0">
                <a:solidFill>
                  <a:srgbClr val="00AEEF"/>
                </a:solidFill>
                <a:latin typeface="Meiryo UI" panose="020B0604030504040204" pitchFamily="50" charset="-128"/>
                <a:ea typeface="Meiryo UI" panose="020B0604030504040204" pitchFamily="50" charset="-128"/>
              </a:rPr>
              <a:t>『SyncME』</a:t>
            </a:r>
            <a:r>
              <a:rPr lang="ja-JP" altLang="en-US" dirty="0">
                <a:solidFill>
                  <a:srgbClr val="00AEEF"/>
                </a:solidFill>
                <a:latin typeface="Meiryo UI" panose="020B0604030504040204" pitchFamily="50" charset="-128"/>
                <a:ea typeface="Meiryo UI" panose="020B0604030504040204" pitchFamily="50" charset="-128"/>
              </a:rPr>
              <a:t>　について　</a:t>
            </a:r>
            <a:endParaRPr dirty="0">
              <a:solidFill>
                <a:srgbClr val="00AEEF"/>
              </a:solidFill>
              <a:latin typeface="Meiryo UI" panose="020B0604030504040204" pitchFamily="50" charset="-128"/>
              <a:ea typeface="Meiryo UI" panose="020B0604030504040204" pitchFamily="50" charset="-128"/>
            </a:endParaRPr>
          </a:p>
        </p:txBody>
      </p:sp>
      <p:cxnSp>
        <p:nvCxnSpPr>
          <p:cNvPr id="4" name="Connector 3">
            <a:extLst>
              <a:ext uri="{FF2B5EF4-FFF2-40B4-BE49-F238E27FC236}">
                <a16:creationId xmlns:a16="http://schemas.microsoft.com/office/drawing/2014/main" id="{A525CB24-1E55-5980-66C0-F3A098DBCDF6}"/>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17" name="図 16">
            <a:extLst>
              <a:ext uri="{FF2B5EF4-FFF2-40B4-BE49-F238E27FC236}">
                <a16:creationId xmlns:a16="http://schemas.microsoft.com/office/drawing/2014/main" id="{476D0007-20F3-8BE5-BE96-106E9375AEB3}"/>
              </a:ext>
            </a:extLst>
          </p:cNvPr>
          <p:cNvPicPr>
            <a:picLocks noChangeAspect="1"/>
          </p:cNvPicPr>
          <p:nvPr/>
        </p:nvPicPr>
        <p:blipFill>
          <a:blip r:embed="rId2"/>
          <a:stretch>
            <a:fillRect/>
          </a:stretch>
        </p:blipFill>
        <p:spPr>
          <a:xfrm>
            <a:off x="1296443" y="2120395"/>
            <a:ext cx="3783181" cy="3910440"/>
          </a:xfrm>
          <a:prstGeom prst="rect">
            <a:avLst/>
          </a:prstGeom>
        </p:spPr>
      </p:pic>
      <p:pic>
        <p:nvPicPr>
          <p:cNvPr id="19" name="図 18">
            <a:extLst>
              <a:ext uri="{FF2B5EF4-FFF2-40B4-BE49-F238E27FC236}">
                <a16:creationId xmlns:a16="http://schemas.microsoft.com/office/drawing/2014/main" id="{CCC1B3D1-009A-CCB0-2143-B8A41A9A6E3C}"/>
              </a:ext>
            </a:extLst>
          </p:cNvPr>
          <p:cNvPicPr>
            <a:picLocks noChangeAspect="1"/>
          </p:cNvPicPr>
          <p:nvPr/>
        </p:nvPicPr>
        <p:blipFill>
          <a:blip r:embed="rId3"/>
          <a:stretch>
            <a:fillRect/>
          </a:stretch>
        </p:blipFill>
        <p:spPr>
          <a:xfrm>
            <a:off x="5529926" y="3513431"/>
            <a:ext cx="4847191" cy="2670901"/>
          </a:xfrm>
          <a:prstGeom prst="rect">
            <a:avLst/>
          </a:prstGeom>
        </p:spPr>
      </p:pic>
      <p:sp>
        <p:nvSpPr>
          <p:cNvPr id="23" name="TextBox 7">
            <a:extLst>
              <a:ext uri="{FF2B5EF4-FFF2-40B4-BE49-F238E27FC236}">
                <a16:creationId xmlns:a16="http://schemas.microsoft.com/office/drawing/2014/main" id="{D3965CB8-6371-F8BD-CD1C-EA617768E328}"/>
              </a:ext>
            </a:extLst>
          </p:cNvPr>
          <p:cNvSpPr txBox="1"/>
          <p:nvPr/>
        </p:nvSpPr>
        <p:spPr>
          <a:xfrm>
            <a:off x="5079624" y="2074413"/>
            <a:ext cx="6022394" cy="1446550"/>
          </a:xfrm>
          <a:prstGeom prst="rect">
            <a:avLst/>
          </a:prstGeom>
          <a:noFill/>
        </p:spPr>
        <p:txBody>
          <a:bodyPr wrap="square" lIns="45720" rIns="45720" anchor="t">
            <a:spAutoFit/>
          </a:bodyPr>
          <a:lstStyle/>
          <a:p>
            <a:pPr algn="l"/>
            <a:r>
              <a:rPr lang="ja-JP" altLang="en-US" sz="2000" b="1" dirty="0">
                <a:solidFill>
                  <a:srgbClr val="0A1B34"/>
                </a:solidFill>
                <a:latin typeface="Aptos"/>
              </a:rPr>
              <a:t>外部</a:t>
            </a:r>
            <a:r>
              <a:rPr lang="en-US" altLang="ja-JP" sz="2000" b="1" dirty="0">
                <a:solidFill>
                  <a:srgbClr val="0A1B34"/>
                </a:solidFill>
                <a:latin typeface="Aptos"/>
              </a:rPr>
              <a:t>LLM</a:t>
            </a:r>
            <a:r>
              <a:rPr lang="ja-JP" altLang="en-US" sz="2000" b="1" dirty="0">
                <a:solidFill>
                  <a:srgbClr val="0A1B34"/>
                </a:solidFill>
                <a:latin typeface="Aptos"/>
              </a:rPr>
              <a:t>の利点はそのままに、</a:t>
            </a:r>
            <a:br>
              <a:rPr lang="en-US" altLang="ja-JP" sz="2000" b="1" dirty="0">
                <a:solidFill>
                  <a:srgbClr val="0A1B34"/>
                </a:solidFill>
                <a:latin typeface="Aptos"/>
              </a:rPr>
            </a:br>
            <a:r>
              <a:rPr lang="ja-JP" altLang="en-US" sz="2000" b="1" dirty="0">
                <a:solidFill>
                  <a:srgbClr val="0A1B34"/>
                </a:solidFill>
                <a:latin typeface="Aptos"/>
              </a:rPr>
              <a:t>　　⇒</a:t>
            </a:r>
            <a:r>
              <a:rPr lang="ja-JP" altLang="en-US" sz="2400" b="1" dirty="0">
                <a:solidFill>
                  <a:schemeClr val="accent6">
                    <a:lumMod val="50000"/>
                  </a:schemeClr>
                </a:solidFill>
                <a:latin typeface="Aptos"/>
              </a:rPr>
              <a:t>行動データで頭脳を補完</a:t>
            </a:r>
            <a:r>
              <a:rPr lang="ja-JP" altLang="en-US" sz="2000" b="1" dirty="0">
                <a:solidFill>
                  <a:srgbClr val="0A1B34"/>
                </a:solidFill>
                <a:latin typeface="Aptos"/>
              </a:rPr>
              <a:t>し、</a:t>
            </a:r>
            <a:endParaRPr lang="en-US" altLang="ja-JP" sz="2000" b="1" dirty="0">
              <a:solidFill>
                <a:srgbClr val="0A1B34"/>
              </a:solidFill>
              <a:latin typeface="Aptos"/>
            </a:endParaRPr>
          </a:p>
          <a:p>
            <a:pPr algn="l"/>
            <a:r>
              <a:rPr lang="ja-JP" altLang="en-US" sz="2000" b="1" dirty="0">
                <a:solidFill>
                  <a:srgbClr val="0A1B34"/>
                </a:solidFill>
                <a:latin typeface="Aptos"/>
              </a:rPr>
              <a:t>　　⇒</a:t>
            </a:r>
            <a:r>
              <a:rPr lang="ja-JP" altLang="en-US" sz="2400" b="1" dirty="0">
                <a:solidFill>
                  <a:schemeClr val="accent6">
                    <a:lumMod val="50000"/>
                  </a:schemeClr>
                </a:solidFill>
                <a:latin typeface="Meiryo UI" panose="020B0604030504040204" pitchFamily="50" charset="-128"/>
                <a:ea typeface="Meiryo UI" panose="020B0604030504040204" pitchFamily="50" charset="-128"/>
              </a:rPr>
              <a:t>利用者の操作</a:t>
            </a:r>
            <a:r>
              <a:rPr lang="ja-JP" altLang="en-US" sz="1600" b="1" dirty="0">
                <a:solidFill>
                  <a:schemeClr val="accent6">
                    <a:lumMod val="50000"/>
                  </a:schemeClr>
                </a:solidFill>
                <a:latin typeface="Meiryo UI" panose="020B0604030504040204" pitchFamily="50" charset="-128"/>
                <a:ea typeface="Meiryo UI" panose="020B0604030504040204" pitchFamily="50" charset="-128"/>
              </a:rPr>
              <a:t>（自分のデータを</a:t>
            </a:r>
            <a:r>
              <a:rPr lang="en-US" altLang="ja-JP" sz="1600" b="1" dirty="0">
                <a:solidFill>
                  <a:schemeClr val="accent6">
                    <a:lumMod val="50000"/>
                  </a:schemeClr>
                </a:solidFill>
                <a:latin typeface="Meiryo UI" panose="020B0604030504040204" pitchFamily="50" charset="-128"/>
                <a:ea typeface="Meiryo UI" panose="020B0604030504040204" pitchFamily="50" charset="-128"/>
              </a:rPr>
              <a:t>AI</a:t>
            </a:r>
            <a:r>
              <a:rPr lang="ja-JP" altLang="en-US" sz="1600" b="1" dirty="0">
                <a:solidFill>
                  <a:schemeClr val="accent6">
                    <a:lumMod val="50000"/>
                  </a:schemeClr>
                </a:solidFill>
                <a:latin typeface="Meiryo UI" panose="020B0604030504040204" pitchFamily="50" charset="-128"/>
                <a:ea typeface="Meiryo UI" panose="020B0604030504040204" pitchFamily="50" charset="-128"/>
              </a:rPr>
              <a:t>に渡す）</a:t>
            </a:r>
            <a:r>
              <a:rPr lang="ja-JP" altLang="en-US" sz="2400" b="1" dirty="0">
                <a:solidFill>
                  <a:schemeClr val="accent6">
                    <a:lumMod val="50000"/>
                  </a:schemeClr>
                </a:solidFill>
                <a:latin typeface="Meiryo UI" panose="020B0604030504040204" pitchFamily="50" charset="-128"/>
                <a:ea typeface="Meiryo UI" panose="020B0604030504040204" pitchFamily="50" charset="-128"/>
              </a:rPr>
              <a:t>をなくし</a:t>
            </a:r>
            <a:endParaRPr lang="en-US" altLang="ja-JP" sz="2400" b="1" dirty="0">
              <a:solidFill>
                <a:schemeClr val="accent6">
                  <a:lumMod val="50000"/>
                </a:schemeClr>
              </a:solidFill>
              <a:latin typeface="Meiryo UI" panose="020B0604030504040204" pitchFamily="50" charset="-128"/>
              <a:ea typeface="Meiryo UI" panose="020B0604030504040204" pitchFamily="50" charset="-128"/>
            </a:endParaRPr>
          </a:p>
          <a:p>
            <a:pPr algn="l"/>
            <a:r>
              <a:rPr lang="ja-JP" altLang="en-US" sz="2000" b="1" dirty="0">
                <a:solidFill>
                  <a:srgbClr val="0A1B34"/>
                </a:solidFill>
                <a:latin typeface="Aptos"/>
              </a:rPr>
              <a:t>誰でも生成</a:t>
            </a:r>
            <a:r>
              <a:rPr lang="en-US" altLang="ja-JP" sz="2000" b="1" dirty="0">
                <a:solidFill>
                  <a:srgbClr val="0A1B34"/>
                </a:solidFill>
                <a:latin typeface="Aptos"/>
              </a:rPr>
              <a:t>AI</a:t>
            </a:r>
            <a:r>
              <a:rPr lang="ja-JP" altLang="en-US" sz="2000" b="1" dirty="0">
                <a:solidFill>
                  <a:srgbClr val="0A1B34"/>
                </a:solidFill>
                <a:latin typeface="Aptos"/>
              </a:rPr>
              <a:t>の恩恵を受けられるサービス</a:t>
            </a:r>
            <a:endParaRPr sz="2000" b="1" dirty="0">
              <a:solidFill>
                <a:srgbClr val="0A1B34"/>
              </a:solidFill>
              <a:latin typeface="Aptos"/>
            </a:endParaRPr>
          </a:p>
        </p:txBody>
      </p:sp>
      <p:sp>
        <p:nvSpPr>
          <p:cNvPr id="27" name="Rounded Rectangle 19">
            <a:extLst>
              <a:ext uri="{FF2B5EF4-FFF2-40B4-BE49-F238E27FC236}">
                <a16:creationId xmlns:a16="http://schemas.microsoft.com/office/drawing/2014/main" id="{EEE6DCD6-9385-8DF8-193F-60E68461C41D}"/>
              </a:ext>
            </a:extLst>
          </p:cNvPr>
          <p:cNvSpPr/>
          <p:nvPr/>
        </p:nvSpPr>
        <p:spPr>
          <a:xfrm>
            <a:off x="646698" y="838198"/>
            <a:ext cx="11077941" cy="913797"/>
          </a:xfrm>
          <a:prstGeom prst="roundRect">
            <a:avLst>
              <a:gd name="adj" fmla="val 12000"/>
            </a:avLst>
          </a:prstGeom>
          <a:solidFill>
            <a:srgbClr val="0A1B34"/>
          </a:solidFill>
          <a:ln>
            <a:solidFill>
              <a:srgbClr val="0A1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0">
            <a:extLst>
              <a:ext uri="{FF2B5EF4-FFF2-40B4-BE49-F238E27FC236}">
                <a16:creationId xmlns:a16="http://schemas.microsoft.com/office/drawing/2014/main" id="{2F3D8E56-A822-6AF5-2682-AB48A076211C}"/>
              </a:ext>
            </a:extLst>
          </p:cNvPr>
          <p:cNvSpPr txBox="1"/>
          <p:nvPr/>
        </p:nvSpPr>
        <p:spPr>
          <a:xfrm>
            <a:off x="721360" y="796503"/>
            <a:ext cx="11238230" cy="954107"/>
          </a:xfrm>
          <a:prstGeom prst="rect">
            <a:avLst/>
          </a:prstGeom>
          <a:noFill/>
        </p:spPr>
        <p:txBody>
          <a:bodyPr wrap="square" lIns="45720" rIns="45720" anchor="ctr">
            <a:spAutoFit/>
          </a:bodyPr>
          <a:lstStyle/>
          <a:p>
            <a:pPr algn="ctr"/>
            <a:r>
              <a:rPr sz="2800" b="1" dirty="0" err="1">
                <a:solidFill>
                  <a:srgbClr val="FFFFFF"/>
                </a:solidFill>
                <a:latin typeface="Meiryo UI" panose="020B0604030504040204" pitchFamily="50" charset="-128"/>
                <a:ea typeface="Meiryo UI" panose="020B0604030504040204" pitchFamily="50" charset="-128"/>
              </a:rPr>
              <a:t>ドコモが</a:t>
            </a:r>
            <a:r>
              <a:rPr lang="ja-JP" altLang="en-US" sz="2800" b="1" dirty="0">
                <a:solidFill>
                  <a:srgbClr val="FFFFFF"/>
                </a:solidFill>
                <a:latin typeface="Meiryo UI" panose="020B0604030504040204" pitchFamily="50" charset="-128"/>
                <a:ea typeface="Meiryo UI" panose="020B0604030504040204" pitchFamily="50" charset="-128"/>
              </a:rPr>
              <a:t>解決するの</a:t>
            </a:r>
            <a:r>
              <a:rPr sz="2800" b="1" dirty="0">
                <a:solidFill>
                  <a:srgbClr val="FFFFFF"/>
                </a:solidFill>
                <a:latin typeface="Meiryo UI" panose="020B0604030504040204" pitchFamily="50" charset="-128"/>
                <a:ea typeface="Meiryo UI" panose="020B0604030504040204" pitchFamily="50" charset="-128"/>
              </a:rPr>
              <a:t>は、</a:t>
            </a:r>
            <a:r>
              <a:rPr lang="ja-JP" altLang="en-US" sz="2800" b="1" dirty="0">
                <a:solidFill>
                  <a:srgbClr val="FFFFFF"/>
                </a:solidFill>
                <a:latin typeface="Meiryo UI" panose="020B0604030504040204" pitchFamily="50" charset="-128"/>
                <a:ea typeface="Meiryo UI" panose="020B0604030504040204" pitchFamily="50" charset="-128"/>
              </a:rPr>
              <a:t>　生成</a:t>
            </a:r>
            <a:r>
              <a:rPr lang="en-US" altLang="ja-JP" sz="2800" b="1" dirty="0">
                <a:solidFill>
                  <a:srgbClr val="FFFFFF"/>
                </a:solidFill>
                <a:latin typeface="Meiryo UI" panose="020B0604030504040204" pitchFamily="50" charset="-128"/>
                <a:ea typeface="Meiryo UI" panose="020B0604030504040204" pitchFamily="50" charset="-128"/>
              </a:rPr>
              <a:t>AI</a:t>
            </a:r>
            <a:r>
              <a:rPr lang="ja-JP" altLang="en-US" sz="2800" b="1" dirty="0">
                <a:solidFill>
                  <a:srgbClr val="FFFFFF"/>
                </a:solidFill>
                <a:latin typeface="Meiryo UI" panose="020B0604030504040204" pitchFamily="50" charset="-128"/>
                <a:ea typeface="Meiryo UI" panose="020B0604030504040204" pitchFamily="50" charset="-128"/>
              </a:rPr>
              <a:t>の</a:t>
            </a:r>
            <a:r>
              <a:rPr sz="2800" b="1" dirty="0" err="1">
                <a:solidFill>
                  <a:srgbClr val="FFFFFF"/>
                </a:solidFill>
                <a:latin typeface="Meiryo UI" panose="020B0604030504040204" pitchFamily="50" charset="-128"/>
                <a:ea typeface="Meiryo UI" panose="020B0604030504040204" pitchFamily="50" charset="-128"/>
              </a:rPr>
              <a:t>頭脳の</a:t>
            </a:r>
            <a:r>
              <a:rPr lang="ja-JP" altLang="en-US" sz="2800" b="1" dirty="0">
                <a:solidFill>
                  <a:srgbClr val="FFFFFF"/>
                </a:solidFill>
                <a:latin typeface="Meiryo UI" panose="020B0604030504040204" pitchFamily="50" charset="-128"/>
                <a:ea typeface="Meiryo UI" panose="020B0604030504040204" pitchFamily="50" charset="-128"/>
              </a:rPr>
              <a:t>補完</a:t>
            </a:r>
            <a:r>
              <a:rPr sz="2800" b="1" dirty="0">
                <a:solidFill>
                  <a:srgbClr val="FFFFFF"/>
                </a:solidFill>
                <a:latin typeface="Meiryo UI" panose="020B0604030504040204" pitchFamily="50" charset="-128"/>
                <a:ea typeface="Meiryo UI" panose="020B0604030504040204" pitchFamily="50" charset="-128"/>
              </a:rPr>
              <a:t>と</a:t>
            </a:r>
            <a:r>
              <a:rPr lang="ja-JP" altLang="en-US" sz="2800" b="1" dirty="0">
                <a:solidFill>
                  <a:srgbClr val="FFFFFF"/>
                </a:solidFill>
                <a:latin typeface="Meiryo UI" panose="020B0604030504040204" pitchFamily="50" charset="-128"/>
                <a:ea typeface="Meiryo UI" panose="020B0604030504040204" pitchFamily="50" charset="-128"/>
              </a:rPr>
              <a:t>　</a:t>
            </a:r>
            <a:r>
              <a:rPr sz="2800" b="1" dirty="0">
                <a:solidFill>
                  <a:srgbClr val="FFFFFF"/>
                </a:solidFill>
                <a:latin typeface="Meiryo UI" panose="020B0604030504040204" pitchFamily="50" charset="-128"/>
                <a:ea typeface="Meiryo UI" panose="020B0604030504040204" pitchFamily="50" charset="-128"/>
              </a:rPr>
              <a:t>、</a:t>
            </a:r>
            <a:r>
              <a:rPr lang="ja-JP" altLang="en-US" sz="2800" b="1" dirty="0">
                <a:solidFill>
                  <a:srgbClr val="FFFFFF"/>
                </a:solidFill>
                <a:latin typeface="Meiryo UI" panose="020B0604030504040204" pitchFamily="50" charset="-128"/>
                <a:ea typeface="Meiryo UI" panose="020B0604030504040204" pitchFamily="50" charset="-128"/>
              </a:rPr>
              <a:t>利用者の</a:t>
            </a:r>
            <a:r>
              <a:rPr sz="2800" b="1" dirty="0" err="1">
                <a:solidFill>
                  <a:srgbClr val="FFFFFF"/>
                </a:solidFill>
                <a:latin typeface="Meiryo UI" panose="020B0604030504040204" pitchFamily="50" charset="-128"/>
                <a:ea typeface="Meiryo UI" panose="020B0604030504040204" pitchFamily="50" charset="-128"/>
              </a:rPr>
              <a:t>手間</a:t>
            </a:r>
            <a:r>
              <a:rPr sz="2800" b="1" dirty="0">
                <a:solidFill>
                  <a:srgbClr val="FFFFFF"/>
                </a:solidFill>
                <a:latin typeface="Meiryo UI" panose="020B0604030504040204" pitchFamily="50" charset="-128"/>
                <a:ea typeface="Meiryo UI" panose="020B0604030504040204" pitchFamily="50" charset="-128"/>
              </a:rPr>
              <a:t>。</a:t>
            </a:r>
            <a:endParaRPr lang="en-US" sz="2800" b="1" dirty="0">
              <a:solidFill>
                <a:srgbClr val="FFFFFF"/>
              </a:solidFill>
              <a:latin typeface="Meiryo UI" panose="020B0604030504040204" pitchFamily="50" charset="-128"/>
              <a:ea typeface="Meiryo UI" panose="020B0604030504040204" pitchFamily="50" charset="-128"/>
            </a:endParaRPr>
          </a:p>
          <a:p>
            <a:pPr algn="ctr"/>
            <a:r>
              <a:rPr lang="ja-JP" altLang="en-US" sz="2800" b="1" dirty="0">
                <a:solidFill>
                  <a:srgbClr val="FFFFFF"/>
                </a:solidFill>
                <a:latin typeface="Meiryo UI" panose="020B0604030504040204" pitchFamily="50" charset="-128"/>
                <a:ea typeface="Meiryo UI" panose="020B0604030504040204" pitchFamily="50" charset="-128"/>
              </a:rPr>
              <a:t>生成</a:t>
            </a:r>
            <a:r>
              <a:rPr lang="en-US" altLang="ja-JP" sz="2800" b="1" dirty="0">
                <a:solidFill>
                  <a:srgbClr val="FFFFFF"/>
                </a:solidFill>
                <a:latin typeface="Meiryo UI" panose="020B0604030504040204" pitchFamily="50" charset="-128"/>
                <a:ea typeface="Meiryo UI" panose="020B0604030504040204" pitchFamily="50" charset="-128"/>
              </a:rPr>
              <a:t>AI</a:t>
            </a:r>
            <a:r>
              <a:rPr lang="ja-JP" altLang="en-US" sz="2800" b="1" dirty="0">
                <a:solidFill>
                  <a:srgbClr val="FFFFFF"/>
                </a:solidFill>
                <a:latin typeface="Meiryo UI" panose="020B0604030504040204" pitchFamily="50" charset="-128"/>
                <a:ea typeface="Meiryo UI" panose="020B0604030504040204" pitchFamily="50" charset="-128"/>
              </a:rPr>
              <a:t>の民主化　＝　</a:t>
            </a:r>
            <a:r>
              <a:rPr lang="en-US" altLang="ja-JP" sz="2800" b="1" dirty="0">
                <a:solidFill>
                  <a:srgbClr val="FFFFFF"/>
                </a:solidFill>
                <a:latin typeface="Meiryo UI" panose="020B0604030504040204" pitchFamily="50" charset="-128"/>
                <a:ea typeface="Meiryo UI" panose="020B0604030504040204" pitchFamily="50" charset="-128"/>
              </a:rPr>
              <a:t>SyncME</a:t>
            </a:r>
            <a:endParaRPr sz="2800" b="1" dirty="0">
              <a:solidFill>
                <a:srgbClr val="FFFFFF"/>
              </a:solidFill>
              <a:latin typeface="Meiryo UI" panose="020B0604030504040204" pitchFamily="50" charset="-128"/>
              <a:ea typeface="Meiryo UI" panose="020B0604030504040204" pitchFamily="50" charset="-128"/>
            </a:endParaRPr>
          </a:p>
        </p:txBody>
      </p:sp>
      <p:sp>
        <p:nvSpPr>
          <p:cNvPr id="31" name="Text 7">
            <a:extLst>
              <a:ext uri="{FF2B5EF4-FFF2-40B4-BE49-F238E27FC236}">
                <a16:creationId xmlns:a16="http://schemas.microsoft.com/office/drawing/2014/main" id="{8F4103A1-58AB-A6E4-F679-45162AFC7196}"/>
              </a:ext>
            </a:extLst>
          </p:cNvPr>
          <p:cNvSpPr/>
          <p:nvPr/>
        </p:nvSpPr>
        <p:spPr>
          <a:xfrm>
            <a:off x="2809589" y="6369723"/>
            <a:ext cx="5440673" cy="403529"/>
          </a:xfrm>
          <a:prstGeom prst="rect">
            <a:avLst/>
          </a:prstGeom>
          <a:noFill/>
          <a:ln/>
        </p:spPr>
        <p:txBody>
          <a:bodyPr wrap="square" lIns="0" tIns="0" rIns="0" bIns="0" rtlCol="0" anchor="ctr"/>
          <a:lstStyle/>
          <a:p>
            <a:pPr marL="0" indent="0" algn="ctr">
              <a:buNone/>
            </a:pPr>
            <a:r>
              <a:rPr lang="ja-JP" altLang="en-US" sz="1600" dirty="0">
                <a:solidFill>
                  <a:srgbClr val="6B7280"/>
                </a:solidFill>
                <a:latin typeface="Meiryo UI" panose="020B0604030504040204" pitchFamily="50" charset="-128"/>
                <a:ea typeface="Meiryo UI" panose="020B0604030504040204" pitchFamily="50" charset="-128"/>
              </a:rPr>
              <a:t>図３．</a:t>
            </a:r>
            <a:r>
              <a:rPr lang="en-US" altLang="ja-JP" sz="1600" dirty="0">
                <a:solidFill>
                  <a:srgbClr val="6B7280"/>
                </a:solidFill>
                <a:latin typeface="Meiryo UI" panose="020B0604030504040204" pitchFamily="50" charset="-128"/>
                <a:ea typeface="Meiryo UI" panose="020B0604030504040204" pitchFamily="50" charset="-128"/>
              </a:rPr>
              <a:t>『SyncME』</a:t>
            </a:r>
            <a:r>
              <a:rPr lang="ja-JP" altLang="en-US" sz="1600" dirty="0">
                <a:solidFill>
                  <a:srgbClr val="6B7280"/>
                </a:solidFill>
                <a:latin typeface="Meiryo UI" panose="020B0604030504040204" pitchFamily="50" charset="-128"/>
                <a:ea typeface="Meiryo UI" panose="020B0604030504040204" pitchFamily="50" charset="-128"/>
              </a:rPr>
              <a:t>についての私の理解</a:t>
            </a:r>
            <a:endParaRPr lang="en-US"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8597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AAEC4-6EE6-DD92-8166-1FD7D7B919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F5D04F-75EC-C093-3975-DA83FD87D8C7}"/>
              </a:ext>
            </a:extLst>
          </p:cNvPr>
          <p:cNvSpPr txBox="1"/>
          <p:nvPr/>
        </p:nvSpPr>
        <p:spPr>
          <a:xfrm>
            <a:off x="232410" y="84691"/>
            <a:ext cx="6035040" cy="369332"/>
          </a:xfrm>
          <a:prstGeom prst="rect">
            <a:avLst/>
          </a:prstGeom>
          <a:noFill/>
        </p:spPr>
        <p:txBody>
          <a:bodyPr wrap="square" lIns="45720" rIns="45720" anchor="ctr">
            <a:spAutoFit/>
          </a:bodyPr>
          <a:lstStyle/>
          <a:p>
            <a:pPr algn="l"/>
            <a:r>
              <a:rPr lang="en-US" altLang="ja-JP" dirty="0">
                <a:solidFill>
                  <a:srgbClr val="00AEEF"/>
                </a:solidFill>
                <a:latin typeface="Meiryo UI" panose="020B0604030504040204" pitchFamily="50" charset="-128"/>
                <a:ea typeface="Meiryo UI" panose="020B0604030504040204" pitchFamily="50" charset="-128"/>
              </a:rPr>
              <a:t>5</a:t>
            </a:r>
            <a:r>
              <a:rPr lang="ja-JP" altLang="en-US" dirty="0">
                <a:solidFill>
                  <a:srgbClr val="00AEEF"/>
                </a:solidFill>
                <a:latin typeface="Meiryo UI" panose="020B0604030504040204" pitchFamily="50" charset="-128"/>
                <a:ea typeface="Meiryo UI" panose="020B0604030504040204" pitchFamily="50" charset="-128"/>
              </a:rPr>
              <a:t>．</a:t>
            </a:r>
            <a:r>
              <a:rPr lang="en-US" altLang="ja-JP" dirty="0" err="1">
                <a:solidFill>
                  <a:srgbClr val="00AEEF"/>
                </a:solidFill>
                <a:latin typeface="Meiryo UI" panose="020B0604030504040204" pitchFamily="50" charset="-128"/>
                <a:ea typeface="Meiryo UI" panose="020B0604030504040204" pitchFamily="50" charset="-128"/>
              </a:rPr>
              <a:t>SyncME</a:t>
            </a:r>
            <a:r>
              <a:rPr lang="ja-JP" altLang="en-US" dirty="0">
                <a:solidFill>
                  <a:srgbClr val="00AEEF"/>
                </a:solidFill>
                <a:latin typeface="Meiryo UI" panose="020B0604030504040204" pitchFamily="50" charset="-128"/>
                <a:ea typeface="Meiryo UI" panose="020B0604030504040204" pitchFamily="50" charset="-128"/>
              </a:rPr>
              <a:t>とｄポイントの相互循環</a:t>
            </a:r>
            <a:endParaRPr dirty="0">
              <a:solidFill>
                <a:srgbClr val="00AEEF"/>
              </a:solidFill>
              <a:latin typeface="Meiryo UI" panose="020B0604030504040204" pitchFamily="50" charset="-128"/>
              <a:ea typeface="Meiryo UI" panose="020B0604030504040204" pitchFamily="50" charset="-128"/>
            </a:endParaRPr>
          </a:p>
        </p:txBody>
      </p:sp>
      <p:cxnSp>
        <p:nvCxnSpPr>
          <p:cNvPr id="4" name="Connector 3">
            <a:extLst>
              <a:ext uri="{FF2B5EF4-FFF2-40B4-BE49-F238E27FC236}">
                <a16:creationId xmlns:a16="http://schemas.microsoft.com/office/drawing/2014/main" id="{542E5661-3B0A-BDA1-8DED-64B461D58E23}"/>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TextBox 2">
            <a:extLst>
              <a:ext uri="{FF2B5EF4-FFF2-40B4-BE49-F238E27FC236}">
                <a16:creationId xmlns:a16="http://schemas.microsoft.com/office/drawing/2014/main" id="{3BFC3FA1-2C22-49D8-A3EA-C50E6E27E6B3}"/>
              </a:ext>
            </a:extLst>
          </p:cNvPr>
          <p:cNvSpPr txBox="1"/>
          <p:nvPr/>
        </p:nvSpPr>
        <p:spPr>
          <a:xfrm>
            <a:off x="680526" y="846748"/>
            <a:ext cx="11173848" cy="584775"/>
          </a:xfrm>
          <a:prstGeom prst="rect">
            <a:avLst/>
          </a:prstGeom>
          <a:noFill/>
        </p:spPr>
        <p:txBody>
          <a:bodyPr wrap="square" lIns="45720" rIns="45720" anchor="t">
            <a:spAutoFit/>
          </a:bodyPr>
          <a:lstStyle/>
          <a:p>
            <a:pPr>
              <a:spcAft>
                <a:spcPts val="600"/>
              </a:spcAft>
            </a:pPr>
            <a:r>
              <a:rPr lang="ja-JP" altLang="en-US" sz="3200" b="1" dirty="0">
                <a:latin typeface="Meiryo UI" panose="020B0604030504040204" pitchFamily="50" charset="-128"/>
                <a:ea typeface="Meiryo UI" panose="020B0604030504040204" pitchFamily="50" charset="-128"/>
              </a:rPr>
              <a:t>◆</a:t>
            </a:r>
            <a:r>
              <a:rPr lang="en-US" altLang="ja-JP" sz="3200" b="1" dirty="0" err="1">
                <a:latin typeface="Meiryo UI" panose="020B0604030504040204" pitchFamily="50" charset="-128"/>
                <a:ea typeface="Meiryo UI" panose="020B0604030504040204" pitchFamily="50" charset="-128"/>
              </a:rPr>
              <a:t>SyncME</a:t>
            </a:r>
            <a:r>
              <a:rPr lang="ja-JP" altLang="en-US" sz="3200" b="1" dirty="0">
                <a:latin typeface="Meiryo UI" panose="020B0604030504040204" pitchFamily="50" charset="-128"/>
                <a:ea typeface="Meiryo UI" panose="020B0604030504040204" pitchFamily="50" charset="-128"/>
              </a:rPr>
              <a:t>（便利）とｄポイント（お得）は、相互循環の関係</a:t>
            </a:r>
            <a:endParaRPr lang="en-US" altLang="ja-JP" sz="3200" b="1" dirty="0">
              <a:latin typeface="Meiryo UI" panose="020B0604030504040204" pitchFamily="50" charset="-128"/>
              <a:ea typeface="Meiryo UI" panose="020B0604030504040204" pitchFamily="50" charset="-128"/>
            </a:endParaRPr>
          </a:p>
        </p:txBody>
      </p:sp>
      <p:grpSp>
        <p:nvGrpSpPr>
          <p:cNvPr id="5" name="グループ化 4">
            <a:extLst>
              <a:ext uri="{FF2B5EF4-FFF2-40B4-BE49-F238E27FC236}">
                <a16:creationId xmlns:a16="http://schemas.microsoft.com/office/drawing/2014/main" id="{777E7828-6F40-3398-5980-612C9D910F26}"/>
              </a:ext>
            </a:extLst>
          </p:cNvPr>
          <p:cNvGrpSpPr/>
          <p:nvPr/>
        </p:nvGrpSpPr>
        <p:grpSpPr>
          <a:xfrm>
            <a:off x="1381473" y="1854243"/>
            <a:ext cx="8506808" cy="4695412"/>
            <a:chOff x="1381473" y="1854243"/>
            <a:chExt cx="8506808" cy="4695412"/>
          </a:xfrm>
        </p:grpSpPr>
        <p:pic>
          <p:nvPicPr>
            <p:cNvPr id="6" name="図 5">
              <a:extLst>
                <a:ext uri="{FF2B5EF4-FFF2-40B4-BE49-F238E27FC236}">
                  <a16:creationId xmlns:a16="http://schemas.microsoft.com/office/drawing/2014/main" id="{8549DF49-5D9E-995A-282E-1F708C3A3DCA}"/>
                </a:ext>
              </a:extLst>
            </p:cNvPr>
            <p:cNvPicPr>
              <a:picLocks noChangeAspect="1"/>
            </p:cNvPicPr>
            <p:nvPr/>
          </p:nvPicPr>
          <p:blipFill>
            <a:blip r:embed="rId2"/>
            <a:srcRect r="2480" b="19260"/>
            <a:stretch>
              <a:fillRect/>
            </a:stretch>
          </p:blipFill>
          <p:spPr>
            <a:xfrm>
              <a:off x="1381473" y="1854243"/>
              <a:ext cx="8506808" cy="4695412"/>
            </a:xfrm>
            <a:prstGeom prst="rect">
              <a:avLst/>
            </a:prstGeom>
          </p:spPr>
        </p:pic>
        <p:sp>
          <p:nvSpPr>
            <p:cNvPr id="3" name="フリーフォーム: 図形 2">
              <a:extLst>
                <a:ext uri="{FF2B5EF4-FFF2-40B4-BE49-F238E27FC236}">
                  <a16:creationId xmlns:a16="http://schemas.microsoft.com/office/drawing/2014/main" id="{34DDCB97-D9A2-A2CE-9066-1999DEFDF8B7}"/>
                </a:ext>
              </a:extLst>
            </p:cNvPr>
            <p:cNvSpPr/>
            <p:nvPr/>
          </p:nvSpPr>
          <p:spPr>
            <a:xfrm>
              <a:off x="2977116" y="5252483"/>
              <a:ext cx="1392865" cy="659218"/>
            </a:xfrm>
            <a:custGeom>
              <a:avLst/>
              <a:gdLst>
                <a:gd name="connsiteX0" fmla="*/ 255181 w 1392865"/>
                <a:gd name="connsiteY0" fmla="*/ 0 h 659218"/>
                <a:gd name="connsiteX1" fmla="*/ 287079 w 1392865"/>
                <a:gd name="connsiteY1" fmla="*/ 10632 h 659218"/>
                <a:gd name="connsiteX2" fmla="*/ 127591 w 1392865"/>
                <a:gd name="connsiteY2" fmla="*/ 21265 h 659218"/>
                <a:gd name="connsiteX3" fmla="*/ 74428 w 1392865"/>
                <a:gd name="connsiteY3" fmla="*/ 42530 h 659218"/>
                <a:gd name="connsiteX4" fmla="*/ 0 w 1392865"/>
                <a:gd name="connsiteY4" fmla="*/ 53163 h 659218"/>
                <a:gd name="connsiteX5" fmla="*/ 223284 w 1392865"/>
                <a:gd name="connsiteY5" fmla="*/ 265814 h 659218"/>
                <a:gd name="connsiteX6" fmla="*/ 701749 w 1392865"/>
                <a:gd name="connsiteY6" fmla="*/ 542260 h 659218"/>
                <a:gd name="connsiteX7" fmla="*/ 1127051 w 1392865"/>
                <a:gd name="connsiteY7" fmla="*/ 627321 h 659218"/>
                <a:gd name="connsiteX8" fmla="*/ 1392865 w 1392865"/>
                <a:gd name="connsiteY8" fmla="*/ 659218 h 659218"/>
                <a:gd name="connsiteX9" fmla="*/ 1360967 w 1392865"/>
                <a:gd name="connsiteY9" fmla="*/ 520995 h 659218"/>
                <a:gd name="connsiteX10" fmla="*/ 967563 w 1392865"/>
                <a:gd name="connsiteY10" fmla="*/ 414670 h 659218"/>
                <a:gd name="connsiteX11" fmla="*/ 574158 w 1392865"/>
                <a:gd name="connsiteY11" fmla="*/ 287079 h 659218"/>
                <a:gd name="connsiteX12" fmla="*/ 255181 w 1392865"/>
                <a:gd name="connsiteY12" fmla="*/ 0 h 65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2865" h="659218">
                  <a:moveTo>
                    <a:pt x="255181" y="0"/>
                  </a:moveTo>
                  <a:lnTo>
                    <a:pt x="287079" y="10632"/>
                  </a:lnTo>
                  <a:cubicBezTo>
                    <a:pt x="233916" y="14176"/>
                    <a:pt x="180282" y="13361"/>
                    <a:pt x="127591" y="21265"/>
                  </a:cubicBezTo>
                  <a:cubicBezTo>
                    <a:pt x="108716" y="24096"/>
                    <a:pt x="92535" y="36494"/>
                    <a:pt x="74428" y="42530"/>
                  </a:cubicBezTo>
                  <a:cubicBezTo>
                    <a:pt x="34793" y="55742"/>
                    <a:pt x="36899" y="53163"/>
                    <a:pt x="0" y="53163"/>
                  </a:cubicBezTo>
                  <a:lnTo>
                    <a:pt x="223284" y="265814"/>
                  </a:lnTo>
                  <a:lnTo>
                    <a:pt x="701749" y="542260"/>
                  </a:lnTo>
                  <a:lnTo>
                    <a:pt x="1127051" y="627321"/>
                  </a:lnTo>
                  <a:lnTo>
                    <a:pt x="1392865" y="659218"/>
                  </a:lnTo>
                  <a:lnTo>
                    <a:pt x="1360967" y="520995"/>
                  </a:lnTo>
                  <a:lnTo>
                    <a:pt x="967563" y="414670"/>
                  </a:lnTo>
                  <a:lnTo>
                    <a:pt x="574158" y="287079"/>
                  </a:lnTo>
                  <a:lnTo>
                    <a:pt x="255181" y="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1647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04C4B-5D70-BDAD-5DAE-6945D053CF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C8182DC-3822-FFF1-A22A-7BD4A09630AA}"/>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６．更なる成長に向けた課題　　　・・・　　行動データの多様性</a:t>
            </a:r>
          </a:p>
        </p:txBody>
      </p:sp>
      <p:cxnSp>
        <p:nvCxnSpPr>
          <p:cNvPr id="4" name="Connector 3">
            <a:extLst>
              <a:ext uri="{FF2B5EF4-FFF2-40B4-BE49-F238E27FC236}">
                <a16:creationId xmlns:a16="http://schemas.microsoft.com/office/drawing/2014/main" id="{CF29A0B4-13C9-BC37-A662-94CC15B32618}"/>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5" name="図 4">
            <a:extLst>
              <a:ext uri="{FF2B5EF4-FFF2-40B4-BE49-F238E27FC236}">
                <a16:creationId xmlns:a16="http://schemas.microsoft.com/office/drawing/2014/main" id="{15E58F70-D1F1-4EC6-C37F-9C5A8F339E68}"/>
              </a:ext>
            </a:extLst>
          </p:cNvPr>
          <p:cNvPicPr>
            <a:picLocks noChangeAspect="1"/>
          </p:cNvPicPr>
          <p:nvPr/>
        </p:nvPicPr>
        <p:blipFill>
          <a:blip r:embed="rId2"/>
          <a:srcRect t="20667" b="11336"/>
          <a:stretch>
            <a:fillRect/>
          </a:stretch>
        </p:blipFill>
        <p:spPr>
          <a:xfrm>
            <a:off x="761114" y="1918314"/>
            <a:ext cx="10287000" cy="4663240"/>
          </a:xfrm>
          <a:prstGeom prst="rect">
            <a:avLst/>
          </a:prstGeom>
        </p:spPr>
      </p:pic>
    </p:spTree>
    <p:extLst>
      <p:ext uri="{BB962C8B-B14F-4D97-AF65-F5344CB8AC3E}">
        <p14:creationId xmlns:p14="http://schemas.microsoft.com/office/powerpoint/2010/main" val="896169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B7519-A065-462D-5D70-B370A63B89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CBA9E7-4269-FF8C-BB3B-4B1943498BB4}"/>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６．更なる成長に向けた課題　　　・・・　　行動データの多様性</a:t>
            </a:r>
          </a:p>
        </p:txBody>
      </p:sp>
      <p:cxnSp>
        <p:nvCxnSpPr>
          <p:cNvPr id="4" name="Connector 3">
            <a:extLst>
              <a:ext uri="{FF2B5EF4-FFF2-40B4-BE49-F238E27FC236}">
                <a16:creationId xmlns:a16="http://schemas.microsoft.com/office/drawing/2014/main" id="{10D94786-46DF-B733-7ED4-3E61F18FE672}"/>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6" name="図 5">
            <a:extLst>
              <a:ext uri="{FF2B5EF4-FFF2-40B4-BE49-F238E27FC236}">
                <a16:creationId xmlns:a16="http://schemas.microsoft.com/office/drawing/2014/main" id="{46BB95A1-2126-7A1A-B261-D667E2E35659}"/>
              </a:ext>
            </a:extLst>
          </p:cNvPr>
          <p:cNvPicPr>
            <a:picLocks noChangeAspect="1"/>
          </p:cNvPicPr>
          <p:nvPr/>
        </p:nvPicPr>
        <p:blipFill>
          <a:blip r:embed="rId2"/>
          <a:stretch>
            <a:fillRect/>
          </a:stretch>
        </p:blipFill>
        <p:spPr>
          <a:xfrm>
            <a:off x="403636" y="1204605"/>
            <a:ext cx="6218463" cy="3027150"/>
          </a:xfrm>
          <a:prstGeom prst="rect">
            <a:avLst/>
          </a:prstGeom>
        </p:spPr>
      </p:pic>
      <p:pic>
        <p:nvPicPr>
          <p:cNvPr id="8" name="図 7">
            <a:extLst>
              <a:ext uri="{FF2B5EF4-FFF2-40B4-BE49-F238E27FC236}">
                <a16:creationId xmlns:a16="http://schemas.microsoft.com/office/drawing/2014/main" id="{1BB980D3-73A7-7086-6759-1A5EDF58C696}"/>
              </a:ext>
            </a:extLst>
          </p:cNvPr>
          <p:cNvPicPr>
            <a:picLocks noChangeAspect="1"/>
          </p:cNvPicPr>
          <p:nvPr/>
        </p:nvPicPr>
        <p:blipFill>
          <a:blip r:embed="rId3"/>
          <a:stretch>
            <a:fillRect/>
          </a:stretch>
        </p:blipFill>
        <p:spPr>
          <a:xfrm>
            <a:off x="6910327" y="857106"/>
            <a:ext cx="5168260" cy="2438387"/>
          </a:xfrm>
          <a:prstGeom prst="rect">
            <a:avLst/>
          </a:prstGeom>
        </p:spPr>
      </p:pic>
    </p:spTree>
    <p:extLst>
      <p:ext uri="{BB962C8B-B14F-4D97-AF65-F5344CB8AC3E}">
        <p14:creationId xmlns:p14="http://schemas.microsoft.com/office/powerpoint/2010/main" val="3573237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03｜INSIGHT  |  04</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ドコモの強みは、AIそのものではなく「人の行動を理解できるデータ」にある。</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Rounded Rectangle 5"/>
          <p:cNvSpPr/>
          <p:nvPr/>
        </p:nvSpPr>
        <p:spPr>
          <a:xfrm>
            <a:off x="685800" y="1691640"/>
            <a:ext cx="3657600" cy="3154680"/>
          </a:xfrm>
          <a:prstGeom prst="roundRect">
            <a:avLst>
              <a:gd name="adj" fmla="val 12000"/>
            </a:avLst>
          </a:prstGeom>
          <a:solidFill>
            <a:srgbClr val="0A1B34"/>
          </a:solidFill>
          <a:ln>
            <a:solidFill>
              <a:srgbClr val="0A1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965960"/>
            <a:ext cx="3108960" cy="384048"/>
          </a:xfrm>
          <a:prstGeom prst="rect">
            <a:avLst/>
          </a:prstGeom>
          <a:noFill/>
        </p:spPr>
        <p:txBody>
          <a:bodyPr wrap="square" lIns="45720" rIns="45720" anchor="ctr">
            <a:spAutoFit/>
          </a:bodyPr>
          <a:lstStyle/>
          <a:p>
            <a:pPr algn="l"/>
            <a:r>
              <a:rPr sz="2400" b="1" dirty="0" err="1">
                <a:solidFill>
                  <a:srgbClr val="FFFFFF"/>
                </a:solidFill>
                <a:latin typeface="Aptos"/>
              </a:rPr>
              <a:t>SyncMe</a:t>
            </a:r>
            <a:endParaRPr sz="2400" b="1" dirty="0">
              <a:solidFill>
                <a:srgbClr val="FFFFFF"/>
              </a:solidFill>
              <a:latin typeface="Aptos"/>
            </a:endParaRPr>
          </a:p>
        </p:txBody>
      </p:sp>
      <p:sp>
        <p:nvSpPr>
          <p:cNvPr id="8" name="TextBox 7"/>
          <p:cNvSpPr txBox="1"/>
          <p:nvPr/>
        </p:nvSpPr>
        <p:spPr>
          <a:xfrm>
            <a:off x="960120" y="2560320"/>
            <a:ext cx="3108960" cy="822960"/>
          </a:xfrm>
          <a:prstGeom prst="rect">
            <a:avLst/>
          </a:prstGeom>
          <a:noFill/>
        </p:spPr>
        <p:txBody>
          <a:bodyPr wrap="square" lIns="45720" rIns="45720" anchor="ctr">
            <a:spAutoFit/>
          </a:bodyPr>
          <a:lstStyle/>
          <a:p>
            <a:pPr algn="l"/>
            <a:r>
              <a:rPr sz="2000" b="1">
                <a:solidFill>
                  <a:srgbClr val="FFFFFF"/>
                </a:solidFill>
                <a:latin typeface="Aptos"/>
              </a:rPr>
              <a:t>頼まなくても、
自分を理解してくれるAI</a:t>
            </a:r>
          </a:p>
        </p:txBody>
      </p:sp>
      <p:sp>
        <p:nvSpPr>
          <p:cNvPr id="9" name="TextBox 8"/>
          <p:cNvSpPr txBox="1"/>
          <p:nvPr/>
        </p:nvSpPr>
        <p:spPr>
          <a:xfrm>
            <a:off x="960120" y="3703320"/>
            <a:ext cx="1371600" cy="228600"/>
          </a:xfrm>
          <a:prstGeom prst="rect">
            <a:avLst/>
          </a:prstGeom>
          <a:noFill/>
        </p:spPr>
        <p:txBody>
          <a:bodyPr wrap="square" lIns="45720" rIns="45720" anchor="ctr">
            <a:spAutoFit/>
          </a:bodyPr>
          <a:lstStyle/>
          <a:p>
            <a:pPr algn="l"/>
            <a:r>
              <a:rPr sz="1100" b="1">
                <a:solidFill>
                  <a:srgbClr val="43C9E5"/>
                </a:solidFill>
                <a:latin typeface="Aptos"/>
              </a:rPr>
              <a:t>決済履歴</a:t>
            </a:r>
          </a:p>
        </p:txBody>
      </p:sp>
      <p:sp>
        <p:nvSpPr>
          <p:cNvPr id="10" name="TextBox 9"/>
          <p:cNvSpPr txBox="1"/>
          <p:nvPr/>
        </p:nvSpPr>
        <p:spPr>
          <a:xfrm>
            <a:off x="2423160" y="3703320"/>
            <a:ext cx="1371600" cy="228600"/>
          </a:xfrm>
          <a:prstGeom prst="rect">
            <a:avLst/>
          </a:prstGeom>
          <a:noFill/>
        </p:spPr>
        <p:txBody>
          <a:bodyPr wrap="square" lIns="45720" rIns="45720" anchor="ctr">
            <a:spAutoFit/>
          </a:bodyPr>
          <a:lstStyle/>
          <a:p>
            <a:pPr algn="l"/>
            <a:r>
              <a:rPr sz="1100" b="0">
                <a:solidFill>
                  <a:srgbClr val="FFFFFF"/>
                </a:solidFill>
                <a:latin typeface="Aptos"/>
              </a:rPr>
              <a:t>購買</a:t>
            </a:r>
          </a:p>
        </p:txBody>
      </p:sp>
      <p:sp>
        <p:nvSpPr>
          <p:cNvPr id="11" name="TextBox 10"/>
          <p:cNvSpPr txBox="1"/>
          <p:nvPr/>
        </p:nvSpPr>
        <p:spPr>
          <a:xfrm>
            <a:off x="960120" y="4050791"/>
            <a:ext cx="1371600" cy="228600"/>
          </a:xfrm>
          <a:prstGeom prst="rect">
            <a:avLst/>
          </a:prstGeom>
          <a:noFill/>
        </p:spPr>
        <p:txBody>
          <a:bodyPr wrap="square" lIns="45720" rIns="45720" anchor="ctr">
            <a:spAutoFit/>
          </a:bodyPr>
          <a:lstStyle/>
          <a:p>
            <a:pPr algn="l"/>
            <a:r>
              <a:rPr sz="1100" b="1">
                <a:solidFill>
                  <a:srgbClr val="43C9E5"/>
                </a:solidFill>
                <a:latin typeface="Aptos"/>
              </a:rPr>
              <a:t>位置情報</a:t>
            </a:r>
          </a:p>
        </p:txBody>
      </p:sp>
      <p:sp>
        <p:nvSpPr>
          <p:cNvPr id="12" name="TextBox 11"/>
          <p:cNvSpPr txBox="1"/>
          <p:nvPr/>
        </p:nvSpPr>
        <p:spPr>
          <a:xfrm>
            <a:off x="2423160" y="4050791"/>
            <a:ext cx="1371600" cy="228600"/>
          </a:xfrm>
          <a:prstGeom prst="rect">
            <a:avLst/>
          </a:prstGeom>
          <a:noFill/>
        </p:spPr>
        <p:txBody>
          <a:bodyPr wrap="square" lIns="45720" rIns="45720" anchor="ctr">
            <a:spAutoFit/>
          </a:bodyPr>
          <a:lstStyle/>
          <a:p>
            <a:pPr algn="l"/>
            <a:r>
              <a:rPr sz="1100" b="0">
                <a:solidFill>
                  <a:srgbClr val="FFFFFF"/>
                </a:solidFill>
                <a:latin typeface="Aptos"/>
              </a:rPr>
              <a:t>移動</a:t>
            </a:r>
          </a:p>
        </p:txBody>
      </p:sp>
      <p:sp>
        <p:nvSpPr>
          <p:cNvPr id="13" name="TextBox 12"/>
          <p:cNvSpPr txBox="1"/>
          <p:nvPr/>
        </p:nvSpPr>
        <p:spPr>
          <a:xfrm>
            <a:off x="960120" y="4398264"/>
            <a:ext cx="1371600" cy="228600"/>
          </a:xfrm>
          <a:prstGeom prst="rect">
            <a:avLst/>
          </a:prstGeom>
          <a:noFill/>
        </p:spPr>
        <p:txBody>
          <a:bodyPr wrap="square" lIns="45720" rIns="45720" anchor="ctr">
            <a:spAutoFit/>
          </a:bodyPr>
          <a:lstStyle/>
          <a:p>
            <a:pPr algn="l"/>
            <a:r>
              <a:rPr sz="1100" b="1">
                <a:solidFill>
                  <a:srgbClr val="43C9E5"/>
                </a:solidFill>
                <a:latin typeface="Aptos"/>
              </a:rPr>
              <a:t>契約情報</a:t>
            </a:r>
          </a:p>
        </p:txBody>
      </p:sp>
      <p:sp>
        <p:nvSpPr>
          <p:cNvPr id="14" name="TextBox 13"/>
          <p:cNvSpPr txBox="1"/>
          <p:nvPr/>
        </p:nvSpPr>
        <p:spPr>
          <a:xfrm>
            <a:off x="2423160" y="4398264"/>
            <a:ext cx="1371600" cy="228600"/>
          </a:xfrm>
          <a:prstGeom prst="rect">
            <a:avLst/>
          </a:prstGeom>
          <a:noFill/>
        </p:spPr>
        <p:txBody>
          <a:bodyPr wrap="square" lIns="45720" rIns="45720" anchor="ctr">
            <a:spAutoFit/>
          </a:bodyPr>
          <a:lstStyle/>
          <a:p>
            <a:pPr algn="l"/>
            <a:r>
              <a:rPr sz="1100" b="0">
                <a:solidFill>
                  <a:srgbClr val="FFFFFF"/>
                </a:solidFill>
                <a:latin typeface="Aptos"/>
              </a:rPr>
              <a:t>関係性</a:t>
            </a:r>
          </a:p>
        </p:txBody>
      </p:sp>
      <p:sp>
        <p:nvSpPr>
          <p:cNvPr id="15" name="TextBox 14"/>
          <p:cNvSpPr txBox="1"/>
          <p:nvPr/>
        </p:nvSpPr>
        <p:spPr>
          <a:xfrm>
            <a:off x="4892040" y="1783080"/>
            <a:ext cx="5943600" cy="365760"/>
          </a:xfrm>
          <a:prstGeom prst="rect">
            <a:avLst/>
          </a:prstGeom>
          <a:noFill/>
        </p:spPr>
        <p:txBody>
          <a:bodyPr wrap="square" lIns="45720" rIns="45720" anchor="ctr">
            <a:spAutoFit/>
          </a:bodyPr>
          <a:lstStyle/>
          <a:p>
            <a:pPr algn="l"/>
            <a:r>
              <a:rPr sz="2000" b="1">
                <a:solidFill>
                  <a:srgbClr val="0A1B34"/>
                </a:solidFill>
                <a:latin typeface="Aptos"/>
              </a:rPr>
              <a:t>しかし、現在のデータには限界がある。</a:t>
            </a:r>
          </a:p>
        </p:txBody>
      </p:sp>
      <p:sp>
        <p:nvSpPr>
          <p:cNvPr id="16" name="TextBox 15"/>
          <p:cNvSpPr txBox="1"/>
          <p:nvPr/>
        </p:nvSpPr>
        <p:spPr>
          <a:xfrm>
            <a:off x="5074920" y="2395728"/>
            <a:ext cx="228600" cy="274320"/>
          </a:xfrm>
          <a:prstGeom prst="rect">
            <a:avLst/>
          </a:prstGeom>
          <a:noFill/>
        </p:spPr>
        <p:txBody>
          <a:bodyPr wrap="square" lIns="45720" rIns="45720" anchor="ctr">
            <a:spAutoFit/>
          </a:bodyPr>
          <a:lstStyle/>
          <a:p>
            <a:pPr algn="l"/>
            <a:r>
              <a:rPr sz="1700" b="1">
                <a:solidFill>
                  <a:srgbClr val="00AEEF"/>
                </a:solidFill>
                <a:latin typeface="Aptos"/>
              </a:rPr>
              <a:t>●</a:t>
            </a:r>
          </a:p>
        </p:txBody>
      </p:sp>
      <p:sp>
        <p:nvSpPr>
          <p:cNvPr id="17" name="TextBox 16"/>
          <p:cNvSpPr txBox="1"/>
          <p:nvPr/>
        </p:nvSpPr>
        <p:spPr>
          <a:xfrm>
            <a:off x="5367528" y="2395728"/>
            <a:ext cx="5559552" cy="384048"/>
          </a:xfrm>
          <a:prstGeom prst="rect">
            <a:avLst/>
          </a:prstGeom>
          <a:noFill/>
        </p:spPr>
        <p:txBody>
          <a:bodyPr wrap="square" lIns="45720" rIns="45720" anchor="ctr">
            <a:spAutoFit/>
          </a:bodyPr>
          <a:lstStyle/>
          <a:p>
            <a:pPr algn="l"/>
            <a:r>
              <a:rPr sz="1700" b="0">
                <a:solidFill>
                  <a:srgbClr val="1D2B3D"/>
                </a:solidFill>
                <a:latin typeface="Aptos"/>
              </a:rPr>
              <a:t>ドコモ顧客に閉じたデータ</a:t>
            </a:r>
          </a:p>
        </p:txBody>
      </p:sp>
      <p:sp>
        <p:nvSpPr>
          <p:cNvPr id="18" name="TextBox 17"/>
          <p:cNvSpPr txBox="1"/>
          <p:nvPr/>
        </p:nvSpPr>
        <p:spPr>
          <a:xfrm>
            <a:off x="5074920" y="2944368"/>
            <a:ext cx="228600" cy="274320"/>
          </a:xfrm>
          <a:prstGeom prst="rect">
            <a:avLst/>
          </a:prstGeom>
          <a:noFill/>
        </p:spPr>
        <p:txBody>
          <a:bodyPr wrap="square" lIns="45720" rIns="45720" anchor="ctr">
            <a:spAutoFit/>
          </a:bodyPr>
          <a:lstStyle/>
          <a:p>
            <a:pPr algn="l"/>
            <a:r>
              <a:rPr sz="1700" b="1">
                <a:solidFill>
                  <a:srgbClr val="00AEEF"/>
                </a:solidFill>
                <a:latin typeface="Aptos"/>
              </a:rPr>
              <a:t>●</a:t>
            </a:r>
          </a:p>
        </p:txBody>
      </p:sp>
      <p:sp>
        <p:nvSpPr>
          <p:cNvPr id="19" name="TextBox 18"/>
          <p:cNvSpPr txBox="1"/>
          <p:nvPr/>
        </p:nvSpPr>
        <p:spPr>
          <a:xfrm>
            <a:off x="5367528" y="2944368"/>
            <a:ext cx="5559552" cy="384048"/>
          </a:xfrm>
          <a:prstGeom prst="rect">
            <a:avLst/>
          </a:prstGeom>
          <a:noFill/>
        </p:spPr>
        <p:txBody>
          <a:bodyPr wrap="square" lIns="45720" rIns="45720" anchor="ctr">
            <a:spAutoFit/>
          </a:bodyPr>
          <a:lstStyle/>
          <a:p>
            <a:pPr algn="l"/>
            <a:r>
              <a:rPr sz="1700" b="0">
                <a:solidFill>
                  <a:srgbClr val="1D2B3D"/>
                </a:solidFill>
                <a:latin typeface="Aptos"/>
              </a:rPr>
              <a:t>母集団が偏る</a:t>
            </a:r>
          </a:p>
        </p:txBody>
      </p:sp>
      <p:sp>
        <p:nvSpPr>
          <p:cNvPr id="20" name="TextBox 19"/>
          <p:cNvSpPr txBox="1"/>
          <p:nvPr/>
        </p:nvSpPr>
        <p:spPr>
          <a:xfrm>
            <a:off x="5440680" y="3493008"/>
            <a:ext cx="5486400" cy="365760"/>
          </a:xfrm>
          <a:prstGeom prst="rect">
            <a:avLst/>
          </a:prstGeom>
          <a:noFill/>
        </p:spPr>
        <p:txBody>
          <a:bodyPr wrap="square" lIns="45720" rIns="45720" anchor="ctr">
            <a:spAutoFit/>
          </a:bodyPr>
          <a:lstStyle/>
          <a:p>
            <a:pPr algn="l"/>
            <a:r>
              <a:rPr sz="1600" b="1">
                <a:solidFill>
                  <a:srgbClr val="66798F"/>
                </a:solidFill>
                <a:latin typeface="Aptos"/>
              </a:rPr>
              <a:t>→ 行動の多様性を捉えきれない</a:t>
            </a:r>
          </a:p>
        </p:txBody>
      </p:sp>
      <p:sp>
        <p:nvSpPr>
          <p:cNvPr id="21" name="Rounded Rectangle 20"/>
          <p:cNvSpPr/>
          <p:nvPr/>
        </p:nvSpPr>
        <p:spPr>
          <a:xfrm>
            <a:off x="4892040" y="4160520"/>
            <a:ext cx="6126480" cy="1051560"/>
          </a:xfrm>
          <a:prstGeom prst="roundRect">
            <a:avLst>
              <a:gd name="adj" fmla="val 12000"/>
            </a:avLst>
          </a:prstGeom>
          <a:solidFill>
            <a:srgbClr val="EBF8FC"/>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66360" y="4315968"/>
            <a:ext cx="5577840" cy="292608"/>
          </a:xfrm>
          <a:prstGeom prst="rect">
            <a:avLst/>
          </a:prstGeom>
          <a:noFill/>
        </p:spPr>
        <p:txBody>
          <a:bodyPr wrap="square" lIns="45720" rIns="45720" anchor="ctr">
            <a:spAutoFit/>
          </a:bodyPr>
          <a:lstStyle/>
          <a:p>
            <a:pPr algn="l"/>
            <a:r>
              <a:rPr sz="1500" b="1">
                <a:solidFill>
                  <a:srgbClr val="0A1B34"/>
                </a:solidFill>
                <a:latin typeface="Aptos"/>
              </a:rPr>
              <a:t>だから必要なのは、AIをさらに賢くすることだけではない。</a:t>
            </a:r>
          </a:p>
        </p:txBody>
      </p:sp>
      <p:sp>
        <p:nvSpPr>
          <p:cNvPr id="23" name="TextBox 22"/>
          <p:cNvSpPr txBox="1"/>
          <p:nvPr/>
        </p:nvSpPr>
        <p:spPr>
          <a:xfrm>
            <a:off x="5166360" y="4681728"/>
            <a:ext cx="5577840" cy="347472"/>
          </a:xfrm>
          <a:prstGeom prst="rect">
            <a:avLst/>
          </a:prstGeom>
          <a:noFill/>
        </p:spPr>
        <p:txBody>
          <a:bodyPr wrap="square" lIns="45720" rIns="45720" anchor="ctr">
            <a:spAutoFit/>
          </a:bodyPr>
          <a:lstStyle/>
          <a:p>
            <a:pPr algn="l"/>
            <a:r>
              <a:rPr sz="2000" b="1">
                <a:solidFill>
                  <a:srgbClr val="00AEEF"/>
                </a:solidFill>
                <a:latin typeface="Aptos"/>
              </a:rPr>
              <a:t>「AIが学ぶ世界」を広げること。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04｜STRATEGIC OPENING  |  05</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そのヒントは、すでにドコモが始めている。</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TextBox 5"/>
          <p:cNvSpPr txBox="1"/>
          <p:nvPr/>
        </p:nvSpPr>
        <p:spPr>
          <a:xfrm>
            <a:off x="685800" y="1691640"/>
            <a:ext cx="10789920" cy="411480"/>
          </a:xfrm>
          <a:prstGeom prst="rect">
            <a:avLst/>
          </a:prstGeom>
          <a:noFill/>
        </p:spPr>
        <p:txBody>
          <a:bodyPr wrap="square" lIns="45720" rIns="45720" anchor="ctr">
            <a:spAutoFit/>
          </a:bodyPr>
          <a:lstStyle/>
          <a:p>
            <a:pPr algn="l"/>
            <a:r>
              <a:rPr sz="2000" b="1" dirty="0" err="1">
                <a:solidFill>
                  <a:srgbClr val="0A1B34"/>
                </a:solidFill>
                <a:latin typeface="Aptos"/>
              </a:rPr>
              <a:t>JALモバイル</a:t>
            </a:r>
            <a:r>
              <a:rPr sz="2000" b="1" dirty="0">
                <a:solidFill>
                  <a:srgbClr val="0A1B34"/>
                </a:solidFill>
                <a:latin typeface="Aptos"/>
              </a:rPr>
              <a:t> powered by </a:t>
            </a:r>
            <a:r>
              <a:rPr sz="2000" b="1" dirty="0" err="1">
                <a:solidFill>
                  <a:srgbClr val="0A1B34"/>
                </a:solidFill>
                <a:latin typeface="Aptos"/>
              </a:rPr>
              <a:t>ahamo</a:t>
            </a:r>
            <a:r>
              <a:rPr sz="2000" b="1" dirty="0">
                <a:solidFill>
                  <a:srgbClr val="0A1B34"/>
                </a:solidFill>
                <a:latin typeface="Aptos"/>
              </a:rPr>
              <a:t> は、「</a:t>
            </a:r>
            <a:r>
              <a:rPr sz="2000" b="1" dirty="0" err="1">
                <a:solidFill>
                  <a:srgbClr val="0A1B34"/>
                </a:solidFill>
                <a:latin typeface="Aptos"/>
              </a:rPr>
              <a:t>他社ブランドで顧客接点を広げる」前例</a:t>
            </a:r>
            <a:r>
              <a:rPr sz="2000" b="1" dirty="0">
                <a:solidFill>
                  <a:srgbClr val="0A1B34"/>
                </a:solidFill>
                <a:latin typeface="Aptos"/>
              </a:rPr>
              <a:t>。</a:t>
            </a:r>
          </a:p>
        </p:txBody>
      </p:sp>
      <p:sp>
        <p:nvSpPr>
          <p:cNvPr id="7" name="Rounded Rectangle 6"/>
          <p:cNvSpPr/>
          <p:nvPr/>
        </p:nvSpPr>
        <p:spPr>
          <a:xfrm>
            <a:off x="822960" y="2560320"/>
            <a:ext cx="2834640" cy="1417320"/>
          </a:xfrm>
          <a:prstGeom prst="roundRect">
            <a:avLst>
              <a:gd name="adj" fmla="val 12000"/>
            </a:avLst>
          </a:prstGeom>
          <a:solidFill>
            <a:srgbClr val="F7FAFC"/>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15184"/>
            <a:ext cx="2615184" cy="1307592"/>
          </a:xfrm>
          <a:prstGeom prst="rect">
            <a:avLst/>
          </a:prstGeom>
          <a:noFill/>
        </p:spPr>
        <p:txBody>
          <a:bodyPr wrap="square" lIns="45720" rIns="45720" anchor="ctr">
            <a:spAutoFit/>
          </a:bodyPr>
          <a:lstStyle/>
          <a:p>
            <a:pPr algn="ctr"/>
            <a:r>
              <a:rPr sz="1900" b="1">
                <a:solidFill>
                  <a:srgbClr val="0A1B34"/>
                </a:solidFill>
                <a:latin typeface="Aptos"/>
              </a:rPr>
              <a:t>JAL
顧客接点</a:t>
            </a:r>
          </a:p>
        </p:txBody>
      </p:sp>
      <p:sp>
        <p:nvSpPr>
          <p:cNvPr id="9" name="TextBox 8"/>
          <p:cNvSpPr txBox="1"/>
          <p:nvPr/>
        </p:nvSpPr>
        <p:spPr>
          <a:xfrm>
            <a:off x="1143000" y="4160520"/>
            <a:ext cx="2194560" cy="274320"/>
          </a:xfrm>
          <a:prstGeom prst="rect">
            <a:avLst/>
          </a:prstGeom>
          <a:noFill/>
        </p:spPr>
        <p:txBody>
          <a:bodyPr wrap="square" lIns="45720" rIns="45720" anchor="ctr">
            <a:spAutoFit/>
          </a:bodyPr>
          <a:lstStyle/>
          <a:p>
            <a:pPr algn="ctr"/>
            <a:r>
              <a:rPr sz="1200" b="0">
                <a:solidFill>
                  <a:srgbClr val="66798F"/>
                </a:solidFill>
                <a:latin typeface="Aptos"/>
              </a:rPr>
              <a:t>集客・ブランド</a:t>
            </a:r>
          </a:p>
        </p:txBody>
      </p:sp>
      <p:sp>
        <p:nvSpPr>
          <p:cNvPr id="10" name="TextBox 9"/>
          <p:cNvSpPr txBox="1"/>
          <p:nvPr/>
        </p:nvSpPr>
        <p:spPr>
          <a:xfrm>
            <a:off x="3886200" y="3035808"/>
            <a:ext cx="548640" cy="457200"/>
          </a:xfrm>
          <a:prstGeom prst="rect">
            <a:avLst/>
          </a:prstGeom>
          <a:noFill/>
        </p:spPr>
        <p:txBody>
          <a:bodyPr wrap="square" lIns="45720" rIns="45720" anchor="ctr">
            <a:spAutoFit/>
          </a:bodyPr>
          <a:lstStyle/>
          <a:p>
            <a:pPr algn="ctr"/>
            <a:r>
              <a:rPr sz="3000" b="1">
                <a:solidFill>
                  <a:srgbClr val="00AEEF"/>
                </a:solidFill>
                <a:latin typeface="Aptos"/>
              </a:rPr>
              <a:t>×</a:t>
            </a:r>
          </a:p>
        </p:txBody>
      </p:sp>
      <p:sp>
        <p:nvSpPr>
          <p:cNvPr id="11" name="Rounded Rectangle 10"/>
          <p:cNvSpPr/>
          <p:nvPr/>
        </p:nvSpPr>
        <p:spPr>
          <a:xfrm>
            <a:off x="4572000" y="2560320"/>
            <a:ext cx="2834640" cy="1417320"/>
          </a:xfrm>
          <a:prstGeom prst="roundRect">
            <a:avLst>
              <a:gd name="adj" fmla="val 12000"/>
            </a:avLst>
          </a:prstGeom>
          <a:solidFill>
            <a:srgbClr val="F7FAFC"/>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81728" y="2615184"/>
            <a:ext cx="2615184" cy="1307592"/>
          </a:xfrm>
          <a:prstGeom prst="rect">
            <a:avLst/>
          </a:prstGeom>
          <a:noFill/>
        </p:spPr>
        <p:txBody>
          <a:bodyPr wrap="square" lIns="45720" rIns="45720" anchor="ctr">
            <a:spAutoFit/>
          </a:bodyPr>
          <a:lstStyle/>
          <a:p>
            <a:pPr algn="ctr"/>
            <a:r>
              <a:rPr sz="1900" b="1" dirty="0" err="1">
                <a:solidFill>
                  <a:srgbClr val="0A1B34"/>
                </a:solidFill>
                <a:latin typeface="Aptos"/>
              </a:rPr>
              <a:t>ahamo</a:t>
            </a:r>
            <a:r>
              <a:rPr sz="1900" b="1" dirty="0">
                <a:solidFill>
                  <a:srgbClr val="0A1B34"/>
                </a:solidFill>
                <a:latin typeface="Aptos"/>
              </a:rPr>
              <a:t>
</a:t>
            </a:r>
            <a:r>
              <a:rPr sz="1900" b="1" dirty="0" err="1">
                <a:solidFill>
                  <a:srgbClr val="0A1B34"/>
                </a:solidFill>
                <a:latin typeface="Aptos"/>
              </a:rPr>
              <a:t>通信基盤</a:t>
            </a:r>
            <a:endParaRPr sz="1900" b="1" dirty="0">
              <a:solidFill>
                <a:srgbClr val="0A1B34"/>
              </a:solidFill>
              <a:latin typeface="Aptos"/>
            </a:endParaRPr>
          </a:p>
        </p:txBody>
      </p:sp>
      <p:sp>
        <p:nvSpPr>
          <p:cNvPr id="13" name="TextBox 12"/>
          <p:cNvSpPr txBox="1"/>
          <p:nvPr/>
        </p:nvSpPr>
        <p:spPr>
          <a:xfrm>
            <a:off x="4892040" y="4160520"/>
            <a:ext cx="2194560" cy="274320"/>
          </a:xfrm>
          <a:prstGeom prst="rect">
            <a:avLst/>
          </a:prstGeom>
          <a:noFill/>
        </p:spPr>
        <p:txBody>
          <a:bodyPr wrap="square" lIns="45720" rIns="45720" anchor="ctr">
            <a:spAutoFit/>
          </a:bodyPr>
          <a:lstStyle/>
          <a:p>
            <a:pPr algn="ctr"/>
            <a:r>
              <a:rPr sz="1200" b="0">
                <a:solidFill>
                  <a:srgbClr val="66798F"/>
                </a:solidFill>
                <a:latin typeface="Aptos"/>
              </a:rPr>
              <a:t>契約・課金</a:t>
            </a:r>
          </a:p>
        </p:txBody>
      </p:sp>
      <p:cxnSp>
        <p:nvCxnSpPr>
          <p:cNvPr id="14" name="Connector 13"/>
          <p:cNvCxnSpPr/>
          <p:nvPr/>
        </p:nvCxnSpPr>
        <p:spPr>
          <a:xfrm>
            <a:off x="7772400" y="3246120"/>
            <a:ext cx="685800" cy="0"/>
          </a:xfrm>
          <a:prstGeom prst="line">
            <a:avLst/>
          </a:prstGeom>
          <a:ln w="38100">
            <a:solidFill>
              <a:srgbClr val="00AEE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49640" y="2560320"/>
            <a:ext cx="2468880" cy="1417320"/>
          </a:xfrm>
          <a:prstGeom prst="roundRect">
            <a:avLst>
              <a:gd name="adj" fmla="val 12000"/>
            </a:avLst>
          </a:prstGeom>
          <a:solidFill>
            <a:srgbClr val="E8F7FB"/>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59367" y="2615184"/>
            <a:ext cx="2249424" cy="1307592"/>
          </a:xfrm>
          <a:prstGeom prst="rect">
            <a:avLst/>
          </a:prstGeom>
          <a:noFill/>
        </p:spPr>
        <p:txBody>
          <a:bodyPr wrap="square" lIns="45720" rIns="45720" anchor="ctr">
            <a:spAutoFit/>
          </a:bodyPr>
          <a:lstStyle/>
          <a:p>
            <a:pPr algn="ctr"/>
            <a:r>
              <a:rPr sz="1700" b="1">
                <a:solidFill>
                  <a:srgbClr val="0A1B34"/>
                </a:solidFill>
                <a:latin typeface="Aptos"/>
              </a:rPr>
              <a:t>他社経済圏へ
顧客接点を拡大</a:t>
            </a:r>
          </a:p>
        </p:txBody>
      </p:sp>
      <p:sp>
        <p:nvSpPr>
          <p:cNvPr id="17" name="Rounded Rectangle 16"/>
          <p:cNvSpPr/>
          <p:nvPr/>
        </p:nvSpPr>
        <p:spPr>
          <a:xfrm>
            <a:off x="822960" y="4892040"/>
            <a:ext cx="10241280" cy="77724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5084064"/>
            <a:ext cx="9784080" cy="320040"/>
          </a:xfrm>
          <a:prstGeom prst="rect">
            <a:avLst/>
          </a:prstGeom>
          <a:noFill/>
        </p:spPr>
        <p:txBody>
          <a:bodyPr wrap="square" lIns="45720" rIns="45720" anchor="ctr">
            <a:spAutoFit/>
          </a:bodyPr>
          <a:lstStyle/>
          <a:p>
            <a:pPr algn="ctr"/>
            <a:r>
              <a:rPr sz="1800" b="1">
                <a:solidFill>
                  <a:srgbClr val="0A1B34"/>
                </a:solidFill>
                <a:latin typeface="Aptos"/>
              </a:rPr>
              <a:t>次の問い：通信だけでなく、「購買」でも同じことができるのではないか？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05｜EVIDENCE  |  06</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数字が示す、「次はdポイント」という必然。</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Rounded Rectangle 5"/>
          <p:cNvSpPr/>
          <p:nvPr/>
        </p:nvSpPr>
        <p:spPr>
          <a:xfrm>
            <a:off x="685800" y="1737360"/>
            <a:ext cx="4800600" cy="150876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993392"/>
            <a:ext cx="2286000" cy="256032"/>
          </a:xfrm>
          <a:prstGeom prst="rect">
            <a:avLst/>
          </a:prstGeom>
          <a:noFill/>
        </p:spPr>
        <p:txBody>
          <a:bodyPr wrap="square" lIns="45720" rIns="45720" anchor="ctr">
            <a:spAutoFit/>
          </a:bodyPr>
          <a:lstStyle/>
          <a:p>
            <a:pPr algn="l"/>
            <a:r>
              <a:rPr sz="1200" b="1">
                <a:solidFill>
                  <a:srgbClr val="66798F"/>
                </a:solidFill>
                <a:latin typeface="Aptos"/>
              </a:rPr>
              <a:t>ドコモ回線契約数</a:t>
            </a:r>
          </a:p>
        </p:txBody>
      </p:sp>
      <p:sp>
        <p:nvSpPr>
          <p:cNvPr id="8" name="TextBox 7"/>
          <p:cNvSpPr txBox="1"/>
          <p:nvPr/>
        </p:nvSpPr>
        <p:spPr>
          <a:xfrm>
            <a:off x="960120" y="2359152"/>
            <a:ext cx="3200400" cy="548640"/>
          </a:xfrm>
          <a:prstGeom prst="rect">
            <a:avLst/>
          </a:prstGeom>
          <a:noFill/>
        </p:spPr>
        <p:txBody>
          <a:bodyPr wrap="square" lIns="45720" rIns="45720" anchor="ctr">
            <a:spAutoFit/>
          </a:bodyPr>
          <a:lstStyle/>
          <a:p>
            <a:pPr algn="l"/>
            <a:r>
              <a:rPr sz="3000" b="1">
                <a:solidFill>
                  <a:srgbClr val="0A1B34"/>
                </a:solidFill>
                <a:latin typeface="Aptos"/>
              </a:rPr>
              <a:t>9,307万</a:t>
            </a:r>
          </a:p>
        </p:txBody>
      </p:sp>
      <p:sp>
        <p:nvSpPr>
          <p:cNvPr id="9" name="TextBox 8"/>
          <p:cNvSpPr txBox="1"/>
          <p:nvPr/>
        </p:nvSpPr>
        <p:spPr>
          <a:xfrm>
            <a:off x="960120" y="2907792"/>
            <a:ext cx="3200400" cy="201168"/>
          </a:xfrm>
          <a:prstGeom prst="rect">
            <a:avLst/>
          </a:prstGeom>
          <a:noFill/>
        </p:spPr>
        <p:txBody>
          <a:bodyPr wrap="square" lIns="45720" rIns="45720" anchor="ctr">
            <a:spAutoFit/>
          </a:bodyPr>
          <a:lstStyle/>
          <a:p>
            <a:pPr algn="l"/>
            <a:r>
              <a:rPr sz="900" b="0">
                <a:solidFill>
                  <a:srgbClr val="66798F"/>
                </a:solidFill>
                <a:latin typeface="Aptos"/>
              </a:rPr>
              <a:t>2026年3月末・TCA調べ</a:t>
            </a:r>
          </a:p>
        </p:txBody>
      </p:sp>
      <p:sp>
        <p:nvSpPr>
          <p:cNvPr id="10" name="Rounded Rectangle 9"/>
          <p:cNvSpPr/>
          <p:nvPr/>
        </p:nvSpPr>
        <p:spPr>
          <a:xfrm>
            <a:off x="5989320" y="1737360"/>
            <a:ext cx="4800600" cy="1508760"/>
          </a:xfrm>
          <a:prstGeom prst="roundRect">
            <a:avLst>
              <a:gd name="adj" fmla="val 12000"/>
            </a:avLst>
          </a:prstGeom>
          <a:solidFill>
            <a:srgbClr val="EBF8FC"/>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993392"/>
            <a:ext cx="2286000" cy="256032"/>
          </a:xfrm>
          <a:prstGeom prst="rect">
            <a:avLst/>
          </a:prstGeom>
          <a:noFill/>
        </p:spPr>
        <p:txBody>
          <a:bodyPr wrap="square" lIns="45720" rIns="45720" anchor="ctr">
            <a:spAutoFit/>
          </a:bodyPr>
          <a:lstStyle/>
          <a:p>
            <a:pPr algn="l"/>
            <a:r>
              <a:rPr sz="1200" b="1">
                <a:solidFill>
                  <a:srgbClr val="66798F"/>
                </a:solidFill>
                <a:latin typeface="Aptos"/>
              </a:rPr>
              <a:t>dポイント会員数</a:t>
            </a:r>
          </a:p>
        </p:txBody>
      </p:sp>
      <p:sp>
        <p:nvSpPr>
          <p:cNvPr id="12" name="TextBox 11"/>
          <p:cNvSpPr txBox="1"/>
          <p:nvPr/>
        </p:nvSpPr>
        <p:spPr>
          <a:xfrm>
            <a:off x="6263640" y="2359152"/>
            <a:ext cx="3200400" cy="548640"/>
          </a:xfrm>
          <a:prstGeom prst="rect">
            <a:avLst/>
          </a:prstGeom>
          <a:noFill/>
        </p:spPr>
        <p:txBody>
          <a:bodyPr wrap="square" lIns="45720" rIns="45720" anchor="ctr">
            <a:spAutoFit/>
          </a:bodyPr>
          <a:lstStyle/>
          <a:p>
            <a:pPr algn="l"/>
            <a:r>
              <a:rPr sz="3000" b="1">
                <a:solidFill>
                  <a:srgbClr val="0A1B34"/>
                </a:solidFill>
                <a:latin typeface="Aptos"/>
              </a:rPr>
              <a:t>1億500万</a:t>
            </a:r>
          </a:p>
        </p:txBody>
      </p:sp>
      <p:sp>
        <p:nvSpPr>
          <p:cNvPr id="13" name="TextBox 12"/>
          <p:cNvSpPr txBox="1"/>
          <p:nvPr/>
        </p:nvSpPr>
        <p:spPr>
          <a:xfrm>
            <a:off x="6263640" y="2907792"/>
            <a:ext cx="3200400" cy="201168"/>
          </a:xfrm>
          <a:prstGeom prst="rect">
            <a:avLst/>
          </a:prstGeom>
          <a:noFill/>
        </p:spPr>
        <p:txBody>
          <a:bodyPr wrap="square" lIns="45720" rIns="45720" anchor="ctr">
            <a:spAutoFit/>
          </a:bodyPr>
          <a:lstStyle/>
          <a:p>
            <a:pPr algn="l"/>
            <a:r>
              <a:rPr sz="900" b="0">
                <a:solidFill>
                  <a:srgbClr val="66798F"/>
                </a:solidFill>
                <a:latin typeface="Aptos"/>
              </a:rPr>
              <a:t>回線数を上回る会員基盤</a:t>
            </a:r>
          </a:p>
        </p:txBody>
      </p:sp>
      <p:sp>
        <p:nvSpPr>
          <p:cNvPr id="14" name="TextBox 13"/>
          <p:cNvSpPr txBox="1"/>
          <p:nvPr/>
        </p:nvSpPr>
        <p:spPr>
          <a:xfrm>
            <a:off x="685800" y="3794760"/>
            <a:ext cx="10515600" cy="365760"/>
          </a:xfrm>
          <a:prstGeom prst="rect">
            <a:avLst/>
          </a:prstGeom>
          <a:noFill/>
        </p:spPr>
        <p:txBody>
          <a:bodyPr wrap="square" lIns="45720" rIns="45720" anchor="ctr">
            <a:spAutoFit/>
          </a:bodyPr>
          <a:lstStyle/>
          <a:p>
            <a:pPr algn="l"/>
            <a:r>
              <a:rPr sz="2000" b="1">
                <a:solidFill>
                  <a:srgbClr val="0A1B34"/>
                </a:solidFill>
                <a:latin typeface="Aptos"/>
              </a:rPr>
              <a:t>dポイント会員は、ドコモ回線数を上回る規模。</a:t>
            </a:r>
          </a:p>
        </p:txBody>
      </p:sp>
      <p:sp>
        <p:nvSpPr>
          <p:cNvPr id="15" name="TextBox 14"/>
          <p:cNvSpPr txBox="1"/>
          <p:nvPr/>
        </p:nvSpPr>
        <p:spPr>
          <a:xfrm>
            <a:off x="777240" y="4434840"/>
            <a:ext cx="3657600" cy="292608"/>
          </a:xfrm>
          <a:prstGeom prst="rect">
            <a:avLst/>
          </a:prstGeom>
          <a:noFill/>
        </p:spPr>
        <p:txBody>
          <a:bodyPr wrap="square" lIns="45720" rIns="45720" anchor="ctr">
            <a:spAutoFit/>
          </a:bodyPr>
          <a:lstStyle/>
          <a:p>
            <a:pPr algn="l"/>
            <a:r>
              <a:rPr sz="1500" b="1">
                <a:solidFill>
                  <a:srgbClr val="0A1B34"/>
                </a:solidFill>
                <a:latin typeface="Aptos"/>
              </a:rPr>
              <a:t>主要ポイント会員数（公表値）</a:t>
            </a:r>
          </a:p>
        </p:txBody>
      </p:sp>
      <p:sp>
        <p:nvSpPr>
          <p:cNvPr id="16" name="TextBox 15"/>
          <p:cNvSpPr txBox="1"/>
          <p:nvPr/>
        </p:nvSpPr>
        <p:spPr>
          <a:xfrm>
            <a:off x="868680" y="4800600"/>
            <a:ext cx="2194560" cy="219456"/>
          </a:xfrm>
          <a:prstGeom prst="rect">
            <a:avLst/>
          </a:prstGeom>
          <a:noFill/>
        </p:spPr>
        <p:txBody>
          <a:bodyPr wrap="square" lIns="45720" rIns="45720" anchor="ctr">
            <a:spAutoFit/>
          </a:bodyPr>
          <a:lstStyle/>
          <a:p>
            <a:pPr algn="l"/>
            <a:r>
              <a:rPr sz="1000" b="1">
                <a:solidFill>
                  <a:srgbClr val="66798F"/>
                </a:solidFill>
                <a:latin typeface="Aptos"/>
              </a:rPr>
              <a:t>Vポイント</a:t>
            </a:r>
          </a:p>
        </p:txBody>
      </p:sp>
      <p:sp>
        <p:nvSpPr>
          <p:cNvPr id="17" name="TextBox 16"/>
          <p:cNvSpPr txBox="1"/>
          <p:nvPr/>
        </p:nvSpPr>
        <p:spPr>
          <a:xfrm>
            <a:off x="3063240" y="4800600"/>
            <a:ext cx="1554480" cy="219456"/>
          </a:xfrm>
          <a:prstGeom prst="rect">
            <a:avLst/>
          </a:prstGeom>
          <a:noFill/>
        </p:spPr>
        <p:txBody>
          <a:bodyPr wrap="square" lIns="45720" rIns="45720" anchor="ctr">
            <a:spAutoFit/>
          </a:bodyPr>
          <a:lstStyle/>
          <a:p>
            <a:pPr algn="l"/>
            <a:r>
              <a:rPr sz="1000" b="1">
                <a:solidFill>
                  <a:srgbClr val="0A1B34"/>
                </a:solidFill>
                <a:latin typeface="Aptos"/>
              </a:rPr>
              <a:t>1億6,000万</a:t>
            </a:r>
          </a:p>
        </p:txBody>
      </p:sp>
      <p:sp>
        <p:nvSpPr>
          <p:cNvPr id="18" name="TextBox 17"/>
          <p:cNvSpPr txBox="1"/>
          <p:nvPr/>
        </p:nvSpPr>
        <p:spPr>
          <a:xfrm>
            <a:off x="868680" y="5111496"/>
            <a:ext cx="2194560" cy="219456"/>
          </a:xfrm>
          <a:prstGeom prst="rect">
            <a:avLst/>
          </a:prstGeom>
          <a:noFill/>
        </p:spPr>
        <p:txBody>
          <a:bodyPr wrap="square" lIns="45720" rIns="45720" anchor="ctr">
            <a:spAutoFit/>
          </a:bodyPr>
          <a:lstStyle/>
          <a:p>
            <a:pPr algn="l"/>
            <a:r>
              <a:rPr sz="1000" b="1">
                <a:solidFill>
                  <a:srgbClr val="66798F"/>
                </a:solidFill>
                <a:latin typeface="Aptos"/>
              </a:rPr>
              <a:t>楽天ポイント</a:t>
            </a:r>
          </a:p>
        </p:txBody>
      </p:sp>
      <p:sp>
        <p:nvSpPr>
          <p:cNvPr id="19" name="TextBox 18"/>
          <p:cNvSpPr txBox="1"/>
          <p:nvPr/>
        </p:nvSpPr>
        <p:spPr>
          <a:xfrm>
            <a:off x="3063240" y="5111496"/>
            <a:ext cx="1554480" cy="219456"/>
          </a:xfrm>
          <a:prstGeom prst="rect">
            <a:avLst/>
          </a:prstGeom>
          <a:noFill/>
        </p:spPr>
        <p:txBody>
          <a:bodyPr wrap="square" lIns="45720" rIns="45720" anchor="ctr">
            <a:spAutoFit/>
          </a:bodyPr>
          <a:lstStyle/>
          <a:p>
            <a:pPr algn="l"/>
            <a:r>
              <a:rPr sz="1000" b="1">
                <a:solidFill>
                  <a:srgbClr val="0A1B34"/>
                </a:solidFill>
                <a:latin typeface="Aptos"/>
              </a:rPr>
              <a:t>1億以上</a:t>
            </a:r>
          </a:p>
        </p:txBody>
      </p:sp>
      <p:sp>
        <p:nvSpPr>
          <p:cNvPr id="20" name="TextBox 19"/>
          <p:cNvSpPr txBox="1"/>
          <p:nvPr/>
        </p:nvSpPr>
        <p:spPr>
          <a:xfrm>
            <a:off x="868680" y="5422392"/>
            <a:ext cx="2194560" cy="219456"/>
          </a:xfrm>
          <a:prstGeom prst="rect">
            <a:avLst/>
          </a:prstGeom>
          <a:noFill/>
        </p:spPr>
        <p:txBody>
          <a:bodyPr wrap="square" lIns="45720" rIns="45720" anchor="ctr">
            <a:spAutoFit/>
          </a:bodyPr>
          <a:lstStyle/>
          <a:p>
            <a:pPr algn="l"/>
            <a:r>
              <a:rPr sz="1000" b="1">
                <a:solidFill>
                  <a:srgbClr val="66798F"/>
                </a:solidFill>
                <a:latin typeface="Aptos"/>
              </a:rPr>
              <a:t>PayPayポイント</a:t>
            </a:r>
          </a:p>
        </p:txBody>
      </p:sp>
      <p:sp>
        <p:nvSpPr>
          <p:cNvPr id="21" name="TextBox 20"/>
          <p:cNvSpPr txBox="1"/>
          <p:nvPr/>
        </p:nvSpPr>
        <p:spPr>
          <a:xfrm>
            <a:off x="3063240" y="5422392"/>
            <a:ext cx="1554480" cy="219456"/>
          </a:xfrm>
          <a:prstGeom prst="rect">
            <a:avLst/>
          </a:prstGeom>
          <a:noFill/>
        </p:spPr>
        <p:txBody>
          <a:bodyPr wrap="square" lIns="45720" rIns="45720" anchor="ctr">
            <a:spAutoFit/>
          </a:bodyPr>
          <a:lstStyle/>
          <a:p>
            <a:pPr algn="l"/>
            <a:r>
              <a:rPr sz="1000" b="1">
                <a:solidFill>
                  <a:srgbClr val="0A1B34"/>
                </a:solidFill>
                <a:latin typeface="Aptos"/>
              </a:rPr>
              <a:t>1億以上</a:t>
            </a:r>
          </a:p>
        </p:txBody>
      </p:sp>
      <p:sp>
        <p:nvSpPr>
          <p:cNvPr id="22" name="TextBox 21"/>
          <p:cNvSpPr txBox="1"/>
          <p:nvPr/>
        </p:nvSpPr>
        <p:spPr>
          <a:xfrm>
            <a:off x="868680" y="5733288"/>
            <a:ext cx="2194560" cy="219456"/>
          </a:xfrm>
          <a:prstGeom prst="rect">
            <a:avLst/>
          </a:prstGeom>
          <a:noFill/>
        </p:spPr>
        <p:txBody>
          <a:bodyPr wrap="square" lIns="45720" rIns="45720" anchor="ctr">
            <a:spAutoFit/>
          </a:bodyPr>
          <a:lstStyle/>
          <a:p>
            <a:pPr algn="l"/>
            <a:r>
              <a:rPr sz="1000" b="1">
                <a:solidFill>
                  <a:srgbClr val="66798F"/>
                </a:solidFill>
                <a:latin typeface="Aptos"/>
              </a:rPr>
              <a:t>Ponta</a:t>
            </a:r>
          </a:p>
        </p:txBody>
      </p:sp>
      <p:sp>
        <p:nvSpPr>
          <p:cNvPr id="23" name="TextBox 22"/>
          <p:cNvSpPr txBox="1"/>
          <p:nvPr/>
        </p:nvSpPr>
        <p:spPr>
          <a:xfrm>
            <a:off x="3063240" y="5733288"/>
            <a:ext cx="1554480" cy="219456"/>
          </a:xfrm>
          <a:prstGeom prst="rect">
            <a:avLst/>
          </a:prstGeom>
          <a:noFill/>
        </p:spPr>
        <p:txBody>
          <a:bodyPr wrap="square" lIns="45720" rIns="45720" anchor="ctr">
            <a:spAutoFit/>
          </a:bodyPr>
          <a:lstStyle/>
          <a:p>
            <a:pPr algn="l"/>
            <a:r>
              <a:rPr sz="1000" b="1">
                <a:solidFill>
                  <a:srgbClr val="0A1B34"/>
                </a:solidFill>
                <a:latin typeface="Aptos"/>
              </a:rPr>
              <a:t>1億以上</a:t>
            </a:r>
          </a:p>
        </p:txBody>
      </p:sp>
      <p:sp>
        <p:nvSpPr>
          <p:cNvPr id="24" name="TextBox 23"/>
          <p:cNvSpPr txBox="1"/>
          <p:nvPr/>
        </p:nvSpPr>
        <p:spPr>
          <a:xfrm>
            <a:off x="868680" y="6044184"/>
            <a:ext cx="2194560" cy="219456"/>
          </a:xfrm>
          <a:prstGeom prst="rect">
            <a:avLst/>
          </a:prstGeom>
          <a:noFill/>
        </p:spPr>
        <p:txBody>
          <a:bodyPr wrap="square" lIns="45720" rIns="45720" anchor="ctr">
            <a:spAutoFit/>
          </a:bodyPr>
          <a:lstStyle/>
          <a:p>
            <a:pPr algn="l"/>
            <a:r>
              <a:rPr sz="1000" b="1">
                <a:solidFill>
                  <a:srgbClr val="66798F"/>
                </a:solidFill>
                <a:latin typeface="Aptos"/>
              </a:rPr>
              <a:t>dポイント</a:t>
            </a:r>
          </a:p>
        </p:txBody>
      </p:sp>
      <p:sp>
        <p:nvSpPr>
          <p:cNvPr id="25" name="TextBox 24"/>
          <p:cNvSpPr txBox="1"/>
          <p:nvPr/>
        </p:nvSpPr>
        <p:spPr>
          <a:xfrm>
            <a:off x="3063240" y="6044184"/>
            <a:ext cx="1554480" cy="219456"/>
          </a:xfrm>
          <a:prstGeom prst="rect">
            <a:avLst/>
          </a:prstGeom>
          <a:noFill/>
        </p:spPr>
        <p:txBody>
          <a:bodyPr wrap="square" lIns="45720" rIns="45720" anchor="ctr">
            <a:spAutoFit/>
          </a:bodyPr>
          <a:lstStyle/>
          <a:p>
            <a:pPr algn="l"/>
            <a:r>
              <a:rPr sz="1000" b="1">
                <a:solidFill>
                  <a:srgbClr val="0A1B34"/>
                </a:solidFill>
                <a:latin typeface="Aptos"/>
              </a:rPr>
              <a:t>1億500万</a:t>
            </a:r>
          </a:p>
        </p:txBody>
      </p:sp>
      <p:sp>
        <p:nvSpPr>
          <p:cNvPr id="26" name="Rounded Rectangle 25"/>
          <p:cNvSpPr/>
          <p:nvPr/>
        </p:nvSpPr>
        <p:spPr>
          <a:xfrm>
            <a:off x="5486400" y="4434840"/>
            <a:ext cx="5486400" cy="160020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806440" y="4828032"/>
            <a:ext cx="4846320" cy="685800"/>
          </a:xfrm>
          <a:prstGeom prst="rect">
            <a:avLst/>
          </a:prstGeom>
          <a:noFill/>
        </p:spPr>
        <p:txBody>
          <a:bodyPr wrap="square" lIns="45720" rIns="45720" anchor="ctr">
            <a:spAutoFit/>
          </a:bodyPr>
          <a:lstStyle/>
          <a:p>
            <a:pPr algn="ctr"/>
            <a:r>
              <a:rPr sz="1900" b="1" dirty="0" err="1">
                <a:solidFill>
                  <a:srgbClr val="00AEEF"/>
                </a:solidFill>
                <a:latin typeface="Aptos"/>
              </a:rPr>
              <a:t>だからこそ、dポイントの経済圏拡大が</a:t>
            </a:r>
            <a:r>
              <a:rPr sz="1900" b="1" dirty="0">
                <a:solidFill>
                  <a:srgbClr val="00AEEF"/>
                </a:solidFill>
                <a:latin typeface="Aptos"/>
              </a:rPr>
              <a:t>、
</a:t>
            </a:r>
            <a:r>
              <a:rPr sz="1900" b="1" dirty="0" err="1">
                <a:solidFill>
                  <a:srgbClr val="00AEEF"/>
                </a:solidFill>
                <a:latin typeface="Aptos"/>
              </a:rPr>
              <a:t>ahamoに続く次の一手になる</a:t>
            </a:r>
            <a:r>
              <a:rPr sz="1900" b="1" dirty="0">
                <a:solidFill>
                  <a:srgbClr val="00AEEF"/>
                </a:solidFill>
                <a:latin typeface="Apto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06｜PROPOSAL  |  07</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dポイントを、ホワイトレーベルで外部経済圏へ開く。</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TextBox 5"/>
          <p:cNvSpPr txBox="1"/>
          <p:nvPr/>
        </p:nvSpPr>
        <p:spPr>
          <a:xfrm>
            <a:off x="685800" y="1664208"/>
            <a:ext cx="10607040" cy="365760"/>
          </a:xfrm>
          <a:prstGeom prst="rect">
            <a:avLst/>
          </a:prstGeom>
          <a:noFill/>
        </p:spPr>
        <p:txBody>
          <a:bodyPr wrap="square" lIns="45720" rIns="45720" anchor="ctr">
            <a:spAutoFit/>
          </a:bodyPr>
          <a:lstStyle/>
          <a:p>
            <a:pPr algn="l"/>
            <a:r>
              <a:rPr sz="1900" b="1">
                <a:solidFill>
                  <a:srgbClr val="0A1B34"/>
                </a:solidFill>
                <a:latin typeface="Aptos"/>
              </a:rPr>
              <a:t>ドコモが持つ「ポイント基盤」を、パートナーの顧客接点と接続する。</a:t>
            </a:r>
          </a:p>
        </p:txBody>
      </p:sp>
      <p:sp>
        <p:nvSpPr>
          <p:cNvPr id="7" name="Rounded Rectangle 6"/>
          <p:cNvSpPr/>
          <p:nvPr/>
        </p:nvSpPr>
        <p:spPr>
          <a:xfrm>
            <a:off x="731520" y="2743200"/>
            <a:ext cx="2148840" cy="1234440"/>
          </a:xfrm>
          <a:prstGeom prst="roundRect">
            <a:avLst>
              <a:gd name="adj" fmla="val 12000"/>
            </a:avLst>
          </a:prstGeom>
          <a:solidFill>
            <a:srgbClr val="EFF7FA"/>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2798064"/>
            <a:ext cx="1929384" cy="1124712"/>
          </a:xfrm>
          <a:prstGeom prst="rect">
            <a:avLst/>
          </a:prstGeom>
          <a:noFill/>
        </p:spPr>
        <p:txBody>
          <a:bodyPr wrap="square" lIns="45720" rIns="45720" anchor="ctr">
            <a:spAutoFit/>
          </a:bodyPr>
          <a:lstStyle/>
          <a:p>
            <a:pPr algn="ctr"/>
            <a:r>
              <a:rPr sz="1600" b="1">
                <a:solidFill>
                  <a:srgbClr val="0A1B34"/>
                </a:solidFill>
                <a:latin typeface="Aptos"/>
              </a:rPr>
              <a:t>自治体
地域・商業施設</a:t>
            </a:r>
          </a:p>
        </p:txBody>
      </p:sp>
      <p:sp>
        <p:nvSpPr>
          <p:cNvPr id="9" name="Rounded Rectangle 8"/>
          <p:cNvSpPr/>
          <p:nvPr/>
        </p:nvSpPr>
        <p:spPr>
          <a:xfrm>
            <a:off x="3246120" y="2743200"/>
            <a:ext cx="2148840" cy="1234440"/>
          </a:xfrm>
          <a:prstGeom prst="roundRect">
            <a:avLst>
              <a:gd name="adj" fmla="val 12000"/>
            </a:avLst>
          </a:prstGeom>
          <a:solidFill>
            <a:srgbClr val="EFF7FA"/>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55848" y="2798064"/>
            <a:ext cx="1929384" cy="1124712"/>
          </a:xfrm>
          <a:prstGeom prst="rect">
            <a:avLst/>
          </a:prstGeom>
          <a:noFill/>
        </p:spPr>
        <p:txBody>
          <a:bodyPr wrap="square" lIns="45720" rIns="45720" anchor="ctr">
            <a:spAutoFit/>
          </a:bodyPr>
          <a:lstStyle/>
          <a:p>
            <a:pPr algn="ctr"/>
            <a:r>
              <a:rPr sz="1600" b="1">
                <a:solidFill>
                  <a:srgbClr val="0A1B34"/>
                </a:solidFill>
                <a:latin typeface="Aptos"/>
              </a:rPr>
              <a:t>企業
パートナー</a:t>
            </a:r>
          </a:p>
        </p:txBody>
      </p:sp>
      <p:sp>
        <p:nvSpPr>
          <p:cNvPr id="11" name="TextBox 10"/>
          <p:cNvSpPr txBox="1"/>
          <p:nvPr/>
        </p:nvSpPr>
        <p:spPr>
          <a:xfrm>
            <a:off x="5623560" y="3072384"/>
            <a:ext cx="502920" cy="411480"/>
          </a:xfrm>
          <a:prstGeom prst="rect">
            <a:avLst/>
          </a:prstGeom>
          <a:noFill/>
        </p:spPr>
        <p:txBody>
          <a:bodyPr wrap="square" lIns="45720" rIns="45720" anchor="ctr">
            <a:spAutoFit/>
          </a:bodyPr>
          <a:lstStyle/>
          <a:p>
            <a:pPr algn="ctr"/>
            <a:r>
              <a:rPr sz="2800" b="1">
                <a:solidFill>
                  <a:srgbClr val="00AEEF"/>
                </a:solidFill>
                <a:latin typeface="Aptos"/>
              </a:rPr>
              <a:t>→</a:t>
            </a:r>
          </a:p>
        </p:txBody>
      </p:sp>
      <p:sp>
        <p:nvSpPr>
          <p:cNvPr id="12" name="Rounded Rectangle 11"/>
          <p:cNvSpPr/>
          <p:nvPr/>
        </p:nvSpPr>
        <p:spPr>
          <a:xfrm>
            <a:off x="6217920" y="2514600"/>
            <a:ext cx="2377440" cy="1691640"/>
          </a:xfrm>
          <a:prstGeom prst="roundRect">
            <a:avLst>
              <a:gd name="adj" fmla="val 12000"/>
            </a:avLst>
          </a:prstGeom>
          <a:solidFill>
            <a:srgbClr val="E8F7FB"/>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907792"/>
            <a:ext cx="1920240" cy="685800"/>
          </a:xfrm>
          <a:prstGeom prst="rect">
            <a:avLst/>
          </a:prstGeom>
          <a:noFill/>
        </p:spPr>
        <p:txBody>
          <a:bodyPr wrap="square" lIns="45720" rIns="45720" anchor="ctr">
            <a:spAutoFit/>
          </a:bodyPr>
          <a:lstStyle/>
          <a:p>
            <a:pPr algn="ctr"/>
            <a:r>
              <a:rPr sz="2200" b="1">
                <a:solidFill>
                  <a:srgbClr val="0A1B34"/>
                </a:solidFill>
                <a:latin typeface="Aptos"/>
              </a:rPr>
              <a:t>dポイント
WHITE LABEL</a:t>
            </a:r>
          </a:p>
        </p:txBody>
      </p:sp>
      <p:sp>
        <p:nvSpPr>
          <p:cNvPr id="14" name="TextBox 13"/>
          <p:cNvSpPr txBox="1"/>
          <p:nvPr/>
        </p:nvSpPr>
        <p:spPr>
          <a:xfrm>
            <a:off x="6446520" y="3703320"/>
            <a:ext cx="1920240" cy="320040"/>
          </a:xfrm>
          <a:prstGeom prst="rect">
            <a:avLst/>
          </a:prstGeom>
          <a:noFill/>
        </p:spPr>
        <p:txBody>
          <a:bodyPr wrap="square" lIns="45720" rIns="45720" anchor="ctr">
            <a:spAutoFit/>
          </a:bodyPr>
          <a:lstStyle/>
          <a:p>
            <a:pPr algn="ctr"/>
            <a:r>
              <a:rPr sz="1100" b="0">
                <a:solidFill>
                  <a:srgbClr val="66798F"/>
                </a:solidFill>
                <a:latin typeface="Aptos"/>
              </a:rPr>
              <a:t>ブランド提供
ポイント連携</a:t>
            </a:r>
          </a:p>
        </p:txBody>
      </p:sp>
      <p:sp>
        <p:nvSpPr>
          <p:cNvPr id="15" name="TextBox 14"/>
          <p:cNvSpPr txBox="1"/>
          <p:nvPr/>
        </p:nvSpPr>
        <p:spPr>
          <a:xfrm>
            <a:off x="8869680" y="3072384"/>
            <a:ext cx="502920" cy="411480"/>
          </a:xfrm>
          <a:prstGeom prst="rect">
            <a:avLst/>
          </a:prstGeom>
          <a:noFill/>
        </p:spPr>
        <p:txBody>
          <a:bodyPr wrap="square" lIns="45720" rIns="45720" anchor="ctr">
            <a:spAutoFit/>
          </a:bodyPr>
          <a:lstStyle/>
          <a:p>
            <a:pPr algn="ctr"/>
            <a:r>
              <a:rPr sz="2800" b="1">
                <a:solidFill>
                  <a:srgbClr val="00AEEF"/>
                </a:solidFill>
                <a:latin typeface="Aptos"/>
              </a:rPr>
              <a:t>→</a:t>
            </a:r>
          </a:p>
        </p:txBody>
      </p:sp>
      <p:sp>
        <p:nvSpPr>
          <p:cNvPr id="16" name="Rounded Rectangle 15"/>
          <p:cNvSpPr/>
          <p:nvPr/>
        </p:nvSpPr>
        <p:spPr>
          <a:xfrm>
            <a:off x="9464040" y="2514600"/>
            <a:ext cx="1920240" cy="1691640"/>
          </a:xfrm>
          <a:prstGeom prst="roundRect">
            <a:avLst>
              <a:gd name="adj" fmla="val 12000"/>
            </a:avLst>
          </a:prstGeom>
          <a:solidFill>
            <a:srgbClr val="0A1B34"/>
          </a:solidFill>
          <a:ln>
            <a:solidFill>
              <a:srgbClr val="0A1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38360" y="2880360"/>
            <a:ext cx="1371600" cy="320040"/>
          </a:xfrm>
          <a:prstGeom prst="rect">
            <a:avLst/>
          </a:prstGeom>
          <a:noFill/>
        </p:spPr>
        <p:txBody>
          <a:bodyPr wrap="square" lIns="45720" rIns="45720" anchor="ctr">
            <a:spAutoFit/>
          </a:bodyPr>
          <a:lstStyle/>
          <a:p>
            <a:pPr algn="ctr"/>
            <a:r>
              <a:rPr sz="2000" b="1">
                <a:solidFill>
                  <a:srgbClr val="FFFFFF"/>
                </a:solidFill>
                <a:latin typeface="Aptos"/>
              </a:rPr>
              <a:t>ドコモ</a:t>
            </a:r>
          </a:p>
        </p:txBody>
      </p:sp>
      <p:sp>
        <p:nvSpPr>
          <p:cNvPr id="18" name="TextBox 17"/>
          <p:cNvSpPr txBox="1"/>
          <p:nvPr/>
        </p:nvSpPr>
        <p:spPr>
          <a:xfrm>
            <a:off x="9674352" y="3337560"/>
            <a:ext cx="1508760" cy="685800"/>
          </a:xfrm>
          <a:prstGeom prst="rect">
            <a:avLst/>
          </a:prstGeom>
          <a:noFill/>
        </p:spPr>
        <p:txBody>
          <a:bodyPr wrap="square" lIns="45720" rIns="45720" anchor="ctr">
            <a:spAutoFit/>
          </a:bodyPr>
          <a:lstStyle/>
          <a:p>
            <a:pPr algn="ctr"/>
            <a:r>
              <a:rPr sz="1200" b="0">
                <a:solidFill>
                  <a:srgbClr val="FFFFFF"/>
                </a:solidFill>
                <a:latin typeface="Aptos"/>
              </a:rPr>
              <a:t>購買データ
顧客接点
行動理解</a:t>
            </a:r>
          </a:p>
        </p:txBody>
      </p:sp>
      <p:sp>
        <p:nvSpPr>
          <p:cNvPr id="19" name="Rounded Rectangle 18"/>
          <p:cNvSpPr/>
          <p:nvPr/>
        </p:nvSpPr>
        <p:spPr>
          <a:xfrm>
            <a:off x="731520" y="4892040"/>
            <a:ext cx="10652760" cy="77724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5102352"/>
            <a:ext cx="10058400" cy="320040"/>
          </a:xfrm>
          <a:prstGeom prst="rect">
            <a:avLst/>
          </a:prstGeom>
          <a:noFill/>
        </p:spPr>
        <p:txBody>
          <a:bodyPr wrap="square" lIns="45720" rIns="45720" anchor="ctr">
            <a:spAutoFit/>
          </a:bodyPr>
          <a:lstStyle/>
          <a:p>
            <a:pPr algn="ctr"/>
            <a:r>
              <a:rPr sz="2000" b="1">
                <a:solidFill>
                  <a:srgbClr val="00AEEF"/>
                </a:solidFill>
                <a:latin typeface="Aptos"/>
              </a:rPr>
              <a:t>「dポイントを広げる」＝「ドコモが理解できる人を増やす」</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07｜VALUE CREATION  |  08</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価値は、単なるポイント利用料ではない。</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Rounded Rectangle 5"/>
          <p:cNvSpPr/>
          <p:nvPr/>
        </p:nvSpPr>
        <p:spPr>
          <a:xfrm>
            <a:off x="731520" y="1828800"/>
            <a:ext cx="3246120" cy="274320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2103120"/>
            <a:ext cx="640080" cy="411480"/>
          </a:xfrm>
          <a:prstGeom prst="rect">
            <a:avLst/>
          </a:prstGeom>
          <a:noFill/>
        </p:spPr>
        <p:txBody>
          <a:bodyPr wrap="square" lIns="45720" rIns="45720" anchor="ctr">
            <a:spAutoFit/>
          </a:bodyPr>
          <a:lstStyle/>
          <a:p>
            <a:pPr algn="l"/>
            <a:r>
              <a:rPr sz="2600" b="1">
                <a:solidFill>
                  <a:srgbClr val="00AEEF"/>
                </a:solidFill>
                <a:latin typeface="Aptos"/>
              </a:rPr>
              <a:t>01</a:t>
            </a:r>
          </a:p>
        </p:txBody>
      </p:sp>
      <p:sp>
        <p:nvSpPr>
          <p:cNvPr id="8" name="TextBox 7"/>
          <p:cNvSpPr txBox="1"/>
          <p:nvPr/>
        </p:nvSpPr>
        <p:spPr>
          <a:xfrm>
            <a:off x="987552" y="2788920"/>
            <a:ext cx="2697480" cy="502920"/>
          </a:xfrm>
          <a:prstGeom prst="rect">
            <a:avLst/>
          </a:prstGeom>
          <a:noFill/>
        </p:spPr>
        <p:txBody>
          <a:bodyPr wrap="square" lIns="45720" rIns="45720" anchor="ctr">
            <a:spAutoFit/>
          </a:bodyPr>
          <a:lstStyle/>
          <a:p>
            <a:pPr algn="l"/>
            <a:r>
              <a:rPr sz="2000" b="1">
                <a:solidFill>
                  <a:srgbClr val="0A1B34"/>
                </a:solidFill>
                <a:latin typeface="Aptos"/>
              </a:rPr>
              <a:t>接点を広げる</a:t>
            </a:r>
          </a:p>
        </p:txBody>
      </p:sp>
      <p:sp>
        <p:nvSpPr>
          <p:cNvPr id="9" name="TextBox 8"/>
          <p:cNvSpPr txBox="1"/>
          <p:nvPr/>
        </p:nvSpPr>
        <p:spPr>
          <a:xfrm>
            <a:off x="987552" y="3611880"/>
            <a:ext cx="2697480" cy="640080"/>
          </a:xfrm>
          <a:prstGeom prst="rect">
            <a:avLst/>
          </a:prstGeom>
          <a:noFill/>
        </p:spPr>
        <p:txBody>
          <a:bodyPr wrap="square" lIns="45720" rIns="45720" anchor="ctr">
            <a:spAutoFit/>
          </a:bodyPr>
          <a:lstStyle/>
          <a:p>
            <a:pPr algn="l"/>
            <a:r>
              <a:rPr sz="1400" b="0">
                <a:solidFill>
                  <a:srgbClr val="66798F"/>
                </a:solidFill>
                <a:latin typeface="Aptos"/>
              </a:rPr>
              <a:t>これまでドコモと接点がなかった顧客へリーチ</a:t>
            </a:r>
          </a:p>
        </p:txBody>
      </p:sp>
      <p:sp>
        <p:nvSpPr>
          <p:cNvPr id="10" name="TextBox 9"/>
          <p:cNvSpPr txBox="1"/>
          <p:nvPr/>
        </p:nvSpPr>
        <p:spPr>
          <a:xfrm>
            <a:off x="4069080" y="2880360"/>
            <a:ext cx="365760" cy="365760"/>
          </a:xfrm>
          <a:prstGeom prst="rect">
            <a:avLst/>
          </a:prstGeom>
          <a:noFill/>
        </p:spPr>
        <p:txBody>
          <a:bodyPr wrap="square" lIns="45720" rIns="45720" anchor="ctr">
            <a:spAutoFit/>
          </a:bodyPr>
          <a:lstStyle/>
          <a:p>
            <a:pPr algn="ctr"/>
            <a:r>
              <a:rPr sz="2500" b="1">
                <a:solidFill>
                  <a:srgbClr val="00AEEF"/>
                </a:solidFill>
                <a:latin typeface="Aptos"/>
              </a:rPr>
              <a:t>→</a:t>
            </a:r>
          </a:p>
        </p:txBody>
      </p:sp>
      <p:sp>
        <p:nvSpPr>
          <p:cNvPr id="11" name="Rounded Rectangle 10"/>
          <p:cNvSpPr/>
          <p:nvPr/>
        </p:nvSpPr>
        <p:spPr>
          <a:xfrm>
            <a:off x="4480559" y="1828800"/>
            <a:ext cx="3246120" cy="274320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36592" y="2103120"/>
            <a:ext cx="640080" cy="411480"/>
          </a:xfrm>
          <a:prstGeom prst="rect">
            <a:avLst/>
          </a:prstGeom>
          <a:noFill/>
        </p:spPr>
        <p:txBody>
          <a:bodyPr wrap="square" lIns="45720" rIns="45720" anchor="ctr">
            <a:spAutoFit/>
          </a:bodyPr>
          <a:lstStyle/>
          <a:p>
            <a:pPr algn="l"/>
            <a:r>
              <a:rPr sz="2600" b="1">
                <a:solidFill>
                  <a:srgbClr val="00AEEF"/>
                </a:solidFill>
                <a:latin typeface="Aptos"/>
              </a:rPr>
              <a:t>02</a:t>
            </a:r>
          </a:p>
        </p:txBody>
      </p:sp>
      <p:sp>
        <p:nvSpPr>
          <p:cNvPr id="13" name="TextBox 12"/>
          <p:cNvSpPr txBox="1"/>
          <p:nvPr/>
        </p:nvSpPr>
        <p:spPr>
          <a:xfrm>
            <a:off x="4736592" y="2788920"/>
            <a:ext cx="2697480" cy="502920"/>
          </a:xfrm>
          <a:prstGeom prst="rect">
            <a:avLst/>
          </a:prstGeom>
          <a:noFill/>
        </p:spPr>
        <p:txBody>
          <a:bodyPr wrap="square" lIns="45720" rIns="45720" anchor="ctr">
            <a:spAutoFit/>
          </a:bodyPr>
          <a:lstStyle/>
          <a:p>
            <a:pPr algn="l"/>
            <a:r>
              <a:rPr sz="2000" b="1">
                <a:solidFill>
                  <a:srgbClr val="0A1B34"/>
                </a:solidFill>
                <a:latin typeface="Aptos"/>
              </a:rPr>
              <a:t>購買を理解する</a:t>
            </a:r>
          </a:p>
        </p:txBody>
      </p:sp>
      <p:sp>
        <p:nvSpPr>
          <p:cNvPr id="14" name="TextBox 13"/>
          <p:cNvSpPr txBox="1"/>
          <p:nvPr/>
        </p:nvSpPr>
        <p:spPr>
          <a:xfrm>
            <a:off x="4736592" y="3611880"/>
            <a:ext cx="2697480" cy="640080"/>
          </a:xfrm>
          <a:prstGeom prst="rect">
            <a:avLst/>
          </a:prstGeom>
          <a:noFill/>
        </p:spPr>
        <p:txBody>
          <a:bodyPr wrap="square" lIns="45720" rIns="45720" anchor="ctr">
            <a:spAutoFit/>
          </a:bodyPr>
          <a:lstStyle/>
          <a:p>
            <a:pPr algn="l"/>
            <a:r>
              <a:rPr sz="1400" b="0">
                <a:solidFill>
                  <a:srgbClr val="66798F"/>
                </a:solidFill>
                <a:latin typeface="Aptos"/>
              </a:rPr>
              <a:t>リアルな購買行動をデータとして取得</a:t>
            </a:r>
          </a:p>
        </p:txBody>
      </p:sp>
      <p:sp>
        <p:nvSpPr>
          <p:cNvPr id="15" name="TextBox 14"/>
          <p:cNvSpPr txBox="1"/>
          <p:nvPr/>
        </p:nvSpPr>
        <p:spPr>
          <a:xfrm>
            <a:off x="7818119" y="2880360"/>
            <a:ext cx="365760" cy="365760"/>
          </a:xfrm>
          <a:prstGeom prst="rect">
            <a:avLst/>
          </a:prstGeom>
          <a:noFill/>
        </p:spPr>
        <p:txBody>
          <a:bodyPr wrap="square" lIns="45720" rIns="45720" anchor="ctr">
            <a:spAutoFit/>
          </a:bodyPr>
          <a:lstStyle/>
          <a:p>
            <a:pPr algn="ctr"/>
            <a:r>
              <a:rPr sz="2500" b="1">
                <a:solidFill>
                  <a:srgbClr val="00AEEF"/>
                </a:solidFill>
                <a:latin typeface="Aptos"/>
              </a:rPr>
              <a:t>→</a:t>
            </a:r>
          </a:p>
        </p:txBody>
      </p:sp>
      <p:sp>
        <p:nvSpPr>
          <p:cNvPr id="16" name="Rounded Rectangle 15"/>
          <p:cNvSpPr/>
          <p:nvPr/>
        </p:nvSpPr>
        <p:spPr>
          <a:xfrm>
            <a:off x="8229600" y="1828800"/>
            <a:ext cx="3246120" cy="274320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85632" y="2103120"/>
            <a:ext cx="640080" cy="411480"/>
          </a:xfrm>
          <a:prstGeom prst="rect">
            <a:avLst/>
          </a:prstGeom>
          <a:noFill/>
        </p:spPr>
        <p:txBody>
          <a:bodyPr wrap="square" lIns="45720" rIns="45720" anchor="ctr">
            <a:spAutoFit/>
          </a:bodyPr>
          <a:lstStyle/>
          <a:p>
            <a:pPr algn="l"/>
            <a:r>
              <a:rPr sz="2600" b="1">
                <a:solidFill>
                  <a:srgbClr val="00AEEF"/>
                </a:solidFill>
                <a:latin typeface="Aptos"/>
              </a:rPr>
              <a:t>03</a:t>
            </a:r>
          </a:p>
        </p:txBody>
      </p:sp>
      <p:sp>
        <p:nvSpPr>
          <p:cNvPr id="18" name="TextBox 17"/>
          <p:cNvSpPr txBox="1"/>
          <p:nvPr/>
        </p:nvSpPr>
        <p:spPr>
          <a:xfrm>
            <a:off x="8485632" y="2788920"/>
            <a:ext cx="2697480" cy="502920"/>
          </a:xfrm>
          <a:prstGeom prst="rect">
            <a:avLst/>
          </a:prstGeom>
          <a:noFill/>
        </p:spPr>
        <p:txBody>
          <a:bodyPr wrap="square" lIns="45720" rIns="45720" anchor="ctr">
            <a:spAutoFit/>
          </a:bodyPr>
          <a:lstStyle/>
          <a:p>
            <a:pPr algn="l"/>
            <a:r>
              <a:rPr sz="2000" b="1">
                <a:solidFill>
                  <a:srgbClr val="0A1B34"/>
                </a:solidFill>
                <a:latin typeface="Aptos"/>
              </a:rPr>
              <a:t>AI・マーケを進化させる</a:t>
            </a:r>
          </a:p>
        </p:txBody>
      </p:sp>
      <p:sp>
        <p:nvSpPr>
          <p:cNvPr id="19" name="TextBox 18"/>
          <p:cNvSpPr txBox="1"/>
          <p:nvPr/>
        </p:nvSpPr>
        <p:spPr>
          <a:xfrm>
            <a:off x="8485632" y="3611880"/>
            <a:ext cx="2697480" cy="640080"/>
          </a:xfrm>
          <a:prstGeom prst="rect">
            <a:avLst/>
          </a:prstGeom>
          <a:noFill/>
        </p:spPr>
        <p:txBody>
          <a:bodyPr wrap="square" lIns="45720" rIns="45720" anchor="ctr">
            <a:spAutoFit/>
          </a:bodyPr>
          <a:lstStyle/>
          <a:p>
            <a:pPr algn="l"/>
            <a:r>
              <a:rPr sz="1400" b="0">
                <a:solidFill>
                  <a:srgbClr val="66798F"/>
                </a:solidFill>
                <a:latin typeface="Aptos"/>
              </a:rPr>
              <a:t>顧客理解の精度を高め、新たな価値へ</a:t>
            </a:r>
          </a:p>
        </p:txBody>
      </p:sp>
      <p:sp>
        <p:nvSpPr>
          <p:cNvPr id="20" name="Rounded Rectangle 19"/>
          <p:cNvSpPr/>
          <p:nvPr/>
        </p:nvSpPr>
        <p:spPr>
          <a:xfrm>
            <a:off x="1097280" y="5166360"/>
            <a:ext cx="9966960" cy="685800"/>
          </a:xfrm>
          <a:prstGeom prst="roundRect">
            <a:avLst>
              <a:gd name="adj" fmla="val 12000"/>
            </a:avLst>
          </a:prstGeom>
          <a:solidFill>
            <a:srgbClr val="0A1B34"/>
          </a:solidFill>
          <a:ln>
            <a:solidFill>
              <a:srgbClr val="0A1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25880" y="5340096"/>
            <a:ext cx="9509760" cy="320040"/>
          </a:xfrm>
          <a:prstGeom prst="rect">
            <a:avLst/>
          </a:prstGeom>
          <a:noFill/>
        </p:spPr>
        <p:txBody>
          <a:bodyPr wrap="square" lIns="45720" rIns="45720" anchor="ctr">
            <a:spAutoFit/>
          </a:bodyPr>
          <a:lstStyle/>
          <a:p>
            <a:pPr algn="ctr"/>
            <a:r>
              <a:rPr sz="2100" b="1">
                <a:solidFill>
                  <a:srgbClr val="FFFFFF"/>
                </a:solidFill>
                <a:latin typeface="Aptos"/>
              </a:rPr>
              <a:t>ポイント事業を、顧客理解のインフラへ。</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08｜DIFFERENTIATION  |  09</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dポイントWLの本質は、「データの量」ではなく「データの多様性」を増やすこと。</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TextBox 5"/>
          <p:cNvSpPr txBox="1"/>
          <p:nvPr/>
        </p:nvSpPr>
        <p:spPr>
          <a:xfrm>
            <a:off x="777240" y="1783080"/>
            <a:ext cx="3840480" cy="320040"/>
          </a:xfrm>
          <a:prstGeom prst="rect">
            <a:avLst/>
          </a:prstGeom>
          <a:noFill/>
        </p:spPr>
        <p:txBody>
          <a:bodyPr wrap="square" lIns="45720" rIns="45720" anchor="ctr">
            <a:spAutoFit/>
          </a:bodyPr>
          <a:lstStyle/>
          <a:p>
            <a:pPr algn="l"/>
            <a:r>
              <a:rPr sz="1800" b="1">
                <a:solidFill>
                  <a:srgbClr val="0A1B34"/>
                </a:solidFill>
                <a:latin typeface="Aptos"/>
              </a:rPr>
              <a:t>従来：ドコモ顧客だけ</a:t>
            </a:r>
          </a:p>
        </p:txBody>
      </p:sp>
      <p:sp>
        <p:nvSpPr>
          <p:cNvPr id="7" name="Rounded Rectangle 6"/>
          <p:cNvSpPr/>
          <p:nvPr/>
        </p:nvSpPr>
        <p:spPr>
          <a:xfrm>
            <a:off x="777240" y="2331720"/>
            <a:ext cx="4114800" cy="219456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43000" y="2697480"/>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286000" y="2697480"/>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29000" y="2697480"/>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143000" y="3264408"/>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286000" y="3264408"/>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29000" y="3264408"/>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143000" y="3831336"/>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286000" y="3831336"/>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29000" y="3831336"/>
            <a:ext cx="566928" cy="320040"/>
          </a:xfrm>
          <a:prstGeom prst="roundRect">
            <a:avLst>
              <a:gd name="adj" fmla="val 12000"/>
            </a:avLst>
          </a:prstGeom>
          <a:solidFill>
            <a:srgbClr val="CADCE7"/>
          </a:solidFill>
          <a:ln>
            <a:solidFill>
              <a:srgbClr val="CA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3977639"/>
            <a:ext cx="3383280" cy="411480"/>
          </a:xfrm>
          <a:prstGeom prst="rect">
            <a:avLst/>
          </a:prstGeom>
          <a:noFill/>
        </p:spPr>
        <p:txBody>
          <a:bodyPr wrap="square" lIns="45720" rIns="45720" anchor="ctr">
            <a:spAutoFit/>
          </a:bodyPr>
          <a:lstStyle/>
          <a:p>
            <a:pPr algn="ctr"/>
            <a:r>
              <a:rPr sz="1400" b="1">
                <a:solidFill>
                  <a:srgbClr val="66798F"/>
                </a:solidFill>
                <a:latin typeface="Aptos"/>
              </a:rPr>
              <a:t>データ量は増えても
行動特性が似通いやすい</a:t>
            </a:r>
          </a:p>
        </p:txBody>
      </p:sp>
      <p:sp>
        <p:nvSpPr>
          <p:cNvPr id="18" name="TextBox 17"/>
          <p:cNvSpPr txBox="1"/>
          <p:nvPr/>
        </p:nvSpPr>
        <p:spPr>
          <a:xfrm>
            <a:off x="5166360" y="3063240"/>
            <a:ext cx="548640" cy="457200"/>
          </a:xfrm>
          <a:prstGeom prst="rect">
            <a:avLst/>
          </a:prstGeom>
          <a:noFill/>
        </p:spPr>
        <p:txBody>
          <a:bodyPr wrap="square" lIns="45720" rIns="45720" anchor="ctr">
            <a:spAutoFit/>
          </a:bodyPr>
          <a:lstStyle/>
          <a:p>
            <a:pPr algn="ctr"/>
            <a:r>
              <a:rPr sz="3000" b="1">
                <a:solidFill>
                  <a:srgbClr val="00AEEF"/>
                </a:solidFill>
                <a:latin typeface="Aptos"/>
              </a:rPr>
              <a:t>→</a:t>
            </a:r>
          </a:p>
        </p:txBody>
      </p:sp>
      <p:sp>
        <p:nvSpPr>
          <p:cNvPr id="19" name="TextBox 18"/>
          <p:cNvSpPr txBox="1"/>
          <p:nvPr/>
        </p:nvSpPr>
        <p:spPr>
          <a:xfrm>
            <a:off x="5989320" y="1783080"/>
            <a:ext cx="4206240" cy="320040"/>
          </a:xfrm>
          <a:prstGeom prst="rect">
            <a:avLst/>
          </a:prstGeom>
          <a:noFill/>
        </p:spPr>
        <p:txBody>
          <a:bodyPr wrap="square" lIns="45720" rIns="45720" anchor="ctr">
            <a:spAutoFit/>
          </a:bodyPr>
          <a:lstStyle/>
          <a:p>
            <a:pPr algn="l"/>
            <a:r>
              <a:rPr sz="1800" b="1">
                <a:solidFill>
                  <a:srgbClr val="0A1B34"/>
                </a:solidFill>
                <a:latin typeface="Aptos"/>
              </a:rPr>
              <a:t>提案：外部顧客も含める</a:t>
            </a:r>
          </a:p>
        </p:txBody>
      </p:sp>
      <p:sp>
        <p:nvSpPr>
          <p:cNvPr id="20" name="Rounded Rectangle 19"/>
          <p:cNvSpPr/>
          <p:nvPr/>
        </p:nvSpPr>
        <p:spPr>
          <a:xfrm>
            <a:off x="5989320" y="2331720"/>
            <a:ext cx="5074920" cy="2194560"/>
          </a:xfrm>
          <a:prstGeom prst="roundRect">
            <a:avLst>
              <a:gd name="adj" fmla="val 12000"/>
            </a:avLst>
          </a:prstGeom>
          <a:solidFill>
            <a:srgbClr val="EBF8FC"/>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355080" y="2697480"/>
            <a:ext cx="566928" cy="320040"/>
          </a:xfrm>
          <a:prstGeom prst="roundRect">
            <a:avLst>
              <a:gd name="adj" fmla="val 12000"/>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52360" y="3246120"/>
            <a:ext cx="566928" cy="320040"/>
          </a:xfrm>
          <a:prstGeom prst="roundRect">
            <a:avLst>
              <a:gd name="adj" fmla="val 12000"/>
            </a:avLst>
          </a:prstGeom>
          <a:solidFill>
            <a:srgbClr val="43C9E5"/>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549640" y="2697480"/>
            <a:ext cx="566928" cy="320040"/>
          </a:xfrm>
          <a:prstGeom prst="roundRect">
            <a:avLst>
              <a:gd name="adj" fmla="val 12000"/>
            </a:avLst>
          </a:prstGeom>
          <a:solidFill>
            <a:srgbClr val="EF913E"/>
          </a:solidFill>
          <a:ln>
            <a:solidFill>
              <a:srgbClr val="EF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646920" y="3246120"/>
            <a:ext cx="566928" cy="320040"/>
          </a:xfrm>
          <a:prstGeom prst="roundRect">
            <a:avLst>
              <a:gd name="adj" fmla="val 12000"/>
            </a:avLst>
          </a:prstGeom>
          <a:solidFill>
            <a:srgbClr val="8EB5CA"/>
          </a:solidFill>
          <a:ln>
            <a:solidFill>
              <a:srgbClr val="8EB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0287000" y="2697480"/>
            <a:ext cx="566928" cy="320040"/>
          </a:xfrm>
          <a:prstGeom prst="roundRect">
            <a:avLst>
              <a:gd name="adj" fmla="val 12000"/>
            </a:avLst>
          </a:prstGeom>
          <a:solidFill>
            <a:srgbClr val="239A6A"/>
          </a:solidFill>
          <a:ln>
            <a:solidFill>
              <a:srgbClr val="239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903720" y="3749039"/>
            <a:ext cx="566928" cy="320040"/>
          </a:xfrm>
          <a:prstGeom prst="roundRect">
            <a:avLst>
              <a:gd name="adj" fmla="val 12000"/>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144000" y="3749039"/>
            <a:ext cx="566928" cy="320040"/>
          </a:xfrm>
          <a:prstGeom prst="roundRect">
            <a:avLst>
              <a:gd name="adj" fmla="val 12000"/>
            </a:avLst>
          </a:prstGeom>
          <a:solidFill>
            <a:srgbClr val="43C9E5"/>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55080" y="3977639"/>
            <a:ext cx="4297680" cy="411480"/>
          </a:xfrm>
          <a:prstGeom prst="rect">
            <a:avLst/>
          </a:prstGeom>
          <a:noFill/>
        </p:spPr>
        <p:txBody>
          <a:bodyPr wrap="square" lIns="45720" rIns="45720" anchor="ctr">
            <a:spAutoFit/>
          </a:bodyPr>
          <a:lstStyle/>
          <a:p>
            <a:pPr algn="ctr"/>
            <a:r>
              <a:rPr sz="1400" b="1">
                <a:solidFill>
                  <a:srgbClr val="0A1B34"/>
                </a:solidFill>
                <a:latin typeface="Aptos"/>
              </a:rPr>
              <a:t>異なる地域・属性・生活行動
→ AIの理解できる世界が広がる</a:t>
            </a:r>
          </a:p>
        </p:txBody>
      </p:sp>
      <p:sp>
        <p:nvSpPr>
          <p:cNvPr id="29" name="Rounded Rectangle 28"/>
          <p:cNvSpPr/>
          <p:nvPr/>
        </p:nvSpPr>
        <p:spPr>
          <a:xfrm>
            <a:off x="1051560" y="5166360"/>
            <a:ext cx="10058400" cy="68580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80160" y="5349240"/>
            <a:ext cx="9601200" cy="320040"/>
          </a:xfrm>
          <a:prstGeom prst="rect">
            <a:avLst/>
          </a:prstGeom>
          <a:noFill/>
        </p:spPr>
        <p:txBody>
          <a:bodyPr wrap="square" lIns="45720" rIns="45720" anchor="ctr">
            <a:spAutoFit/>
          </a:bodyPr>
          <a:lstStyle/>
          <a:p>
            <a:pPr algn="ctr"/>
            <a:r>
              <a:rPr sz="1900" b="1">
                <a:solidFill>
                  <a:srgbClr val="00AEEF"/>
                </a:solidFill>
                <a:latin typeface="Aptos"/>
              </a:rPr>
              <a:t>「誰にでも役立つAI」には、「誰のデータで学ぶか」が重要。</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09｜BUSINESS MODEL  |  10</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まずは「使ってもらう」仕組みをつくり、次にデータ価値を収益化する。</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Rounded Rectangle 5"/>
          <p:cNvSpPr/>
          <p:nvPr/>
        </p:nvSpPr>
        <p:spPr>
          <a:xfrm>
            <a:off x="731520" y="1783080"/>
            <a:ext cx="5074920" cy="333756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057400"/>
            <a:ext cx="2194560" cy="320040"/>
          </a:xfrm>
          <a:prstGeom prst="rect">
            <a:avLst/>
          </a:prstGeom>
          <a:noFill/>
        </p:spPr>
        <p:txBody>
          <a:bodyPr wrap="square" lIns="45720" rIns="45720" anchor="ctr">
            <a:spAutoFit/>
          </a:bodyPr>
          <a:lstStyle/>
          <a:p>
            <a:pPr algn="l"/>
            <a:r>
              <a:rPr sz="1800" b="1">
                <a:solidFill>
                  <a:srgbClr val="00AEEF"/>
                </a:solidFill>
                <a:latin typeface="Aptos"/>
              </a:rPr>
              <a:t>PHASE 1｜普及</a:t>
            </a:r>
          </a:p>
        </p:txBody>
      </p:sp>
      <p:sp>
        <p:nvSpPr>
          <p:cNvPr id="8" name="TextBox 7"/>
          <p:cNvSpPr txBox="1"/>
          <p:nvPr/>
        </p:nvSpPr>
        <p:spPr>
          <a:xfrm>
            <a:off x="1005840" y="2487168"/>
            <a:ext cx="4023360" cy="320040"/>
          </a:xfrm>
          <a:prstGeom prst="rect">
            <a:avLst/>
          </a:prstGeom>
          <a:noFill/>
        </p:spPr>
        <p:txBody>
          <a:bodyPr wrap="square" lIns="45720" rIns="45720" anchor="ctr">
            <a:spAutoFit/>
          </a:bodyPr>
          <a:lstStyle/>
          <a:p>
            <a:pPr algn="l"/>
            <a:r>
              <a:rPr sz="1600" b="1">
                <a:solidFill>
                  <a:srgbClr val="0A1B34"/>
                </a:solidFill>
                <a:latin typeface="Aptos"/>
              </a:rPr>
              <a:t>加盟店・パートナーを増やす</a:t>
            </a:r>
          </a:p>
        </p:txBody>
      </p:sp>
      <p:sp>
        <p:nvSpPr>
          <p:cNvPr id="9" name="Rounded Rectangle 8"/>
          <p:cNvSpPr/>
          <p:nvPr/>
        </p:nvSpPr>
        <p:spPr>
          <a:xfrm>
            <a:off x="1005840" y="3063240"/>
            <a:ext cx="3931920" cy="384048"/>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3136392"/>
            <a:ext cx="3566160" cy="228600"/>
          </a:xfrm>
          <a:prstGeom prst="rect">
            <a:avLst/>
          </a:prstGeom>
          <a:noFill/>
        </p:spPr>
        <p:txBody>
          <a:bodyPr wrap="square" lIns="45720" rIns="45720" anchor="ctr">
            <a:spAutoFit/>
          </a:bodyPr>
          <a:lstStyle/>
          <a:p>
            <a:pPr algn="ctr"/>
            <a:r>
              <a:rPr sz="1400" b="1">
                <a:solidFill>
                  <a:srgbClr val="1D2B3D"/>
                </a:solidFill>
                <a:latin typeface="Aptos"/>
              </a:rPr>
              <a:t>dポイント利用</a:t>
            </a:r>
          </a:p>
        </p:txBody>
      </p:sp>
      <p:sp>
        <p:nvSpPr>
          <p:cNvPr id="11" name="Rounded Rectangle 10"/>
          <p:cNvSpPr/>
          <p:nvPr/>
        </p:nvSpPr>
        <p:spPr>
          <a:xfrm>
            <a:off x="1005840" y="3593592"/>
            <a:ext cx="3931920" cy="384048"/>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3666744"/>
            <a:ext cx="3566160" cy="228600"/>
          </a:xfrm>
          <a:prstGeom prst="rect">
            <a:avLst/>
          </a:prstGeom>
          <a:noFill/>
        </p:spPr>
        <p:txBody>
          <a:bodyPr wrap="square" lIns="45720" rIns="45720" anchor="ctr">
            <a:spAutoFit/>
          </a:bodyPr>
          <a:lstStyle/>
          <a:p>
            <a:pPr algn="ctr"/>
            <a:r>
              <a:rPr sz="1400" b="1">
                <a:solidFill>
                  <a:srgbClr val="1D2B3D"/>
                </a:solidFill>
                <a:latin typeface="Aptos"/>
              </a:rPr>
              <a:t>送客・利用促進</a:t>
            </a:r>
          </a:p>
        </p:txBody>
      </p:sp>
      <p:sp>
        <p:nvSpPr>
          <p:cNvPr id="13" name="Rounded Rectangle 12"/>
          <p:cNvSpPr/>
          <p:nvPr/>
        </p:nvSpPr>
        <p:spPr>
          <a:xfrm>
            <a:off x="1005840" y="4123944"/>
            <a:ext cx="3931920" cy="384048"/>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4197096"/>
            <a:ext cx="3566160" cy="228600"/>
          </a:xfrm>
          <a:prstGeom prst="rect">
            <a:avLst/>
          </a:prstGeom>
          <a:noFill/>
        </p:spPr>
        <p:txBody>
          <a:bodyPr wrap="square" lIns="45720" rIns="45720" anchor="ctr">
            <a:spAutoFit/>
          </a:bodyPr>
          <a:lstStyle/>
          <a:p>
            <a:pPr algn="ctr"/>
            <a:r>
              <a:rPr sz="1400" b="1">
                <a:solidFill>
                  <a:srgbClr val="1D2B3D"/>
                </a:solidFill>
                <a:latin typeface="Aptos"/>
              </a:rPr>
              <a:t>加盟店手数料</a:t>
            </a:r>
          </a:p>
        </p:txBody>
      </p:sp>
      <p:sp>
        <p:nvSpPr>
          <p:cNvPr id="15" name="Rounded Rectangle 14"/>
          <p:cNvSpPr/>
          <p:nvPr/>
        </p:nvSpPr>
        <p:spPr>
          <a:xfrm>
            <a:off x="6355080" y="1783080"/>
            <a:ext cx="5074920" cy="3337560"/>
          </a:xfrm>
          <a:prstGeom prst="roundRect">
            <a:avLst>
              <a:gd name="adj" fmla="val 12000"/>
            </a:avLst>
          </a:prstGeom>
          <a:solidFill>
            <a:srgbClr val="EBF8FC"/>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2057400"/>
            <a:ext cx="2468880" cy="320040"/>
          </a:xfrm>
          <a:prstGeom prst="rect">
            <a:avLst/>
          </a:prstGeom>
          <a:noFill/>
        </p:spPr>
        <p:txBody>
          <a:bodyPr wrap="square" lIns="45720" rIns="45720" anchor="ctr">
            <a:spAutoFit/>
          </a:bodyPr>
          <a:lstStyle/>
          <a:p>
            <a:pPr algn="l"/>
            <a:r>
              <a:rPr sz="1800" b="1">
                <a:solidFill>
                  <a:srgbClr val="00AEEF"/>
                </a:solidFill>
                <a:latin typeface="Aptos"/>
              </a:rPr>
              <a:t>PHASE 2｜高度化</a:t>
            </a:r>
          </a:p>
        </p:txBody>
      </p:sp>
      <p:sp>
        <p:nvSpPr>
          <p:cNvPr id="17" name="TextBox 16"/>
          <p:cNvSpPr txBox="1"/>
          <p:nvPr/>
        </p:nvSpPr>
        <p:spPr>
          <a:xfrm>
            <a:off x="6629400" y="2487168"/>
            <a:ext cx="4023360" cy="320040"/>
          </a:xfrm>
          <a:prstGeom prst="rect">
            <a:avLst/>
          </a:prstGeom>
          <a:noFill/>
        </p:spPr>
        <p:txBody>
          <a:bodyPr wrap="square" lIns="45720" rIns="45720" anchor="ctr">
            <a:spAutoFit/>
          </a:bodyPr>
          <a:lstStyle/>
          <a:p>
            <a:pPr algn="l"/>
            <a:r>
              <a:rPr sz="1600" b="1">
                <a:solidFill>
                  <a:srgbClr val="0A1B34"/>
                </a:solidFill>
                <a:latin typeface="Aptos"/>
              </a:rPr>
              <a:t>データ価値を高める</a:t>
            </a:r>
          </a:p>
        </p:txBody>
      </p:sp>
      <p:sp>
        <p:nvSpPr>
          <p:cNvPr id="18" name="Rounded Rectangle 17"/>
          <p:cNvSpPr/>
          <p:nvPr/>
        </p:nvSpPr>
        <p:spPr>
          <a:xfrm>
            <a:off x="6629400" y="3063240"/>
            <a:ext cx="3931920" cy="384048"/>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12280" y="3136392"/>
            <a:ext cx="3566160" cy="228600"/>
          </a:xfrm>
          <a:prstGeom prst="rect">
            <a:avLst/>
          </a:prstGeom>
          <a:noFill/>
        </p:spPr>
        <p:txBody>
          <a:bodyPr wrap="square" lIns="45720" rIns="45720" anchor="ctr">
            <a:spAutoFit/>
          </a:bodyPr>
          <a:lstStyle/>
          <a:p>
            <a:pPr algn="ctr"/>
            <a:r>
              <a:rPr sz="1400" b="1">
                <a:solidFill>
                  <a:srgbClr val="1D2B3D"/>
                </a:solidFill>
                <a:latin typeface="Aptos"/>
              </a:rPr>
              <a:t>差分比較マーケティング</a:t>
            </a:r>
          </a:p>
        </p:txBody>
      </p:sp>
      <p:sp>
        <p:nvSpPr>
          <p:cNvPr id="20" name="Rounded Rectangle 19"/>
          <p:cNvSpPr/>
          <p:nvPr/>
        </p:nvSpPr>
        <p:spPr>
          <a:xfrm>
            <a:off x="6629400" y="3593592"/>
            <a:ext cx="3931920" cy="384048"/>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12280" y="3666744"/>
            <a:ext cx="3566160" cy="228600"/>
          </a:xfrm>
          <a:prstGeom prst="rect">
            <a:avLst/>
          </a:prstGeom>
          <a:noFill/>
        </p:spPr>
        <p:txBody>
          <a:bodyPr wrap="square" lIns="45720" rIns="45720" anchor="ctr">
            <a:spAutoFit/>
          </a:bodyPr>
          <a:lstStyle/>
          <a:p>
            <a:pPr algn="ctr"/>
            <a:r>
              <a:rPr sz="1400" b="1">
                <a:solidFill>
                  <a:srgbClr val="1D2B3D"/>
                </a:solidFill>
                <a:latin typeface="Aptos"/>
              </a:rPr>
              <a:t>高度な顧客理解</a:t>
            </a:r>
          </a:p>
        </p:txBody>
      </p:sp>
      <p:sp>
        <p:nvSpPr>
          <p:cNvPr id="22" name="Rounded Rectangle 21"/>
          <p:cNvSpPr/>
          <p:nvPr/>
        </p:nvSpPr>
        <p:spPr>
          <a:xfrm>
            <a:off x="6629400" y="4123944"/>
            <a:ext cx="3931920" cy="384048"/>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12280" y="4197096"/>
            <a:ext cx="3566160" cy="228600"/>
          </a:xfrm>
          <a:prstGeom prst="rect">
            <a:avLst/>
          </a:prstGeom>
          <a:noFill/>
        </p:spPr>
        <p:txBody>
          <a:bodyPr wrap="square" lIns="45720" rIns="45720" anchor="ctr">
            <a:spAutoFit/>
          </a:bodyPr>
          <a:lstStyle/>
          <a:p>
            <a:pPr algn="ctr"/>
            <a:r>
              <a:rPr sz="1400" b="1" dirty="0" err="1">
                <a:solidFill>
                  <a:srgbClr val="1D2B3D"/>
                </a:solidFill>
                <a:latin typeface="Aptos"/>
              </a:rPr>
              <a:t>SyncMeの進化</a:t>
            </a:r>
            <a:endParaRPr sz="1400" b="1" dirty="0">
              <a:solidFill>
                <a:srgbClr val="1D2B3D"/>
              </a:solidFill>
              <a:latin typeface="Aptos"/>
            </a:endParaRPr>
          </a:p>
        </p:txBody>
      </p:sp>
      <p:sp>
        <p:nvSpPr>
          <p:cNvPr id="24" name="Rounded Rectangle 23"/>
          <p:cNvSpPr/>
          <p:nvPr/>
        </p:nvSpPr>
        <p:spPr>
          <a:xfrm>
            <a:off x="1051560" y="5532120"/>
            <a:ext cx="10058400" cy="548640"/>
          </a:xfrm>
          <a:prstGeom prst="roundRect">
            <a:avLst>
              <a:gd name="adj" fmla="val 12000"/>
            </a:avLst>
          </a:prstGeom>
          <a:solidFill>
            <a:srgbClr val="0A1B34"/>
          </a:solidFill>
          <a:ln>
            <a:solidFill>
              <a:srgbClr val="0A1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5669280"/>
            <a:ext cx="9601200" cy="256032"/>
          </a:xfrm>
          <a:prstGeom prst="rect">
            <a:avLst/>
          </a:prstGeom>
          <a:noFill/>
        </p:spPr>
        <p:txBody>
          <a:bodyPr wrap="square" lIns="45720" rIns="45720" anchor="ctr">
            <a:spAutoFit/>
          </a:bodyPr>
          <a:lstStyle/>
          <a:p>
            <a:pPr algn="ctr"/>
            <a:r>
              <a:rPr sz="1700" b="1">
                <a:solidFill>
                  <a:srgbClr val="FFFFFF"/>
                </a:solidFill>
                <a:latin typeface="Aptos"/>
              </a:rPr>
              <a:t>小さく始めて、データが蓄積するほど価値が高まる。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3200400" cy="274320"/>
          </a:xfrm>
          <a:prstGeom prst="rect">
            <a:avLst/>
          </a:prstGeom>
          <a:noFill/>
        </p:spPr>
        <p:txBody>
          <a:bodyPr wrap="square" lIns="45720" rIns="45720" anchor="ctr">
            <a:spAutoFit/>
          </a:bodyPr>
          <a:lstStyle/>
          <a:p>
            <a:pPr algn="l"/>
            <a:r>
              <a:rPr sz="950" b="1">
                <a:solidFill>
                  <a:srgbClr val="00AEEF"/>
                </a:solidFill>
                <a:latin typeface="Aptos"/>
              </a:rPr>
              <a:t>10｜BUSINESS MODEL DEEP DIVE  |  11</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拡大するほど、手数料収益とデータ収益は「二本立て」で伸びる。</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7" name="TextBox 6"/>
          <p:cNvSpPr txBox="1"/>
          <p:nvPr/>
        </p:nvSpPr>
        <p:spPr>
          <a:xfrm>
            <a:off x="685800" y="1691640"/>
            <a:ext cx="6500000" cy="228600"/>
          </a:xfrm>
          <a:prstGeom prst="rect">
            <a:avLst/>
          </a:prstGeom>
          <a:noFill/>
        </p:spPr>
        <p:txBody>
          <a:bodyPr wrap="square" lIns="45720" rIns="45720" anchor="ctr">
            <a:spAutoFit/>
          </a:bodyPr>
          <a:lstStyle/>
          <a:p>
            <a:pPr algn="l"/>
            <a:r>
              <a:rPr sz="1200" b="1">
                <a:solidFill>
                  <a:srgbClr val="66798F"/>
                </a:solidFill>
                <a:latin typeface="Aptos"/>
              </a:rPr>
              <a:t>マーケティングソリューション収益（実績・年換算） 約1,500億円の内訳</a:t>
            </a:r>
          </a:p>
        </p:txBody>
      </p:sp>
      <p:sp>
        <p:nvSpPr>
          <p:cNvPr id="6" name="Rounded Rectangle 5"/>
          <p:cNvSpPr/>
          <p:nvPr/>
        </p:nvSpPr>
        <p:spPr>
          <a:xfrm>
            <a:off x="685800" y="2011680"/>
            <a:ext cx="4550000" cy="685800"/>
          </a:xfrm>
          <a:prstGeom prst="roundRect">
            <a:avLst>
              <a:gd name="adj" fmla="val 10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11680"/>
            <a:ext cx="4550000" cy="685800"/>
          </a:xfrm>
          <a:prstGeom prst="rect">
            <a:avLst/>
          </a:prstGeom>
          <a:noFill/>
        </p:spPr>
        <p:txBody>
          <a:bodyPr wrap="square" lIns="45720" rIns="45720" anchor="ctr">
            <a:noAutofit/>
          </a:bodyPr>
          <a:lstStyle/>
          <a:p>
            <a:pPr algn="ctr"/>
            <a:r>
              <a:rPr sz="1000" b="1">
                <a:solidFill>
                  <a:srgbClr val="0A1B34"/>
                </a:solidFill>
                <a:latin typeface="Aptos"/>
              </a:rPr>
              <a:t>①手数料相当（上限20%想定）
最大669億円</a:t>
            </a:r>
          </a:p>
        </p:txBody>
      </p:sp>
      <p:sp>
        <p:nvSpPr>
          <p:cNvPr id="30" name="Rounded Rectangle 29"/>
          <p:cNvSpPr/>
          <p:nvPr/>
        </p:nvSpPr>
        <p:spPr>
          <a:xfrm>
            <a:off x="5273800" y="2011680"/>
            <a:ext cx="5699000" cy="685800"/>
          </a:xfrm>
          <a:prstGeom prst="roundRect">
            <a:avLst>
              <a:gd name="adj" fmla="val 10000"/>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73800" y="2011680"/>
            <a:ext cx="5699000" cy="685800"/>
          </a:xfrm>
          <a:prstGeom prst="rect">
            <a:avLst/>
          </a:prstGeom>
          <a:noFill/>
        </p:spPr>
        <p:txBody>
          <a:bodyPr wrap="square" lIns="45720" rIns="45720" anchor="ctr">
            <a:noAutofit/>
          </a:bodyPr>
          <a:lstStyle/>
          <a:p>
            <a:pPr algn="ctr"/>
            <a:r>
              <a:rPr sz="1200" b="1">
                <a:solidFill>
                  <a:srgbClr val="FFFFFF"/>
                </a:solidFill>
                <a:latin typeface="Aptos"/>
              </a:rPr>
              <a:t>②データ活用収益相当（残り）
831億円以上</a:t>
            </a:r>
          </a:p>
        </p:txBody>
      </p:sp>
      <p:sp>
        <p:nvSpPr>
          <p:cNvPr id="9" name="TextBox 8"/>
          <p:cNvSpPr txBox="1"/>
          <p:nvPr/>
        </p:nvSpPr>
        <p:spPr>
          <a:xfrm>
            <a:off x="685800" y="2788920"/>
            <a:ext cx="8000000" cy="182880"/>
          </a:xfrm>
          <a:prstGeom prst="rect">
            <a:avLst/>
          </a:prstGeom>
          <a:noFill/>
        </p:spPr>
        <p:txBody>
          <a:bodyPr wrap="square" lIns="45720" rIns="45720" anchor="ctr">
            <a:spAutoFit/>
          </a:bodyPr>
          <a:lstStyle/>
          <a:p>
            <a:pPr algn="l"/>
            <a:r>
              <a:rPr sz="900" b="0">
                <a:solidFill>
                  <a:srgbClr val="66798F"/>
                </a:solidFill>
                <a:latin typeface="Aptos"/>
              </a:rPr>
              <a:t>①は発行量3,344億ptからの逆算上限。②は実績1,500億円との差分から推定</a:t>
            </a:r>
          </a:p>
        </p:txBody>
      </p:sp>
      <p:sp>
        <p:nvSpPr>
          <p:cNvPr id="15" name="TextBox 14"/>
          <p:cNvSpPr txBox="1"/>
          <p:nvPr/>
        </p:nvSpPr>
        <p:spPr>
          <a:xfrm>
            <a:off x="685800" y="3154680"/>
            <a:ext cx="10515600" cy="411480"/>
          </a:xfrm>
          <a:prstGeom prst="rect">
            <a:avLst/>
          </a:prstGeom>
          <a:noFill/>
        </p:spPr>
        <p:txBody>
          <a:bodyPr wrap="square" lIns="45720" rIns="45720" anchor="ctr">
            <a:spAutoFit/>
          </a:bodyPr>
          <a:lstStyle/>
          <a:p>
            <a:pPr algn="l"/>
            <a:r>
              <a:rPr sz="2000" b="1">
                <a:solidFill>
                  <a:srgbClr val="0A1B34"/>
                </a:solidFill>
                <a:latin typeface="Aptos"/>
              </a:rPr>
              <a:t>手数料は規模に比例して伸び、データはそこに複利的に積み上がる。</a:t>
            </a:r>
          </a:p>
        </p:txBody>
      </p:sp>
      <p:sp>
        <p:nvSpPr>
          <p:cNvPr id="14" name="TextBox 13"/>
          <p:cNvSpPr txBox="1"/>
          <p:nvPr/>
        </p:nvSpPr>
        <p:spPr>
          <a:xfrm>
            <a:off x="777240" y="3931920"/>
            <a:ext cx="3657600" cy="292608"/>
          </a:xfrm>
          <a:prstGeom prst="rect">
            <a:avLst/>
          </a:prstGeom>
          <a:noFill/>
        </p:spPr>
        <p:txBody>
          <a:bodyPr wrap="square" lIns="45720" rIns="45720" anchor="ctr">
            <a:spAutoFit/>
          </a:bodyPr>
          <a:lstStyle/>
          <a:p>
            <a:pPr algn="l"/>
            <a:r>
              <a:rPr sz="1500" b="1">
                <a:solidFill>
                  <a:srgbClr val="0A1B34"/>
                </a:solidFill>
                <a:latin typeface="Aptos"/>
              </a:rPr>
              <a:t>収益シフトを裏付ける動き</a:t>
            </a:r>
          </a:p>
        </p:txBody>
      </p:sp>
      <p:sp>
        <p:nvSpPr>
          <p:cNvPr id="16" name="TextBox 15"/>
          <p:cNvSpPr txBox="1"/>
          <p:nvPr/>
        </p:nvSpPr>
        <p:spPr>
          <a:xfrm>
            <a:off x="868680" y="4526280"/>
            <a:ext cx="2194560" cy="219456"/>
          </a:xfrm>
          <a:prstGeom prst="rect">
            <a:avLst/>
          </a:prstGeom>
          <a:noFill/>
        </p:spPr>
        <p:txBody>
          <a:bodyPr wrap="square" lIns="45720" rIns="45720" anchor="ctr">
            <a:spAutoFit/>
          </a:bodyPr>
          <a:lstStyle/>
          <a:p>
            <a:pPr algn="l"/>
            <a:r>
              <a:rPr sz="1000" b="1">
                <a:solidFill>
                  <a:srgbClr val="66798F"/>
                </a:solidFill>
                <a:latin typeface="Aptos"/>
              </a:rPr>
              <a:t>docomo Sense</a:t>
            </a:r>
          </a:p>
        </p:txBody>
      </p:sp>
      <p:sp>
        <p:nvSpPr>
          <p:cNvPr id="17" name="TextBox 16"/>
          <p:cNvSpPr txBox="1"/>
          <p:nvPr/>
        </p:nvSpPr>
        <p:spPr>
          <a:xfrm>
            <a:off x="3063240" y="4526280"/>
            <a:ext cx="1828800" cy="219456"/>
          </a:xfrm>
          <a:prstGeom prst="rect">
            <a:avLst/>
          </a:prstGeom>
          <a:noFill/>
        </p:spPr>
        <p:txBody>
          <a:bodyPr wrap="square" lIns="45720" rIns="45720" anchor="ctr">
            <a:spAutoFit/>
          </a:bodyPr>
          <a:lstStyle/>
          <a:p>
            <a:pPr algn="l"/>
            <a:r>
              <a:rPr sz="1000" b="1">
                <a:solidFill>
                  <a:srgbClr val="0A1B34"/>
                </a:solidFill>
                <a:latin typeface="Aptos"/>
              </a:rPr>
              <a:t>3軸データ統合</a:t>
            </a:r>
          </a:p>
        </p:txBody>
      </p:sp>
      <p:sp>
        <p:nvSpPr>
          <p:cNvPr id="18" name="TextBox 17"/>
          <p:cNvSpPr txBox="1"/>
          <p:nvPr/>
        </p:nvSpPr>
        <p:spPr>
          <a:xfrm>
            <a:off x="868680" y="4837176"/>
            <a:ext cx="2194560" cy="219456"/>
          </a:xfrm>
          <a:prstGeom prst="rect">
            <a:avLst/>
          </a:prstGeom>
          <a:noFill/>
        </p:spPr>
        <p:txBody>
          <a:bodyPr wrap="square" lIns="45720" rIns="45720" anchor="ctr">
            <a:spAutoFit/>
          </a:bodyPr>
          <a:lstStyle/>
          <a:p>
            <a:pPr algn="l"/>
            <a:r>
              <a:rPr sz="1000" b="1">
                <a:solidFill>
                  <a:srgbClr val="66798F"/>
                </a:solidFill>
                <a:latin typeface="Aptos"/>
              </a:rPr>
              <a:t>リテールメディア市場</a:t>
            </a:r>
          </a:p>
        </p:txBody>
      </p:sp>
      <p:sp>
        <p:nvSpPr>
          <p:cNvPr id="19" name="TextBox 18"/>
          <p:cNvSpPr txBox="1"/>
          <p:nvPr/>
        </p:nvSpPr>
        <p:spPr>
          <a:xfrm>
            <a:off x="3063240" y="4837176"/>
            <a:ext cx="1828800" cy="219456"/>
          </a:xfrm>
          <a:prstGeom prst="rect">
            <a:avLst/>
          </a:prstGeom>
          <a:noFill/>
        </p:spPr>
        <p:txBody>
          <a:bodyPr wrap="square" lIns="45720" rIns="45720" anchor="ctr">
            <a:spAutoFit/>
          </a:bodyPr>
          <a:lstStyle/>
          <a:p>
            <a:pPr algn="l"/>
            <a:r>
              <a:rPr sz="1000" b="1">
                <a:solidFill>
                  <a:srgbClr val="0A1B34"/>
                </a:solidFill>
                <a:latin typeface="Aptos"/>
              </a:rPr>
              <a:t>6,066億→1.3兆円</a:t>
            </a:r>
          </a:p>
        </p:txBody>
      </p:sp>
      <p:sp>
        <p:nvSpPr>
          <p:cNvPr id="20" name="TextBox 19"/>
          <p:cNvSpPr txBox="1"/>
          <p:nvPr/>
        </p:nvSpPr>
        <p:spPr>
          <a:xfrm>
            <a:off x="868680" y="5148072"/>
            <a:ext cx="2194560" cy="219456"/>
          </a:xfrm>
          <a:prstGeom prst="rect">
            <a:avLst/>
          </a:prstGeom>
          <a:noFill/>
        </p:spPr>
        <p:txBody>
          <a:bodyPr wrap="square" lIns="45720" rIns="45720" anchor="ctr">
            <a:spAutoFit/>
          </a:bodyPr>
          <a:lstStyle/>
          <a:p>
            <a:pPr algn="l"/>
            <a:r>
              <a:rPr sz="1000" b="1">
                <a:solidFill>
                  <a:srgbClr val="66798F"/>
                </a:solidFill>
                <a:latin typeface="Aptos"/>
              </a:rPr>
              <a:t>Vポイント（CCC）</a:t>
            </a:r>
          </a:p>
        </p:txBody>
      </p:sp>
      <p:sp>
        <p:nvSpPr>
          <p:cNvPr id="21" name="TextBox 20"/>
          <p:cNvSpPr txBox="1"/>
          <p:nvPr/>
        </p:nvSpPr>
        <p:spPr>
          <a:xfrm>
            <a:off x="3063240" y="5148072"/>
            <a:ext cx="1828800" cy="219456"/>
          </a:xfrm>
          <a:prstGeom prst="rect">
            <a:avLst/>
          </a:prstGeom>
          <a:noFill/>
        </p:spPr>
        <p:txBody>
          <a:bodyPr wrap="square" lIns="45720" rIns="45720" anchor="ctr">
            <a:spAutoFit/>
          </a:bodyPr>
          <a:lstStyle/>
          <a:p>
            <a:pPr algn="l"/>
            <a:r>
              <a:rPr sz="1000" b="1">
                <a:solidFill>
                  <a:srgbClr val="0A1B34"/>
                </a:solidFill>
                <a:latin typeface="Aptos"/>
              </a:rPr>
              <a:t>有償データ提供へ</a:t>
            </a:r>
          </a:p>
        </p:txBody>
      </p:sp>
      <p:sp>
        <p:nvSpPr>
          <p:cNvPr id="26" name="Rounded Rectangle 25"/>
          <p:cNvSpPr/>
          <p:nvPr/>
        </p:nvSpPr>
        <p:spPr>
          <a:xfrm>
            <a:off x="5486400" y="3931920"/>
            <a:ext cx="5486400" cy="160020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806440" y="4325112"/>
            <a:ext cx="4846320" cy="685800"/>
          </a:xfrm>
          <a:prstGeom prst="rect">
            <a:avLst/>
          </a:prstGeom>
          <a:noFill/>
        </p:spPr>
        <p:txBody>
          <a:bodyPr wrap="square" lIns="45720" rIns="45720" anchor="ctr">
            <a:spAutoFit/>
          </a:bodyPr>
          <a:lstStyle/>
          <a:p>
            <a:pPr algn="ctr"/>
            <a:r>
              <a:rPr sz="1900" b="1">
                <a:solidFill>
                  <a:srgbClr val="00AEEF"/>
                </a:solidFill>
                <a:latin typeface="Aptos"/>
              </a:rPr>
              <a:t>加盟店が増えるほど、手数料もデータも両方増える。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11｜ALIGNMENT  |  12</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この提案は、ドコモの投資規律の中で、無理なく成立する。</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TextBox 5"/>
          <p:cNvSpPr txBox="1"/>
          <p:nvPr/>
        </p:nvSpPr>
        <p:spPr>
          <a:xfrm>
            <a:off x="731520" y="1737360"/>
            <a:ext cx="5029200" cy="320040"/>
          </a:xfrm>
          <a:prstGeom prst="rect">
            <a:avLst/>
          </a:prstGeom>
          <a:noFill/>
        </p:spPr>
        <p:txBody>
          <a:bodyPr wrap="square" lIns="45720" rIns="45720" anchor="ctr">
            <a:spAutoFit/>
          </a:bodyPr>
          <a:lstStyle/>
          <a:p>
            <a:pPr algn="l"/>
            <a:r>
              <a:rPr sz="1800" b="1">
                <a:solidFill>
                  <a:srgbClr val="0A1B34"/>
                </a:solidFill>
                <a:latin typeface="Aptos"/>
              </a:rPr>
              <a:t>条件①②｜資本と資産の使い方</a:t>
            </a:r>
          </a:p>
        </p:txBody>
      </p:sp>
      <p:sp>
        <p:nvSpPr>
          <p:cNvPr id="7" name="TextBox 6"/>
          <p:cNvSpPr txBox="1"/>
          <p:nvPr/>
        </p:nvSpPr>
        <p:spPr>
          <a:xfrm>
            <a:off x="731520" y="2148840"/>
            <a:ext cx="5029200" cy="320040"/>
          </a:xfrm>
          <a:prstGeom prst="rect">
            <a:avLst/>
          </a:prstGeom>
          <a:noFill/>
        </p:spPr>
        <p:txBody>
          <a:bodyPr wrap="square" lIns="45720" rIns="45720" anchor="ctr">
            <a:spAutoFit/>
          </a:bodyPr>
          <a:lstStyle/>
          <a:p>
            <a:pPr algn="l"/>
            <a:r>
              <a:rPr sz="1500" b="0">
                <a:solidFill>
                  <a:srgbClr val="66798F"/>
                </a:solidFill>
                <a:latin typeface="Aptos"/>
              </a:rPr>
              <a:t>借金せず、コア資産を活かす設計</a:t>
            </a:r>
          </a:p>
        </p:txBody>
      </p:sp>
      <p:sp>
        <p:nvSpPr>
          <p:cNvPr id="8" name="TextBox 7"/>
          <p:cNvSpPr txBox="1"/>
          <p:nvPr/>
        </p:nvSpPr>
        <p:spPr>
          <a:xfrm>
            <a:off x="914400" y="2743200"/>
            <a:ext cx="228600" cy="274320"/>
          </a:xfrm>
          <a:prstGeom prst="rect">
            <a:avLst/>
          </a:prstGeom>
          <a:noFill/>
        </p:spPr>
        <p:txBody>
          <a:bodyPr wrap="square" lIns="45720" rIns="45720" anchor="ctr">
            <a:spAutoFit/>
          </a:bodyPr>
          <a:lstStyle/>
          <a:p>
            <a:pPr algn="l"/>
            <a:r>
              <a:rPr sz="1400" b="1">
                <a:solidFill>
                  <a:srgbClr val="00AEEF"/>
                </a:solidFill>
                <a:latin typeface="Aptos"/>
              </a:rPr>
              <a:t>●</a:t>
            </a:r>
          </a:p>
        </p:txBody>
      </p:sp>
      <p:sp>
        <p:nvSpPr>
          <p:cNvPr id="9" name="TextBox 8"/>
          <p:cNvSpPr txBox="1"/>
          <p:nvPr/>
        </p:nvSpPr>
        <p:spPr>
          <a:xfrm>
            <a:off x="1207008" y="2743200"/>
            <a:ext cx="4462272" cy="384048"/>
          </a:xfrm>
          <a:prstGeom prst="rect">
            <a:avLst/>
          </a:prstGeom>
          <a:noFill/>
        </p:spPr>
        <p:txBody>
          <a:bodyPr wrap="square" lIns="45720" rIns="45720" anchor="ctr">
            <a:spAutoFit/>
          </a:bodyPr>
          <a:lstStyle/>
          <a:p>
            <a:pPr algn="l"/>
            <a:r>
              <a:rPr sz="1400" b="0">
                <a:solidFill>
                  <a:srgbClr val="1D2B3D"/>
                </a:solidFill>
                <a:latin typeface="Aptos"/>
              </a:rPr>
              <a:t>既存のdポイント基盤を活用</a:t>
            </a:r>
          </a:p>
        </p:txBody>
      </p:sp>
      <p:sp>
        <p:nvSpPr>
          <p:cNvPr id="10" name="TextBox 9"/>
          <p:cNvSpPr txBox="1"/>
          <p:nvPr/>
        </p:nvSpPr>
        <p:spPr>
          <a:xfrm>
            <a:off x="914400" y="3246120"/>
            <a:ext cx="228600" cy="274320"/>
          </a:xfrm>
          <a:prstGeom prst="rect">
            <a:avLst/>
          </a:prstGeom>
          <a:noFill/>
        </p:spPr>
        <p:txBody>
          <a:bodyPr wrap="square" lIns="45720" rIns="45720" anchor="ctr">
            <a:spAutoFit/>
          </a:bodyPr>
          <a:lstStyle/>
          <a:p>
            <a:pPr algn="l"/>
            <a:r>
              <a:rPr sz="1400" b="1">
                <a:solidFill>
                  <a:srgbClr val="00AEEF"/>
                </a:solidFill>
                <a:latin typeface="Aptos"/>
              </a:rPr>
              <a:t>●</a:t>
            </a:r>
          </a:p>
        </p:txBody>
      </p:sp>
      <p:sp>
        <p:nvSpPr>
          <p:cNvPr id="11" name="TextBox 10"/>
          <p:cNvSpPr txBox="1"/>
          <p:nvPr/>
        </p:nvSpPr>
        <p:spPr>
          <a:xfrm>
            <a:off x="1207008" y="3246120"/>
            <a:ext cx="4462272" cy="384048"/>
          </a:xfrm>
          <a:prstGeom prst="rect">
            <a:avLst/>
          </a:prstGeom>
          <a:noFill/>
        </p:spPr>
        <p:txBody>
          <a:bodyPr wrap="square" lIns="45720" rIns="45720" anchor="ctr">
            <a:spAutoFit/>
          </a:bodyPr>
          <a:lstStyle/>
          <a:p>
            <a:pPr algn="l"/>
            <a:r>
              <a:rPr sz="1400" b="0">
                <a:solidFill>
                  <a:srgbClr val="1D2B3D"/>
                </a:solidFill>
                <a:latin typeface="Aptos"/>
              </a:rPr>
              <a:t>説明のつく投資として許容範囲</a:t>
            </a:r>
          </a:p>
        </p:txBody>
      </p:sp>
      <p:sp>
        <p:nvSpPr>
          <p:cNvPr id="12" name="TextBox 11"/>
          <p:cNvSpPr txBox="1"/>
          <p:nvPr/>
        </p:nvSpPr>
        <p:spPr>
          <a:xfrm>
            <a:off x="914400" y="3749039"/>
            <a:ext cx="228600" cy="274320"/>
          </a:xfrm>
          <a:prstGeom prst="rect">
            <a:avLst/>
          </a:prstGeom>
          <a:noFill/>
        </p:spPr>
        <p:txBody>
          <a:bodyPr wrap="square" lIns="45720" rIns="45720" anchor="ctr">
            <a:spAutoFit/>
          </a:bodyPr>
          <a:lstStyle/>
          <a:p>
            <a:pPr algn="l"/>
            <a:r>
              <a:rPr sz="1400" b="1">
                <a:solidFill>
                  <a:srgbClr val="00AEEF"/>
                </a:solidFill>
                <a:latin typeface="Aptos"/>
              </a:rPr>
              <a:t>●</a:t>
            </a:r>
          </a:p>
        </p:txBody>
      </p:sp>
      <p:sp>
        <p:nvSpPr>
          <p:cNvPr id="13" name="TextBox 12"/>
          <p:cNvSpPr txBox="1"/>
          <p:nvPr/>
        </p:nvSpPr>
        <p:spPr>
          <a:xfrm>
            <a:off x="1207008" y="3749039"/>
            <a:ext cx="4462272" cy="384048"/>
          </a:xfrm>
          <a:prstGeom prst="rect">
            <a:avLst/>
          </a:prstGeom>
          <a:noFill/>
        </p:spPr>
        <p:txBody>
          <a:bodyPr wrap="square" lIns="45720" rIns="45720" anchor="ctr">
            <a:spAutoFit/>
          </a:bodyPr>
          <a:lstStyle/>
          <a:p>
            <a:pPr algn="l"/>
            <a:r>
              <a:rPr sz="1400" b="0">
                <a:solidFill>
                  <a:srgbClr val="1D2B3D"/>
                </a:solidFill>
                <a:latin typeface="Aptos"/>
              </a:rPr>
              <a:t>0→1のアイデアも排除しない</a:t>
            </a:r>
          </a:p>
        </p:txBody>
      </p:sp>
      <p:sp>
        <p:nvSpPr>
          <p:cNvPr id="14" name="TextBox 13"/>
          <p:cNvSpPr txBox="1"/>
          <p:nvPr/>
        </p:nvSpPr>
        <p:spPr>
          <a:xfrm>
            <a:off x="6172200" y="1737360"/>
            <a:ext cx="5029200" cy="320040"/>
          </a:xfrm>
          <a:prstGeom prst="rect">
            <a:avLst/>
          </a:prstGeom>
          <a:noFill/>
        </p:spPr>
        <p:txBody>
          <a:bodyPr wrap="square" lIns="45720" rIns="45720" anchor="ctr">
            <a:spAutoFit/>
          </a:bodyPr>
          <a:lstStyle/>
          <a:p>
            <a:pPr algn="l"/>
            <a:r>
              <a:rPr sz="1800" b="1">
                <a:solidFill>
                  <a:srgbClr val="0A1B34"/>
                </a:solidFill>
                <a:latin typeface="Aptos"/>
              </a:rPr>
              <a:t>論点③④｜外部環境への耐性</a:t>
            </a:r>
          </a:p>
        </p:txBody>
      </p:sp>
      <p:sp>
        <p:nvSpPr>
          <p:cNvPr id="15" name="TextBox 14"/>
          <p:cNvSpPr txBox="1"/>
          <p:nvPr/>
        </p:nvSpPr>
        <p:spPr>
          <a:xfrm>
            <a:off x="6172200" y="2148840"/>
            <a:ext cx="5029200" cy="320040"/>
          </a:xfrm>
          <a:prstGeom prst="rect">
            <a:avLst/>
          </a:prstGeom>
          <a:noFill/>
        </p:spPr>
        <p:txBody>
          <a:bodyPr wrap="square" lIns="45720" rIns="45720" anchor="ctr">
            <a:spAutoFit/>
          </a:bodyPr>
          <a:lstStyle/>
          <a:p>
            <a:pPr algn="l"/>
            <a:r>
              <a:rPr sz="1500" b="0">
                <a:solidFill>
                  <a:srgbClr val="66798F"/>
                </a:solidFill>
                <a:latin typeface="Aptos"/>
              </a:rPr>
              <a:t>規制にも収益にも揺らがない設計</a:t>
            </a:r>
          </a:p>
        </p:txBody>
      </p:sp>
      <p:sp>
        <p:nvSpPr>
          <p:cNvPr id="16" name="TextBox 15"/>
          <p:cNvSpPr txBox="1"/>
          <p:nvPr/>
        </p:nvSpPr>
        <p:spPr>
          <a:xfrm>
            <a:off x="6355080" y="2743200"/>
            <a:ext cx="228600" cy="274320"/>
          </a:xfrm>
          <a:prstGeom prst="rect">
            <a:avLst/>
          </a:prstGeom>
          <a:noFill/>
        </p:spPr>
        <p:txBody>
          <a:bodyPr wrap="square" lIns="45720" rIns="45720" anchor="ctr">
            <a:spAutoFit/>
          </a:bodyPr>
          <a:lstStyle/>
          <a:p>
            <a:pPr algn="l"/>
            <a:r>
              <a:rPr sz="1400" b="1">
                <a:solidFill>
                  <a:srgbClr val="00AEEF"/>
                </a:solidFill>
                <a:latin typeface="Aptos"/>
              </a:rPr>
              <a:t>●</a:t>
            </a:r>
          </a:p>
        </p:txBody>
      </p:sp>
      <p:sp>
        <p:nvSpPr>
          <p:cNvPr id="17" name="TextBox 16"/>
          <p:cNvSpPr txBox="1"/>
          <p:nvPr/>
        </p:nvSpPr>
        <p:spPr>
          <a:xfrm>
            <a:off x="6647688" y="2743200"/>
            <a:ext cx="4462272" cy="384048"/>
          </a:xfrm>
          <a:prstGeom prst="rect">
            <a:avLst/>
          </a:prstGeom>
          <a:noFill/>
        </p:spPr>
        <p:txBody>
          <a:bodyPr wrap="square" lIns="45720" rIns="45720" anchor="ctr">
            <a:spAutoFit/>
          </a:bodyPr>
          <a:lstStyle/>
          <a:p>
            <a:pPr algn="l"/>
            <a:r>
              <a:rPr sz="1400" b="0">
                <a:solidFill>
                  <a:srgbClr val="1D2B3D"/>
                </a:solidFill>
                <a:latin typeface="Aptos"/>
              </a:rPr>
              <a:t>端末値引き規制とは無関係の施策</a:t>
            </a:r>
          </a:p>
        </p:txBody>
      </p:sp>
      <p:sp>
        <p:nvSpPr>
          <p:cNvPr id="18" name="TextBox 17"/>
          <p:cNvSpPr txBox="1"/>
          <p:nvPr/>
        </p:nvSpPr>
        <p:spPr>
          <a:xfrm>
            <a:off x="6355080" y="3246120"/>
            <a:ext cx="228600" cy="274320"/>
          </a:xfrm>
          <a:prstGeom prst="rect">
            <a:avLst/>
          </a:prstGeom>
          <a:noFill/>
        </p:spPr>
        <p:txBody>
          <a:bodyPr wrap="square" lIns="45720" rIns="45720" anchor="ctr">
            <a:spAutoFit/>
          </a:bodyPr>
          <a:lstStyle/>
          <a:p>
            <a:pPr algn="l"/>
            <a:r>
              <a:rPr sz="1400" b="1">
                <a:solidFill>
                  <a:srgbClr val="00AEEF"/>
                </a:solidFill>
                <a:latin typeface="Aptos"/>
              </a:rPr>
              <a:t>●</a:t>
            </a:r>
          </a:p>
        </p:txBody>
      </p:sp>
      <p:sp>
        <p:nvSpPr>
          <p:cNvPr id="19" name="TextBox 18"/>
          <p:cNvSpPr txBox="1"/>
          <p:nvPr/>
        </p:nvSpPr>
        <p:spPr>
          <a:xfrm>
            <a:off x="6647688" y="3246120"/>
            <a:ext cx="4462272" cy="384048"/>
          </a:xfrm>
          <a:prstGeom prst="rect">
            <a:avLst/>
          </a:prstGeom>
          <a:noFill/>
        </p:spPr>
        <p:txBody>
          <a:bodyPr wrap="square" lIns="45720" rIns="45720" anchor="ctr">
            <a:spAutoFit/>
          </a:bodyPr>
          <a:lstStyle/>
          <a:p>
            <a:pPr algn="l"/>
            <a:r>
              <a:rPr sz="1400" b="0">
                <a:solidFill>
                  <a:srgbClr val="1D2B3D"/>
                </a:solidFill>
                <a:latin typeface="Aptos"/>
              </a:rPr>
              <a:t>緩和・強化どちらに転んでも成立</a:t>
            </a:r>
          </a:p>
        </p:txBody>
      </p:sp>
      <p:sp>
        <p:nvSpPr>
          <p:cNvPr id="20" name="TextBox 19"/>
          <p:cNvSpPr txBox="1"/>
          <p:nvPr/>
        </p:nvSpPr>
        <p:spPr>
          <a:xfrm>
            <a:off x="6355080" y="3749039"/>
            <a:ext cx="228600" cy="274320"/>
          </a:xfrm>
          <a:prstGeom prst="rect">
            <a:avLst/>
          </a:prstGeom>
          <a:noFill/>
        </p:spPr>
        <p:txBody>
          <a:bodyPr wrap="square" lIns="45720" rIns="45720" anchor="ctr">
            <a:spAutoFit/>
          </a:bodyPr>
          <a:lstStyle/>
          <a:p>
            <a:pPr algn="l"/>
            <a:r>
              <a:rPr sz="1400" b="1">
                <a:solidFill>
                  <a:srgbClr val="00AEEF"/>
                </a:solidFill>
                <a:latin typeface="Aptos"/>
              </a:rPr>
              <a:t>●</a:t>
            </a:r>
          </a:p>
        </p:txBody>
      </p:sp>
      <p:sp>
        <p:nvSpPr>
          <p:cNvPr id="21" name="TextBox 20"/>
          <p:cNvSpPr txBox="1"/>
          <p:nvPr/>
        </p:nvSpPr>
        <p:spPr>
          <a:xfrm>
            <a:off x="6647688" y="3749039"/>
            <a:ext cx="4462272" cy="384048"/>
          </a:xfrm>
          <a:prstGeom prst="rect">
            <a:avLst/>
          </a:prstGeom>
          <a:noFill/>
        </p:spPr>
        <p:txBody>
          <a:bodyPr wrap="square" lIns="45720" rIns="45720" anchor="ctr">
            <a:spAutoFit/>
          </a:bodyPr>
          <a:lstStyle/>
          <a:p>
            <a:pPr algn="l"/>
            <a:r>
              <a:rPr sz="1400" b="0">
                <a:solidFill>
                  <a:srgbClr val="1D2B3D"/>
                </a:solidFill>
                <a:latin typeface="Aptos"/>
              </a:rPr>
              <a:t>Phase1で利益、Phase2で成長</a:t>
            </a:r>
          </a:p>
        </p:txBody>
      </p:sp>
      <p:sp>
        <p:nvSpPr>
          <p:cNvPr id="22" name="Rounded Rectangle 21"/>
          <p:cNvSpPr/>
          <p:nvPr/>
        </p:nvSpPr>
        <p:spPr>
          <a:xfrm>
            <a:off x="914400" y="5074920"/>
            <a:ext cx="10332720" cy="777240"/>
          </a:xfrm>
          <a:prstGeom prst="roundRect">
            <a:avLst>
              <a:gd name="adj" fmla="val 12000"/>
            </a:avLst>
          </a:prstGeom>
          <a:solidFill>
            <a:srgbClr val="EBF8FC"/>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5285232"/>
            <a:ext cx="9875520" cy="320040"/>
          </a:xfrm>
          <a:prstGeom prst="rect">
            <a:avLst/>
          </a:prstGeom>
          <a:noFill/>
        </p:spPr>
        <p:txBody>
          <a:bodyPr wrap="square" lIns="45720" rIns="45720" anchor="ctr">
            <a:spAutoFit/>
          </a:bodyPr>
          <a:lstStyle/>
          <a:p>
            <a:pPr algn="ctr"/>
            <a:r>
              <a:rPr sz="1700" b="1">
                <a:solidFill>
                  <a:srgbClr val="00AEEF"/>
                </a:solidFill>
                <a:latin typeface="Aptos"/>
              </a:rPr>
              <a:t>小さく始めて検証し、無理のない範囲で規律と成長を両立させる。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286000" cy="274320"/>
          </a:xfrm>
          <a:prstGeom prst="rect">
            <a:avLst/>
          </a:prstGeom>
          <a:noFill/>
        </p:spPr>
        <p:txBody>
          <a:bodyPr wrap="square" lIns="45720" rIns="45720" anchor="ctr">
            <a:spAutoFit/>
          </a:bodyPr>
          <a:lstStyle/>
          <a:p>
            <a:pPr algn="l"/>
            <a:r>
              <a:rPr sz="950" b="1">
                <a:solidFill>
                  <a:srgbClr val="00AEEF"/>
                </a:solidFill>
                <a:latin typeface="Aptos"/>
              </a:rPr>
              <a:t>12｜FIRST MOVE  |  13</a:t>
            </a:r>
          </a:p>
        </p:txBody>
      </p:sp>
      <p:sp>
        <p:nvSpPr>
          <p:cNvPr id="3" name="TextBox 2"/>
          <p:cNvSpPr txBox="1"/>
          <p:nvPr/>
        </p:nvSpPr>
        <p:spPr>
          <a:xfrm>
            <a:off x="502920" y="612648"/>
            <a:ext cx="11064240" cy="585216"/>
          </a:xfrm>
          <a:prstGeom prst="rect">
            <a:avLst/>
          </a:prstGeom>
          <a:noFill/>
        </p:spPr>
        <p:txBody>
          <a:bodyPr wrap="square" lIns="45720" rIns="45720" anchor="ctr">
            <a:spAutoFit/>
          </a:bodyPr>
          <a:lstStyle/>
          <a:p>
            <a:pPr algn="l"/>
            <a:r>
              <a:rPr sz="2400" b="1">
                <a:solidFill>
                  <a:srgbClr val="0A1B34"/>
                </a:solidFill>
                <a:latin typeface="Aptos"/>
              </a:rPr>
              <a:t>最初のパートナーは、「顧客接点」と「データの多様性」を同時に広げられる相手。</a:t>
            </a:r>
          </a:p>
        </p:txBody>
      </p:sp>
      <p:cxnSp>
        <p:nvCxnSpPr>
          <p:cNvPr id="4" name="Connector 3"/>
          <p:cNvCxnSpPr/>
          <p:nvPr/>
        </p:nvCxnSpPr>
        <p:spPr>
          <a:xfrm>
            <a:off x="502920" y="1344168"/>
            <a:ext cx="11183112" cy="0"/>
          </a:xfrm>
          <a:prstGeom prst="line">
            <a:avLst/>
          </a:prstGeom>
          <a:ln w="12700">
            <a:solidFill>
              <a:srgbClr val="DAE4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4572000" cy="164592"/>
          </a:xfrm>
          <a:prstGeom prst="rect">
            <a:avLst/>
          </a:prstGeom>
          <a:noFill/>
        </p:spPr>
        <p:txBody>
          <a:bodyPr wrap="square" lIns="45720" rIns="45720" anchor="ctr">
            <a:spAutoFit/>
          </a:bodyPr>
          <a:lstStyle/>
          <a:p>
            <a:pPr algn="l"/>
            <a:r>
              <a:rPr sz="750" b="0">
                <a:solidFill>
                  <a:srgbClr val="66798F"/>
                </a:solidFill>
                <a:latin typeface="Aptos"/>
              </a:rPr>
              <a:t>ドコモ ビジネス創造インターンシップ｜新規事業提案</a:t>
            </a:r>
          </a:p>
        </p:txBody>
      </p:sp>
      <p:sp>
        <p:nvSpPr>
          <p:cNvPr id="6" name="TextBox 5"/>
          <p:cNvSpPr txBox="1"/>
          <p:nvPr/>
        </p:nvSpPr>
        <p:spPr>
          <a:xfrm>
            <a:off x="731520" y="1664208"/>
            <a:ext cx="10698480" cy="365760"/>
          </a:xfrm>
          <a:prstGeom prst="rect">
            <a:avLst/>
          </a:prstGeom>
          <a:noFill/>
        </p:spPr>
        <p:txBody>
          <a:bodyPr wrap="square" lIns="45720" rIns="45720" anchor="ctr">
            <a:spAutoFit/>
          </a:bodyPr>
          <a:lstStyle/>
          <a:p>
            <a:pPr algn="l"/>
            <a:r>
              <a:rPr sz="1800" b="1">
                <a:solidFill>
                  <a:srgbClr val="0A1B34"/>
                </a:solidFill>
                <a:latin typeface="Aptos"/>
              </a:rPr>
              <a:t>最初から全国展開を狙わず、異なるタイプのパートナーで検証する。</a:t>
            </a:r>
          </a:p>
        </p:txBody>
      </p:sp>
      <p:sp>
        <p:nvSpPr>
          <p:cNvPr id="7" name="Rounded Rectangle 6"/>
          <p:cNvSpPr/>
          <p:nvPr/>
        </p:nvSpPr>
        <p:spPr>
          <a:xfrm>
            <a:off x="731520" y="2331720"/>
            <a:ext cx="3246120" cy="237744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331720"/>
            <a:ext cx="3246120" cy="109728"/>
          </a:xfrm>
          <a:prstGeom prst="rect">
            <a:avLst/>
          </a:prstGeom>
          <a:solidFill>
            <a:srgbClr val="00AEEF"/>
          </a:solidFill>
          <a:ln>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651760"/>
            <a:ext cx="2743200" cy="384048"/>
          </a:xfrm>
          <a:prstGeom prst="rect">
            <a:avLst/>
          </a:prstGeom>
          <a:noFill/>
        </p:spPr>
        <p:txBody>
          <a:bodyPr wrap="square" lIns="45720" rIns="45720" anchor="ctr">
            <a:spAutoFit/>
          </a:bodyPr>
          <a:lstStyle/>
          <a:p>
            <a:pPr algn="l"/>
            <a:r>
              <a:rPr sz="2000" b="1">
                <a:solidFill>
                  <a:srgbClr val="0A1B34"/>
                </a:solidFill>
                <a:latin typeface="Aptos"/>
              </a:rPr>
              <a:t>自治体</a:t>
            </a:r>
          </a:p>
        </p:txBody>
      </p:sp>
      <p:sp>
        <p:nvSpPr>
          <p:cNvPr id="10" name="TextBox 9"/>
          <p:cNvSpPr txBox="1"/>
          <p:nvPr/>
        </p:nvSpPr>
        <p:spPr>
          <a:xfrm>
            <a:off x="960120" y="3337560"/>
            <a:ext cx="2743200" cy="320040"/>
          </a:xfrm>
          <a:prstGeom prst="rect">
            <a:avLst/>
          </a:prstGeom>
          <a:noFill/>
        </p:spPr>
        <p:txBody>
          <a:bodyPr wrap="square" lIns="45720" rIns="45720" anchor="ctr">
            <a:spAutoFit/>
          </a:bodyPr>
          <a:lstStyle/>
          <a:p>
            <a:pPr algn="l"/>
            <a:r>
              <a:rPr sz="1400" b="1">
                <a:solidFill>
                  <a:srgbClr val="1D2B3D"/>
                </a:solidFill>
                <a:latin typeface="Aptos"/>
              </a:rPr>
              <a:t>地域住民への接点</a:t>
            </a:r>
          </a:p>
        </p:txBody>
      </p:sp>
      <p:sp>
        <p:nvSpPr>
          <p:cNvPr id="11" name="TextBox 10"/>
          <p:cNvSpPr txBox="1"/>
          <p:nvPr/>
        </p:nvSpPr>
        <p:spPr>
          <a:xfrm>
            <a:off x="960120" y="3886200"/>
            <a:ext cx="2743200" cy="320040"/>
          </a:xfrm>
          <a:prstGeom prst="rect">
            <a:avLst/>
          </a:prstGeom>
          <a:noFill/>
        </p:spPr>
        <p:txBody>
          <a:bodyPr wrap="square" lIns="45720" rIns="45720" anchor="ctr">
            <a:spAutoFit/>
          </a:bodyPr>
          <a:lstStyle/>
          <a:p>
            <a:pPr algn="l"/>
            <a:r>
              <a:rPr sz="1300" b="0">
                <a:solidFill>
                  <a:srgbClr val="66798F"/>
                </a:solidFill>
                <a:latin typeface="Aptos"/>
              </a:rPr>
              <a:t>地域・属性の多様性</a:t>
            </a:r>
          </a:p>
        </p:txBody>
      </p:sp>
      <p:sp>
        <p:nvSpPr>
          <p:cNvPr id="12" name="Rounded Rectangle 11"/>
          <p:cNvSpPr/>
          <p:nvPr/>
        </p:nvSpPr>
        <p:spPr>
          <a:xfrm>
            <a:off x="4480559" y="2331720"/>
            <a:ext cx="3246120" cy="237744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59" y="2331720"/>
            <a:ext cx="3246120" cy="109728"/>
          </a:xfrm>
          <a:prstGeom prst="rect">
            <a:avLst/>
          </a:prstGeom>
          <a:solidFill>
            <a:srgbClr val="43C9E5"/>
          </a:solidFill>
          <a:ln>
            <a:solidFill>
              <a:srgbClr val="43C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9159" y="2651760"/>
            <a:ext cx="2743200" cy="384048"/>
          </a:xfrm>
          <a:prstGeom prst="rect">
            <a:avLst/>
          </a:prstGeom>
          <a:noFill/>
        </p:spPr>
        <p:txBody>
          <a:bodyPr wrap="square" lIns="45720" rIns="45720" anchor="ctr">
            <a:spAutoFit/>
          </a:bodyPr>
          <a:lstStyle/>
          <a:p>
            <a:pPr algn="l"/>
            <a:r>
              <a:rPr sz="2000" b="1">
                <a:solidFill>
                  <a:srgbClr val="0A1B34"/>
                </a:solidFill>
                <a:latin typeface="Aptos"/>
              </a:rPr>
              <a:t>商業施設</a:t>
            </a:r>
          </a:p>
        </p:txBody>
      </p:sp>
      <p:sp>
        <p:nvSpPr>
          <p:cNvPr id="15" name="TextBox 14"/>
          <p:cNvSpPr txBox="1"/>
          <p:nvPr/>
        </p:nvSpPr>
        <p:spPr>
          <a:xfrm>
            <a:off x="4709159" y="3337560"/>
            <a:ext cx="2743200" cy="320040"/>
          </a:xfrm>
          <a:prstGeom prst="rect">
            <a:avLst/>
          </a:prstGeom>
          <a:noFill/>
        </p:spPr>
        <p:txBody>
          <a:bodyPr wrap="square" lIns="45720" rIns="45720" anchor="ctr">
            <a:spAutoFit/>
          </a:bodyPr>
          <a:lstStyle/>
          <a:p>
            <a:pPr algn="l"/>
            <a:r>
              <a:rPr sz="1400" b="1">
                <a:solidFill>
                  <a:srgbClr val="1D2B3D"/>
                </a:solidFill>
                <a:latin typeface="Aptos"/>
              </a:rPr>
              <a:t>来訪者への接点</a:t>
            </a:r>
          </a:p>
        </p:txBody>
      </p:sp>
      <p:sp>
        <p:nvSpPr>
          <p:cNvPr id="16" name="TextBox 15"/>
          <p:cNvSpPr txBox="1"/>
          <p:nvPr/>
        </p:nvSpPr>
        <p:spPr>
          <a:xfrm>
            <a:off x="4709159" y="3886200"/>
            <a:ext cx="2743200" cy="320040"/>
          </a:xfrm>
          <a:prstGeom prst="rect">
            <a:avLst/>
          </a:prstGeom>
          <a:noFill/>
        </p:spPr>
        <p:txBody>
          <a:bodyPr wrap="square" lIns="45720" rIns="45720" anchor="ctr">
            <a:spAutoFit/>
          </a:bodyPr>
          <a:lstStyle/>
          <a:p>
            <a:pPr algn="l"/>
            <a:r>
              <a:rPr sz="1300" b="0">
                <a:solidFill>
                  <a:srgbClr val="66798F"/>
                </a:solidFill>
                <a:latin typeface="Aptos"/>
              </a:rPr>
              <a:t>購買行動の多様性</a:t>
            </a:r>
          </a:p>
        </p:txBody>
      </p:sp>
      <p:sp>
        <p:nvSpPr>
          <p:cNvPr id="17" name="Rounded Rectangle 16"/>
          <p:cNvSpPr/>
          <p:nvPr/>
        </p:nvSpPr>
        <p:spPr>
          <a:xfrm>
            <a:off x="8229600" y="2331720"/>
            <a:ext cx="3246120" cy="2377440"/>
          </a:xfrm>
          <a:prstGeom prst="roundRect">
            <a:avLst>
              <a:gd name="adj" fmla="val 12000"/>
            </a:avLst>
          </a:prstGeom>
          <a:solidFill>
            <a:srgbClr val="FFFFFF"/>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0" y="2331720"/>
            <a:ext cx="3246120" cy="109728"/>
          </a:xfrm>
          <a:prstGeom prst="rect">
            <a:avLst/>
          </a:prstGeom>
          <a:solidFill>
            <a:srgbClr val="EF913E"/>
          </a:solidFill>
          <a:ln>
            <a:solidFill>
              <a:srgbClr val="EF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58200" y="2651760"/>
            <a:ext cx="2743200" cy="384048"/>
          </a:xfrm>
          <a:prstGeom prst="rect">
            <a:avLst/>
          </a:prstGeom>
          <a:noFill/>
        </p:spPr>
        <p:txBody>
          <a:bodyPr wrap="square" lIns="45720" rIns="45720" anchor="ctr">
            <a:spAutoFit/>
          </a:bodyPr>
          <a:lstStyle/>
          <a:p>
            <a:pPr algn="l"/>
            <a:r>
              <a:rPr sz="2000" b="1">
                <a:solidFill>
                  <a:srgbClr val="0A1B34"/>
                </a:solidFill>
                <a:latin typeface="Aptos"/>
              </a:rPr>
              <a:t>企業・経済圏</a:t>
            </a:r>
          </a:p>
        </p:txBody>
      </p:sp>
      <p:sp>
        <p:nvSpPr>
          <p:cNvPr id="20" name="TextBox 19"/>
          <p:cNvSpPr txBox="1"/>
          <p:nvPr/>
        </p:nvSpPr>
        <p:spPr>
          <a:xfrm>
            <a:off x="8458200" y="3337560"/>
            <a:ext cx="2743200" cy="320040"/>
          </a:xfrm>
          <a:prstGeom prst="rect">
            <a:avLst/>
          </a:prstGeom>
          <a:noFill/>
        </p:spPr>
        <p:txBody>
          <a:bodyPr wrap="square" lIns="45720" rIns="45720" anchor="ctr">
            <a:spAutoFit/>
          </a:bodyPr>
          <a:lstStyle/>
          <a:p>
            <a:pPr algn="l"/>
            <a:r>
              <a:rPr sz="1400" b="1">
                <a:solidFill>
                  <a:srgbClr val="1D2B3D"/>
                </a:solidFill>
                <a:latin typeface="Aptos"/>
              </a:rPr>
              <a:t>既存顧客への接点</a:t>
            </a:r>
          </a:p>
        </p:txBody>
      </p:sp>
      <p:sp>
        <p:nvSpPr>
          <p:cNvPr id="21" name="TextBox 20"/>
          <p:cNvSpPr txBox="1"/>
          <p:nvPr/>
        </p:nvSpPr>
        <p:spPr>
          <a:xfrm>
            <a:off x="8458200" y="3886200"/>
            <a:ext cx="2743200" cy="320040"/>
          </a:xfrm>
          <a:prstGeom prst="rect">
            <a:avLst/>
          </a:prstGeom>
          <a:noFill/>
        </p:spPr>
        <p:txBody>
          <a:bodyPr wrap="square" lIns="45720" rIns="45720" anchor="ctr">
            <a:spAutoFit/>
          </a:bodyPr>
          <a:lstStyle/>
          <a:p>
            <a:pPr algn="l"/>
            <a:r>
              <a:rPr sz="1300" b="0">
                <a:solidFill>
                  <a:srgbClr val="66798F"/>
                </a:solidFill>
                <a:latin typeface="Aptos"/>
              </a:rPr>
              <a:t>顧客基盤の拡張</a:t>
            </a:r>
          </a:p>
        </p:txBody>
      </p:sp>
      <p:sp>
        <p:nvSpPr>
          <p:cNvPr id="22" name="Rounded Rectangle 21"/>
          <p:cNvSpPr/>
          <p:nvPr/>
        </p:nvSpPr>
        <p:spPr>
          <a:xfrm>
            <a:off x="914400" y="5212080"/>
            <a:ext cx="10241280" cy="640080"/>
          </a:xfrm>
          <a:prstGeom prst="roundRect">
            <a:avLst>
              <a:gd name="adj" fmla="val 12000"/>
            </a:avLst>
          </a:prstGeom>
          <a:solidFill>
            <a:srgbClr val="F7FAFC"/>
          </a:solidFill>
          <a:ln>
            <a:solidFill>
              <a:srgbClr val="DA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5394960"/>
            <a:ext cx="9784080" cy="274320"/>
          </a:xfrm>
          <a:prstGeom prst="rect">
            <a:avLst/>
          </a:prstGeom>
          <a:noFill/>
        </p:spPr>
        <p:txBody>
          <a:bodyPr wrap="square" lIns="45720" rIns="45720" anchor="ctr">
            <a:spAutoFit/>
          </a:bodyPr>
          <a:lstStyle/>
          <a:p>
            <a:pPr algn="ctr"/>
            <a:r>
              <a:rPr sz="1800" b="1">
                <a:solidFill>
                  <a:srgbClr val="00AEEF"/>
                </a:solidFill>
                <a:latin typeface="Aptos"/>
              </a:rPr>
              <a:t>「dポイントを使う理由」を、パートナーごとに設計する。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874520"/>
            <a:ext cx="106984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ADCFC"/>
                </a:solidFill>
                <a:effectLst/>
                <a:uLnTx/>
                <a:uFillTx/>
                <a:latin typeface="Cambria" pitchFamily="34" charset="0"/>
                <a:ea typeface="Cambria" pitchFamily="34" charset="-122"/>
                <a:cs typeface="Cambria" pitchFamily="34" charset="-120"/>
              </a:rPr>
              <a:t>主要共通ポイントサービスの</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2331720"/>
            <a:ext cx="106984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会員属性の偏り 比較調査</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3246120"/>
            <a:ext cx="106984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dポイント新事業提案 ― 業界横断ファクトチェック</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31520" y="3977640"/>
            <a:ext cx="2743200" cy="0"/>
          </a:xfrm>
          <a:prstGeom prst="line">
            <a:avLst/>
          </a:prstGeom>
          <a:noFill/>
          <a:ln w="12700">
            <a:solidFill>
              <a:srgbClr val="CADCF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6" name="Text 4"/>
          <p:cNvSpPr/>
          <p:nvPr/>
        </p:nvSpPr>
        <p:spPr>
          <a:xfrm>
            <a:off x="731520" y="4160520"/>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D9"/>
                </a:solidFill>
                <a:effectLst/>
                <a:uLnTx/>
                <a:uFillTx/>
                <a:latin typeface="Calibri" pitchFamily="34" charset="0"/>
                <a:ea typeface="Calibri" pitchFamily="34" charset="-122"/>
                <a:cs typeface="Calibri" pitchFamily="34" charset="-120"/>
              </a:rPr>
              <a:t>dポイント / Pontaポイント / PayPayポイント / Vポイント(旧Tポイント) / 楽天ポイント</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6217920"/>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7FB0"/>
                </a:solidFill>
                <a:effectLst/>
                <a:uLnTx/>
                <a:uFillTx/>
                <a:latin typeface="Calibri" pitchFamily="34" charset="0"/>
                <a:ea typeface="Calibri" pitchFamily="34" charset="-122"/>
                <a:cs typeface="Calibri" pitchFamily="34" charset="-120"/>
              </a:rPr>
              <a:t>2026.07.27 作成</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主要ポイントサービスの会員属性比較</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登録会員数の広さと、実際の「メイン利用者」属性の偏りは別軸で現れる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nvGraphicFramePr>
        <p:xfrm>
          <a:off x="457200" y="1325880"/>
          <a:ext cx="11247120" cy="2545080"/>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ポイント名 / 母体</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会員規模</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確認された偏り(属性)</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確度</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出典</a:t>
                      </a:r>
                      <a:endParaRPr lang="en-US" sz="11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b="1" dirty="0">
                          <a:solidFill>
                            <a:srgbClr val="1B1B2F"/>
                          </a:solidFill>
                          <a:latin typeface="Calibri" pitchFamily="34" charset="0"/>
                          <a:ea typeface="Calibri" pitchFamily="34" charset="-122"/>
                          <a:cs typeface="Calibri" pitchFamily="34" charset="-120"/>
                        </a:rPr>
                        <a:t>dポイント</a:t>
                      </a:r>
                      <a:endParaRPr lang="en-US" sz="1050" dirty="0">
                        <a:latin typeface="Calibri" charset="0"/>
                        <a:ea typeface="Calibri" charset="0"/>
                        <a:cs typeface="Calibri" charset="0"/>
                      </a:endParaRPr>
                    </a:p>
                    <a:p>
                      <a:pPr marL="0" indent="0" algn="l">
                        <a:buNone/>
                      </a:pPr>
                      <a:r>
                        <a:rPr lang="en-US" sz="1050" b="1" dirty="0">
                          <a:solidFill>
                            <a:srgbClr val="1B1B2F"/>
                          </a:solidFill>
                          <a:latin typeface="Calibri" pitchFamily="34" charset="0"/>
                          <a:ea typeface="Calibri" pitchFamily="34" charset="-122"/>
                          <a:cs typeface="Calibri" pitchFamily="34" charset="-120"/>
                        </a:rPr>
                        <a:t>NTTドコモ</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1億人超</a:t>
                      </a:r>
                      <a:endParaRPr lang="en-US" sz="1050" dirty="0">
                        <a:latin typeface="Calibri" charset="0"/>
                        <a:ea typeface="Calibri" charset="0"/>
                        <a:cs typeface="Calibri" charset="0"/>
                      </a:endParaRPr>
                    </a:p>
                    <a:p>
                      <a:pPr marL="0" indent="0" algn="l">
                        <a:buNone/>
                      </a:pPr>
                      <a:r>
                        <a:rPr lang="en-US" sz="1050" dirty="0">
                          <a:solidFill>
                            <a:srgbClr val="1B1B2F"/>
                          </a:solidFill>
                          <a:latin typeface="Calibri" pitchFamily="34" charset="0"/>
                          <a:ea typeface="Calibri" pitchFamily="34" charset="-122"/>
                          <a:cs typeface="Calibri" pitchFamily="34" charset="-120"/>
                        </a:rPr>
                        <a:t>(2024/3)</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登録は幅広いが、メイン利用者はドコモ回線契約者に相関。担当者自身も非ドコモ・若年層の獲得を課題視</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高</a:t>
                      </a:r>
                      <a:endParaRPr lang="en-US" sz="1200" dirty="0"/>
                    </a:p>
                  </a:txBody>
                  <a:tcP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950" dirty="0">
                          <a:solidFill>
                            <a:srgbClr val="5A6B8C"/>
                          </a:solidFill>
                          <a:latin typeface="Calibri" pitchFamily="34" charset="0"/>
                          <a:ea typeface="Calibri" pitchFamily="34" charset="-122"/>
                          <a:cs typeface="Calibri" pitchFamily="34" charset="-120"/>
                        </a:rPr>
                        <a:t>[1][2][3]</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b="1" dirty="0">
                          <a:solidFill>
                            <a:srgbClr val="1B1B2F"/>
                          </a:solidFill>
                          <a:latin typeface="Calibri" pitchFamily="34" charset="0"/>
                          <a:ea typeface="Calibri" pitchFamily="34" charset="-122"/>
                          <a:cs typeface="Calibri" pitchFamily="34" charset="-120"/>
                        </a:rPr>
                        <a:t>Pontaポイント</a:t>
                      </a:r>
                      <a:endParaRPr lang="en-US" sz="1050" dirty="0">
                        <a:latin typeface="Calibri" charset="0"/>
                        <a:ea typeface="Calibri" charset="0"/>
                        <a:cs typeface="Calibri" charset="0"/>
                      </a:endParaRPr>
                    </a:p>
                    <a:p>
                      <a:pPr marL="0" indent="0" algn="l">
                        <a:buNone/>
                      </a:pPr>
                      <a:r>
                        <a:rPr lang="en-US" sz="1050" b="1" dirty="0">
                          <a:solidFill>
                            <a:srgbClr val="1B1B2F"/>
                          </a:solidFill>
                          <a:latin typeface="Calibri" pitchFamily="34" charset="0"/>
                          <a:ea typeface="Calibri" pitchFamily="34" charset="-122"/>
                          <a:cs typeface="Calibri" pitchFamily="34" charset="-120"/>
                        </a:rPr>
                        <a:t>au / ロイヤリティ</a:t>
                      </a:r>
                      <a:endParaRPr lang="en-US" sz="1050" dirty="0">
                        <a:latin typeface="Calibri" charset="0"/>
                        <a:ea typeface="Calibri" charset="0"/>
                        <a:cs typeface="Calibri" charset="0"/>
                      </a:endParaRPr>
                    </a:p>
                    <a:p>
                      <a:pPr marL="0" indent="0" algn="l">
                        <a:buNone/>
                      </a:pPr>
                      <a:r>
                        <a:rPr lang="en-US" sz="1050" b="1" dirty="0">
                          <a:solidFill>
                            <a:srgbClr val="1B1B2F"/>
                          </a:solidFill>
                          <a:latin typeface="Calibri" pitchFamily="34" charset="0"/>
                          <a:ea typeface="Calibri" pitchFamily="34" charset="-122"/>
                          <a:cs typeface="Calibri" pitchFamily="34" charset="-120"/>
                        </a:rPr>
                        <a:t>マーケティング</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1.24億人</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登録上は男女ほぼ半々・全年代型だが、実利用は30〜40代男性に集中。60代以上は利用率2割強に低下</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buNone/>
                      </a:pPr>
                      <a:r>
                        <a:rPr lang="en-US" sz="1200" dirty="0">
                          <a:solidFill>
                            <a:srgbClr val="000000"/>
                          </a:solidFill>
                        </a:rPr>
                        <a:t>中</a:t>
                      </a:r>
                      <a:endParaRPr lang="en-US" sz="1200" dirty="0"/>
                    </a:p>
                  </a:txBody>
                  <a:tcP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lgn="l">
                        <a:buNone/>
                      </a:pPr>
                      <a:r>
                        <a:rPr lang="en-US" sz="950" dirty="0">
                          <a:solidFill>
                            <a:srgbClr val="5A6B8C"/>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extLst>
                  <a:ext uri="{0D108BD9-81ED-4DB2-BD59-A6C34878D82A}">
                    <a16:rowId xmlns:a16="http://schemas.microsoft.com/office/drawing/2014/main" val="10002"/>
                  </a:ext>
                </a:extLst>
              </a:tr>
              <a:tr h="0">
                <a:tc>
                  <a:txBody>
                    <a:bodyPr/>
                    <a:lstStyle/>
                    <a:p>
                      <a:pPr marL="0" indent="0" algn="l">
                        <a:buNone/>
                      </a:pPr>
                      <a:r>
                        <a:rPr lang="en-US" sz="1050" b="1" dirty="0">
                          <a:solidFill>
                            <a:srgbClr val="1B1B2F"/>
                          </a:solidFill>
                          <a:latin typeface="Calibri" pitchFamily="34" charset="0"/>
                          <a:ea typeface="Calibri" pitchFamily="34" charset="-122"/>
                          <a:cs typeface="Calibri" pitchFamily="34" charset="-120"/>
                        </a:rPr>
                        <a:t>PayPayポイント</a:t>
                      </a:r>
                      <a:endParaRPr lang="en-US" sz="1050" dirty="0">
                        <a:latin typeface="Calibri" charset="0"/>
                        <a:ea typeface="Calibri" charset="0"/>
                        <a:cs typeface="Calibri" charset="0"/>
                      </a:endParaRPr>
                    </a:p>
                    <a:p>
                      <a:pPr marL="0" indent="0" algn="l">
                        <a:buNone/>
                      </a:pPr>
                      <a:r>
                        <a:rPr lang="en-US" sz="1050" b="1" dirty="0">
                          <a:solidFill>
                            <a:srgbClr val="1B1B2F"/>
                          </a:solidFill>
                          <a:latin typeface="Calibri" pitchFamily="34" charset="0"/>
                          <a:ea typeface="Calibri" pitchFamily="34" charset="-122"/>
                          <a:cs typeface="Calibri" pitchFamily="34" charset="-120"/>
                        </a:rPr>
                        <a:t>ソフトバンク / PayPay</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非公開</a:t>
                      </a:r>
                      <a:endParaRPr lang="en-US" sz="1050" dirty="0">
                        <a:latin typeface="Calibri" charset="0"/>
                        <a:ea typeface="Calibri" charset="0"/>
                        <a:cs typeface="Calibri" charset="0"/>
                      </a:endParaRPr>
                    </a:p>
                    <a:p>
                      <a:pPr marL="0" indent="0" algn="l">
                        <a:buNone/>
                      </a:pPr>
                      <a:r>
                        <a:rPr lang="en-US" sz="1050" dirty="0">
                          <a:solidFill>
                            <a:srgbClr val="1B1B2F"/>
                          </a:solidFill>
                          <a:latin typeface="Calibri" pitchFamily="34" charset="0"/>
                          <a:ea typeface="Calibri" pitchFamily="34" charset="-122"/>
                          <a:cs typeface="Calibri" pitchFamily="34" charset="-120"/>
                        </a:rPr>
                        <a:t>(推計困難)</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20代男性・50代以上女性に強い。10〜30代の若年層で高需要。ソフトバンク/Y!mobileユーザーとの相関</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中</a:t>
                      </a:r>
                      <a:endParaRPr lang="en-US" sz="1200" dirty="0"/>
                    </a:p>
                  </a:txBody>
                  <a:tcP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950" dirty="0">
                          <a:solidFill>
                            <a:srgbClr val="5A6B8C"/>
                          </a:solidFill>
                          <a:latin typeface="Calibri" pitchFamily="34" charset="0"/>
                          <a:ea typeface="Calibri" pitchFamily="34" charset="-122"/>
                          <a:cs typeface="Calibri" pitchFamily="34" charset="-120"/>
                        </a:rPr>
                        <a:t>[6][7]</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50" b="1" dirty="0">
                          <a:solidFill>
                            <a:srgbClr val="1B1B2F"/>
                          </a:solidFill>
                          <a:latin typeface="Calibri" pitchFamily="34" charset="0"/>
                          <a:ea typeface="Calibri" pitchFamily="34" charset="-122"/>
                          <a:cs typeface="Calibri" pitchFamily="34" charset="-120"/>
                        </a:rPr>
                        <a:t>Vポイント(旧Tポイント)</a:t>
                      </a:r>
                      <a:endParaRPr lang="en-US" sz="1050" dirty="0">
                        <a:latin typeface="Calibri" charset="0"/>
                        <a:ea typeface="Calibri" charset="0"/>
                        <a:cs typeface="Calibri" charset="0"/>
                      </a:endParaRPr>
                    </a:p>
                    <a:p>
                      <a:pPr marL="0" indent="0" algn="l">
                        <a:buNone/>
                      </a:pPr>
                      <a:r>
                        <a:rPr lang="en-US" sz="1050" b="1" dirty="0">
                          <a:solidFill>
                            <a:srgbClr val="1B1B2F"/>
                          </a:solidFill>
                          <a:latin typeface="Calibri" pitchFamily="34" charset="0"/>
                          <a:ea typeface="Calibri" pitchFamily="34" charset="-122"/>
                          <a:cs typeface="Calibri" pitchFamily="34" charset="-120"/>
                        </a:rPr>
                        <a:t>CCC / 三井住友</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8,600万人</a:t>
                      </a:r>
                      <a:endParaRPr lang="en-US" sz="1050" dirty="0">
                        <a:latin typeface="Calibri" charset="0"/>
                        <a:ea typeface="Calibri" charset="0"/>
                        <a:cs typeface="Calibri" charset="0"/>
                      </a:endParaRPr>
                    </a:p>
                    <a:p>
                      <a:pPr marL="0" indent="0" algn="l">
                        <a:buNone/>
                      </a:pPr>
                      <a:r>
                        <a:rPr lang="en-US" sz="1050" dirty="0">
                          <a:solidFill>
                            <a:srgbClr val="1B1B2F"/>
                          </a:solidFill>
                          <a:latin typeface="Calibri" pitchFamily="34" charset="0"/>
                          <a:ea typeface="Calibri" pitchFamily="34" charset="-122"/>
                          <a:cs typeface="Calibri" pitchFamily="34" charset="-120"/>
                        </a:rPr>
                        <a:t>(統合後)</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旧Tポイント時代、若年層ほど会員率が高い(20代82.4% vs 70代32.9%)。統合後は金融連携層へ拡大中</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buNone/>
                      </a:pPr>
                      <a:r>
                        <a:rPr lang="en-US" sz="1200" dirty="0">
                          <a:solidFill>
                            <a:srgbClr val="000000"/>
                          </a:solidFill>
                        </a:rPr>
                        <a:t>中</a:t>
                      </a:r>
                      <a:endParaRPr lang="en-US" sz="1200" dirty="0"/>
                    </a:p>
                  </a:txBody>
                  <a:tcP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lgn="l">
                        <a:buNone/>
                      </a:pPr>
                      <a:r>
                        <a:rPr lang="en-US" sz="950" dirty="0">
                          <a:solidFill>
                            <a:srgbClr val="5A6B8C"/>
                          </a:solidFill>
                          <a:latin typeface="Calibri" pitchFamily="34" charset="0"/>
                          <a:ea typeface="Calibri" pitchFamily="34" charset="-122"/>
                          <a:cs typeface="Calibri" pitchFamily="34" charset="-120"/>
                        </a:rPr>
                        <a:t>[8][9]</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extLst>
                  <a:ext uri="{0D108BD9-81ED-4DB2-BD59-A6C34878D82A}">
                    <a16:rowId xmlns:a16="http://schemas.microsoft.com/office/drawing/2014/main" val="10004"/>
                  </a:ext>
                </a:extLst>
              </a:tr>
              <a:tr h="0">
                <a:tc>
                  <a:txBody>
                    <a:bodyPr/>
                    <a:lstStyle/>
                    <a:p>
                      <a:pPr marL="0" indent="0" algn="l">
                        <a:buNone/>
                      </a:pPr>
                      <a:r>
                        <a:rPr lang="en-US" sz="1050" b="1" dirty="0">
                          <a:solidFill>
                            <a:srgbClr val="1B1B2F"/>
                          </a:solidFill>
                          <a:latin typeface="Calibri" pitchFamily="34" charset="0"/>
                          <a:ea typeface="Calibri" pitchFamily="34" charset="-122"/>
                          <a:cs typeface="Calibri" pitchFamily="34" charset="-120"/>
                        </a:rPr>
                        <a:t>楽天ポイント</a:t>
                      </a:r>
                      <a:endParaRPr lang="en-US" sz="1050" dirty="0">
                        <a:latin typeface="Calibri" charset="0"/>
                        <a:ea typeface="Calibri" charset="0"/>
                        <a:cs typeface="Calibri" charset="0"/>
                      </a:endParaRPr>
                    </a:p>
                    <a:p>
                      <a:pPr marL="0" indent="0" algn="l">
                        <a:buNone/>
                      </a:pPr>
                      <a:r>
                        <a:rPr lang="en-US" sz="1050" b="1" dirty="0">
                          <a:solidFill>
                            <a:srgbClr val="1B1B2F"/>
                          </a:solidFill>
                          <a:latin typeface="Calibri" pitchFamily="34" charset="0"/>
                          <a:ea typeface="Calibri" pitchFamily="34" charset="-122"/>
                          <a:cs typeface="Calibri" pitchFamily="34" charset="-120"/>
                        </a:rPr>
                        <a:t>楽天市場</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非公開</a:t>
                      </a:r>
                      <a:endParaRPr lang="en-US" sz="1050" dirty="0">
                        <a:latin typeface="Calibri" charset="0"/>
                        <a:ea typeface="Calibri" charset="0"/>
                        <a:cs typeface="Calibri" charset="0"/>
                      </a:endParaRPr>
                    </a:p>
                    <a:p>
                      <a:pPr marL="0" indent="0" algn="l">
                        <a:buNone/>
                      </a:pPr>
                      <a:r>
                        <a:rPr lang="en-US" sz="1050" dirty="0">
                          <a:solidFill>
                            <a:srgbClr val="1B1B2F"/>
                          </a:solidFill>
                          <a:latin typeface="Calibri" pitchFamily="34" charset="0"/>
                          <a:ea typeface="Calibri" pitchFamily="34" charset="-122"/>
                          <a:cs typeface="Calibri" pitchFamily="34" charset="-120"/>
                        </a:rPr>
                        <a:t>(推計困難)</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B2F"/>
                          </a:solidFill>
                          <a:latin typeface="Calibri" pitchFamily="34" charset="0"/>
                          <a:ea typeface="Calibri" pitchFamily="34" charset="-122"/>
                          <a:cs typeface="Calibri" pitchFamily="34" charset="-120"/>
                        </a:rPr>
                        <a:t>全年代型で最多利用という調査もあるが、女性の利用率が男性より高め。10代はPayPay経済圏が優勢</a:t>
                      </a:r>
                      <a:endParaRPr lang="en-US" sz="10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rPr>
                        <a:t>中</a:t>
                      </a:r>
                      <a:endParaRPr lang="en-US" sz="1200" dirty="0"/>
                    </a:p>
                  </a:txBody>
                  <a:tcP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lgn="l">
                        <a:buNone/>
                      </a:pPr>
                      <a:r>
                        <a:rPr lang="en-US" sz="950" dirty="0">
                          <a:solidFill>
                            <a:srgbClr val="5A6B8C"/>
                          </a:solidFill>
                          <a:latin typeface="Calibri" pitchFamily="34" charset="0"/>
                          <a:ea typeface="Calibri" pitchFamily="34" charset="-122"/>
                          <a:cs typeface="Calibri" pitchFamily="34" charset="-120"/>
                        </a:rPr>
                        <a:t>[10][11]</a:t>
                      </a:r>
                      <a:endParaRPr lang="en-US" sz="950" dirty="0">
                        <a:latin typeface="Calibri" charset="0"/>
                        <a:ea typeface="Calibri" charset="0"/>
                        <a:cs typeface="Calibri" charset="0"/>
                      </a:endParaRPr>
                    </a:p>
                  </a:txBody>
                  <a:tcPr marL="76200" marR="762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446520"/>
            <a:ext cx="11247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確度: 高＝複数の独立した情報源(公式データ・企業コメントを含む)で整合 　中＝報道・調査会社データで概ね裏付け(単一/やや古い情報源を含む場合あり)</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高齢者のポイント利用実態</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ポイント自体は活発に利用されているが、実践度は「デジタル・金融リテラシー」と相関する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371600"/>
            <a:ext cx="2606040" cy="1783080"/>
          </a:xfrm>
          <a:prstGeom prst="roundRect">
            <a:avLst>
              <a:gd name="adj" fmla="val 3077"/>
            </a:avLst>
          </a:prstGeom>
          <a:solidFill>
            <a:srgbClr val="1E2761"/>
          </a:solidFill>
          <a:ln w="9525">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56692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44.3%</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6692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貯め方の最多回答は</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「店頭でポイントカードを提示」</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6692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D9"/>
                </a:solidFill>
                <a:effectLst/>
                <a:uLnTx/>
                <a:uFillTx/>
                <a:latin typeface="Calibri" pitchFamily="34" charset="0"/>
                <a:ea typeface="Calibri" pitchFamily="34" charset="-122"/>
                <a:cs typeface="Calibri"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33756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9" name="Text 7"/>
          <p:cNvSpPr/>
          <p:nvPr/>
        </p:nvSpPr>
        <p:spPr>
          <a:xfrm>
            <a:off x="344728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56.7%</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44728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日常的に「ポイ活」を実践</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(50〜79歳)</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44728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[12][13]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21792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3" name="Text 11"/>
          <p:cNvSpPr/>
          <p:nvPr/>
        </p:nvSpPr>
        <p:spPr>
          <a:xfrm>
            <a:off x="632764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73.7%</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32764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直近1ヶ月でキャッシュレス</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決済を利用(60歳以上)</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2764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09828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7" name="Text 15"/>
          <p:cNvSpPr/>
          <p:nvPr/>
        </p:nvSpPr>
        <p:spPr>
          <a:xfrm>
            <a:off x="920800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2割以下</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20800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スマホ決済の利用経験</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(シニア女性)</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20800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3429000"/>
            <a:ext cx="11247120" cy="2971800"/>
          </a:xfrm>
          <a:prstGeom prst="roundRect">
            <a:avLst>
              <a:gd name="adj" fmla="val 1846"/>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21" name="Text 19"/>
          <p:cNvSpPr/>
          <p:nvPr/>
        </p:nvSpPr>
        <p:spPr>
          <a:xfrm>
            <a:off x="731520" y="3639312"/>
            <a:ext cx="10698480" cy="2606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補足データ</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QRコード決済は60代前半で急伸(1年で7〜8pt上昇)する一方、70代は約3割にとどまり伸びも鈍化。年代が上がるほどスマホ経由のポイント活用は失速する [15]</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ポイ活を実践しているシニアは平均4.24個のアプリを使用(非実践者は3.43個)。ネットバンキング利用率も高く、ポイ活の実践度はデジタル・金融リテラシーの高さと明確に相関する [12]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男女差もあり、女性62.4%に対し男性50.9%とポイ活実践率に差がある [12]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示唆: 「高齢者はポイントを使うか否か」ではなく、シニア内部でも「デジタルリテラシーが高い層」に利用・行動データが偏る。dポイントの偏り論(④)は年齢だけでなく年齢×リテラシーの2軸で語れる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スーパー・ドラッグストア:独自ポイント vs 共通ポイント</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最も高頻度な「日用品購買」の場面ほど、行動データは店舗独自ポイントに分散している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56692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60%台</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6692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直近1年でスーパー・ドラッグ</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ストアでポイント利用(業種別最高水準)</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6692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[16]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33756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9" name="Text 7"/>
          <p:cNvSpPr/>
          <p:nvPr/>
        </p:nvSpPr>
        <p:spPr>
          <a:xfrm>
            <a:off x="344728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86.7%</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44728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スーパーのポイントカード</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導入率(2023年、年々上昇)</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44728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21792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3" name="Text 11"/>
          <p:cNvSpPr/>
          <p:nvPr/>
        </p:nvSpPr>
        <p:spPr>
          <a:xfrm>
            <a:off x="632764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64.4%</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32764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導入カードのうち</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「自社独自ポイント」が最多</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2764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098280" y="1371600"/>
            <a:ext cx="2606040" cy="1783080"/>
          </a:xfrm>
          <a:prstGeom prst="roundRect">
            <a:avLst>
              <a:gd name="adj" fmla="val 3077"/>
            </a:avLst>
          </a:prstGeom>
          <a:solidFill>
            <a:srgbClr val="1E2761"/>
          </a:solidFill>
          <a:ln w="9525">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7" name="Text 15"/>
          <p:cNvSpPr/>
          <p:nvPr/>
        </p:nvSpPr>
        <p:spPr>
          <a:xfrm>
            <a:off x="9208008" y="1508760"/>
            <a:ext cx="2386584"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73.7%</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208008" y="214884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女性の「ドラッグストア独自</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カード」利用率(共通ポイント超)</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20800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D9"/>
                </a:solidFill>
                <a:effectLst/>
                <a:uLnTx/>
                <a:uFillTx/>
                <a:latin typeface="Calibri" pitchFamily="34" charset="0"/>
                <a:ea typeface="Calibri" pitchFamily="34" charset="-122"/>
                <a:cs typeface="Calibri" pitchFamily="34" charset="-120"/>
              </a:rPr>
              <a:t>[18]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3429000"/>
            <a:ext cx="11247120" cy="2971800"/>
          </a:xfrm>
          <a:prstGeom prst="roundRect">
            <a:avLst>
              <a:gd name="adj" fmla="val 1846"/>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21" name="Text 19"/>
          <p:cNvSpPr/>
          <p:nvPr/>
        </p:nvSpPr>
        <p:spPr>
          <a:xfrm>
            <a:off x="731520" y="3639312"/>
            <a:ext cx="10698480" cy="2606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補足データ</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利用しているポイントカードの種類は「共通ポイントサービスカード」64.6%が僅差の1位。ただし「ドラッグストアのカード」56.1%、「家電量販店のカード」54.4%、「スーパーのカード」52.8%と、業態独自カードもほぼ同水準で並ぶ [18]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男女差が最も大きいのは「ドラッグストアのカード」で28.9pt差(女性73.7% vs 男性44.8%)。日用品購買を担うことが多い女性ほど独自ポイントへの依存度が高い [18]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示唆: 高頻度で発生する日用品購買という「最も濃い行動データが生まれる場面」自体が、共通ポイントではなく店舗独自ポイント(イオンWAON、マツキヨ独自カード等)に分散している。SyncMeの精度向上には「非ドコモユーザーの獲得」に加え、「独自ポイント経済圏(特に日用品カテゴリ)との連携・データ取得」も鍵にな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独自ポイントの経済合理性 ―流行る理由とコスト構造</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05156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なぜ独自ポイントが流行るのか</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90472"/>
            <a:ext cx="274320" cy="274320"/>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457200" y="149047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68680" y="1408176"/>
            <a:ext cx="507492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顧客データを自社で直接保有できる</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共通ポイントは購買データが事業者側にも渡るが、独自なら顧客データ・ID-POSを自社で独占できる</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660904"/>
            <a:ext cx="274320" cy="274320"/>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8" name="Text 6"/>
          <p:cNvSpPr/>
          <p:nvPr/>
        </p:nvSpPr>
        <p:spPr>
          <a:xfrm>
            <a:off x="457200" y="2660904"/>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68680" y="2578608"/>
            <a:ext cx="507492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仲介手数料が発生しない/低い</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共通ポイントは原資+手数料を事業者に払うが、独自ポイントはシステム運用費のみで済む</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57200" y="3831336"/>
            <a:ext cx="274320" cy="274320"/>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1" name="Text 9"/>
          <p:cNvSpPr/>
          <p:nvPr/>
        </p:nvSpPr>
        <p:spPr>
          <a:xfrm>
            <a:off x="457200" y="3831336"/>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68680" y="3749040"/>
            <a:ext cx="507492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還元率・キャンペーンの自由度が高い</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自社の粗利構造に合わせて還元率や特売キャンペーンを柔軟に設計できる</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5001768"/>
            <a:ext cx="274320" cy="274320"/>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4" name="Text 12"/>
          <p:cNvSpPr/>
          <p:nvPr/>
        </p:nvSpPr>
        <p:spPr>
          <a:xfrm>
            <a:off x="457200" y="5001768"/>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868680" y="4919472"/>
            <a:ext cx="507492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顧客ロイヤルティを自社に閉じ込められる</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共通ポイントは顧客の「お得」意識が経済圏側に分散し、店舗への帰属意識が薄まりやすい</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217920" y="105156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併用時のコスト負担構造</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7" name="Table 0"/>
          <p:cNvGraphicFramePr>
            <a:graphicFrameLocks noGrp="1"/>
          </p:cNvGraphicFramePr>
          <p:nvPr/>
        </p:nvGraphicFramePr>
        <p:xfrm>
          <a:off x="6217920" y="1463040"/>
          <a:ext cx="5486400" cy="10744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種別</a:t>
                      </a:r>
                      <a:endParaRPr lang="en-US" sz="105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負担者</a:t>
                      </a:r>
                      <a:endParaRPr lang="en-US" sz="105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コスト構造</a:t>
                      </a:r>
                      <a:endParaRPr lang="en-US" sz="105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B1B2F"/>
                          </a:solidFill>
                          <a:latin typeface="Calibri" pitchFamily="34" charset="0"/>
                          <a:ea typeface="Calibri" pitchFamily="34" charset="-122"/>
                          <a:cs typeface="Calibri" pitchFamily="34" charset="-120"/>
                        </a:rPr>
                        <a:t>独自ポイント</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buNone/>
                      </a:pPr>
                      <a:r>
                        <a:rPr lang="en-US" sz="1000" dirty="0">
                          <a:solidFill>
                            <a:srgbClr val="1B1B2F"/>
                          </a:solidFill>
                          <a:latin typeface="Calibri" pitchFamily="34" charset="0"/>
                          <a:ea typeface="Calibri" pitchFamily="34" charset="-122"/>
                          <a:cs typeface="Calibri" pitchFamily="34" charset="-120"/>
                        </a:rPr>
                        <a:t>小売店</a:t>
                      </a:r>
                      <a:endParaRPr lang="en-US" sz="1000" dirty="0">
                        <a:latin typeface="Calibri" charset="0"/>
                        <a:ea typeface="Calibri" charset="0"/>
                        <a:cs typeface="Calibri" charset="0"/>
                      </a:endParaRPr>
                    </a:p>
                    <a:p>
                      <a:pPr marL="0" indent="0">
                        <a:buNone/>
                      </a:pPr>
                      <a:r>
                        <a:rPr lang="en-US" sz="1000" dirty="0">
                          <a:solidFill>
                            <a:srgbClr val="1B1B2F"/>
                          </a:solidFill>
                          <a:latin typeface="Calibri" pitchFamily="34" charset="0"/>
                          <a:ea typeface="Calibri" pitchFamily="34" charset="-122"/>
                          <a:cs typeface="Calibri" pitchFamily="34" charset="-120"/>
                        </a:rPr>
                        <a:t>(100%自己負担)</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tc>
                  <a:txBody>
                    <a:bodyPr/>
                    <a:lstStyle/>
                    <a:p>
                      <a:pPr marL="0" indent="0">
                        <a:buNone/>
                      </a:pPr>
                      <a:r>
                        <a:rPr lang="en-US" sz="1000" dirty="0">
                          <a:solidFill>
                            <a:srgbClr val="1B1B2F"/>
                          </a:solidFill>
                          <a:latin typeface="Calibri" pitchFamily="34" charset="0"/>
                          <a:ea typeface="Calibri" pitchFamily="34" charset="-122"/>
                          <a:cs typeface="Calibri" pitchFamily="34" charset="-120"/>
                        </a:rPr>
                        <a:t>システム運用費のみ。仲介手数料なし</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B1B2F"/>
                          </a:solidFill>
                          <a:latin typeface="Calibri" pitchFamily="34" charset="0"/>
                          <a:ea typeface="Calibri" pitchFamily="34" charset="-122"/>
                          <a:cs typeface="Calibri" pitchFamily="34" charset="-120"/>
                        </a:rPr>
                        <a:t>共通ポイント</a:t>
                      </a:r>
                      <a:endParaRPr lang="en-US" sz="1000" dirty="0">
                        <a:latin typeface="Calibri" charset="0"/>
                        <a:ea typeface="Calibri" charset="0"/>
                        <a:cs typeface="Calibri" charset="0"/>
                      </a:endParaRPr>
                    </a:p>
                    <a:p>
                      <a:pPr marL="0" indent="0">
                        <a:buNone/>
                      </a:pPr>
                      <a:r>
                        <a:rPr lang="en-US" sz="1000" b="1" dirty="0">
                          <a:solidFill>
                            <a:srgbClr val="1B1B2F"/>
                          </a:solidFill>
                          <a:latin typeface="Calibri" pitchFamily="34" charset="0"/>
                          <a:ea typeface="Calibri" pitchFamily="34" charset="-122"/>
                          <a:cs typeface="Calibri" pitchFamily="34" charset="-120"/>
                        </a:rPr>
                        <a:t>(dポイント等)</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buNone/>
                      </a:pPr>
                      <a:r>
                        <a:rPr lang="en-US" sz="1000" dirty="0">
                          <a:solidFill>
                            <a:srgbClr val="1B1B2F"/>
                          </a:solidFill>
                          <a:latin typeface="Calibri" pitchFamily="34" charset="0"/>
                          <a:ea typeface="Calibri" pitchFamily="34" charset="-122"/>
                          <a:cs typeface="Calibri" pitchFamily="34" charset="-120"/>
                        </a:rPr>
                        <a:t>小売店(加盟店)</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tc>
                  <a:txBody>
                    <a:bodyPr/>
                    <a:lstStyle/>
                    <a:p>
                      <a:pPr marL="0" indent="0">
                        <a:buNone/>
                      </a:pPr>
                      <a:r>
                        <a:rPr lang="en-US" sz="1000" dirty="0">
                          <a:solidFill>
                            <a:srgbClr val="1B1B2F"/>
                          </a:solidFill>
                          <a:latin typeface="Calibri" pitchFamily="34" charset="0"/>
                          <a:ea typeface="Calibri" pitchFamily="34" charset="-122"/>
                          <a:cs typeface="Calibri" pitchFamily="34" charset="-120"/>
                        </a:rPr>
                        <a:t>ポイント原資＋事業者への手数料の二重負担</a:t>
                      </a:r>
                      <a:endParaRPr lang="en-US" sz="1000" dirty="0">
                        <a:latin typeface="Calibri" charset="0"/>
                        <a:ea typeface="Calibri" charset="0"/>
                        <a:cs typeface="Calibri" charset="0"/>
                      </a:endParaRPr>
                    </a:p>
                  </a:txBody>
                  <a:tcPr marL="63500" marR="63500" marT="50800" marB="50800" anchor="ctr">
                    <a:lnL w="9525" cap="flat" cmpd="sng" algn="ctr">
                      <a:solidFill>
                        <a:srgbClr val="D7DEEE"/>
                      </a:solidFill>
                      <a:prstDash val="solid"/>
                      <a:round/>
                      <a:headEnd type="none" w="med" len="med"/>
                      <a:tailEnd type="none" w="med" len="med"/>
                    </a:lnL>
                    <a:lnR w="9525" cap="flat" cmpd="sng" algn="ctr">
                      <a:solidFill>
                        <a:srgbClr val="D7DEEE"/>
                      </a:solidFill>
                      <a:prstDash val="solid"/>
                      <a:round/>
                      <a:headEnd type="none" w="med" len="med"/>
                      <a:tailEnd type="none" w="med" len="med"/>
                    </a:lnR>
                    <a:lnT w="9525" cap="flat" cmpd="sng" algn="ctr">
                      <a:solidFill>
                        <a:srgbClr val="D7DEEE"/>
                      </a:solidFill>
                      <a:prstDash val="solid"/>
                      <a:round/>
                      <a:headEnd type="none" w="med" len="med"/>
                      <a:tailEnd type="none" w="med" len="med"/>
                    </a:lnT>
                    <a:lnB w="9525" cap="flat" cmpd="sng" algn="ctr">
                      <a:solidFill>
                        <a:srgbClr val="D7DEEE"/>
                      </a:solidFill>
                      <a:prstDash val="solid"/>
                      <a:round/>
                      <a:headEnd type="none" w="med" len="med"/>
                      <a:tailEnd type="none" w="med" len="med"/>
                    </a:lnB>
                    <a:solidFill>
                      <a:srgbClr val="EDF1FA"/>
                    </a:solidFill>
                  </a:tcPr>
                </a:tc>
                <a:extLst>
                  <a:ext uri="{0D108BD9-81ED-4DB2-BD59-A6C34878D82A}">
                    <a16:rowId xmlns:a16="http://schemas.microsoft.com/office/drawing/2014/main" val="10002"/>
                  </a:ext>
                </a:extLst>
              </a:tr>
            </a:tbl>
          </a:graphicData>
        </a:graphic>
      </p:graphicFrame>
      <p:sp>
        <p:nvSpPr>
          <p:cNvPr id="18" name="Shape 15"/>
          <p:cNvSpPr/>
          <p:nvPr/>
        </p:nvSpPr>
        <p:spPr>
          <a:xfrm>
            <a:off x="6217920" y="3063240"/>
            <a:ext cx="5486400" cy="3108960"/>
          </a:xfrm>
          <a:prstGeom prst="roundRect">
            <a:avLst>
              <a:gd name="adj" fmla="val 1765"/>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9" name="Text 16"/>
          <p:cNvSpPr/>
          <p:nvPr/>
        </p:nvSpPr>
        <p:spPr>
          <a:xfrm>
            <a:off x="6446520" y="3246120"/>
            <a:ext cx="5029200" cy="2834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手数料水準の参考値</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0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Tポイント(旧): 月額固定7,500円＋関与売上の3%(規模により軽減あり) [20]</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0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d払いの決済手数料: 2.6% [21]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0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EC系(Yahoo!ショッピング/楽天市場): 加盟店負担 約1%〜 [21]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※dポイント運営元(ドコモ)自身は原資を負担せず、加盟店からの手数料が収益源となる</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なぜ独自ポイントと共通ポイントが二重に付くのか</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店舗は追加コストを払ってでも「新規獲得×リピート化」の両取りを狙っている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371600"/>
            <a:ext cx="2834640" cy="4480560"/>
          </a:xfrm>
          <a:prstGeom prst="roundRect">
            <a:avLst>
              <a:gd name="adj" fmla="val 1935"/>
            </a:avLst>
          </a:prstGeom>
          <a:solidFill>
            <a:srgbClr val="1E2761"/>
          </a:solidFill>
          <a:ln w="9525">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640080" y="1737360"/>
            <a:ext cx="24688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3.6倍</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2697480"/>
            <a:ext cx="24688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ポイント還元の販促効果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(vs 現金値引き)</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40080" y="3566160"/>
            <a:ext cx="246888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7D3EE"/>
                </a:solidFill>
                <a:effectLst/>
                <a:uLnTx/>
                <a:uFillTx/>
                <a:latin typeface="Calibri" pitchFamily="34" charset="0"/>
                <a:ea typeface="Calibri" pitchFamily="34" charset="-122"/>
                <a:cs typeface="Calibri" pitchFamily="34" charset="-120"/>
              </a:rPr>
              <a:t>行動経済学的には、ポイントは「今回の支払いと分離された利得」として認識され、現金値引きより心理的満足度が高い(プロスペクト理論)。保有効果によりポイントを失いたくない心理がリピート来店を促す</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40080" y="5577840"/>
            <a:ext cx="24688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D9"/>
                </a:solidFill>
                <a:effectLst/>
                <a:uLnTx/>
                <a:uFillTx/>
                <a:latin typeface="Calibri" pitchFamily="34" charset="0"/>
                <a:ea typeface="Calibri" pitchFamily="34" charset="-122"/>
                <a:cs typeface="Calibri" pitchFamily="34" charset="-120"/>
              </a:rPr>
              <a:t>[23][24]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566160" y="1444752"/>
            <a:ext cx="310896" cy="310896"/>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0" name="Text 8"/>
          <p:cNvSpPr/>
          <p:nvPr/>
        </p:nvSpPr>
        <p:spPr>
          <a:xfrm>
            <a:off x="3566160" y="1444752"/>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069080" y="1362456"/>
            <a:ext cx="7635240" cy="12344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訴求力の掛け算</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販促効果は現金値引きの3.6倍。複数ポイントが同時に付くとレイヤーごとに効果が積み上がる</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3566160" y="2816352"/>
            <a:ext cx="310896" cy="310896"/>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3" name="Text 11"/>
          <p:cNvSpPr/>
          <p:nvPr/>
        </p:nvSpPr>
        <p:spPr>
          <a:xfrm>
            <a:off x="3566160" y="2816352"/>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4069080" y="2734056"/>
            <a:ext cx="7635240" cy="12344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役割分担(補完関係)</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独自ポイント=既存顧客の囲い込み・リピート促進、共通ポイント=新規顧客の呼び込み・認知拡大。両方で「新規獲得→リピーター化」の顧客ライフサイクル全体をカバーできる</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566160" y="4187952"/>
            <a:ext cx="310896" cy="310896"/>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6" name="Text 14"/>
          <p:cNvSpPr/>
          <p:nvPr/>
        </p:nvSpPr>
        <p:spPr>
          <a:xfrm>
            <a:off x="3566160" y="4187952"/>
            <a:ext cx="310896"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069080" y="4105656"/>
            <a:ext cx="7635240" cy="12344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コストに見合うと判断される業態のみ導入</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二重付与は加盟店コストが増加する(原資二重負担+レジオペレーションの複雑化)。それでも導入する店舗は、追加コストを上回る集客・客単価向上効果を見込んでいる [22]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3566160" y="5486400"/>
            <a:ext cx="8138160" cy="777240"/>
          </a:xfrm>
          <a:prstGeom prst="roundRect">
            <a:avLst>
              <a:gd name="adj" fmla="val 7059"/>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9" name="Text 17"/>
          <p:cNvSpPr/>
          <p:nvPr/>
        </p:nvSpPr>
        <p:spPr>
          <a:xfrm>
            <a:off x="3749040" y="5596128"/>
            <a:ext cx="777240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示唆: 「二重付与」は粗利が厚い・客単価が高い業態の特権であり、日用品のような薄利多売業態では成立しにくい。dポイントのホワイトレーベル化は、この「二重コストを払えない業態」でも共通ポイントの集客効果を低コストで享受できる仕組みになり得る</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独自ポイントのシステム維持課題</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「独自ポイント＝低コスト」は誤解 ―仲介手数料の代わりに別の固定費を負う</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566928" y="150876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1,000万〜</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3,000万円</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66928" y="2240280"/>
            <a:ext cx="2386584"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自社開発コスト</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(規模により数億円のケースも)</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6692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[25]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33756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9" name="Text 7"/>
          <p:cNvSpPr/>
          <p:nvPr/>
        </p:nvSpPr>
        <p:spPr>
          <a:xfrm>
            <a:off x="3447288" y="150876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継続発生</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447288" y="2240280"/>
            <a:ext cx="2386584"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サーバー・保守・専門人材の</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人件費(改修対応も含む)</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44728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[25]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217920" y="1371600"/>
            <a:ext cx="2606040" cy="1783080"/>
          </a:xfrm>
          <a:prstGeom prst="roundRect">
            <a:avLst>
              <a:gd name="adj" fmla="val 3077"/>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3" name="Text 11"/>
          <p:cNvSpPr/>
          <p:nvPr/>
        </p:nvSpPr>
        <p:spPr>
          <a:xfrm>
            <a:off x="6327648" y="150876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急増中</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327648" y="2240280"/>
            <a:ext cx="2386584"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ポイント不正利用。</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セキュリティ対策の完全防御は困難</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2764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098280" y="1371600"/>
            <a:ext cx="2606040" cy="1783080"/>
          </a:xfrm>
          <a:prstGeom prst="roundRect">
            <a:avLst>
              <a:gd name="adj" fmla="val 3077"/>
            </a:avLst>
          </a:prstGeom>
          <a:solidFill>
            <a:srgbClr val="1E2761"/>
          </a:solidFill>
          <a:ln w="9525">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7" name="Text 15"/>
          <p:cNvSpPr/>
          <p:nvPr/>
        </p:nvSpPr>
        <p:spPr>
          <a:xfrm>
            <a:off x="9208008" y="1508760"/>
            <a:ext cx="2386584"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効果なし</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208008" y="2240280"/>
            <a:ext cx="2386584"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共通ポイントのような</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相互送客・新規誘引効果が無い</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208008" y="2862072"/>
            <a:ext cx="2386584"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D9"/>
                </a:solidFill>
                <a:effectLst/>
                <a:uLnTx/>
                <a:uFillTx/>
                <a:latin typeface="Calibri" pitchFamily="34" charset="0"/>
                <a:ea typeface="Calibri" pitchFamily="34" charset="-122"/>
                <a:cs typeface="Calibri" pitchFamily="34" charset="-120"/>
              </a:rPr>
              <a:t>[19]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3429000"/>
            <a:ext cx="11247120" cy="2971800"/>
          </a:xfrm>
          <a:prstGeom prst="roundRect">
            <a:avLst>
              <a:gd name="adj" fmla="val 1846"/>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21" name="Text 19"/>
          <p:cNvSpPr/>
          <p:nvPr/>
        </p:nvSpPr>
        <p:spPr>
          <a:xfrm>
            <a:off x="731520" y="3639312"/>
            <a:ext cx="10698480" cy="2606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2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補足データ</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コスト負担を理由に自社ポイントを廃止・縮小し、共通ポイントへ切り替える(またはポイント交換システムで接続する)「自社ポイント離れ」の動きも実際に存在する [27]</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2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共通ポイントは運営会社がシステム構築・保守・セキュリティを一手に引き受けるため、加盟店側はこれらの固定費を負わずに済む</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示唆: 独自ポイントは「仲介手数料なし」の代わりに「初期投資・保守・セキュリティ」という別の固定費負担を負う構造。体力のない中小事業者ほどこの負担が重く、dポイントのホワイトレーベル化(システム構築・保守・セキュリティをドコモ側が肩代わり)の恩恵を最も受けられる層になり得る</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提案:ホワイトレーベルdポイントの複層設計</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777240"/>
            <a:ext cx="11247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WL限定ポイントで囲い込みを守りつつ、交換オプションで「共通ポイントのお得感」も両立させる</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188720"/>
            <a:ext cx="4114800" cy="1005840"/>
          </a:xfrm>
          <a:prstGeom prst="roundRect">
            <a:avLst>
              <a:gd name="adj" fmla="val 5455"/>
            </a:avLst>
          </a:prstGeom>
          <a:solidFill>
            <a:srgbClr val="EDF1FA"/>
          </a:solidFill>
          <a:ln w="12700">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640080" y="1298448"/>
            <a:ext cx="3749040" cy="7863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WL限定dポイント</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その提携先でのみ貯める・使える(囲い込み維持)</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709160" y="1325880"/>
            <a:ext cx="2743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手続きで交換</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(レート例: 33〜60%)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709160" y="1124712"/>
            <a:ext cx="2743200" cy="109728"/>
          </a:xfrm>
          <a:prstGeom prst="rightArrow">
            <a:avLst/>
          </a:prstGeom>
          <a:solidFill>
            <a:srgbClr val="AEBED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8" name="Shape 6"/>
          <p:cNvSpPr/>
          <p:nvPr/>
        </p:nvSpPr>
        <p:spPr>
          <a:xfrm>
            <a:off x="7589520" y="1188720"/>
            <a:ext cx="4114800" cy="1005840"/>
          </a:xfrm>
          <a:prstGeom prst="roundRect">
            <a:avLst>
              <a:gd name="adj" fmla="val 5455"/>
            </a:avLst>
          </a:prstGeom>
          <a:solidFill>
            <a:srgbClr val="1E2761"/>
          </a:solidFill>
          <a:ln w="12700">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9" name="Text 7"/>
          <p:cNvSpPr/>
          <p:nvPr/>
        </p:nvSpPr>
        <p:spPr>
          <a:xfrm>
            <a:off x="7772400" y="1298448"/>
            <a:ext cx="3749040" cy="7863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通常dポイント</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全国のdポイント加盟店・d払いで利用可</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468880"/>
            <a:ext cx="11247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実現可能性の裏付け(前例)</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2788920"/>
            <a:ext cx="5349240" cy="1371600"/>
          </a:xfrm>
          <a:prstGeom prst="roundRect">
            <a:avLst>
              <a:gd name="adj" fmla="val 4000"/>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2" name="Text 10"/>
          <p:cNvSpPr/>
          <p:nvPr/>
        </p:nvSpPr>
        <p:spPr>
          <a:xfrm>
            <a:off x="640080" y="2898648"/>
            <a:ext cx="4983480" cy="115214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前例① dポイントは既に複層ポイントを運用中</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「通常ポイント」と「期間・用途限定ポイント」が既に併存し、合算利用・有効期限順消化の仕組みが稼働中。ゼロから開発する必要がない [28]</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80760" y="2788920"/>
            <a:ext cx="5349240" cy="1371600"/>
          </a:xfrm>
          <a:prstGeom prst="roundRect">
            <a:avLst>
              <a:gd name="adj" fmla="val 4000"/>
            </a:avLst>
          </a:prstGeom>
          <a:solidFill>
            <a:srgbClr val="FFFFFF"/>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4" name="Text 12"/>
          <p:cNvSpPr/>
          <p:nvPr/>
        </p:nvSpPr>
        <p:spPr>
          <a:xfrm>
            <a:off x="6263640" y="2898648"/>
            <a:ext cx="4983480" cy="115214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前例② マイル交換で「レート目減り」設計は実証済み</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Pontaポイント→JALマイルは約33%、Vポイント→ANAマイルは50〜60%。レートを下げること自体が囲い込みの摩擦と原資コストの調整弁になる [29][30]</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57200" y="4343400"/>
            <a:ext cx="5349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7145"/>
                </a:solidFill>
                <a:effectLst/>
                <a:uLnTx/>
                <a:uFillTx/>
                <a:latin typeface="Calibri" pitchFamily="34" charset="0"/>
                <a:ea typeface="Calibri" pitchFamily="34" charset="-122"/>
                <a:cs typeface="Calibri" pitchFamily="34" charset="-120"/>
              </a:rPr>
              <a:t>強み</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57200" y="4645152"/>
            <a:ext cx="5349240" cy="178308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パートナー: 自社経済圏にポイントが留まり囲い込み効果が毀損されない</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ドコモ: 交換レートの目減り分が新収益源。WL提携先の増加で非ドコモ接点も拡大</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消費者: 「将来dポイントに変えられる」安心感でWLポイント自体のお得感が底上げされる</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080760" y="4343400"/>
            <a:ext cx="5349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9C6B00"/>
                </a:solidFill>
                <a:effectLst/>
                <a:uLnTx/>
                <a:uFillTx/>
                <a:latin typeface="Calibri" pitchFamily="34" charset="0"/>
                <a:ea typeface="Calibri" pitchFamily="34" charset="-122"/>
                <a:cs typeface="Calibri" pitchFamily="34" charset="-120"/>
              </a:rPr>
              <a:t>設計上の論点</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080760" y="4645152"/>
            <a:ext cx="5349240" cy="178308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交換レートの水準が生命線 ―高すぎれば囲い込み崩壊、低すぎれば評判悪化</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交換方向の設計 ―WL→通常のみか、双方向か</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消費者の分かりにくさ ―現行の期間・用途限定ポイントも理解されにくい実態がある</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引用元・算定根拠</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60120"/>
            <a:ext cx="5440680" cy="3977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 MMD研究所ほか「通信会社と利用ポイントに関する調査」 ― キャリア別メイン利用ポイントの相関</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 NTTドコモ モバイル社会研究所 シニア調査(70代スマホ所有率など)</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[3] ITmedia ビジネスオンライン「『ドコモ経済圏』に取り込め ―会員数1億人超え、dポイントクラブがLINE連携で目指すLTV最大化戦略」(2025年12月)</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[4] 株式会社ロイヤリティ マーケティング公式データ(paymentnavi「Ponta 15年の歩みから見るポイントが生み出す価値と決済の変化」)</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[5] MMD研究所ほか 年代別ポイント利用実態調査</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[6] SBペイメントサービス「実店舗でのキャッシュレス決済の利用実態調査結果」(2024年11月)</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[7] マナミナ(バリューズ)/アイリッジ調査「スマホ決済利用率」</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[8] Vポイントマーケティング(旧CCC)プレスリリース「Tカードの年間利用会員数が日本総人口の50%突破」(2017年)</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[9] paymentnavi「SMBCグループ共通ポイント『Vポイント』、若年層獲得や日常利用促進で成果」</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[10] ITmedia ビジネスオンライン「日常で最も多く利用するポイントは『楽天ポイント』幅広い世代で最多」(2021年10月)</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[11] MMD研究所「ポイント経済圏のサービス利用に関する調査」(2025年7月)</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[12] 第一生命経済研究所「シニアのポイ活事情 ―キャッシュレス化が後押しするシニアのポイントサービス利用―」鄭美沙(Life Design Report 2025.7、50〜79歳2,400人調査)</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[13] マイナビニュース「『ポイ活』を行っているシニアは6割弱 ―ポイ活アプリ、ネットバンキングの利用状況は?」(2025年7月10日)</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[14] 株式会社ハルメク「シニア女性に聞いた『キャッシュレス決済』に関する実態調査」</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[15] NTTドコモ モバイル社会研究所「【シニア】QRコード決済利用率 60代が1年で7ポイント上昇し半数を超える」(2024年5月30日)</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263640" y="960120"/>
            <a:ext cx="5440680" cy="3977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[16] マイボイスコム株式会社「ポイントサービスに関するアンケート調査」(直近1年間の利用店舗・業種別)</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[17] 一般社団法人全国スーパーマーケット協会・一般社団法人日本スーパーマーケット協会「2023年 スーパーマーケット年次統計調査 報告書」(2023年10月)</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[18] 株式会社プラネット「意識調査 Fromプラネット Vol.75 ―ポイントカードに関する意識調査―」</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[19] ポイントマーケティングラボ「共通ポイントと自社（個別）ポイントの特徴や違い」</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[20] LIMO「TポイントやPontaの共通ポイント、原資は誰が出しているの？ 増える共通ポイント導入企業、今後の課題は何か」</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[21] コツマガ「dポイントは2重取り、3重取りもできる！対象の加盟店と手順、注意点を解説」</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[22] ポイ探「独自ポイントと共通ポイントの併用パターンが増えてきた理由とは？ 独自ポイントを発行するメリットを解説！」</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[23] PRESIDENT「なぜか満足度が高まる『ポイント還元』の罠 販促効果は『値引き』の3.6倍もある」</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[24] 東芝テック「現金値引よりポイント還元が好まれるワケ―行動経済学が教える正しいポイントの貯め方」</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[25] SBギフト「ポイントプログラムとは？自社導入を考える前に知っておくべき概要とメリット・デメリット」</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[26] ライブドアニュース「ポイントカードの不正利用が急増 セキュリティ対策は難しく」</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[27] note「ポイント戦略の分岐点―自社と共通の違いを科学する」</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[28] NTTドコモ公式ヘルプ「dポイントの『期間・用途限定ポイント』とは何ですか？」</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[29] ドットマガジン「マイル交換率がよいルート。JAL派やANA派が貯めたいポイントの種類」</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85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[30] ANAマイレージクラブ公式サイト「提携ポイントへの交換」</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4983480"/>
            <a:ext cx="11247120" cy="1417320"/>
          </a:xfrm>
          <a:prstGeom prst="roundRect">
            <a:avLst>
              <a:gd name="adj" fmla="val 5161"/>
            </a:avLst>
          </a:prstGeom>
          <a:solidFill>
            <a:srgbClr val="F4F6FB"/>
          </a:solidFill>
          <a:ln w="9525">
            <a:solidFill>
              <a:srgbClr val="D7DE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6" name="Text 4"/>
          <p:cNvSpPr/>
          <p:nvPr/>
        </p:nvSpPr>
        <p:spPr>
          <a:xfrm>
            <a:off x="685800" y="5120640"/>
            <a:ext cx="10789920"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算定根拠(確度の付け方)　</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2F"/>
                </a:solidFill>
                <a:effectLst/>
                <a:uLnTx/>
                <a:uFillTx/>
                <a:latin typeface="Calibri" pitchFamily="34" charset="0"/>
                <a:ea typeface="Calibri" pitchFamily="34" charset="-122"/>
                <a:cs typeface="Calibri" pitchFamily="34" charset="-120"/>
              </a:rPr>
              <a:t>各社は年齢・性別の詳細な会員構成を公式には開示していないため、本資料は複数の公開報道・調査会社レポートの整合性から推定した二次情報の統合である。「高」は公式データ・企業担当者コメントを含む複数の独立ソースが一致した項目、「中」は報道・調査会社データのみ、または単一/やや古い情報源に基づく項目を指す。</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A6B8C"/>
                </a:solidFill>
                <a:effectLst/>
                <a:uLnTx/>
                <a:uFillTx/>
                <a:latin typeface="Calibri" pitchFamily="34" charset="0"/>
                <a:ea typeface="Calibri" pitchFamily="34" charset="-122"/>
                <a:cs typeface="Calibri" pitchFamily="34" charset="-120"/>
              </a:rPr>
              <a:t>注: 「dポイント会員の約2人に1人が非ドコモユーザー」という数値は単一のSEO記事のみで確認され、公式IR等で未確認のため本表には採用していない。</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685800"/>
            <a:ext cx="54864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ADCFC"/>
                </a:solidFill>
                <a:effectLst/>
                <a:uLnTx/>
                <a:uFillTx/>
                <a:latin typeface="Cambria" pitchFamily="34" charset="0"/>
                <a:ea typeface="Cambria" pitchFamily="34" charset="-122"/>
                <a:cs typeface="Cambria" pitchFamily="34" charset="-120"/>
              </a:rPr>
              <a:t>結論</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1143000"/>
            <a:ext cx="10515600" cy="13716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「登録の広さ」と「利用の偏り」は別軸</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業界共通の構造的課題</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31520" y="2935224"/>
            <a:ext cx="292608" cy="292608"/>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731520" y="2935224"/>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234440" y="2880360"/>
            <a:ext cx="100584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各ポイントサービスは、母体企業(通信キャリア/EC/旧CCC提携先)の顧客基盤に応じた属性の偏りを構造的に抱える</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731520" y="3776472"/>
            <a:ext cx="292608" cy="292608"/>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8" name="Text 6"/>
          <p:cNvSpPr/>
          <p:nvPr/>
        </p:nvSpPr>
        <p:spPr>
          <a:xfrm>
            <a:off x="731520" y="3776472"/>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34440" y="3721608"/>
            <a:ext cx="100584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特にPontaポイントはdポイントと同型の「登録は幅広いが、メイン利用は特定層に集中」という構造が確認できた</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731520" y="4617720"/>
            <a:ext cx="292608" cy="292608"/>
          </a:xfrm>
          <a:prstGeom prst="ellipse">
            <a:avLst/>
          </a:prstGeom>
          <a:solidFill>
            <a:srgbClr val="334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1" name="Text 9"/>
          <p:cNvSpPr/>
          <p:nvPr/>
        </p:nvSpPr>
        <p:spPr>
          <a:xfrm>
            <a:off x="731520" y="4617720"/>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234440" y="4562856"/>
            <a:ext cx="100584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 dポイント固有の弱点ではなく、業界全体がキャリア基盤に紐づく偏りを抱えている</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31520" y="5458968"/>
            <a:ext cx="292608" cy="292608"/>
          </a:xfrm>
          <a:prstGeom prst="ellipse">
            <a:avLst/>
          </a:prstGeom>
          <a:solidFill>
            <a:srgbClr val="3AA0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4" name="Text 12"/>
          <p:cNvSpPr/>
          <p:nvPr/>
        </p:nvSpPr>
        <p:spPr>
          <a:xfrm>
            <a:off x="731520" y="5458968"/>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234440" y="5404104"/>
            <a:ext cx="100584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この偏りを最初に解消する企業が、生成AI時代の行動データ資産で優位に立てる</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1B34"/>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1828800" cy="320040"/>
          </a:xfrm>
          <a:prstGeom prst="rect">
            <a:avLst/>
          </a:prstGeom>
          <a:noFill/>
        </p:spPr>
        <p:txBody>
          <a:bodyPr wrap="square" lIns="45720" rIns="45720" anchor="ctr">
            <a:spAutoFit/>
          </a:bodyPr>
          <a:lstStyle/>
          <a:p>
            <a:pPr algn="l"/>
            <a:r>
              <a:rPr sz="1100" b="1">
                <a:solidFill>
                  <a:srgbClr val="43C9E5"/>
                </a:solidFill>
                <a:latin typeface="Aptos"/>
              </a:rPr>
              <a:t>CONCLUSION</a:t>
            </a:r>
          </a:p>
        </p:txBody>
      </p:sp>
      <p:sp>
        <p:nvSpPr>
          <p:cNvPr id="3" name="TextBox 2"/>
          <p:cNvSpPr txBox="1"/>
          <p:nvPr/>
        </p:nvSpPr>
        <p:spPr>
          <a:xfrm>
            <a:off x="685800" y="1097280"/>
            <a:ext cx="7772400" cy="1005840"/>
          </a:xfrm>
          <a:prstGeom prst="rect">
            <a:avLst/>
          </a:prstGeom>
          <a:noFill/>
        </p:spPr>
        <p:txBody>
          <a:bodyPr wrap="square" lIns="45720" rIns="45720" anchor="ctr">
            <a:spAutoFit/>
          </a:bodyPr>
          <a:lstStyle/>
          <a:p>
            <a:pPr algn="l"/>
            <a:r>
              <a:rPr sz="2900" b="1">
                <a:solidFill>
                  <a:srgbClr val="FFFFFF"/>
                </a:solidFill>
                <a:latin typeface="Aptos"/>
              </a:rPr>
              <a:t>dポイントの次の成長は、
「ポイントを増やす」ことではない。</a:t>
            </a:r>
          </a:p>
        </p:txBody>
      </p:sp>
      <p:sp>
        <p:nvSpPr>
          <p:cNvPr id="4" name="Rounded Rectangle 3"/>
          <p:cNvSpPr/>
          <p:nvPr/>
        </p:nvSpPr>
        <p:spPr>
          <a:xfrm>
            <a:off x="777240" y="2743200"/>
            <a:ext cx="3246120" cy="1508760"/>
          </a:xfrm>
          <a:prstGeom prst="roundRect">
            <a:avLst>
              <a:gd name="adj" fmla="val 12000"/>
            </a:avLst>
          </a:prstGeom>
          <a:solidFill>
            <a:srgbClr val="152D4C"/>
          </a:solidFill>
          <a:ln>
            <a:solidFill>
              <a:srgbClr val="3653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953512"/>
            <a:ext cx="548640" cy="320040"/>
          </a:xfrm>
          <a:prstGeom prst="rect">
            <a:avLst/>
          </a:prstGeom>
          <a:noFill/>
        </p:spPr>
        <p:txBody>
          <a:bodyPr wrap="square" lIns="45720" rIns="45720" anchor="ctr">
            <a:spAutoFit/>
          </a:bodyPr>
          <a:lstStyle/>
          <a:p>
            <a:pPr algn="l"/>
            <a:r>
              <a:rPr sz="2200" b="1">
                <a:solidFill>
                  <a:srgbClr val="43C9E5"/>
                </a:solidFill>
                <a:latin typeface="Aptos"/>
              </a:rPr>
              <a:t>01</a:t>
            </a:r>
          </a:p>
        </p:txBody>
      </p:sp>
      <p:sp>
        <p:nvSpPr>
          <p:cNvPr id="6" name="TextBox 5"/>
          <p:cNvSpPr txBox="1"/>
          <p:nvPr/>
        </p:nvSpPr>
        <p:spPr>
          <a:xfrm>
            <a:off x="1005840" y="3429000"/>
            <a:ext cx="2743200" cy="320040"/>
          </a:xfrm>
          <a:prstGeom prst="rect">
            <a:avLst/>
          </a:prstGeom>
          <a:noFill/>
        </p:spPr>
        <p:txBody>
          <a:bodyPr wrap="square" lIns="45720" rIns="45720" anchor="ctr">
            <a:spAutoFit/>
          </a:bodyPr>
          <a:lstStyle/>
          <a:p>
            <a:pPr algn="l"/>
            <a:r>
              <a:rPr sz="1700" b="1">
                <a:solidFill>
                  <a:srgbClr val="FFFFFF"/>
                </a:solidFill>
                <a:latin typeface="Aptos"/>
              </a:rPr>
              <a:t>顧客接点を広げる</a:t>
            </a:r>
          </a:p>
        </p:txBody>
      </p:sp>
      <p:sp>
        <p:nvSpPr>
          <p:cNvPr id="7" name="TextBox 6"/>
          <p:cNvSpPr txBox="1"/>
          <p:nvPr/>
        </p:nvSpPr>
        <p:spPr>
          <a:xfrm>
            <a:off x="1005840" y="3886200"/>
            <a:ext cx="2743200" cy="256032"/>
          </a:xfrm>
          <a:prstGeom prst="rect">
            <a:avLst/>
          </a:prstGeom>
          <a:noFill/>
        </p:spPr>
        <p:txBody>
          <a:bodyPr wrap="square" lIns="45720" rIns="45720" anchor="ctr">
            <a:spAutoFit/>
          </a:bodyPr>
          <a:lstStyle/>
          <a:p>
            <a:pPr algn="l"/>
            <a:r>
              <a:rPr sz="1100" b="0">
                <a:solidFill>
                  <a:srgbClr val="C2D5E5"/>
                </a:solidFill>
                <a:latin typeface="Aptos"/>
              </a:rPr>
              <a:t>他社の経済圏へ</a:t>
            </a:r>
          </a:p>
        </p:txBody>
      </p:sp>
      <p:sp>
        <p:nvSpPr>
          <p:cNvPr id="8" name="Rounded Rectangle 7"/>
          <p:cNvSpPr/>
          <p:nvPr/>
        </p:nvSpPr>
        <p:spPr>
          <a:xfrm>
            <a:off x="4526279" y="2743200"/>
            <a:ext cx="3246120" cy="1508760"/>
          </a:xfrm>
          <a:prstGeom prst="roundRect">
            <a:avLst>
              <a:gd name="adj" fmla="val 12000"/>
            </a:avLst>
          </a:prstGeom>
          <a:solidFill>
            <a:srgbClr val="152D4C"/>
          </a:solidFill>
          <a:ln>
            <a:solidFill>
              <a:srgbClr val="3653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79" y="2953512"/>
            <a:ext cx="548640" cy="320040"/>
          </a:xfrm>
          <a:prstGeom prst="rect">
            <a:avLst/>
          </a:prstGeom>
          <a:noFill/>
        </p:spPr>
        <p:txBody>
          <a:bodyPr wrap="square" lIns="45720" rIns="45720" anchor="ctr">
            <a:spAutoFit/>
          </a:bodyPr>
          <a:lstStyle/>
          <a:p>
            <a:pPr algn="l"/>
            <a:r>
              <a:rPr sz="2200" b="1">
                <a:solidFill>
                  <a:srgbClr val="43C9E5"/>
                </a:solidFill>
                <a:latin typeface="Aptos"/>
              </a:rPr>
              <a:t>02</a:t>
            </a:r>
          </a:p>
        </p:txBody>
      </p:sp>
      <p:sp>
        <p:nvSpPr>
          <p:cNvPr id="10" name="TextBox 9"/>
          <p:cNvSpPr txBox="1"/>
          <p:nvPr/>
        </p:nvSpPr>
        <p:spPr>
          <a:xfrm>
            <a:off x="4754879" y="3429000"/>
            <a:ext cx="2743200" cy="320040"/>
          </a:xfrm>
          <a:prstGeom prst="rect">
            <a:avLst/>
          </a:prstGeom>
          <a:noFill/>
        </p:spPr>
        <p:txBody>
          <a:bodyPr wrap="square" lIns="45720" rIns="45720" anchor="ctr">
            <a:spAutoFit/>
          </a:bodyPr>
          <a:lstStyle/>
          <a:p>
            <a:pPr algn="l"/>
            <a:r>
              <a:rPr sz="1700" b="1">
                <a:solidFill>
                  <a:srgbClr val="FFFFFF"/>
                </a:solidFill>
                <a:latin typeface="Aptos"/>
              </a:rPr>
              <a:t>購買データを集める</a:t>
            </a:r>
          </a:p>
        </p:txBody>
      </p:sp>
      <p:sp>
        <p:nvSpPr>
          <p:cNvPr id="11" name="TextBox 10"/>
          <p:cNvSpPr txBox="1"/>
          <p:nvPr/>
        </p:nvSpPr>
        <p:spPr>
          <a:xfrm>
            <a:off x="4754879" y="3886200"/>
            <a:ext cx="2743200" cy="256032"/>
          </a:xfrm>
          <a:prstGeom prst="rect">
            <a:avLst/>
          </a:prstGeom>
          <a:noFill/>
        </p:spPr>
        <p:txBody>
          <a:bodyPr wrap="square" lIns="45720" rIns="45720" anchor="ctr">
            <a:spAutoFit/>
          </a:bodyPr>
          <a:lstStyle/>
          <a:p>
            <a:pPr algn="l"/>
            <a:r>
              <a:rPr sz="1100" b="0">
                <a:solidFill>
                  <a:srgbClr val="C2D5E5"/>
                </a:solidFill>
                <a:latin typeface="Aptos"/>
              </a:rPr>
              <a:t>リアルな行動を理解する</a:t>
            </a:r>
          </a:p>
        </p:txBody>
      </p:sp>
      <p:sp>
        <p:nvSpPr>
          <p:cNvPr id="12" name="Rounded Rectangle 11"/>
          <p:cNvSpPr/>
          <p:nvPr/>
        </p:nvSpPr>
        <p:spPr>
          <a:xfrm>
            <a:off x="8275319" y="2743200"/>
            <a:ext cx="3246120" cy="1508760"/>
          </a:xfrm>
          <a:prstGeom prst="roundRect">
            <a:avLst>
              <a:gd name="adj" fmla="val 12000"/>
            </a:avLst>
          </a:prstGeom>
          <a:solidFill>
            <a:srgbClr val="152D4C"/>
          </a:solidFill>
          <a:ln>
            <a:solidFill>
              <a:srgbClr val="3653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19" y="2953512"/>
            <a:ext cx="548640" cy="320040"/>
          </a:xfrm>
          <a:prstGeom prst="rect">
            <a:avLst/>
          </a:prstGeom>
          <a:noFill/>
        </p:spPr>
        <p:txBody>
          <a:bodyPr wrap="square" lIns="45720" rIns="45720" anchor="ctr">
            <a:spAutoFit/>
          </a:bodyPr>
          <a:lstStyle/>
          <a:p>
            <a:pPr algn="l"/>
            <a:r>
              <a:rPr sz="2200" b="1">
                <a:solidFill>
                  <a:srgbClr val="43C9E5"/>
                </a:solidFill>
                <a:latin typeface="Aptos"/>
              </a:rPr>
              <a:t>03</a:t>
            </a:r>
          </a:p>
        </p:txBody>
      </p:sp>
      <p:sp>
        <p:nvSpPr>
          <p:cNvPr id="14" name="TextBox 13"/>
          <p:cNvSpPr txBox="1"/>
          <p:nvPr/>
        </p:nvSpPr>
        <p:spPr>
          <a:xfrm>
            <a:off x="8503919" y="3429000"/>
            <a:ext cx="2743200" cy="320040"/>
          </a:xfrm>
          <a:prstGeom prst="rect">
            <a:avLst/>
          </a:prstGeom>
          <a:noFill/>
        </p:spPr>
        <p:txBody>
          <a:bodyPr wrap="square" lIns="45720" rIns="45720" anchor="ctr">
            <a:spAutoFit/>
          </a:bodyPr>
          <a:lstStyle/>
          <a:p>
            <a:pPr algn="l"/>
            <a:r>
              <a:rPr sz="1700" b="1">
                <a:solidFill>
                  <a:srgbClr val="FFFFFF"/>
                </a:solidFill>
                <a:latin typeface="Aptos"/>
              </a:rPr>
              <a:t>AIを進化させる</a:t>
            </a:r>
          </a:p>
        </p:txBody>
      </p:sp>
      <p:sp>
        <p:nvSpPr>
          <p:cNvPr id="15" name="TextBox 14"/>
          <p:cNvSpPr txBox="1"/>
          <p:nvPr/>
        </p:nvSpPr>
        <p:spPr>
          <a:xfrm>
            <a:off x="8503919" y="3886200"/>
            <a:ext cx="2743200" cy="256032"/>
          </a:xfrm>
          <a:prstGeom prst="rect">
            <a:avLst/>
          </a:prstGeom>
          <a:noFill/>
        </p:spPr>
        <p:txBody>
          <a:bodyPr wrap="square" lIns="45720" rIns="45720" anchor="ctr">
            <a:spAutoFit/>
          </a:bodyPr>
          <a:lstStyle/>
          <a:p>
            <a:pPr algn="l"/>
            <a:r>
              <a:rPr sz="1100" b="0">
                <a:solidFill>
                  <a:srgbClr val="C2D5E5"/>
                </a:solidFill>
                <a:latin typeface="Aptos"/>
              </a:rPr>
              <a:t>より多様な人を理解する</a:t>
            </a:r>
          </a:p>
        </p:txBody>
      </p:sp>
      <p:sp>
        <p:nvSpPr>
          <p:cNvPr id="16" name="Rounded Rectangle 15"/>
          <p:cNvSpPr/>
          <p:nvPr/>
        </p:nvSpPr>
        <p:spPr>
          <a:xfrm>
            <a:off x="777240" y="4983480"/>
            <a:ext cx="10607040" cy="777240"/>
          </a:xfrm>
          <a:prstGeom prst="roundRect">
            <a:avLst>
              <a:gd name="adj" fmla="val 12000"/>
            </a:avLst>
          </a:prstGeom>
          <a:solidFill>
            <a:srgbClr val="183A59"/>
          </a:solidFill>
          <a:ln>
            <a:solidFill>
              <a:srgbClr val="4177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5212080"/>
            <a:ext cx="10149840" cy="320040"/>
          </a:xfrm>
          <a:prstGeom prst="rect">
            <a:avLst/>
          </a:prstGeom>
          <a:noFill/>
        </p:spPr>
        <p:txBody>
          <a:bodyPr wrap="square" lIns="45720" rIns="45720" anchor="ctr">
            <a:spAutoFit/>
          </a:bodyPr>
          <a:lstStyle/>
          <a:p>
            <a:pPr algn="ctr"/>
            <a:r>
              <a:rPr sz="2000" b="1">
                <a:solidFill>
                  <a:srgbClr val="FFFFFF"/>
                </a:solidFill>
                <a:latin typeface="Aptos"/>
              </a:rPr>
              <a:t>dポイントを、社会の多様な行動を理解する「接点」と「データ」の基盤へ。</a:t>
            </a:r>
          </a:p>
        </p:txBody>
      </p:sp>
      <p:sp>
        <p:nvSpPr>
          <p:cNvPr id="18" name="TextBox 17"/>
          <p:cNvSpPr txBox="1"/>
          <p:nvPr/>
        </p:nvSpPr>
        <p:spPr>
          <a:xfrm>
            <a:off x="685800" y="6172200"/>
            <a:ext cx="1828800" cy="228600"/>
          </a:xfrm>
          <a:prstGeom prst="rect">
            <a:avLst/>
          </a:prstGeom>
          <a:noFill/>
        </p:spPr>
        <p:txBody>
          <a:bodyPr wrap="square" lIns="45720" rIns="45720" anchor="ctr">
            <a:spAutoFit/>
          </a:bodyPr>
          <a:lstStyle/>
          <a:p>
            <a:pPr algn="l"/>
            <a:r>
              <a:rPr sz="1000" b="0">
                <a:solidFill>
                  <a:srgbClr val="AEC3D4"/>
                </a:solidFill>
                <a:latin typeface="Aptos"/>
              </a:rPr>
              <a:t>Thank you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4FAE1-70A5-CA60-AB72-FFD9835D3A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52A892-BE3A-14A6-1E08-610534AC4487}"/>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新事業提案の検討手順</a:t>
            </a:r>
            <a:endParaRPr dirty="0">
              <a:solidFill>
                <a:srgbClr val="00AEEF"/>
              </a:solidFill>
              <a:latin typeface="Meiryo UI" panose="020B0604030504040204" pitchFamily="50" charset="-128"/>
              <a:ea typeface="Meiryo UI" panose="020B0604030504040204" pitchFamily="50" charset="-128"/>
            </a:endParaRPr>
          </a:p>
        </p:txBody>
      </p:sp>
      <p:cxnSp>
        <p:nvCxnSpPr>
          <p:cNvPr id="4" name="Connector 3">
            <a:extLst>
              <a:ext uri="{FF2B5EF4-FFF2-40B4-BE49-F238E27FC236}">
                <a16:creationId xmlns:a16="http://schemas.microsoft.com/office/drawing/2014/main" id="{07499E6E-1423-BB4F-E799-7D8DF27CBC97}"/>
              </a:ext>
            </a:extLst>
          </p:cNvPr>
          <p:cNvCxnSpPr>
            <a:cxnSpLocks/>
          </p:cNvCxnSpPr>
          <p:nvPr/>
        </p:nvCxnSpPr>
        <p:spPr>
          <a:xfrm>
            <a:off x="0" y="530352"/>
            <a:ext cx="12192000"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5" name="TextBox 2">
            <a:extLst>
              <a:ext uri="{FF2B5EF4-FFF2-40B4-BE49-F238E27FC236}">
                <a16:creationId xmlns:a16="http://schemas.microsoft.com/office/drawing/2014/main" id="{87B06968-9A9C-FD93-DCF8-46AD1BCEBD80}"/>
              </a:ext>
            </a:extLst>
          </p:cNvPr>
          <p:cNvSpPr txBox="1"/>
          <p:nvPr/>
        </p:nvSpPr>
        <p:spPr>
          <a:xfrm>
            <a:off x="1407218" y="966088"/>
            <a:ext cx="8973525" cy="5170646"/>
          </a:xfrm>
          <a:prstGeom prst="rect">
            <a:avLst/>
          </a:prstGeom>
          <a:noFill/>
        </p:spPr>
        <p:txBody>
          <a:bodyPr wrap="square" lIns="45720" rIns="45720" anchor="t">
            <a:spAutoFit/>
          </a:bodyPr>
          <a:lstStyle/>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ゴール（目標）の設定</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現状の分析</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ゴールと現状のギャップ＝課題の明確化</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対策の考え方（方向性）の設定</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具体的対策の内容</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実行計画</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1200"/>
              </a:spcAft>
              <a:buFont typeface="+mj-lt"/>
              <a:buAutoNum type="arabicPeriod"/>
            </a:pPr>
            <a:r>
              <a:rPr lang="ja-JP" altLang="en-US" sz="2400" b="1" dirty="0">
                <a:solidFill>
                  <a:srgbClr val="0A1B34"/>
                </a:solidFill>
                <a:latin typeface="Meiryo UI" panose="020B0604030504040204" pitchFamily="50" charset="-128"/>
                <a:ea typeface="Meiryo UI" panose="020B0604030504040204" pitchFamily="50" charset="-128"/>
              </a:rPr>
              <a:t>成果指標（KPI）／評価方法</a:t>
            </a:r>
            <a:endParaRPr lang="ja-JP" altLang="en-US" sz="2400" b="1" dirty="0">
              <a:solidFill>
                <a:srgbClr val="0A1B34"/>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98469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1CC4-B490-322A-CD86-B1049364FE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77E28C-F1DE-E453-6129-30462E0CB078}"/>
              </a:ext>
            </a:extLst>
          </p:cNvPr>
          <p:cNvSpPr txBox="1"/>
          <p:nvPr/>
        </p:nvSpPr>
        <p:spPr>
          <a:xfrm>
            <a:off x="232410" y="84691"/>
            <a:ext cx="6035040" cy="369332"/>
          </a:xfrm>
          <a:prstGeom prst="rect">
            <a:avLst/>
          </a:prstGeom>
          <a:noFill/>
        </p:spPr>
        <p:txBody>
          <a:bodyPr wrap="square" lIns="45720" rIns="45720" anchor="ctr">
            <a:spAutoFit/>
          </a:bodyPr>
          <a:lstStyle/>
          <a:p>
            <a:pPr algn="l"/>
            <a:r>
              <a:rPr lang="ja-JP" altLang="en-US" dirty="0">
                <a:solidFill>
                  <a:srgbClr val="00AEEF"/>
                </a:solidFill>
                <a:latin typeface="Meiryo UI" panose="020B0604030504040204" pitchFamily="50" charset="-128"/>
                <a:ea typeface="Meiryo UI" panose="020B0604030504040204" pitchFamily="50" charset="-128"/>
              </a:rPr>
              <a:t>新事業の狙い</a:t>
            </a:r>
            <a:endParaRPr dirty="0">
              <a:solidFill>
                <a:srgbClr val="00AEEF"/>
              </a:solidFill>
              <a:latin typeface="Meiryo UI" panose="020B0604030504040204" pitchFamily="50" charset="-128"/>
              <a:ea typeface="Meiryo UI" panose="020B0604030504040204" pitchFamily="50" charset="-128"/>
            </a:endParaRPr>
          </a:p>
        </p:txBody>
      </p:sp>
      <p:sp>
        <p:nvSpPr>
          <p:cNvPr id="3" name="TextBox 2">
            <a:extLst>
              <a:ext uri="{FF2B5EF4-FFF2-40B4-BE49-F238E27FC236}">
                <a16:creationId xmlns:a16="http://schemas.microsoft.com/office/drawing/2014/main" id="{501920E4-636C-0534-72E2-6B2EF3147BB3}"/>
              </a:ext>
            </a:extLst>
          </p:cNvPr>
          <p:cNvSpPr txBox="1"/>
          <p:nvPr/>
        </p:nvSpPr>
        <p:spPr>
          <a:xfrm>
            <a:off x="312466" y="636903"/>
            <a:ext cx="11064240" cy="1969770"/>
          </a:xfrm>
          <a:prstGeom prst="rect">
            <a:avLst/>
          </a:prstGeom>
          <a:noFill/>
        </p:spPr>
        <p:txBody>
          <a:bodyPr wrap="square" lIns="45720" rIns="45720" anchor="t">
            <a:spAutoFit/>
          </a:bodyPr>
          <a:lstStyle/>
          <a:p>
            <a:pPr marL="457200" indent="-457200" algn="l">
              <a:spcAft>
                <a:spcPts val="600"/>
              </a:spcAft>
              <a:buFont typeface="Wingdings" panose="05000000000000000000" pitchFamily="2" charset="2"/>
              <a:buChar char="u"/>
            </a:pPr>
            <a:r>
              <a:rPr lang="ja-JP" altLang="en-US" sz="2400" b="1" dirty="0">
                <a:solidFill>
                  <a:srgbClr val="0A1B34"/>
                </a:solidFill>
                <a:latin typeface="Meiryo UI" panose="020B0604030504040204" pitchFamily="50" charset="-128"/>
                <a:ea typeface="Meiryo UI" panose="020B0604030504040204" pitchFamily="50" charset="-128"/>
              </a:rPr>
              <a:t>SyncMe「もっと便利」×dポイント「もっとお得」をお客様に提供</a:t>
            </a:r>
            <a:endParaRPr lang="ja-JP" altLang="en-US" sz="2400" b="1" dirty="0">
              <a:solidFill>
                <a:srgbClr val="0A1B34"/>
              </a:solidFill>
              <a:latin typeface="Meiryo UI" panose="020B0604030504040204" pitchFamily="50" charset="-128"/>
              <a:ea typeface="Meiryo UI" panose="020B0604030504040204" pitchFamily="50" charset="-128"/>
            </a:endParaRPr>
          </a:p>
          <a:p>
            <a:pPr marL="457200" indent="-457200" algn="l">
              <a:spcAft>
                <a:spcPts val="600"/>
              </a:spcAft>
              <a:buFont typeface="Wingdings" panose="05000000000000000000" pitchFamily="2" charset="2"/>
              <a:buChar char="u"/>
            </a:pPr>
            <a:r>
              <a:rPr lang="ja-JP" altLang="en-US" sz="2400" b="1" dirty="0">
                <a:solidFill>
                  <a:srgbClr val="0A1B34"/>
                </a:solidFill>
                <a:latin typeface="Meiryo UI" panose="020B0604030504040204" pitchFamily="50" charset="-128"/>
                <a:ea typeface="Meiryo UI" panose="020B0604030504040204" pitchFamily="50" charset="-128"/>
              </a:rPr>
              <a:t>事業効果『顧客ロイヤリティ向上』『dポイント収益向上』を狙う</a:t>
            </a:r>
            <a:endParaRPr lang="ja-JP" altLang="en-US" sz="2400" b="1" dirty="0">
              <a:solidFill>
                <a:srgbClr val="0A1B34"/>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16406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622</TotalTime>
  <Words>2741</Words>
  <Application>Microsoft Office PowerPoint</Application>
  <PresentationFormat>ワイド画面</PresentationFormat>
  <Paragraphs>462</Paragraphs>
  <Slides>30</Slides>
  <Notes>10</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30</vt:i4>
      </vt:variant>
    </vt:vector>
  </HeadingPairs>
  <TitlesOfParts>
    <vt:vector size="40" baseType="lpstr">
      <vt:lpstr>Meiryo UI</vt:lpstr>
      <vt:lpstr>Meiryo</vt:lpstr>
      <vt:lpstr>游ゴシック</vt:lpstr>
      <vt:lpstr>Aptos</vt:lpstr>
      <vt:lpstr>Arial</vt:lpstr>
      <vt:lpstr>Calibri</vt:lpstr>
      <vt:lpstr>Cambria</vt:lpstr>
      <vt:lpstr>Wingdings</vt:lpstr>
      <vt:lpstr>Office Theme</vt:lpstr>
      <vt:lpstr>1_Office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和徳 那須</cp:lastModifiedBy>
  <cp:revision>32</cp:revision>
  <dcterms:created xsi:type="dcterms:W3CDTF">2013-01-27T09:14:16Z</dcterms:created>
  <dcterms:modified xsi:type="dcterms:W3CDTF">2026-07-29T13:03:32Z</dcterms:modified>
  <cp:category/>
</cp:coreProperties>
</file>