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ドコモの強み ― 2つの比較軸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競合(通信キャリア)との比較 ／ 他業界との比較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94960" cy="548640"/>
          </a:xfrm>
          <a:prstGeom prst="rect">
            <a:avLst/>
          </a:prstGeom>
          <a:solidFill>
            <a:srgbClr val="C7000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競合(KDDI・ソフトバンク等)との比較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2212848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121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契約者数・シェアの規模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40487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契約数9,307万・シェア39.7%で首位（KDDI 31.3%、ソフトバンク24.8%）。規模の経済で設備投資効率が優位。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04672" y="3218688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272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圧倒的な財務健全性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41071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長期借入債務わずか520億円の実質無借金体質。KDDIの有利子負債約5兆円等と比べ財務リスクの取り方が根本的に違う。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04672" y="4224528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1330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dポイント経済圏の規模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441655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会員約9,170万人・パートナー約59万社。通信契約基盤とポイント経済圏の一体化度で最大級。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04672" y="5230368"/>
            <a:ext cx="146304" cy="146304"/>
          </a:xfrm>
          <a:prstGeom prst="ellipse">
            <a:avLst/>
          </a:prstGeom>
          <a:solidFill>
            <a:srgbClr val="C7000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513892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000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NTTグループとの連携力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542239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NTTデータ（法人IT）、NTT研究所（6G・IOWN）等、グループ全体の技術・営業網を活用できる。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63640" y="1417320"/>
            <a:ext cx="5394960" cy="4846320"/>
          </a:xfrm>
          <a:prstGeom prst="rect">
            <a:avLst/>
          </a:prstGeom>
          <a:solidFill>
            <a:srgbClr val="FAFAFA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417320"/>
            <a:ext cx="539496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1417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他業界との比較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19672" y="221284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12140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安定したストック型収益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40487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毎月の通信料収入が自動的に積み上がる収益構造。需要変動リスクが小売・製造業と比べ極めて小さい。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6519672" y="321868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12724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桁違いの現金創出力（EBITDA）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341071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2026年3月期EBITDA約1.8兆円。設備投資型産業の中でも利益率の高さが際立つ。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519672" y="422452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13308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1億人規模の顧客データ資産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441655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行動データを核に「SyncMe」等AIエージェント事業へ転換。小売・メディア業界にはない顧客接点の広さ。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519672" y="5230368"/>
            <a:ext cx="146304" cy="14630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5138928"/>
            <a:ext cx="4617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極めて高い参入障壁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5422392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電波免許・基地局網という物理インフラが新規参入をほぼ阻む（楽天モバイルの苦戦がその証左）。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48640" y="5806440"/>
            <a:ext cx="11109960" cy="685800"/>
          </a:xfrm>
          <a:prstGeom prst="rect">
            <a:avLst/>
          </a:prstGeom>
          <a:solidFill>
            <a:srgbClr val="EAF5EE"/>
          </a:solidFill>
          <a:ln w="12700">
            <a:solidFill>
              <a:srgbClr val="CFE6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806440"/>
            <a:ext cx="10652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7A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強みの核心：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競合比較では「財務の堅さ」と「経済圏の規模」、他業界比較では「収益の安定性」と「データ資産・参入障壁」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競合比較データ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公開資料ベース・直近開示値（決算期・定義が各社で異なる点に留意）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10896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325880"/>
            <a:ext cx="2651760" cy="457200"/>
          </a:xfrm>
          <a:prstGeom prst="rect">
            <a:avLst/>
          </a:prstGeom>
          <a:solidFill>
            <a:srgbClr val="C7000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265176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KDDI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0" y="1325880"/>
            <a:ext cx="2651760" cy="457200"/>
          </a:xfrm>
          <a:prstGeom prst="rect">
            <a:avLst/>
          </a:prstGeom>
          <a:solidFill>
            <a:srgbClr val="1B2A4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ソフトバンク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1089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783080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契約者数（携帯電話）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0" y="1783080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67328" y="178308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9,307万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178308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7,276万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0" y="1783080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178308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5,692万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404872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2404872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携帯シェア（2025年9月末）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0" y="2404872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240487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39.7%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2404872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240487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61120" y="2404872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70848" y="2404872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24.8%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026664"/>
            <a:ext cx="31089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026664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売上高（直近本決算）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0" y="3026664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67328" y="3026664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6兆4,581億円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（26年3月期）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026664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3026664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5兆9,180億円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（25年3月期）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3026664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70848" y="3026664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7兆387億円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（26年3月期）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3648456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3648456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有利子負債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0" y="3648456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67328" y="3648456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520億円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（25年3月期末・銀行連結前）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9360" y="3648456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19088" y="3648456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約5兆93億円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（25年9月末）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61120" y="3648456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70848" y="3648456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約6兆4,845億円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（26年3月期末）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270248"/>
            <a:ext cx="31089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270248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自己資本比率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0" y="4270248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67328" y="427024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62.4%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（25年3月期末）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09360" y="4270248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427024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30.4%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（25年3月期）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961120" y="4270248"/>
            <a:ext cx="2651760" cy="621792"/>
          </a:xfrm>
          <a:prstGeom prst="rect">
            <a:avLst/>
          </a:prstGeom>
          <a:solidFill>
            <a:srgbClr val="FAFAFA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0848" y="4270248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20%台前半とみられる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（要確認）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892040"/>
            <a:ext cx="3108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8368" y="4892040"/>
            <a:ext cx="2889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ROE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657600" y="4892040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67328" y="489204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10.1%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（25年3月期）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4892040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19088" y="489204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13.2%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（25年3月期）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961120" y="4892040"/>
            <a:ext cx="26517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70848" y="4892040"/>
            <a:ext cx="24323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非開示（要確認）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48640" y="56509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注：各社の決算期・IFRS/日本基準などの定義差があるため、厳密な同時点比較ではなく傾向値として参照。ドコモの有利子負債は住信SBIネット銀行連結前後で水準が大きく異なる。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NTTドコモ 経営環境分析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2026-07-22T22:28:02Z</dcterms:created>
  <dcterms:modified xsi:type="dcterms:W3CDTF">2026-07-22T22:28:02Z</dcterms:modified>
</cp:coreProperties>
</file>