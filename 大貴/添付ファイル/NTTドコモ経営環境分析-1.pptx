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12188952" cy="1783080"/>
          </a:xfrm>
          <a:prstGeom prst="rect">
            <a:avLst/>
          </a:prstGeom>
          <a:solidFill>
            <a:srgbClr val="8E000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031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NTTドコモの経営環境分析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DC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PEST分析 ／ 3C分析 ／ SWOT分析 ／ サービスポートフォリオ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5532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D9D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2026年7月時点の公開情報に基づく分析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エグゼクティブサマリー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通信事業は減益基調、非通信領域への転換が経営の焦点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2148840"/>
          </a:xfrm>
          <a:prstGeom prst="rect">
            <a:avLst/>
          </a:prstGeom>
          <a:solidFill>
            <a:srgbClr val="FAFAFA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82296" cy="2148840"/>
          </a:xfrm>
          <a:prstGeom prst="rect">
            <a:avLst/>
          </a:prstGeom>
          <a:solidFill>
            <a:srgbClr val="C7000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8191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000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業績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4800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2026年3月期は営業収益6兆3,360億円（+2%）と増収も、営業利益は8,830億円（▲13%）と初めて1兆円を割り込む見通し。設備投資負担と販促競争激化が要因。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417320"/>
            <a:ext cx="5349240" cy="2148840"/>
          </a:xfrm>
          <a:prstGeom prst="rect">
            <a:avLst/>
          </a:prstGeom>
          <a:solidFill>
            <a:srgbClr val="FAFAFA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1417320"/>
            <a:ext cx="82296" cy="2148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58191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市場地位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2011680"/>
            <a:ext cx="4800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契約者数9,307万・シェア39.7%で首位を維持するが、KDDI・楽天モバイルが増加基調でシェアはやや微減傾向。5G基地局整備は他社に対し遅れが指摘される。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349240" cy="2148840"/>
          </a:xfrm>
          <a:prstGeom prst="rect">
            <a:avLst/>
          </a:prstGeom>
          <a:solidFill>
            <a:srgbClr val="FAFAFA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886200"/>
            <a:ext cx="82296" cy="2148840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05079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7A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成長戦略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4480560"/>
            <a:ext cx="4800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スマートライフ・法人事業を成長エンジンと位置づけ、2030年度に同事業収益5兆円・EBITDA2兆円を目標。dポイント経済圏とAIエージェント「SyncMe」が核。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3886200"/>
            <a:ext cx="5349240" cy="2148840"/>
          </a:xfrm>
          <a:prstGeom prst="rect">
            <a:avLst/>
          </a:prstGeom>
          <a:solidFill>
            <a:srgbClr val="FAFAFA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3886200"/>
            <a:ext cx="82296" cy="2148840"/>
          </a:xfrm>
          <a:prstGeom prst="rect">
            <a:avLst/>
          </a:prstGeom>
          <a:solidFill>
            <a:srgbClr val="B5760A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405079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76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規制環境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4480560"/>
            <a:ext cx="4800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総務省が電気通信事業法27条の3（端末値引き規制）の見直しを検討中。一方で「ホッピング」対策など新たな規制論点も浮上し、先行き不透明。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NTTドコモ 経営環境分析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PEST分析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マクロ環境の変化がドコモの事業機会とリスクの両面を形成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2331720"/>
          </a:xfrm>
          <a:prstGeom prst="rect">
            <a:avLst/>
          </a:prstGeom>
          <a:solidFill>
            <a:srgbClr val="FAFAFA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72768"/>
            <a:ext cx="457200" cy="457200"/>
          </a:xfrm>
          <a:prstGeom prst="ellipse">
            <a:avLst/>
          </a:prstGeom>
          <a:solidFill>
            <a:srgbClr val="C7000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72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5544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政治</a:t>
            </a:r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Politics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14884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総務省が電気通信事業法27条の3（端末割引上限）の見直しを検討開始（2025年12月〜専門委員会）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「ホッピング」（乗換特典の繰り返し利用）や短期解約への規制論点が浮上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NTT法のあり方を巡る議論が継続（NTTグループのガバナンス）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1371600"/>
            <a:ext cx="5394960" cy="2331720"/>
          </a:xfrm>
          <a:prstGeom prst="rect">
            <a:avLst/>
          </a:prstGeom>
          <a:solidFill>
            <a:srgbClr val="FAFAFA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572768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572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86600" y="15544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経済</a:t>
            </a:r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Economy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214884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5G関連設備投資の負担増と、キャリア間の販促費競争激化が収益を圧迫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円安・資材高によるネットワーク構築コストの上昇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家計の節約志向により、低価格プラン・格安SIMへの流出圧力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394960" cy="2331720"/>
          </a:xfrm>
          <a:prstGeom prst="rect">
            <a:avLst/>
          </a:prstGeom>
          <a:solidFill>
            <a:srgbClr val="FAFAFA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178808"/>
            <a:ext cx="457200" cy="457200"/>
          </a:xfrm>
          <a:prstGeom prst="ellipse">
            <a:avLst/>
          </a:prstGeom>
          <a:solidFill>
            <a:srgbClr val="1E7A4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178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41605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社会</a:t>
            </a:r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Society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75488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国内人口減少・スマホ普及率の飽和により、純増契約数の伸びは鈍化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生活のあらゆる場面がデジタル化し、通信以外（決済・医療・エンタメ）への生活シフトが進行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高齢化に伴うデジタルデバイド対応・安心安全ニーズの高まり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3977640"/>
            <a:ext cx="5394960" cy="2331720"/>
          </a:xfrm>
          <a:prstGeom prst="rect">
            <a:avLst/>
          </a:prstGeom>
          <a:solidFill>
            <a:srgbClr val="FAFAFA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4178808"/>
            <a:ext cx="457200" cy="457200"/>
          </a:xfrm>
          <a:prstGeom prst="ellipse">
            <a:avLst/>
          </a:prstGeom>
          <a:solidFill>
            <a:srgbClr val="B5760A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178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86600" y="41605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</a:t>
            </a:r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Technology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37960" y="475488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5G基地局整備の加速（2026年度中に他社水準へ追いつく計画）、6G・IOWNの研究開発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生成AI／エージェントAI活用（次世代エージェント「SyncMe」）が新たな競争軸に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衛星・HAPSなど非地上系ネットワーク（NTN）の実用化に向けた取組み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NTTドコモ 経営環境分析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3C分析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巨大な顧客基盤を持つが、通信単体の競争優位は縮小傾向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66160" cy="4846320"/>
          </a:xfrm>
          <a:prstGeom prst="rect">
            <a:avLst/>
          </a:prstGeom>
          <a:solidFill>
            <a:srgbClr val="FAFAFA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3566160" cy="502920"/>
          </a:xfrm>
          <a:prstGeom prst="rect">
            <a:avLst/>
          </a:prstGeom>
          <a:solidFill>
            <a:srgbClr val="C7000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173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Customer（市場・顧客）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2103120"/>
            <a:ext cx="31089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携帯契約数9,307万、シェア39.7%で首位（2025年9月末時点）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dポイント会員 約9,170万人、加盟パートナー約59万社・786ブランド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料金・データ量への意識が高まり、大容量プラン「ドコモMAX」など高単価プランへのシフトも進行（ARPU前年比+50円）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417320"/>
            <a:ext cx="3566160" cy="4846320"/>
          </a:xfrm>
          <a:prstGeom prst="rect">
            <a:avLst/>
          </a:prstGeom>
          <a:solidFill>
            <a:srgbClr val="FAFAFA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1417320"/>
            <a:ext cx="356616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14173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Competitor（競合）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2103120"/>
            <a:ext cx="31089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KDDI（au）：シェア31.3%、契約数7,276万で着実に増加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ソフトバンク：24.8%、高額な獲得費用を抑え解約率重視の戦略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楽天モバイル：4.2%、契約数1,036万で伸びは緩やかだが低価格を武器に浸透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格安SIM／MVNO各社も含め、値引き規制緩和を機に競争再燃の懸念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417320"/>
            <a:ext cx="3566160" cy="4846320"/>
          </a:xfrm>
          <a:prstGeom prst="rect">
            <a:avLst/>
          </a:prstGeom>
          <a:solidFill>
            <a:srgbClr val="FAFAFA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417320"/>
            <a:ext cx="3566160" cy="502920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0" y="14173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Company（自社）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366760" y="2103120"/>
            <a:ext cx="31089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通信事業は増収減益・営業利益が初めて1兆円を割り込む見通し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5G基地局整備の遅れが顧客体験面での弱みに（2026年度中の巻き返しを計画）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スマートライフ・法人事業を成長エンジンと位置づけ、2030年度収益5兆円を目標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NTTグループ（NTTデータ・NTT研究所等）との連携が技術・営業基盤の強み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NTTドコモ 経営環境分析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SWOT分析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強固な顧客基盤を、非通信領域の成長へどう転換できるかが鍵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2331720"/>
          </a:xfrm>
          <a:prstGeom prst="rect">
            <a:avLst/>
          </a:prstGeom>
          <a:solidFill>
            <a:srgbClr val="EAF5EE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3619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7A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Strengths（強み）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契約者数・シェアともに国内最大手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dポイントを核とした巨大な経済圏（9,170万会員）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NTTグループ全体の技術・営業基盤との連携力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63640" y="1371600"/>
            <a:ext cx="5394960" cy="2331720"/>
          </a:xfrm>
          <a:prstGeom prst="rect">
            <a:avLst/>
          </a:prstGeom>
          <a:solidFill>
            <a:srgbClr val="FBEBEC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53619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000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Weaknesses（弱み）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196596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5G基地局整備が他社に対し遅れている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営業利益が初めて1兆円を割り込む見通しで、通信事業の収益力が低下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販促費増加により価格競争への耐性が相対的に低下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5394960" cy="2331720"/>
          </a:xfrm>
          <a:prstGeom prst="rect">
            <a:avLst/>
          </a:prstGeom>
          <a:solidFill>
            <a:srgbClr val="E9EDF5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14223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Opportunities（機会）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57200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スマートライフ・法人事業の拡大余地（2030年度収益5兆円目標）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AIエージェント「SyncMe」など、データ×AIによる新サービス創出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27条の3見直しなど規制緩和が実現すれば収益機会に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3977640"/>
            <a:ext cx="5394960" cy="2331720"/>
          </a:xfrm>
          <a:prstGeom prst="rect">
            <a:avLst/>
          </a:prstGeom>
          <a:solidFill>
            <a:srgbClr val="FBF1E1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414223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76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Threats（脅威）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37960" y="457200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総務省によるホッピング規制など新たな規制強化の可能性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KDDI・楽天モバイルの追い上げによるシェア浸食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生成AI時代における非通信プレイヤーの新規参入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NTTドコモ 経営環境分析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サービスポートフォリオ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通信を基盤に、法人・スマートライフ領域へ事業を多角化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066544" cy="4846320"/>
          </a:xfrm>
          <a:prstGeom prst="rect">
            <a:avLst/>
          </a:prstGeom>
          <a:solidFill>
            <a:srgbClr val="FAFAFA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2066544" cy="8686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72184"/>
            <a:ext cx="1792224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通信事業（コンシューマ）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94944" y="2441448"/>
            <a:ext cx="1773936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5G／4Gネットワーク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料金プラン「ドコモMAX」等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端末販売・チャネル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58368" y="4983480"/>
            <a:ext cx="184708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5047488"/>
            <a:ext cx="16642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i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収益の基盤。基地局整備の巻き返しが焦点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79776" y="1417320"/>
            <a:ext cx="2066544" cy="4846320"/>
          </a:xfrm>
          <a:prstGeom prst="rect">
            <a:avLst/>
          </a:prstGeom>
          <a:solidFill>
            <a:srgbClr val="FAFAFA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79776" y="1417320"/>
            <a:ext cx="2066544" cy="868680"/>
          </a:xfrm>
          <a:prstGeom prst="rect">
            <a:avLst/>
          </a:prstGeom>
          <a:solidFill>
            <a:srgbClr val="C7000F"/>
          </a:solidFill>
          <a:ln/>
        </p:spPr>
      </p:sp>
      <p:sp>
        <p:nvSpPr>
          <p:cNvPr id="12" name="Text 10"/>
          <p:cNvSpPr/>
          <p:nvPr/>
        </p:nvSpPr>
        <p:spPr>
          <a:xfrm>
            <a:off x="2916936" y="1472184"/>
            <a:ext cx="1792224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法人事業（NTTドコモビジネス）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926080" y="2441448"/>
            <a:ext cx="1773936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IoT／AI ソリューション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デジタルBPO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地域・中小企業DX支援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889504" y="4983480"/>
            <a:ext cx="184708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000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80944" y="5047488"/>
            <a:ext cx="16642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i="1" dirty="0">
                <a:solidFill>
                  <a:srgbClr val="C7000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2025年度に事業規模2兆円超を目標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10912" y="1417320"/>
            <a:ext cx="2066544" cy="4846320"/>
          </a:xfrm>
          <a:prstGeom prst="rect">
            <a:avLst/>
          </a:prstGeom>
          <a:solidFill>
            <a:srgbClr val="FAFAFA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10912" y="1417320"/>
            <a:ext cx="2066544" cy="868680"/>
          </a:xfrm>
          <a:prstGeom prst="rect">
            <a:avLst/>
          </a:prstGeom>
          <a:solidFill>
            <a:srgbClr val="0F7A63"/>
          </a:solidFill>
          <a:ln/>
        </p:spPr>
      </p:sp>
      <p:sp>
        <p:nvSpPr>
          <p:cNvPr id="18" name="Text 16"/>
          <p:cNvSpPr/>
          <p:nvPr/>
        </p:nvSpPr>
        <p:spPr>
          <a:xfrm>
            <a:off x="5148072" y="1472184"/>
            <a:ext cx="1792224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金融・決済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157216" y="2441448"/>
            <a:ext cx="1773936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dポイント（会員9,170万人）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d払い／dカード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パートナー約59万社・786ブランド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120640" y="4983480"/>
            <a:ext cx="184708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A6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5047488"/>
            <a:ext cx="16642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i="1" dirty="0">
                <a:solidFill>
                  <a:srgbClr val="0F7A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スマートライフの中核。前田社長が最重点と明言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242048" y="1417320"/>
            <a:ext cx="2066544" cy="4846320"/>
          </a:xfrm>
          <a:prstGeom prst="rect">
            <a:avLst/>
          </a:prstGeom>
          <a:solidFill>
            <a:srgbClr val="FAFAFA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42048" y="1417320"/>
            <a:ext cx="2066544" cy="868680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24" name="Text 22"/>
          <p:cNvSpPr/>
          <p:nvPr/>
        </p:nvSpPr>
        <p:spPr>
          <a:xfrm>
            <a:off x="7379208" y="1472184"/>
            <a:ext cx="1792224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スマートライフ（金融以外）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88352" y="2441448"/>
            <a:ext cx="1773936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映像・エンタメ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電力、メディカル、XR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マーケティングソリューション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351776" y="4983480"/>
            <a:ext cx="184708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7A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43216" y="5047488"/>
            <a:ext cx="16642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i="1" dirty="0">
                <a:solidFill>
                  <a:srgbClr val="1E7A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2030年度、金融含め法人事業と合わせ収益5兆円目標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473184" y="1417320"/>
            <a:ext cx="2066544" cy="4846320"/>
          </a:xfrm>
          <a:prstGeom prst="rect">
            <a:avLst/>
          </a:prstGeom>
          <a:solidFill>
            <a:srgbClr val="FAFAFA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73184" y="1417320"/>
            <a:ext cx="2066544" cy="868680"/>
          </a:xfrm>
          <a:prstGeom prst="rect">
            <a:avLst/>
          </a:prstGeom>
          <a:solidFill>
            <a:srgbClr val="B5760A"/>
          </a:solidFill>
          <a:ln/>
        </p:spPr>
      </p:sp>
      <p:sp>
        <p:nvSpPr>
          <p:cNvPr id="30" name="Text 28"/>
          <p:cNvSpPr/>
          <p:nvPr/>
        </p:nvSpPr>
        <p:spPr>
          <a:xfrm>
            <a:off x="9610344" y="1472184"/>
            <a:ext cx="1792224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次世代領域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619488" y="2441448"/>
            <a:ext cx="1773936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AIエージェント「SyncMe」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6G・IOWN研究開発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衛星・HAPS（非地上系ネットワーク）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582912" y="4983480"/>
            <a:ext cx="184708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5760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74352" y="5047488"/>
            <a:ext cx="16642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i="1" dirty="0">
                <a:solidFill>
                  <a:srgbClr val="B576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データ×AIによる新たな価値創出の核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NTTドコモ 経営環境分析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分析からの示唆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通信×データ×AIの掛け合わせで、非通信領域の収益化を加速できるか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85800" cy="685800"/>
          </a:xfrm>
          <a:prstGeom prst="ellipse">
            <a:avLst/>
          </a:prstGeom>
          <a:solidFill>
            <a:srgbClr val="C7000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600200" y="1554480"/>
            <a:ext cx="9966960" cy="1417320"/>
          </a:xfrm>
          <a:prstGeom prst="rect">
            <a:avLst/>
          </a:prstGeom>
          <a:solidFill>
            <a:srgbClr val="FAFAFA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74520" y="1719072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000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通信事業の防衛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74520" y="2121408"/>
            <a:ext cx="9418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5G基地局整備を計画通り進め、規制動向（27条の3見直し）を注視しながら顧客基盤とARPUを守ることが大前提。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685800" cy="6858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474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600200" y="3246120"/>
            <a:ext cx="9966960" cy="1417320"/>
          </a:xfrm>
          <a:prstGeom prst="rect">
            <a:avLst/>
          </a:prstGeom>
          <a:solidFill>
            <a:srgbClr val="FAFAFA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74520" y="3410712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データ・AI基盤の外部展開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874520" y="3813048"/>
            <a:ext cx="9418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1億超の会員基盤と「SyncMe」で培うAIエージェント基盤を、他社・パートナーにも開放し、新たな収益源とする余地が大きい。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5166360"/>
            <a:ext cx="685800" cy="685800"/>
          </a:xfrm>
          <a:prstGeom prst="ellipse">
            <a:avLst/>
          </a:prstGeom>
          <a:solidFill>
            <a:srgbClr val="1E7A4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51663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600200" y="4937760"/>
            <a:ext cx="9966960" cy="1417320"/>
          </a:xfrm>
          <a:prstGeom prst="rect">
            <a:avLst/>
          </a:prstGeom>
          <a:solidFill>
            <a:srgbClr val="FAFAFA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74520" y="5102352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7A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スマートライフ領域の選択と集中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874520" y="5504688"/>
            <a:ext cx="9418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金融・決済とマーケティングソリューションを中核に、電力・メディカル・XR等の新規領域へリソースを重点配分する必要がある。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NTTドコモ 経営環境分析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2026-07-22T21:56:28Z</dcterms:created>
  <dcterms:modified xsi:type="dcterms:W3CDTF">2026-07-22T21:56:28Z</dcterms:modified>
</cp:coreProperties>
</file>