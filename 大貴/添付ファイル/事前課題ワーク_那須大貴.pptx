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3"/>
  </p:notesMasterIdLst>
  <p:sldIdLst>
    <p:sldId id="256" r:id="rId2"/>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8" roundtripDataSignature="AMtx7mi959Fw6NTSGqvwyyNMAlIzSOHIaA=="/>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A91AA888-54A0-4C54-936F-01206E308FBF}">
  <a:tblStyle styleId="{A91AA888-54A0-4C54-936F-01206E308FBF}" styleName="Table_0">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7F6FF"/>
          </a:solidFill>
        </a:fill>
      </a:tcStyle>
    </a:wholeTbl>
    <a:band1H>
      <a:tcTxStyle b="off" i="off"/>
      <a:tcStyle>
        <a:tcBdr/>
        <a:fill>
          <a:solidFill>
            <a:srgbClr val="CCECFF"/>
          </a:solidFill>
        </a:fill>
      </a:tcStyle>
    </a:band1H>
    <a:band2H>
      <a:tcTxStyle b="off" i="off"/>
      <a:tcStyle>
        <a:tcBdr/>
      </a:tcStyle>
    </a:band2H>
    <a:band1V>
      <a:tcTxStyle b="off" i="off"/>
      <a:tcStyle>
        <a:tcBdr/>
        <a:fill>
          <a:solidFill>
            <a:srgbClr val="CCECFF"/>
          </a:solidFill>
        </a:fill>
      </a:tcStyle>
    </a:band1V>
    <a:band2V>
      <a:tcTxStyle b="off" i="off"/>
      <a:tcStyle>
        <a:tcBdr/>
      </a:tcStyle>
    </a:band2V>
    <a:lastCol>
      <a:tcTxStyle b="on" i="off">
        <a:font>
          <a:latin typeface="Calibri"/>
          <a:ea typeface="Calibri"/>
          <a:cs typeface="Calibri"/>
        </a:font>
        <a:schemeClr val="lt1"/>
      </a:tcTxStyle>
      <a:tcStyle>
        <a:tcBdr/>
        <a:fill>
          <a:solidFill>
            <a:schemeClr val="accent1"/>
          </a:solidFill>
        </a:fill>
      </a:tcStyle>
    </a:lastCol>
    <a:firstCol>
      <a:tcTxStyle b="on" i="off">
        <a:font>
          <a:latin typeface="Calibri"/>
          <a:ea typeface="Calibri"/>
          <a:cs typeface="Calibri"/>
        </a:font>
        <a:schemeClr val="lt1"/>
      </a:tcTxStyle>
      <a:tcStyle>
        <a:tcBdr/>
        <a:fill>
          <a:solidFill>
            <a:schemeClr val="accent1"/>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b="off" i="off"/>
      <a:tcStyle>
        <a:tcBdr/>
      </a:tcStyle>
    </a:seCell>
    <a:swCell>
      <a:tcTxStyle b="off" i="off"/>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varScale="1">
        <p:scale>
          <a:sx n="100" d="100"/>
          <a:sy n="100" d="100"/>
        </p:scale>
        <p:origin x="0" y="0"/>
      </p:cViewPr>
      <p:guideLst>
        <p:guide orient="horz" pos="2160"/>
        <p:guide pos="3840"/>
      </p:guideLst>
    </p:cSldViewPr>
  </p:slide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8" Type="http://customschemas.google.com/relationships/presentationmetadata" Target="metadata"/><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ja" sz="1200" b="0" i="0" u="none" strike="noStrike" cap="none">
                <a:solidFill>
                  <a:schemeClr val="dk1"/>
                </a:solidFill>
                <a:latin typeface="Arial"/>
                <a:ea typeface="Arial"/>
                <a:cs typeface="Arial"/>
                <a:sym typeface="Arial"/>
              </a:rPr>
              <a:t>‹#›</a:t>
            </a:fld>
            <a:endParaRPr sz="1200" b="0" i="0" u="none" strike="noStrike" cap="none">
              <a:solidFill>
                <a:schemeClr val="dk1"/>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
        <p:cNvGrpSpPr/>
        <p:nvPr/>
      </p:nvGrpSpPr>
      <p:grpSpPr>
        <a:xfrm>
          <a:off x="0" y="0"/>
          <a:ext cx="0" cy="0"/>
          <a:chOff x="0" y="0"/>
          <a:chExt cx="0" cy="0"/>
        </a:xfrm>
      </p:grpSpPr>
      <p:sp>
        <p:nvSpPr>
          <p:cNvPr id="30" name="Google Shape;30;p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1" name="Google Shape;31;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2_タイトルのみ">
  <p:cSld name="2_タイトルのみ">
    <p:spTree>
      <p:nvGrpSpPr>
        <p:cNvPr id="1" name="Shape 16"/>
        <p:cNvGrpSpPr/>
        <p:nvPr/>
      </p:nvGrpSpPr>
      <p:grpSpPr>
        <a:xfrm>
          <a:off x="0" y="0"/>
          <a:ext cx="0" cy="0"/>
          <a:chOff x="0" y="0"/>
          <a:chExt cx="0" cy="0"/>
        </a:xfrm>
      </p:grpSpPr>
      <p:sp>
        <p:nvSpPr>
          <p:cNvPr id="17" name="Google Shape;17;p3"/>
          <p:cNvSpPr txBox="1">
            <a:spLocks noGrp="1"/>
          </p:cNvSpPr>
          <p:nvPr>
            <p:ph type="dt" idx="10"/>
          </p:nvPr>
        </p:nvSpPr>
        <p:spPr>
          <a:xfrm>
            <a:off x="838201" y="6356352"/>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 name="Google Shape;18;p3"/>
          <p:cNvSpPr txBox="1">
            <a:spLocks noGrp="1"/>
          </p:cNvSpPr>
          <p:nvPr>
            <p:ph type="ftr" idx="11"/>
          </p:nvPr>
        </p:nvSpPr>
        <p:spPr>
          <a:xfrm>
            <a:off x="4038601" y="6356352"/>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3"/>
          <p:cNvSpPr txBox="1">
            <a:spLocks noGrp="1"/>
          </p:cNvSpPr>
          <p:nvPr>
            <p:ph type="sldNum" idx="12"/>
          </p:nvPr>
        </p:nvSpPr>
        <p:spPr>
          <a:xfrm>
            <a:off x="8610601" y="6356352"/>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75"/>
              <a:buFont typeface="Arial"/>
              <a:buNone/>
              <a:defRPr sz="975" b="0" i="0" u="none" strike="noStrike" cap="none">
                <a:solidFill>
                  <a:srgbClr val="3F3F3F"/>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975"/>
              <a:buFont typeface="Arial"/>
              <a:buNone/>
              <a:defRPr sz="975" b="0" i="0" u="none" strike="noStrike" cap="none">
                <a:solidFill>
                  <a:srgbClr val="3F3F3F"/>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975"/>
              <a:buFont typeface="Arial"/>
              <a:buNone/>
              <a:defRPr sz="975" b="0" i="0" u="none" strike="noStrike" cap="none">
                <a:solidFill>
                  <a:srgbClr val="3F3F3F"/>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975"/>
              <a:buFont typeface="Arial"/>
              <a:buNone/>
              <a:defRPr sz="975" b="0" i="0" u="none" strike="noStrike" cap="none">
                <a:solidFill>
                  <a:srgbClr val="3F3F3F"/>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975"/>
              <a:buFont typeface="Arial"/>
              <a:buNone/>
              <a:defRPr sz="975" b="0" i="0" u="none" strike="noStrike" cap="none">
                <a:solidFill>
                  <a:srgbClr val="3F3F3F"/>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975"/>
              <a:buFont typeface="Arial"/>
              <a:buNone/>
              <a:defRPr sz="975" b="0" i="0" u="none" strike="noStrike" cap="none">
                <a:solidFill>
                  <a:srgbClr val="3F3F3F"/>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975"/>
              <a:buFont typeface="Arial"/>
              <a:buNone/>
              <a:defRPr sz="975" b="0" i="0" u="none" strike="noStrike" cap="none">
                <a:solidFill>
                  <a:srgbClr val="3F3F3F"/>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975"/>
              <a:buFont typeface="Arial"/>
              <a:buNone/>
              <a:defRPr sz="975" b="0" i="0" u="none" strike="noStrike" cap="none">
                <a:solidFill>
                  <a:srgbClr val="3F3F3F"/>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975"/>
              <a:buFont typeface="Arial"/>
              <a:buNone/>
              <a:defRPr sz="975" b="0" i="0" u="none" strike="noStrike" cap="none">
                <a:solidFill>
                  <a:srgbClr val="3F3F3F"/>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ja"/>
              <a:t>‹#›</a:t>
            </a:fld>
            <a:endParaRPr/>
          </a:p>
        </p:txBody>
      </p:sp>
      <p:sp>
        <p:nvSpPr>
          <p:cNvPr id="20" name="Google Shape;20;p3"/>
          <p:cNvSpPr txBox="1"/>
          <p:nvPr/>
        </p:nvSpPr>
        <p:spPr>
          <a:xfrm>
            <a:off x="382689" y="175079"/>
            <a:ext cx="11353267" cy="509151"/>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chemeClr val="dk1"/>
              </a:buClr>
              <a:buSzPts val="2000"/>
              <a:buFont typeface="Calibri"/>
              <a:buNone/>
            </a:pPr>
            <a:endParaRPr sz="2000" b="0" i="0" u="none" strike="noStrike" cap="none">
              <a:solidFill>
                <a:srgbClr val="000000"/>
              </a:solidFill>
              <a:latin typeface="Calibri"/>
              <a:ea typeface="Calibri"/>
              <a:cs typeface="Calibri"/>
              <a:sym typeface="Calibri"/>
            </a:endParaRPr>
          </a:p>
        </p:txBody>
      </p:sp>
      <p:sp>
        <p:nvSpPr>
          <p:cNvPr id="21" name="Google Shape;21;p3"/>
          <p:cNvSpPr txBox="1">
            <a:spLocks noGrp="1"/>
          </p:cNvSpPr>
          <p:nvPr>
            <p:ph type="title"/>
          </p:nvPr>
        </p:nvSpPr>
        <p:spPr>
          <a:xfrm>
            <a:off x="243155" y="175079"/>
            <a:ext cx="11580161" cy="509151"/>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Clr>
                <a:srgbClr val="3F3F3F"/>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cxnSp>
        <p:nvCxnSpPr>
          <p:cNvPr id="22" name="Google Shape;22;p3"/>
          <p:cNvCxnSpPr/>
          <p:nvPr/>
        </p:nvCxnSpPr>
        <p:spPr>
          <a:xfrm>
            <a:off x="236561" y="175079"/>
            <a:ext cx="0" cy="509151"/>
          </a:xfrm>
          <a:prstGeom prst="straightConnector1">
            <a:avLst/>
          </a:prstGeom>
          <a:noFill/>
          <a:ln w="57150" cap="flat" cmpd="sng">
            <a:solidFill>
              <a:srgbClr val="7F7F7F"/>
            </a:solidFill>
            <a:prstDash val="solid"/>
            <a:miter lim="8000"/>
            <a:headEnd type="none" w="sm" len="sm"/>
            <a:tailEnd type="none" w="sm" len="sm"/>
          </a:ln>
        </p:spPr>
      </p:cxnSp>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タイトル スライド" type="title">
  <p:cSld name="TITLE">
    <p:spTree>
      <p:nvGrpSpPr>
        <p:cNvPr id="1" name="Shape 23"/>
        <p:cNvGrpSpPr/>
        <p:nvPr/>
      </p:nvGrpSpPr>
      <p:grpSpPr>
        <a:xfrm>
          <a:off x="0" y="0"/>
          <a:ext cx="0" cy="0"/>
          <a:chOff x="0" y="0"/>
          <a:chExt cx="0" cy="0"/>
        </a:xfrm>
      </p:grpSpPr>
      <p:sp>
        <p:nvSpPr>
          <p:cNvPr id="24" name="Google Shape;24;p4"/>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Autofit/>
          </a:bodyPr>
          <a:lstStyle>
            <a:lvl1pPr lvl="0" algn="ctr">
              <a:lnSpc>
                <a:spcPct val="90000"/>
              </a:lnSpc>
              <a:spcBef>
                <a:spcPts val="0"/>
              </a:spcBef>
              <a:spcAft>
                <a:spcPts val="0"/>
              </a:spcAft>
              <a:buClr>
                <a:srgbClr val="3F3F3F"/>
              </a:buClr>
              <a:buSzPts val="4875"/>
              <a:buFont typeface="Arial"/>
              <a:buNone/>
              <a:defRPr sz="4875">
                <a:solidFill>
                  <a:srgbClr val="3F3F3F"/>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4"/>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100000"/>
              </a:lnSpc>
              <a:spcBef>
                <a:spcPts val="0"/>
              </a:spcBef>
              <a:spcAft>
                <a:spcPts val="0"/>
              </a:spcAft>
              <a:buClr>
                <a:srgbClr val="3F3F3F"/>
              </a:buClr>
              <a:buSzPts val="1950"/>
              <a:buNone/>
              <a:defRPr sz="1950">
                <a:solidFill>
                  <a:srgbClr val="3F3F3F"/>
                </a:solidFill>
              </a:defRPr>
            </a:lvl1pPr>
            <a:lvl2pPr lvl="1" algn="ctr">
              <a:lnSpc>
                <a:spcPct val="100000"/>
              </a:lnSpc>
              <a:spcBef>
                <a:spcPts val="600"/>
              </a:spcBef>
              <a:spcAft>
                <a:spcPts val="0"/>
              </a:spcAft>
              <a:buClr>
                <a:srgbClr val="3F3F3F"/>
              </a:buClr>
              <a:buSzPts val="1625"/>
              <a:buNone/>
              <a:defRPr sz="1625"/>
            </a:lvl2pPr>
            <a:lvl3pPr lvl="2" algn="ctr">
              <a:lnSpc>
                <a:spcPct val="100000"/>
              </a:lnSpc>
              <a:spcBef>
                <a:spcPts val="600"/>
              </a:spcBef>
              <a:spcAft>
                <a:spcPts val="0"/>
              </a:spcAft>
              <a:buClr>
                <a:srgbClr val="3F3F3F"/>
              </a:buClr>
              <a:buSzPts val="1463"/>
              <a:buNone/>
              <a:defRPr sz="1463"/>
            </a:lvl3pPr>
            <a:lvl4pPr lvl="3" algn="ctr">
              <a:lnSpc>
                <a:spcPct val="100000"/>
              </a:lnSpc>
              <a:spcBef>
                <a:spcPts val="600"/>
              </a:spcBef>
              <a:spcAft>
                <a:spcPts val="0"/>
              </a:spcAft>
              <a:buClr>
                <a:srgbClr val="3F3F3F"/>
              </a:buClr>
              <a:buSzPts val="1300"/>
              <a:buNone/>
              <a:defRPr sz="1300"/>
            </a:lvl4pPr>
            <a:lvl5pPr lvl="4" algn="ctr">
              <a:lnSpc>
                <a:spcPct val="100000"/>
              </a:lnSpc>
              <a:spcBef>
                <a:spcPts val="600"/>
              </a:spcBef>
              <a:spcAft>
                <a:spcPts val="0"/>
              </a:spcAft>
              <a:buClr>
                <a:srgbClr val="3F3F3F"/>
              </a:buClr>
              <a:buSzPts val="1300"/>
              <a:buNone/>
              <a:defRPr sz="1300"/>
            </a:lvl5pPr>
            <a:lvl6pPr lvl="5" algn="ctr">
              <a:lnSpc>
                <a:spcPct val="90000"/>
              </a:lnSpc>
              <a:spcBef>
                <a:spcPts val="600"/>
              </a:spcBef>
              <a:spcAft>
                <a:spcPts val="0"/>
              </a:spcAft>
              <a:buClr>
                <a:schemeClr val="dk1"/>
              </a:buClr>
              <a:buSzPts val="1300"/>
              <a:buNone/>
              <a:defRPr sz="1300"/>
            </a:lvl6pPr>
            <a:lvl7pPr lvl="6" algn="ctr">
              <a:lnSpc>
                <a:spcPct val="90000"/>
              </a:lnSpc>
              <a:spcBef>
                <a:spcPts val="406"/>
              </a:spcBef>
              <a:spcAft>
                <a:spcPts val="0"/>
              </a:spcAft>
              <a:buClr>
                <a:schemeClr val="dk1"/>
              </a:buClr>
              <a:buSzPts val="1300"/>
              <a:buNone/>
              <a:defRPr sz="1300"/>
            </a:lvl7pPr>
            <a:lvl8pPr lvl="7" algn="ctr">
              <a:lnSpc>
                <a:spcPct val="90000"/>
              </a:lnSpc>
              <a:spcBef>
                <a:spcPts val="406"/>
              </a:spcBef>
              <a:spcAft>
                <a:spcPts val="0"/>
              </a:spcAft>
              <a:buClr>
                <a:schemeClr val="dk1"/>
              </a:buClr>
              <a:buSzPts val="1300"/>
              <a:buNone/>
              <a:defRPr sz="1300"/>
            </a:lvl8pPr>
            <a:lvl9pPr lvl="8" algn="ctr">
              <a:lnSpc>
                <a:spcPct val="90000"/>
              </a:lnSpc>
              <a:spcBef>
                <a:spcPts val="406"/>
              </a:spcBef>
              <a:spcAft>
                <a:spcPts val="0"/>
              </a:spcAft>
              <a:buClr>
                <a:schemeClr val="dk1"/>
              </a:buClr>
              <a:buSzPts val="1300"/>
              <a:buNone/>
              <a:defRPr sz="1300"/>
            </a:lvl9pPr>
          </a:lstStyle>
          <a:p>
            <a:endParaRPr/>
          </a:p>
        </p:txBody>
      </p:sp>
      <p:sp>
        <p:nvSpPr>
          <p:cNvPr id="26" name="Google Shape;26;p4"/>
          <p:cNvSpPr txBox="1">
            <a:spLocks noGrp="1"/>
          </p:cNvSpPr>
          <p:nvPr>
            <p:ph type="dt" idx="10"/>
          </p:nvPr>
        </p:nvSpPr>
        <p:spPr>
          <a:xfrm>
            <a:off x="838201" y="6356352"/>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solidFill>
                  <a:srgbClr val="3F3F3F"/>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7" name="Google Shape;27;p4"/>
          <p:cNvSpPr txBox="1">
            <a:spLocks noGrp="1"/>
          </p:cNvSpPr>
          <p:nvPr>
            <p:ph type="ftr" idx="11"/>
          </p:nvPr>
        </p:nvSpPr>
        <p:spPr>
          <a:xfrm>
            <a:off x="4038601" y="6356352"/>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solidFill>
                  <a:srgbClr val="3F3F3F"/>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4"/>
          <p:cNvSpPr txBox="1">
            <a:spLocks noGrp="1"/>
          </p:cNvSpPr>
          <p:nvPr>
            <p:ph type="sldNum" idx="12"/>
          </p:nvPr>
        </p:nvSpPr>
        <p:spPr>
          <a:xfrm>
            <a:off x="8610601" y="6356352"/>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75"/>
              <a:buFont typeface="Arial"/>
              <a:buNone/>
              <a:defRPr sz="975" b="0" i="0" u="none" strike="noStrike" cap="none">
                <a:solidFill>
                  <a:srgbClr val="3F3F3F"/>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975"/>
              <a:buFont typeface="Arial"/>
              <a:buNone/>
              <a:defRPr sz="975" b="0" i="0" u="none" strike="noStrike" cap="none">
                <a:solidFill>
                  <a:srgbClr val="3F3F3F"/>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975"/>
              <a:buFont typeface="Arial"/>
              <a:buNone/>
              <a:defRPr sz="975" b="0" i="0" u="none" strike="noStrike" cap="none">
                <a:solidFill>
                  <a:srgbClr val="3F3F3F"/>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975"/>
              <a:buFont typeface="Arial"/>
              <a:buNone/>
              <a:defRPr sz="975" b="0" i="0" u="none" strike="noStrike" cap="none">
                <a:solidFill>
                  <a:srgbClr val="3F3F3F"/>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975"/>
              <a:buFont typeface="Arial"/>
              <a:buNone/>
              <a:defRPr sz="975" b="0" i="0" u="none" strike="noStrike" cap="none">
                <a:solidFill>
                  <a:srgbClr val="3F3F3F"/>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975"/>
              <a:buFont typeface="Arial"/>
              <a:buNone/>
              <a:defRPr sz="975" b="0" i="0" u="none" strike="noStrike" cap="none">
                <a:solidFill>
                  <a:srgbClr val="3F3F3F"/>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975"/>
              <a:buFont typeface="Arial"/>
              <a:buNone/>
              <a:defRPr sz="975" b="0" i="0" u="none" strike="noStrike" cap="none">
                <a:solidFill>
                  <a:srgbClr val="3F3F3F"/>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975"/>
              <a:buFont typeface="Arial"/>
              <a:buNone/>
              <a:defRPr sz="975" b="0" i="0" u="none" strike="noStrike" cap="none">
                <a:solidFill>
                  <a:srgbClr val="3F3F3F"/>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975"/>
              <a:buFont typeface="Arial"/>
              <a:buNone/>
              <a:defRPr sz="975" b="0" i="0" u="none" strike="noStrike" cap="none">
                <a:solidFill>
                  <a:srgbClr val="3F3F3F"/>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ja"/>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2"/>
          <p:cNvSpPr txBox="1">
            <a:spLocks noGrp="1"/>
          </p:cNvSpPr>
          <p:nvPr>
            <p:ph type="title"/>
          </p:nvPr>
        </p:nvSpPr>
        <p:spPr>
          <a:xfrm>
            <a:off x="236561" y="175079"/>
            <a:ext cx="11697282" cy="509151"/>
          </a:xfrm>
          <a:prstGeom prst="rect">
            <a:avLst/>
          </a:prstGeom>
          <a:noFill/>
          <a:ln>
            <a:noFill/>
          </a:ln>
        </p:spPr>
        <p:txBody>
          <a:bodyPr spcFirstLastPara="1" wrap="square" lIns="91425" tIns="45700" rIns="91425" bIns="45700" anchor="ctr" anchorCtr="0">
            <a:noAutofit/>
          </a:bodyPr>
          <a:lstStyle>
            <a:lvl1pPr marR="0" lvl="0" algn="l" rtl="0">
              <a:lnSpc>
                <a:spcPct val="90000"/>
              </a:lnSpc>
              <a:spcBef>
                <a:spcPts val="0"/>
              </a:spcBef>
              <a:spcAft>
                <a:spcPts val="0"/>
              </a:spcAft>
              <a:buClr>
                <a:srgbClr val="3F3F3F"/>
              </a:buClr>
              <a:buSzPts val="1800"/>
              <a:buFont typeface="Arial"/>
              <a:buNone/>
              <a:defRPr sz="1800" b="0" i="0" u="none" strike="noStrike" cap="none">
                <a:solidFill>
                  <a:srgbClr val="3F3F3F"/>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2"/>
          <p:cNvSpPr txBox="1">
            <a:spLocks noGrp="1"/>
          </p:cNvSpPr>
          <p:nvPr>
            <p:ph type="body" idx="1"/>
          </p:nvPr>
        </p:nvSpPr>
        <p:spPr>
          <a:xfrm>
            <a:off x="236561" y="828675"/>
            <a:ext cx="11697282" cy="5348288"/>
          </a:xfrm>
          <a:prstGeom prst="rect">
            <a:avLst/>
          </a:prstGeom>
          <a:noFill/>
          <a:ln>
            <a:noFill/>
          </a:ln>
        </p:spPr>
        <p:txBody>
          <a:bodyPr spcFirstLastPara="1" wrap="square" lIns="91425" tIns="45700" rIns="91425" bIns="45700" anchor="t" anchorCtr="0">
            <a:normAutofit/>
          </a:bodyPr>
          <a:lstStyle>
            <a:lvl1pPr marL="457200" marR="0" lvl="0" indent="-330200" algn="l" rtl="0">
              <a:lnSpc>
                <a:spcPct val="100000"/>
              </a:lnSpc>
              <a:spcBef>
                <a:spcPts val="0"/>
              </a:spcBef>
              <a:spcAft>
                <a:spcPts val="0"/>
              </a:spcAft>
              <a:buClr>
                <a:srgbClr val="3F3F3F"/>
              </a:buClr>
              <a:buSzPts val="1600"/>
              <a:buFont typeface="Arial"/>
              <a:buChar char="•"/>
              <a:defRPr sz="1600" b="0" i="0" u="none" strike="noStrike" cap="none">
                <a:solidFill>
                  <a:srgbClr val="3F3F3F"/>
                </a:solidFill>
                <a:latin typeface="Arial"/>
                <a:ea typeface="Arial"/>
                <a:cs typeface="Arial"/>
                <a:sym typeface="Arial"/>
              </a:defRPr>
            </a:lvl1pPr>
            <a:lvl2pPr marL="914400" marR="0" lvl="1" indent="-330200" algn="l" rtl="0">
              <a:lnSpc>
                <a:spcPct val="100000"/>
              </a:lnSpc>
              <a:spcBef>
                <a:spcPts val="600"/>
              </a:spcBef>
              <a:spcAft>
                <a:spcPts val="0"/>
              </a:spcAft>
              <a:buClr>
                <a:srgbClr val="3F3F3F"/>
              </a:buClr>
              <a:buSzPts val="1600"/>
              <a:buFont typeface="Arial"/>
              <a:buChar char="-"/>
              <a:defRPr sz="1600" b="0" i="0" u="none" strike="noStrike" cap="none">
                <a:solidFill>
                  <a:srgbClr val="3F3F3F"/>
                </a:solidFill>
                <a:latin typeface="Arial"/>
                <a:ea typeface="Arial"/>
                <a:cs typeface="Arial"/>
                <a:sym typeface="Arial"/>
              </a:defRPr>
            </a:lvl2pPr>
            <a:lvl3pPr marL="1371600" marR="0" lvl="2" indent="-330200" algn="l" rtl="0">
              <a:lnSpc>
                <a:spcPct val="100000"/>
              </a:lnSpc>
              <a:spcBef>
                <a:spcPts val="600"/>
              </a:spcBef>
              <a:spcAft>
                <a:spcPts val="0"/>
              </a:spcAft>
              <a:buClr>
                <a:srgbClr val="3F3F3F"/>
              </a:buClr>
              <a:buSzPts val="1600"/>
              <a:buFont typeface="Arial"/>
              <a:buChar char="-"/>
              <a:defRPr sz="1600" b="0" i="0" u="none" strike="noStrike" cap="none">
                <a:solidFill>
                  <a:srgbClr val="3F3F3F"/>
                </a:solidFill>
                <a:latin typeface="Arial"/>
                <a:ea typeface="Arial"/>
                <a:cs typeface="Arial"/>
                <a:sym typeface="Arial"/>
              </a:defRPr>
            </a:lvl3pPr>
            <a:lvl4pPr marL="1828800" marR="0" lvl="3" indent="-330200" algn="l" rtl="0">
              <a:lnSpc>
                <a:spcPct val="100000"/>
              </a:lnSpc>
              <a:spcBef>
                <a:spcPts val="600"/>
              </a:spcBef>
              <a:spcAft>
                <a:spcPts val="0"/>
              </a:spcAft>
              <a:buClr>
                <a:srgbClr val="3F3F3F"/>
              </a:buClr>
              <a:buSzPts val="1600"/>
              <a:buFont typeface="Arial"/>
              <a:buChar char="-"/>
              <a:defRPr sz="1600" b="0" i="0" u="none" strike="noStrike" cap="none">
                <a:solidFill>
                  <a:srgbClr val="3F3F3F"/>
                </a:solidFill>
                <a:latin typeface="Arial"/>
                <a:ea typeface="Arial"/>
                <a:cs typeface="Arial"/>
                <a:sym typeface="Arial"/>
              </a:defRPr>
            </a:lvl4pPr>
            <a:lvl5pPr marL="2286000" marR="0" lvl="4" indent="-330200" algn="l" rtl="0">
              <a:lnSpc>
                <a:spcPct val="100000"/>
              </a:lnSpc>
              <a:spcBef>
                <a:spcPts val="600"/>
              </a:spcBef>
              <a:spcAft>
                <a:spcPts val="0"/>
              </a:spcAft>
              <a:buClr>
                <a:srgbClr val="3F3F3F"/>
              </a:buClr>
              <a:buSzPts val="1600"/>
              <a:buFont typeface="Arial"/>
              <a:buChar char="-"/>
              <a:defRPr sz="1600" b="0" i="0" u="none" strike="noStrike" cap="none">
                <a:solidFill>
                  <a:srgbClr val="3F3F3F"/>
                </a:solidFill>
                <a:latin typeface="Arial"/>
                <a:ea typeface="Arial"/>
                <a:cs typeface="Arial"/>
                <a:sym typeface="Arial"/>
              </a:defRPr>
            </a:lvl5pPr>
            <a:lvl6pPr marL="2743200" marR="0" lvl="5" indent="-321501" algn="l" rtl="0">
              <a:lnSpc>
                <a:spcPct val="90000"/>
              </a:lnSpc>
              <a:spcBef>
                <a:spcPts val="600"/>
              </a:spcBef>
              <a:spcAft>
                <a:spcPts val="0"/>
              </a:spcAft>
              <a:buClr>
                <a:schemeClr val="dk1"/>
              </a:buClr>
              <a:buSzPts val="1463"/>
              <a:buFont typeface="Arial"/>
              <a:buChar char="•"/>
              <a:defRPr sz="1463" b="0" i="0" u="none" strike="noStrike" cap="none">
                <a:solidFill>
                  <a:schemeClr val="dk1"/>
                </a:solidFill>
                <a:latin typeface="Calibri"/>
                <a:ea typeface="Calibri"/>
                <a:cs typeface="Calibri"/>
                <a:sym typeface="Calibri"/>
              </a:defRPr>
            </a:lvl6pPr>
            <a:lvl7pPr marL="3200400" marR="0" lvl="6" indent="-321501" algn="l" rtl="0">
              <a:lnSpc>
                <a:spcPct val="90000"/>
              </a:lnSpc>
              <a:spcBef>
                <a:spcPts val="406"/>
              </a:spcBef>
              <a:spcAft>
                <a:spcPts val="0"/>
              </a:spcAft>
              <a:buClr>
                <a:schemeClr val="dk1"/>
              </a:buClr>
              <a:buSzPts val="1463"/>
              <a:buFont typeface="Arial"/>
              <a:buChar char="•"/>
              <a:defRPr sz="1463" b="0" i="0" u="none" strike="noStrike" cap="none">
                <a:solidFill>
                  <a:schemeClr val="dk1"/>
                </a:solidFill>
                <a:latin typeface="Calibri"/>
                <a:ea typeface="Calibri"/>
                <a:cs typeface="Calibri"/>
                <a:sym typeface="Calibri"/>
              </a:defRPr>
            </a:lvl7pPr>
            <a:lvl8pPr marL="3657600" marR="0" lvl="7" indent="-321501" algn="l" rtl="0">
              <a:lnSpc>
                <a:spcPct val="90000"/>
              </a:lnSpc>
              <a:spcBef>
                <a:spcPts val="406"/>
              </a:spcBef>
              <a:spcAft>
                <a:spcPts val="0"/>
              </a:spcAft>
              <a:buClr>
                <a:schemeClr val="dk1"/>
              </a:buClr>
              <a:buSzPts val="1463"/>
              <a:buFont typeface="Arial"/>
              <a:buChar char="•"/>
              <a:defRPr sz="1463" b="0" i="0" u="none" strike="noStrike" cap="none">
                <a:solidFill>
                  <a:schemeClr val="dk1"/>
                </a:solidFill>
                <a:latin typeface="Calibri"/>
                <a:ea typeface="Calibri"/>
                <a:cs typeface="Calibri"/>
                <a:sym typeface="Calibri"/>
              </a:defRPr>
            </a:lvl8pPr>
            <a:lvl9pPr marL="4114800" marR="0" lvl="8" indent="-321501" algn="l" rtl="0">
              <a:lnSpc>
                <a:spcPct val="90000"/>
              </a:lnSpc>
              <a:spcBef>
                <a:spcPts val="406"/>
              </a:spcBef>
              <a:spcAft>
                <a:spcPts val="0"/>
              </a:spcAft>
              <a:buClr>
                <a:schemeClr val="dk1"/>
              </a:buClr>
              <a:buSzPts val="1463"/>
              <a:buFont typeface="Arial"/>
              <a:buChar char="•"/>
              <a:defRPr sz="1463" b="0" i="0" u="none" strike="noStrike" cap="none">
                <a:solidFill>
                  <a:schemeClr val="dk1"/>
                </a:solidFill>
                <a:latin typeface="Calibri"/>
                <a:ea typeface="Calibri"/>
                <a:cs typeface="Calibri"/>
                <a:sym typeface="Calibri"/>
              </a:defRPr>
            </a:lvl9pPr>
          </a:lstStyle>
          <a:p>
            <a:endParaRPr/>
          </a:p>
        </p:txBody>
      </p:sp>
      <p:sp>
        <p:nvSpPr>
          <p:cNvPr id="12" name="Google Shape;12;p2"/>
          <p:cNvSpPr txBox="1">
            <a:spLocks noGrp="1"/>
          </p:cNvSpPr>
          <p:nvPr>
            <p:ph type="dt" idx="10"/>
          </p:nvPr>
        </p:nvSpPr>
        <p:spPr>
          <a:xfrm>
            <a:off x="838201" y="6356352"/>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975" b="0" i="0" u="none" strike="noStrike" cap="none">
                <a:solidFill>
                  <a:srgbClr val="3F3F3F"/>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2"/>
          <p:cNvSpPr txBox="1">
            <a:spLocks noGrp="1"/>
          </p:cNvSpPr>
          <p:nvPr>
            <p:ph type="ftr" idx="11"/>
          </p:nvPr>
        </p:nvSpPr>
        <p:spPr>
          <a:xfrm>
            <a:off x="4038601" y="6356352"/>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975" b="0" i="0" u="none" strike="noStrike" cap="none">
                <a:solidFill>
                  <a:srgbClr val="3F3F3F"/>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2"/>
          <p:cNvSpPr txBox="1">
            <a:spLocks noGrp="1"/>
          </p:cNvSpPr>
          <p:nvPr>
            <p:ph type="sldNum" idx="12"/>
          </p:nvPr>
        </p:nvSpPr>
        <p:spPr>
          <a:xfrm>
            <a:off x="8610601" y="6356352"/>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975"/>
              <a:buFont typeface="Arial"/>
              <a:buNone/>
              <a:defRPr sz="975" b="0" i="0" u="none" strike="noStrike" cap="none">
                <a:solidFill>
                  <a:srgbClr val="3F3F3F"/>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975"/>
              <a:buFont typeface="Arial"/>
              <a:buNone/>
              <a:defRPr sz="975" b="0" i="0" u="none" strike="noStrike" cap="none">
                <a:solidFill>
                  <a:srgbClr val="3F3F3F"/>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975"/>
              <a:buFont typeface="Arial"/>
              <a:buNone/>
              <a:defRPr sz="975" b="0" i="0" u="none" strike="noStrike" cap="none">
                <a:solidFill>
                  <a:srgbClr val="3F3F3F"/>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975"/>
              <a:buFont typeface="Arial"/>
              <a:buNone/>
              <a:defRPr sz="975" b="0" i="0" u="none" strike="noStrike" cap="none">
                <a:solidFill>
                  <a:srgbClr val="3F3F3F"/>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975"/>
              <a:buFont typeface="Arial"/>
              <a:buNone/>
              <a:defRPr sz="975" b="0" i="0" u="none" strike="noStrike" cap="none">
                <a:solidFill>
                  <a:srgbClr val="3F3F3F"/>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975"/>
              <a:buFont typeface="Arial"/>
              <a:buNone/>
              <a:defRPr sz="975" b="0" i="0" u="none" strike="noStrike" cap="none">
                <a:solidFill>
                  <a:srgbClr val="3F3F3F"/>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975"/>
              <a:buFont typeface="Arial"/>
              <a:buNone/>
              <a:defRPr sz="975" b="0" i="0" u="none" strike="noStrike" cap="none">
                <a:solidFill>
                  <a:srgbClr val="3F3F3F"/>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975"/>
              <a:buFont typeface="Arial"/>
              <a:buNone/>
              <a:defRPr sz="975" b="0" i="0" u="none" strike="noStrike" cap="none">
                <a:solidFill>
                  <a:srgbClr val="3F3F3F"/>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975"/>
              <a:buFont typeface="Arial"/>
              <a:buNone/>
              <a:defRPr sz="975" b="0" i="0" u="none" strike="noStrike" cap="none">
                <a:solidFill>
                  <a:srgbClr val="3F3F3F"/>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ja"/>
              <a:t>‹#›</a:t>
            </a:fld>
            <a:endParaRPr/>
          </a:p>
        </p:txBody>
      </p:sp>
      <p:cxnSp>
        <p:nvCxnSpPr>
          <p:cNvPr id="15" name="Google Shape;15;p2"/>
          <p:cNvCxnSpPr/>
          <p:nvPr/>
        </p:nvCxnSpPr>
        <p:spPr>
          <a:xfrm>
            <a:off x="236561" y="175079"/>
            <a:ext cx="0" cy="509151"/>
          </a:xfrm>
          <a:prstGeom prst="straightConnector1">
            <a:avLst/>
          </a:prstGeom>
          <a:noFill/>
          <a:ln w="57150" cap="flat" cmpd="sng">
            <a:solidFill>
              <a:srgbClr val="7F7F7F"/>
            </a:solidFill>
            <a:prstDash val="solid"/>
            <a:miter lim="8000"/>
            <a:headEnd type="none" w="sm" len="sm"/>
            <a:tailEnd type="none" w="sm" len="sm"/>
          </a:ln>
        </p:spPr>
      </p:cxnSp>
    </p:spTree>
  </p:cSld>
  <p:clrMap bg1="lt1" tx1="dk1" bg2="dk2" tx2="lt2" accent1="accent1" accent2="accent2" accent3="accent3" accent4="accent4" accent5="accent5" accent6="accent6" hlink="hlink" folHlink="folHlink"/>
  <p:sldLayoutIdLst>
    <p:sldLayoutId id="2147483649" r:id="rId1"/>
    <p:sldLayoutId id="2147483650" r:id="rId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32"/>
        <p:cNvGrpSpPr/>
        <p:nvPr/>
      </p:nvGrpSpPr>
      <p:grpSpPr>
        <a:xfrm>
          <a:off x="0" y="0"/>
          <a:ext cx="0" cy="0"/>
          <a:chOff x="0" y="0"/>
          <a:chExt cx="0" cy="0"/>
        </a:xfrm>
      </p:grpSpPr>
      <p:sp>
        <p:nvSpPr>
          <p:cNvPr id="33" name="Google Shape;33;p1"/>
          <p:cNvSpPr txBox="1"/>
          <p:nvPr/>
        </p:nvSpPr>
        <p:spPr>
          <a:xfrm>
            <a:off x="1260775" y="653225"/>
            <a:ext cx="10827000" cy="307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ja" sz="1400" b="0" i="0" u="none" strike="noStrike" cap="none">
                <a:solidFill>
                  <a:srgbClr val="3F3F3F"/>
                </a:solidFill>
                <a:latin typeface="Arial"/>
                <a:ea typeface="Arial"/>
                <a:cs typeface="Arial"/>
                <a:sym typeface="Arial"/>
              </a:rPr>
              <a:t>◆ 直近の出来事等を振り返ってみて、自身が「便利だと感じた出来事」「不便だと感じた出来事」をそれぞれ書き出してみましょう</a:t>
            </a:r>
            <a:endParaRPr sz="1400" b="0" i="0" u="none" strike="noStrike" cap="none">
              <a:solidFill>
                <a:srgbClr val="000000"/>
              </a:solidFill>
              <a:latin typeface="Arial"/>
              <a:ea typeface="Arial"/>
              <a:cs typeface="Arial"/>
              <a:sym typeface="Arial"/>
            </a:endParaRPr>
          </a:p>
        </p:txBody>
      </p:sp>
      <p:graphicFrame>
        <p:nvGraphicFramePr>
          <p:cNvPr id="34" name="Google Shape;34;p1"/>
          <p:cNvGraphicFramePr/>
          <p:nvPr/>
        </p:nvGraphicFramePr>
        <p:xfrm>
          <a:off x="1260775" y="4226009"/>
          <a:ext cx="5244525" cy="2371220"/>
        </p:xfrm>
        <a:graphic>
          <a:graphicData uri="http://schemas.openxmlformats.org/drawingml/2006/table">
            <a:tbl>
              <a:tblPr firstRow="1" bandRow="1">
                <a:noFill/>
                <a:tableStyleId>{A91AA888-54A0-4C54-936F-01206E308FBF}</a:tableStyleId>
              </a:tblPr>
              <a:tblGrid>
                <a:gridCol w="2107425">
                  <a:extLst>
                    <a:ext uri="{9D8B030D-6E8A-4147-A177-3AD203B41FA5}">
                      <a16:colId xmlns:a16="http://schemas.microsoft.com/office/drawing/2014/main" val="20000"/>
                    </a:ext>
                  </a:extLst>
                </a:gridCol>
                <a:gridCol w="3137100">
                  <a:extLst>
                    <a:ext uri="{9D8B030D-6E8A-4147-A177-3AD203B41FA5}">
                      <a16:colId xmlns:a16="http://schemas.microsoft.com/office/drawing/2014/main" val="20001"/>
                    </a:ext>
                  </a:extLst>
                </a:gridCol>
              </a:tblGrid>
              <a:tr h="225075">
                <a:tc>
                  <a:txBody>
                    <a:bodyPr/>
                    <a:lstStyle/>
                    <a:p>
                      <a:pPr marL="0" marR="0" lvl="0" indent="0" algn="l" rtl="0">
                        <a:lnSpc>
                          <a:spcPct val="100000"/>
                        </a:lnSpc>
                        <a:spcBef>
                          <a:spcPts val="0"/>
                        </a:spcBef>
                        <a:spcAft>
                          <a:spcPts val="0"/>
                        </a:spcAft>
                        <a:buClr>
                          <a:srgbClr val="000000"/>
                        </a:buClr>
                        <a:buSzPts val="1050"/>
                        <a:buFont typeface="Arial"/>
                        <a:buNone/>
                      </a:pPr>
                      <a:r>
                        <a:rPr lang="ja" sz="1050" u="none" strike="noStrike" cap="none">
                          <a:latin typeface="Arial"/>
                          <a:ea typeface="Arial"/>
                          <a:cs typeface="Arial"/>
                          <a:sym typeface="Arial"/>
                        </a:rPr>
                        <a:t>便利/快適だろうと思う出来事</a:t>
                      </a:r>
                      <a:endParaRPr sz="1400" u="none" strike="noStrike" cap="none"/>
                    </a:p>
                  </a:txBody>
                  <a:tcPr marL="84400" marR="84400" marT="42200" marB="42200">
                    <a:solidFill>
                      <a:srgbClr val="7F7F7F"/>
                    </a:solidFill>
                  </a:tcPr>
                </a:tc>
                <a:tc>
                  <a:txBody>
                    <a:bodyPr/>
                    <a:lstStyle/>
                    <a:p>
                      <a:pPr marL="0" marR="0" lvl="0" indent="0" algn="l" rtl="0">
                        <a:lnSpc>
                          <a:spcPct val="100000"/>
                        </a:lnSpc>
                        <a:spcBef>
                          <a:spcPts val="0"/>
                        </a:spcBef>
                        <a:spcAft>
                          <a:spcPts val="0"/>
                        </a:spcAft>
                        <a:buClr>
                          <a:srgbClr val="000000"/>
                        </a:buClr>
                        <a:buSzPts val="1050"/>
                        <a:buFont typeface="Arial"/>
                        <a:buNone/>
                      </a:pPr>
                      <a:r>
                        <a:rPr lang="ja" sz="1050" u="none" strike="noStrike" cap="none">
                          <a:latin typeface="Arial"/>
                          <a:ea typeface="Arial"/>
                          <a:cs typeface="Arial"/>
                          <a:sym typeface="Arial"/>
                        </a:rPr>
                        <a:t>なぜ便利や快適だろうと思ったのか</a:t>
                      </a:r>
                      <a:endParaRPr sz="1400" u="none" strike="noStrike" cap="none"/>
                    </a:p>
                  </a:txBody>
                  <a:tcPr marL="84400" marR="84400" marT="42200" marB="42200">
                    <a:solidFill>
                      <a:srgbClr val="7F7F7F"/>
                    </a:solidFill>
                  </a:tcPr>
                </a:tc>
                <a:extLst>
                  <a:ext uri="{0D108BD9-81ED-4DB2-BD59-A6C34878D82A}">
                    <a16:rowId xmlns:a16="http://schemas.microsoft.com/office/drawing/2014/main" val="10000"/>
                  </a:ext>
                </a:extLst>
              </a:tr>
              <a:tr h="531700">
                <a:tc>
                  <a:txBody>
                    <a:bodyPr/>
                    <a:lstStyle/>
                    <a:p>
                      <a:pPr marL="0" marR="0" lvl="0" indent="0" algn="l" rtl="0">
                        <a:lnSpc>
                          <a:spcPct val="100000"/>
                        </a:lnSpc>
                        <a:spcBef>
                          <a:spcPts val="0"/>
                        </a:spcBef>
                        <a:spcAft>
                          <a:spcPts val="0"/>
                        </a:spcAft>
                        <a:buClr>
                          <a:srgbClr val="000000"/>
                        </a:buClr>
                        <a:buSzPts val="700"/>
                        <a:buFont typeface="Arial"/>
                        <a:buNone/>
                      </a:pPr>
                      <a:r>
                        <a:rPr lang="ja" sz="700" u="none" strike="noStrike" cap="none">
                          <a:latin typeface="Arial"/>
                          <a:ea typeface="Arial"/>
                          <a:cs typeface="Arial"/>
                          <a:sym typeface="Arial"/>
                        </a:rPr>
                        <a:t>例）</a:t>
                      </a:r>
                      <a:endParaRPr sz="700" u="none" strike="noStrike" cap="none">
                        <a:latin typeface="Arial"/>
                        <a:ea typeface="Arial"/>
                        <a:cs typeface="Arial"/>
                        <a:sym typeface="Arial"/>
                      </a:endParaRPr>
                    </a:p>
                    <a:p>
                      <a:pPr marL="0" marR="0" lvl="0" indent="0" algn="l" rtl="0">
                        <a:lnSpc>
                          <a:spcPct val="100000"/>
                        </a:lnSpc>
                        <a:spcBef>
                          <a:spcPts val="0"/>
                        </a:spcBef>
                        <a:spcAft>
                          <a:spcPts val="0"/>
                        </a:spcAft>
                        <a:buClr>
                          <a:srgbClr val="000000"/>
                        </a:buClr>
                        <a:buSzPts val="700"/>
                        <a:buFont typeface="Arial"/>
                        <a:buNone/>
                      </a:pPr>
                      <a:r>
                        <a:rPr lang="ja" sz="700" u="none" strike="noStrike" cap="none">
                          <a:latin typeface="Arial"/>
                          <a:ea typeface="Arial"/>
                          <a:cs typeface="Arial"/>
                          <a:sym typeface="Arial"/>
                        </a:rPr>
                        <a:t>駅の電光掲示板を見て、英語だけではなく、多国語対応が可能になっていた</a:t>
                      </a:r>
                      <a:endParaRPr sz="700" u="none" strike="noStrike" cap="none">
                        <a:latin typeface="Arial"/>
                        <a:ea typeface="Arial"/>
                        <a:cs typeface="Arial"/>
                        <a:sym typeface="Arial"/>
                      </a:endParaRPr>
                    </a:p>
                  </a:txBody>
                  <a:tcPr marL="84400" marR="84400" marT="42200" marB="42200" anchor="ctr"/>
                </a:tc>
                <a:tc>
                  <a:txBody>
                    <a:bodyPr/>
                    <a:lstStyle/>
                    <a:p>
                      <a:pPr marL="0" marR="0" lvl="0" indent="0" algn="l" rtl="0">
                        <a:lnSpc>
                          <a:spcPct val="100000"/>
                        </a:lnSpc>
                        <a:spcBef>
                          <a:spcPts val="0"/>
                        </a:spcBef>
                        <a:spcAft>
                          <a:spcPts val="0"/>
                        </a:spcAft>
                        <a:buClr>
                          <a:srgbClr val="000000"/>
                        </a:buClr>
                        <a:buSzPts val="700"/>
                        <a:buFont typeface="Arial"/>
                        <a:buNone/>
                      </a:pPr>
                      <a:r>
                        <a:rPr lang="ja" sz="700" u="none" strike="noStrike" cap="none">
                          <a:latin typeface="Arial"/>
                          <a:ea typeface="Arial"/>
                          <a:cs typeface="Arial"/>
                          <a:sym typeface="Arial"/>
                        </a:rPr>
                        <a:t>例）</a:t>
                      </a:r>
                      <a:endParaRPr sz="700" u="none" strike="noStrike" cap="none">
                        <a:latin typeface="Arial"/>
                        <a:ea typeface="Arial"/>
                        <a:cs typeface="Arial"/>
                        <a:sym typeface="Arial"/>
                      </a:endParaRPr>
                    </a:p>
                    <a:p>
                      <a:pPr marL="0" marR="0" lvl="0" indent="0" algn="l" rtl="0">
                        <a:lnSpc>
                          <a:spcPct val="100000"/>
                        </a:lnSpc>
                        <a:spcBef>
                          <a:spcPts val="0"/>
                        </a:spcBef>
                        <a:spcAft>
                          <a:spcPts val="0"/>
                        </a:spcAft>
                        <a:buClr>
                          <a:srgbClr val="000000"/>
                        </a:buClr>
                        <a:buSzPts val="700"/>
                        <a:buFont typeface="Arial"/>
                        <a:buNone/>
                      </a:pPr>
                      <a:r>
                        <a:rPr lang="ja" sz="700" u="none" strike="noStrike" cap="none">
                          <a:latin typeface="Arial"/>
                          <a:ea typeface="Arial"/>
                          <a:cs typeface="Arial"/>
                          <a:sym typeface="Arial"/>
                        </a:rPr>
                        <a:t>外国人旅行客の方が、電光掲示板を活用して行き先をスムーズに検索できていたため</a:t>
                      </a:r>
                      <a:endParaRPr sz="1400" u="none" strike="noStrike" cap="none"/>
                    </a:p>
                  </a:txBody>
                  <a:tcPr marL="84400" marR="84400" marT="42200" marB="42200" anchor="ctr"/>
                </a:tc>
                <a:extLst>
                  <a:ext uri="{0D108BD9-81ED-4DB2-BD59-A6C34878D82A}">
                    <a16:rowId xmlns:a16="http://schemas.microsoft.com/office/drawing/2014/main" val="10001"/>
                  </a:ext>
                </a:extLst>
              </a:tr>
              <a:tr h="531700">
                <a:tc>
                  <a:txBody>
                    <a:bodyPr/>
                    <a:lstStyle/>
                    <a:p>
                      <a:pPr marL="0" marR="0" lvl="0" indent="0" algn="l" rtl="0">
                        <a:lnSpc>
                          <a:spcPct val="100000"/>
                        </a:lnSpc>
                        <a:spcBef>
                          <a:spcPts val="0"/>
                        </a:spcBef>
                        <a:spcAft>
                          <a:spcPts val="0"/>
                        </a:spcAft>
                        <a:buClr>
                          <a:srgbClr val="000000"/>
                        </a:buClr>
                        <a:buSzPts val="1400"/>
                        <a:buFont typeface="Arial"/>
                        <a:buNone/>
                      </a:pPr>
                      <a:r>
                        <a:rPr sz="700">
                          <a:latin typeface="Arial"/>
                        </a:rPr>
                        <a:t>ニュースで、AIエージェントが日々の行動データをもとに買い物や生活の提案をしてくれるサービスが紹介されていた</a:t>
                      </a:r>
                      <a:endParaRPr sz="800" u="none" strike="noStrike" cap="none"/>
                    </a:p>
                  </a:txBody>
                  <a:tcPr marL="84400" marR="84400" marT="42200" marB="42200" anchor="ctr"/>
                </a:tc>
                <a:tc>
                  <a:txBody>
                    <a:bodyPr/>
                    <a:lstStyle/>
                    <a:p>
                      <a:pPr marL="0" marR="0" lvl="0" indent="0" algn="l" rtl="0">
                        <a:lnSpc>
                          <a:spcPct val="100000"/>
                        </a:lnSpc>
                        <a:spcBef>
                          <a:spcPts val="0"/>
                        </a:spcBef>
                        <a:spcAft>
                          <a:spcPts val="0"/>
                        </a:spcAft>
                        <a:buClr>
                          <a:schemeClr val="dk1"/>
                        </a:buClr>
                        <a:buSzPts val="700"/>
                        <a:buFont typeface="Arial"/>
                        <a:buNone/>
                      </a:pPr>
                      <a:r>
                        <a:rPr sz="700">
                          <a:latin typeface="Arial"/>
                        </a:rPr>
                        <a:t>忙しい人や決断疲れしている人にとって、自分の好みを理解した提案が自動で届くのは大きな助けになると思ったため</a:t>
                      </a:r>
                      <a:endParaRPr sz="800" u="none" strike="noStrike" cap="none"/>
                    </a:p>
                  </a:txBody>
                  <a:tcPr marL="84400" marR="84400" marT="42200" marB="42200" anchor="ctr"/>
                </a:tc>
                <a:extLst>
                  <a:ext uri="{0D108BD9-81ED-4DB2-BD59-A6C34878D82A}">
                    <a16:rowId xmlns:a16="http://schemas.microsoft.com/office/drawing/2014/main" val="10002"/>
                  </a:ext>
                </a:extLst>
              </a:tr>
              <a:tr h="531700">
                <a:tc>
                  <a:txBody>
                    <a:bodyPr/>
                    <a:lstStyle/>
                    <a:p>
                      <a:pPr marL="0" marR="0" lvl="0" indent="0" algn="l" rtl="0">
                        <a:lnSpc>
                          <a:spcPct val="100000"/>
                        </a:lnSpc>
                        <a:spcBef>
                          <a:spcPts val="0"/>
                        </a:spcBef>
                        <a:spcAft>
                          <a:spcPts val="0"/>
                        </a:spcAft>
                        <a:buClr>
                          <a:schemeClr val="dk1"/>
                        </a:buClr>
                        <a:buSzPts val="800"/>
                        <a:buFont typeface="Arial"/>
                        <a:buNone/>
                      </a:pPr>
                      <a:r>
                        <a:rPr sz="700">
                          <a:latin typeface="Arial"/>
                        </a:rPr>
                        <a:t>高齢の祖父母がスマホの操作に苦戦しているのを家族が代わりに設定してあげている場面を見た</a:t>
                      </a:r>
                      <a:endParaRPr sz="800" u="none" strike="noStrike" cap="none">
                        <a:solidFill>
                          <a:schemeClr val="accent5"/>
                        </a:solidFill>
                      </a:endParaRPr>
                    </a:p>
                  </a:txBody>
                  <a:tcPr marL="91425" marR="91425" marT="91425" marB="91425" anchor="ctr"/>
                </a:tc>
                <a:tc>
                  <a:txBody>
                    <a:bodyPr/>
                    <a:lstStyle/>
                    <a:p>
                      <a:pPr marL="0" marR="0" lvl="0" indent="0" algn="l" rtl="0">
                        <a:lnSpc>
                          <a:spcPct val="115000"/>
                        </a:lnSpc>
                        <a:spcBef>
                          <a:spcPts val="0"/>
                        </a:spcBef>
                        <a:spcAft>
                          <a:spcPts val="0"/>
                        </a:spcAft>
                        <a:buClr>
                          <a:srgbClr val="000000"/>
                        </a:buClr>
                        <a:buSzPts val="1050"/>
                        <a:buFont typeface="Arial"/>
                        <a:buNone/>
                      </a:pPr>
                      <a:r>
                        <a:rPr sz="700">
                          <a:latin typeface="Arial"/>
                        </a:rPr>
                        <a:t>話しかけるだけでAIが生活のサポートをしてくれれば、ITに不慣れな人でも生成AIの恩恵を受けられるようになると思ったため</a:t>
                      </a:r>
                      <a:endParaRPr sz="850" u="none" strike="noStrike" cap="none">
                        <a:solidFill>
                          <a:schemeClr val="accent5"/>
                        </a:solidFill>
                      </a:endParaRPr>
                    </a:p>
                  </a:txBody>
                  <a:tcPr marL="91425" marR="91425" marT="91425" marB="91425" anchor="ctr"/>
                </a:tc>
                <a:extLst>
                  <a:ext uri="{0D108BD9-81ED-4DB2-BD59-A6C34878D82A}">
                    <a16:rowId xmlns:a16="http://schemas.microsoft.com/office/drawing/2014/main" val="10003"/>
                  </a:ext>
                </a:extLst>
              </a:tr>
              <a:tr h="531700">
                <a:tc>
                  <a:txBody>
                    <a:bodyPr/>
                    <a:lstStyle/>
                    <a:p>
                      <a:pPr marL="0" marR="0" lvl="0" indent="0" algn="l" rtl="0">
                        <a:lnSpc>
                          <a:spcPct val="115000"/>
                        </a:lnSpc>
                        <a:spcBef>
                          <a:spcPts val="0"/>
                        </a:spcBef>
                        <a:spcAft>
                          <a:spcPts val="0"/>
                        </a:spcAft>
                        <a:buClr>
                          <a:srgbClr val="000000"/>
                        </a:buClr>
                        <a:buSzPts val="1050"/>
                        <a:buFont typeface="Arial"/>
                        <a:buNone/>
                      </a:pPr>
                      <a:r>
                        <a:rPr sz="700">
                          <a:latin typeface="Arial"/>
                        </a:rPr>
                        <a:t>ニュースで、地方のスーパーがポイントサービスを共通ポイントに切り替え始めているという記事を見た</a:t>
                      </a:r>
                      <a:endParaRPr sz="850" u="none" strike="noStrike" cap="none"/>
                    </a:p>
                  </a:txBody>
                  <a:tcPr marL="91425" marR="91425" marT="91425" marB="91425" anchor="ctr"/>
                </a:tc>
                <a:tc>
                  <a:txBody>
                    <a:bodyPr/>
                    <a:lstStyle/>
                    <a:p>
                      <a:pPr marL="0" marR="0" lvl="0" indent="0" algn="l" rtl="0">
                        <a:lnSpc>
                          <a:spcPct val="115000"/>
                        </a:lnSpc>
                        <a:spcBef>
                          <a:spcPts val="0"/>
                        </a:spcBef>
                        <a:spcAft>
                          <a:spcPts val="0"/>
                        </a:spcAft>
                        <a:buClr>
                          <a:srgbClr val="000000"/>
                        </a:buClr>
                        <a:buSzPts val="1050"/>
                        <a:buFont typeface="Arial"/>
                        <a:buNone/>
                      </a:pPr>
                      <a:r>
                        <a:rPr sz="700">
                          <a:latin typeface="Arial"/>
                        </a:rPr>
                        <a:t>一つのポイントで様々な場所で使えるようになれば、利用者にとって管理の手間が減り便利になると思ったため</a:t>
                      </a:r>
                      <a:endParaRPr sz="750" u="none" strike="noStrike" cap="none"/>
                    </a:p>
                  </a:txBody>
                  <a:tcPr marL="91425" marR="91425" marT="91425" marB="91425" anchor="ctr"/>
                </a:tc>
                <a:extLst>
                  <a:ext uri="{0D108BD9-81ED-4DB2-BD59-A6C34878D82A}">
                    <a16:rowId xmlns:a16="http://schemas.microsoft.com/office/drawing/2014/main" val="10004"/>
                  </a:ext>
                </a:extLst>
              </a:tr>
            </a:tbl>
          </a:graphicData>
        </a:graphic>
      </p:graphicFrame>
      <p:graphicFrame>
        <p:nvGraphicFramePr>
          <p:cNvPr id="35" name="Google Shape;35;p1"/>
          <p:cNvGraphicFramePr/>
          <p:nvPr/>
        </p:nvGraphicFramePr>
        <p:xfrm>
          <a:off x="6712827" y="4226009"/>
          <a:ext cx="5355675" cy="2371220"/>
        </p:xfrm>
        <a:graphic>
          <a:graphicData uri="http://schemas.openxmlformats.org/drawingml/2006/table">
            <a:tbl>
              <a:tblPr firstRow="1" bandRow="1">
                <a:noFill/>
                <a:tableStyleId>{A91AA888-54A0-4C54-936F-01206E308FBF}</a:tableStyleId>
              </a:tblPr>
              <a:tblGrid>
                <a:gridCol w="2168900">
                  <a:extLst>
                    <a:ext uri="{9D8B030D-6E8A-4147-A177-3AD203B41FA5}">
                      <a16:colId xmlns:a16="http://schemas.microsoft.com/office/drawing/2014/main" val="20000"/>
                    </a:ext>
                  </a:extLst>
                </a:gridCol>
                <a:gridCol w="3186775">
                  <a:extLst>
                    <a:ext uri="{9D8B030D-6E8A-4147-A177-3AD203B41FA5}">
                      <a16:colId xmlns:a16="http://schemas.microsoft.com/office/drawing/2014/main" val="20001"/>
                    </a:ext>
                  </a:extLst>
                </a:gridCol>
              </a:tblGrid>
              <a:tr h="225075">
                <a:tc>
                  <a:txBody>
                    <a:bodyPr/>
                    <a:lstStyle/>
                    <a:p>
                      <a:pPr marL="0" marR="0" lvl="0" indent="0" algn="l" rtl="0">
                        <a:lnSpc>
                          <a:spcPct val="100000"/>
                        </a:lnSpc>
                        <a:spcBef>
                          <a:spcPts val="0"/>
                        </a:spcBef>
                        <a:spcAft>
                          <a:spcPts val="0"/>
                        </a:spcAft>
                        <a:buClr>
                          <a:srgbClr val="000000"/>
                        </a:buClr>
                        <a:buSzPts val="1050"/>
                        <a:buFont typeface="Arial"/>
                        <a:buNone/>
                      </a:pPr>
                      <a:r>
                        <a:rPr lang="ja" sz="1050" u="none" strike="noStrike" cap="none">
                          <a:latin typeface="Arial"/>
                          <a:ea typeface="Arial"/>
                          <a:cs typeface="Arial"/>
                          <a:sym typeface="Arial"/>
                        </a:rPr>
                        <a:t>不便/不快だろうと思う出来事</a:t>
                      </a:r>
                      <a:endParaRPr sz="1400" u="none" strike="noStrike" cap="none"/>
                    </a:p>
                  </a:txBody>
                  <a:tcPr marL="84400" marR="84400" marT="42200" marB="42200">
                    <a:solidFill>
                      <a:srgbClr val="7F7F7F"/>
                    </a:solidFill>
                  </a:tcPr>
                </a:tc>
                <a:tc>
                  <a:txBody>
                    <a:bodyPr/>
                    <a:lstStyle/>
                    <a:p>
                      <a:pPr marL="0" marR="0" lvl="0" indent="0" algn="l" rtl="0">
                        <a:lnSpc>
                          <a:spcPct val="100000"/>
                        </a:lnSpc>
                        <a:spcBef>
                          <a:spcPts val="0"/>
                        </a:spcBef>
                        <a:spcAft>
                          <a:spcPts val="0"/>
                        </a:spcAft>
                        <a:buClr>
                          <a:srgbClr val="000000"/>
                        </a:buClr>
                        <a:buSzPts val="1050"/>
                        <a:buFont typeface="Arial"/>
                        <a:buNone/>
                      </a:pPr>
                      <a:r>
                        <a:rPr lang="ja" sz="1050" u="none" strike="noStrike" cap="none">
                          <a:latin typeface="Arial"/>
                          <a:ea typeface="Arial"/>
                          <a:cs typeface="Arial"/>
                          <a:sym typeface="Arial"/>
                        </a:rPr>
                        <a:t>なぜ不便や不快だろうと思ったのか</a:t>
                      </a:r>
                      <a:endParaRPr sz="1400" u="none" strike="noStrike" cap="none"/>
                    </a:p>
                  </a:txBody>
                  <a:tcPr marL="84400" marR="84400" marT="42200" marB="42200">
                    <a:solidFill>
                      <a:srgbClr val="7F7F7F"/>
                    </a:solidFill>
                  </a:tcPr>
                </a:tc>
                <a:extLst>
                  <a:ext uri="{0D108BD9-81ED-4DB2-BD59-A6C34878D82A}">
                    <a16:rowId xmlns:a16="http://schemas.microsoft.com/office/drawing/2014/main" val="10000"/>
                  </a:ext>
                </a:extLst>
              </a:tr>
              <a:tr h="531700">
                <a:tc>
                  <a:txBody>
                    <a:bodyPr/>
                    <a:lstStyle/>
                    <a:p>
                      <a:pPr marL="0" marR="0" lvl="0" indent="0" algn="l" rtl="0">
                        <a:lnSpc>
                          <a:spcPct val="100000"/>
                        </a:lnSpc>
                        <a:spcBef>
                          <a:spcPts val="0"/>
                        </a:spcBef>
                        <a:spcAft>
                          <a:spcPts val="0"/>
                        </a:spcAft>
                        <a:buClr>
                          <a:srgbClr val="000000"/>
                        </a:buClr>
                        <a:buSzPts val="700"/>
                        <a:buFont typeface="Arial"/>
                        <a:buNone/>
                      </a:pPr>
                      <a:r>
                        <a:rPr lang="ja" sz="700" u="none" strike="noStrike" cap="none">
                          <a:latin typeface="Arial"/>
                          <a:ea typeface="Arial"/>
                          <a:cs typeface="Arial"/>
                          <a:sym typeface="Arial"/>
                        </a:rPr>
                        <a:t>例）</a:t>
                      </a:r>
                      <a:endParaRPr sz="700" u="none" strike="noStrike" cap="none">
                        <a:latin typeface="Arial"/>
                        <a:ea typeface="Arial"/>
                        <a:cs typeface="Arial"/>
                        <a:sym typeface="Arial"/>
                      </a:endParaRPr>
                    </a:p>
                    <a:p>
                      <a:pPr marL="0" marR="0" lvl="0" indent="0" algn="l" rtl="0">
                        <a:lnSpc>
                          <a:spcPct val="100000"/>
                        </a:lnSpc>
                        <a:spcBef>
                          <a:spcPts val="0"/>
                        </a:spcBef>
                        <a:spcAft>
                          <a:spcPts val="0"/>
                        </a:spcAft>
                        <a:buClr>
                          <a:srgbClr val="000000"/>
                        </a:buClr>
                        <a:buSzPts val="700"/>
                        <a:buFont typeface="Arial"/>
                        <a:buNone/>
                      </a:pPr>
                      <a:r>
                        <a:rPr lang="ja" sz="700" u="none" strike="noStrike" cap="none">
                          <a:latin typeface="Arial"/>
                          <a:ea typeface="Arial"/>
                          <a:cs typeface="Arial"/>
                          <a:sym typeface="Arial"/>
                        </a:rPr>
                        <a:t>朝の電車で赤ちゃんが泣いていたのに対して、文句を言っている大人がいた</a:t>
                      </a:r>
                      <a:endParaRPr sz="1400" u="none" strike="noStrike" cap="none"/>
                    </a:p>
                  </a:txBody>
                  <a:tcPr marL="84400" marR="84400" marT="42200" marB="42200" anchor="ctr"/>
                </a:tc>
                <a:tc>
                  <a:txBody>
                    <a:bodyPr/>
                    <a:lstStyle/>
                    <a:p>
                      <a:pPr marL="0" marR="0" lvl="0" indent="0" algn="l" rtl="0">
                        <a:lnSpc>
                          <a:spcPct val="100000"/>
                        </a:lnSpc>
                        <a:spcBef>
                          <a:spcPts val="0"/>
                        </a:spcBef>
                        <a:spcAft>
                          <a:spcPts val="0"/>
                        </a:spcAft>
                        <a:buClr>
                          <a:srgbClr val="000000"/>
                        </a:buClr>
                        <a:buSzPts val="700"/>
                        <a:buFont typeface="Arial"/>
                        <a:buNone/>
                      </a:pPr>
                      <a:r>
                        <a:rPr lang="ja" sz="700" u="none" strike="noStrike" cap="none">
                          <a:latin typeface="Arial"/>
                          <a:ea typeface="Arial"/>
                          <a:cs typeface="Arial"/>
                          <a:sym typeface="Arial"/>
                        </a:rPr>
                        <a:t>例）</a:t>
                      </a:r>
                      <a:endParaRPr sz="700" u="none" strike="noStrike" cap="none">
                        <a:latin typeface="Arial"/>
                        <a:ea typeface="Arial"/>
                        <a:cs typeface="Arial"/>
                        <a:sym typeface="Arial"/>
                      </a:endParaRPr>
                    </a:p>
                    <a:p>
                      <a:pPr marL="0" marR="0" lvl="0" indent="0" algn="l" rtl="0">
                        <a:lnSpc>
                          <a:spcPct val="100000"/>
                        </a:lnSpc>
                        <a:spcBef>
                          <a:spcPts val="0"/>
                        </a:spcBef>
                        <a:spcAft>
                          <a:spcPts val="0"/>
                        </a:spcAft>
                        <a:buClr>
                          <a:srgbClr val="000000"/>
                        </a:buClr>
                        <a:buSzPts val="700"/>
                        <a:buFont typeface="Arial"/>
                        <a:buNone/>
                      </a:pPr>
                      <a:r>
                        <a:rPr lang="ja" sz="700" u="none" strike="noStrike" cap="none">
                          <a:latin typeface="Arial"/>
                          <a:ea typeface="Arial"/>
                          <a:cs typeface="Arial"/>
                          <a:sym typeface="Arial"/>
                        </a:rPr>
                        <a:t>子どもが泣くのは仕方がないことにも関わらず、大人気のない対応だったため</a:t>
                      </a:r>
                      <a:endParaRPr sz="1400" u="none" strike="noStrike" cap="none"/>
                    </a:p>
                  </a:txBody>
                  <a:tcPr marL="84400" marR="84400" marT="42200" marB="42200" anchor="ctr"/>
                </a:tc>
                <a:extLst>
                  <a:ext uri="{0D108BD9-81ED-4DB2-BD59-A6C34878D82A}">
                    <a16:rowId xmlns:a16="http://schemas.microsoft.com/office/drawing/2014/main" val="10001"/>
                  </a:ext>
                </a:extLst>
              </a:tr>
              <a:tr h="531700">
                <a:tc>
                  <a:txBody>
                    <a:bodyPr/>
                    <a:lstStyle/>
                    <a:p>
                      <a:pPr marL="0" marR="0" lvl="0" indent="0" algn="l" rtl="0">
                        <a:lnSpc>
                          <a:spcPct val="100000"/>
                        </a:lnSpc>
                        <a:spcBef>
                          <a:spcPts val="0"/>
                        </a:spcBef>
                        <a:spcAft>
                          <a:spcPts val="0"/>
                        </a:spcAft>
                        <a:buClr>
                          <a:srgbClr val="000000"/>
                        </a:buClr>
                        <a:buSzPts val="1400"/>
                        <a:buFont typeface="Arial"/>
                        <a:buNone/>
                      </a:pPr>
                      <a:r>
                        <a:rPr sz="700">
                          <a:latin typeface="Arial"/>
                        </a:rPr>
                        <a:t>ニュースで、生成AIの利用率が年代や地域によって大きく差があるという調査結果を見た</a:t>
                      </a:r>
                      <a:endParaRPr sz="1400" u="none" strike="noStrike" cap="none"/>
                    </a:p>
                  </a:txBody>
                  <a:tcPr marL="84400" marR="84400" marT="42200" marB="42200" anchor="ctr"/>
                </a:tc>
                <a:tc>
                  <a:txBody>
                    <a:bodyPr/>
                    <a:lstStyle/>
                    <a:p>
                      <a:pPr marL="0" marR="0" lvl="0" indent="0" algn="l" rtl="0">
                        <a:lnSpc>
                          <a:spcPct val="100000"/>
                        </a:lnSpc>
                        <a:spcBef>
                          <a:spcPts val="0"/>
                        </a:spcBef>
                        <a:spcAft>
                          <a:spcPts val="0"/>
                        </a:spcAft>
                        <a:buClr>
                          <a:srgbClr val="000000"/>
                        </a:buClr>
                        <a:buSzPts val="1400"/>
                        <a:buFont typeface="Arial"/>
                        <a:buNone/>
                      </a:pPr>
                      <a:r>
                        <a:rPr sz="700">
                          <a:latin typeface="Arial"/>
                        </a:rPr>
                        <a:t>情報格差と同じように、AIを使いこなせる人とそうでない人の間で得られる恩恵に差が生まれてしまうのは不公平だと感じたため</a:t>
                      </a:r>
                      <a:endParaRPr sz="700" u="none" strike="noStrike" cap="none"/>
                    </a:p>
                  </a:txBody>
                  <a:tcPr marL="84400" marR="84400" marT="42200" marB="42200" anchor="ctr"/>
                </a:tc>
                <a:extLst>
                  <a:ext uri="{0D108BD9-81ED-4DB2-BD59-A6C34878D82A}">
                    <a16:rowId xmlns:a16="http://schemas.microsoft.com/office/drawing/2014/main" val="10002"/>
                  </a:ext>
                </a:extLst>
              </a:tr>
              <a:tr h="531700">
                <a:tc>
                  <a:txBody>
                    <a:bodyPr/>
                    <a:lstStyle/>
                    <a:p>
                      <a:pPr marL="0" marR="0" lvl="0" indent="0" algn="l" rtl="0">
                        <a:lnSpc>
                          <a:spcPct val="100000"/>
                        </a:lnSpc>
                        <a:spcBef>
                          <a:spcPts val="0"/>
                        </a:spcBef>
                        <a:spcAft>
                          <a:spcPts val="0"/>
                        </a:spcAft>
                        <a:buClr>
                          <a:schemeClr val="dk1"/>
                        </a:buClr>
                        <a:buSzPts val="800"/>
                        <a:buFont typeface="Arial"/>
                        <a:buNone/>
                      </a:pPr>
                      <a:r>
                        <a:rPr sz="700">
                          <a:latin typeface="Arial"/>
                        </a:rPr>
                        <a:t>高齢者や忙しい人が複数のポイント制度を使い分けきれず、結局ポイントを貯めそびれてしまうという話を聞いた</a:t>
                      </a:r>
                      <a:endParaRPr sz="750" u="none" strike="noStrike" cap="none"/>
                    </a:p>
                  </a:txBody>
                  <a:tcPr marL="91425" marR="91425" marT="91425" marB="91425" anchor="ctr"/>
                </a:tc>
                <a:tc>
                  <a:txBody>
                    <a:bodyPr/>
                    <a:lstStyle/>
                    <a:p>
                      <a:pPr marL="0" marR="0" lvl="0" indent="0" algn="l" rtl="0">
                        <a:lnSpc>
                          <a:spcPct val="100000"/>
                        </a:lnSpc>
                        <a:spcBef>
                          <a:spcPts val="0"/>
                        </a:spcBef>
                        <a:spcAft>
                          <a:spcPts val="0"/>
                        </a:spcAft>
                        <a:buClr>
                          <a:schemeClr val="dk1"/>
                        </a:buClr>
                        <a:buSzPts val="800"/>
                        <a:buFont typeface="Arial"/>
                        <a:buNone/>
                      </a:pPr>
                      <a:r>
                        <a:rPr sz="700">
                          <a:latin typeface="Arial"/>
                        </a:rPr>
                        <a:t>せっかくの制度を活かしきれない人がいるのは、利用者にとっても機会損失になっていると感じたため</a:t>
                      </a:r>
                      <a:endParaRPr sz="750" u="none" strike="noStrike" cap="none"/>
                    </a:p>
                  </a:txBody>
                  <a:tcPr marL="91425" marR="91425" marT="91425" marB="91425" anchor="ctr"/>
                </a:tc>
                <a:extLst>
                  <a:ext uri="{0D108BD9-81ED-4DB2-BD59-A6C34878D82A}">
                    <a16:rowId xmlns:a16="http://schemas.microsoft.com/office/drawing/2014/main" val="10003"/>
                  </a:ext>
                </a:extLst>
              </a:tr>
              <a:tr h="531700">
                <a:tc>
                  <a:txBody>
                    <a:bodyPr/>
                    <a:lstStyle/>
                    <a:p>
                      <a:pPr marL="0" marR="0" lvl="0" indent="0" algn="l" rtl="0">
                        <a:lnSpc>
                          <a:spcPct val="100000"/>
                        </a:lnSpc>
                        <a:spcBef>
                          <a:spcPts val="0"/>
                        </a:spcBef>
                        <a:spcAft>
                          <a:spcPts val="0"/>
                        </a:spcAft>
                        <a:buClr>
                          <a:schemeClr val="dk1"/>
                        </a:buClr>
                        <a:buSzPts val="800"/>
                        <a:buFont typeface="Arial"/>
                        <a:buNone/>
                      </a:pPr>
                      <a:r>
                        <a:rPr sz="700">
                          <a:latin typeface="Arial"/>
                        </a:rPr>
                        <a:t>個人経営の飲食店や商店が大手ポイントサービスの手数料負担を理由に導入を見送っているというニュースを見た</a:t>
                      </a:r>
                      <a:endParaRPr sz="750" u="none" strike="noStrike" cap="none"/>
                    </a:p>
                  </a:txBody>
                  <a:tcPr marL="91425" marR="91425" marT="91425" marB="91425" anchor="ctr"/>
                </a:tc>
                <a:tc>
                  <a:txBody>
                    <a:bodyPr/>
                    <a:lstStyle/>
                    <a:p>
                      <a:pPr marL="0" marR="0" lvl="0" indent="0" algn="l" rtl="0">
                        <a:lnSpc>
                          <a:spcPct val="115000"/>
                        </a:lnSpc>
                        <a:spcBef>
                          <a:spcPts val="0"/>
                        </a:spcBef>
                        <a:spcAft>
                          <a:spcPts val="0"/>
                        </a:spcAft>
                        <a:buClr>
                          <a:srgbClr val="000000"/>
                        </a:buClr>
                        <a:buSzPts val="1050"/>
                        <a:buFont typeface="Arial"/>
                        <a:buNone/>
                      </a:pPr>
                      <a:r>
                        <a:rPr sz="700">
                          <a:latin typeface="Arial"/>
                        </a:rPr>
                        <a:t>ポイント制度に加盟したくてもコスト面のハードルで参加できない事業者がいることは、利用者側の選択肢の狭まりにもつながると思ったため</a:t>
                      </a:r>
                      <a:endParaRPr sz="800" b="1" u="none" strike="noStrike" cap="none"/>
                    </a:p>
                  </a:txBody>
                  <a:tcPr marL="91425" marR="91425" marT="91425" marB="91425" anchor="ctr"/>
                </a:tc>
                <a:extLst>
                  <a:ext uri="{0D108BD9-81ED-4DB2-BD59-A6C34878D82A}">
                    <a16:rowId xmlns:a16="http://schemas.microsoft.com/office/drawing/2014/main" val="10004"/>
                  </a:ext>
                </a:extLst>
              </a:tr>
            </a:tbl>
          </a:graphicData>
        </a:graphic>
      </p:graphicFrame>
      <p:sp>
        <p:nvSpPr>
          <p:cNvPr id="36" name="Google Shape;36;p1"/>
          <p:cNvSpPr txBox="1"/>
          <p:nvPr/>
        </p:nvSpPr>
        <p:spPr>
          <a:xfrm>
            <a:off x="1260775" y="3667800"/>
            <a:ext cx="10678800" cy="523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ja" sz="1400" b="0" i="0" u="none" strike="noStrike" cap="none">
                <a:solidFill>
                  <a:srgbClr val="3F3F3F"/>
                </a:solidFill>
                <a:latin typeface="Arial"/>
                <a:ea typeface="Arial"/>
                <a:cs typeface="Arial"/>
                <a:sym typeface="Arial"/>
              </a:rPr>
              <a:t>◆身の回りで起きた出来事やニュースを思い返してみて、「これは、誰かにとって、便利/快適だろうなと感じた出来事」</a:t>
            </a:r>
            <a:endParaRPr sz="1400" b="0" i="0" u="none" strike="noStrike" cap="none">
              <a:solidFill>
                <a:srgbClr val="3F3F3F"/>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r>
              <a:rPr lang="ja" sz="1400" b="0" i="0" u="none" strike="noStrike" cap="none">
                <a:solidFill>
                  <a:srgbClr val="3F3F3F"/>
                </a:solidFill>
                <a:latin typeface="Arial"/>
                <a:ea typeface="Arial"/>
                <a:cs typeface="Arial"/>
                <a:sym typeface="Arial"/>
              </a:rPr>
              <a:t>「これは、誰かにとって、不便/不快なのではないかと感じた出来事」をそれぞれ書き出してみましょう</a:t>
            </a:r>
            <a:endParaRPr sz="1400" b="0" i="0" u="none" strike="noStrike" cap="none">
              <a:solidFill>
                <a:srgbClr val="000000"/>
              </a:solidFill>
              <a:latin typeface="Arial"/>
              <a:ea typeface="Arial"/>
              <a:cs typeface="Arial"/>
              <a:sym typeface="Arial"/>
            </a:endParaRPr>
          </a:p>
        </p:txBody>
      </p:sp>
      <p:sp>
        <p:nvSpPr>
          <p:cNvPr id="37" name="Google Shape;37;p1"/>
          <p:cNvSpPr txBox="1"/>
          <p:nvPr/>
        </p:nvSpPr>
        <p:spPr>
          <a:xfrm>
            <a:off x="5569000" y="149475"/>
            <a:ext cx="6499500" cy="400200"/>
          </a:xfrm>
          <a:prstGeom prst="rect">
            <a:avLst/>
          </a:prstGeom>
          <a:solidFill>
            <a:srgbClr val="FF0000"/>
          </a:solid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ja" sz="1400" b="0" i="0" u="none" strike="noStrike" cap="none">
                <a:solidFill>
                  <a:srgbClr val="000000"/>
                </a:solidFill>
                <a:latin typeface="Arial"/>
                <a:ea typeface="Arial"/>
                <a:cs typeface="Arial"/>
                <a:sym typeface="Arial"/>
              </a:rPr>
              <a:t>※ワークシートはコピーしてご自身のPCに保存したものに作業してください</a:t>
            </a:r>
            <a:endParaRPr sz="1400" b="0" i="0" u="none" strike="noStrike" cap="none">
              <a:solidFill>
                <a:srgbClr val="000000"/>
              </a:solidFill>
              <a:latin typeface="Arial"/>
              <a:ea typeface="Arial"/>
              <a:cs typeface="Arial"/>
              <a:sym typeface="Arial"/>
            </a:endParaRPr>
          </a:p>
        </p:txBody>
      </p:sp>
      <p:graphicFrame>
        <p:nvGraphicFramePr>
          <p:cNvPr id="38" name="Google Shape;38;p1"/>
          <p:cNvGraphicFramePr/>
          <p:nvPr/>
        </p:nvGraphicFramePr>
        <p:xfrm>
          <a:off x="1260775" y="1064569"/>
          <a:ext cx="5244525" cy="2427075"/>
        </p:xfrm>
        <a:graphic>
          <a:graphicData uri="http://schemas.openxmlformats.org/drawingml/2006/table">
            <a:tbl>
              <a:tblPr firstRow="1" bandRow="1">
                <a:noFill/>
                <a:tableStyleId>{A91AA888-54A0-4C54-936F-01206E308FBF}</a:tableStyleId>
              </a:tblPr>
              <a:tblGrid>
                <a:gridCol w="2107425">
                  <a:extLst>
                    <a:ext uri="{9D8B030D-6E8A-4147-A177-3AD203B41FA5}">
                      <a16:colId xmlns:a16="http://schemas.microsoft.com/office/drawing/2014/main" val="20000"/>
                    </a:ext>
                  </a:extLst>
                </a:gridCol>
                <a:gridCol w="3137100">
                  <a:extLst>
                    <a:ext uri="{9D8B030D-6E8A-4147-A177-3AD203B41FA5}">
                      <a16:colId xmlns:a16="http://schemas.microsoft.com/office/drawing/2014/main" val="20001"/>
                    </a:ext>
                  </a:extLst>
                </a:gridCol>
              </a:tblGrid>
              <a:tr h="300275">
                <a:tc>
                  <a:txBody>
                    <a:bodyPr/>
                    <a:lstStyle/>
                    <a:p>
                      <a:pPr marL="0" marR="0" lvl="0" indent="0" algn="l" rtl="0">
                        <a:lnSpc>
                          <a:spcPct val="100000"/>
                        </a:lnSpc>
                        <a:spcBef>
                          <a:spcPts val="0"/>
                        </a:spcBef>
                        <a:spcAft>
                          <a:spcPts val="0"/>
                        </a:spcAft>
                        <a:buClr>
                          <a:srgbClr val="000000"/>
                        </a:buClr>
                        <a:buSzPts val="1050"/>
                        <a:buFont typeface="Arial"/>
                        <a:buNone/>
                      </a:pPr>
                      <a:r>
                        <a:rPr lang="ja" sz="1050" u="none" strike="noStrike" cap="none">
                          <a:latin typeface="Arial"/>
                          <a:ea typeface="Arial"/>
                          <a:cs typeface="Arial"/>
                          <a:sym typeface="Arial"/>
                        </a:rPr>
                        <a:t>便利や快適に感じた出来事</a:t>
                      </a:r>
                      <a:endParaRPr sz="1400" u="none" strike="noStrike" cap="none"/>
                    </a:p>
                  </a:txBody>
                  <a:tcPr marL="84400" marR="84400" marT="42200" marB="42200">
                    <a:solidFill>
                      <a:srgbClr val="7F7F7F"/>
                    </a:solidFill>
                  </a:tcPr>
                </a:tc>
                <a:tc>
                  <a:txBody>
                    <a:bodyPr/>
                    <a:lstStyle/>
                    <a:p>
                      <a:pPr marL="0" marR="0" lvl="0" indent="0" algn="l" rtl="0">
                        <a:lnSpc>
                          <a:spcPct val="100000"/>
                        </a:lnSpc>
                        <a:spcBef>
                          <a:spcPts val="0"/>
                        </a:spcBef>
                        <a:spcAft>
                          <a:spcPts val="0"/>
                        </a:spcAft>
                        <a:buClr>
                          <a:srgbClr val="000000"/>
                        </a:buClr>
                        <a:buSzPts val="1050"/>
                        <a:buFont typeface="Arial"/>
                        <a:buNone/>
                      </a:pPr>
                      <a:r>
                        <a:rPr lang="ja" sz="1050" u="none" strike="noStrike" cap="none">
                          <a:latin typeface="Arial"/>
                          <a:ea typeface="Arial"/>
                          <a:cs typeface="Arial"/>
                          <a:sym typeface="Arial"/>
                        </a:rPr>
                        <a:t>なぜ便利や快適だと感じたのか</a:t>
                      </a:r>
                      <a:endParaRPr sz="1400" u="none" strike="noStrike" cap="none"/>
                    </a:p>
                  </a:txBody>
                  <a:tcPr marL="84400" marR="84400" marT="42200" marB="42200">
                    <a:solidFill>
                      <a:srgbClr val="7F7F7F"/>
                    </a:solidFill>
                  </a:tcPr>
                </a:tc>
                <a:extLst>
                  <a:ext uri="{0D108BD9-81ED-4DB2-BD59-A6C34878D82A}">
                    <a16:rowId xmlns:a16="http://schemas.microsoft.com/office/drawing/2014/main" val="10000"/>
                  </a:ext>
                </a:extLst>
              </a:tr>
              <a:tr h="531700">
                <a:tc>
                  <a:txBody>
                    <a:bodyPr/>
                    <a:lstStyle/>
                    <a:p>
                      <a:pPr marL="0" marR="0" lvl="0" indent="0" algn="l" rtl="0">
                        <a:lnSpc>
                          <a:spcPct val="100000"/>
                        </a:lnSpc>
                        <a:spcBef>
                          <a:spcPts val="0"/>
                        </a:spcBef>
                        <a:spcAft>
                          <a:spcPts val="0"/>
                        </a:spcAft>
                        <a:buClr>
                          <a:srgbClr val="000000"/>
                        </a:buClr>
                        <a:buSzPts val="700"/>
                        <a:buFont typeface="Arial"/>
                        <a:buNone/>
                      </a:pPr>
                      <a:r>
                        <a:rPr lang="ja" sz="700" u="none" strike="noStrike" cap="none">
                          <a:latin typeface="Arial"/>
                          <a:ea typeface="Arial"/>
                          <a:cs typeface="Arial"/>
                          <a:sym typeface="Arial"/>
                        </a:rPr>
                        <a:t>例）</a:t>
                      </a:r>
                      <a:endParaRPr sz="700" u="none" strike="noStrike" cap="none">
                        <a:latin typeface="Arial"/>
                        <a:ea typeface="Arial"/>
                        <a:cs typeface="Arial"/>
                        <a:sym typeface="Arial"/>
                      </a:endParaRPr>
                    </a:p>
                    <a:p>
                      <a:pPr marL="0" marR="0" lvl="0" indent="0" algn="l" rtl="0">
                        <a:lnSpc>
                          <a:spcPct val="100000"/>
                        </a:lnSpc>
                        <a:spcBef>
                          <a:spcPts val="0"/>
                        </a:spcBef>
                        <a:spcAft>
                          <a:spcPts val="0"/>
                        </a:spcAft>
                        <a:buClr>
                          <a:srgbClr val="000000"/>
                        </a:buClr>
                        <a:buSzPts val="700"/>
                        <a:buFont typeface="Arial"/>
                        <a:buNone/>
                      </a:pPr>
                      <a:r>
                        <a:rPr lang="ja" sz="700" u="none" strike="noStrike" cap="none">
                          <a:latin typeface="Arial"/>
                          <a:ea typeface="Arial"/>
                          <a:cs typeface="Arial"/>
                          <a:sym typeface="Arial"/>
                        </a:rPr>
                        <a:t>病院に行った際に薬局が併設されており、診察から薬の受け取りまでスムーズに行えた</a:t>
                      </a:r>
                      <a:endParaRPr sz="700" u="none" strike="noStrike" cap="none">
                        <a:latin typeface="Arial"/>
                        <a:ea typeface="Arial"/>
                        <a:cs typeface="Arial"/>
                        <a:sym typeface="Arial"/>
                      </a:endParaRPr>
                    </a:p>
                  </a:txBody>
                  <a:tcPr marL="84400" marR="84400" marT="42200" marB="42200" anchor="ctr"/>
                </a:tc>
                <a:tc>
                  <a:txBody>
                    <a:bodyPr/>
                    <a:lstStyle/>
                    <a:p>
                      <a:pPr marL="0" marR="0" lvl="0" indent="0" algn="l" rtl="0">
                        <a:lnSpc>
                          <a:spcPct val="100000"/>
                        </a:lnSpc>
                        <a:spcBef>
                          <a:spcPts val="0"/>
                        </a:spcBef>
                        <a:spcAft>
                          <a:spcPts val="0"/>
                        </a:spcAft>
                        <a:buClr>
                          <a:srgbClr val="000000"/>
                        </a:buClr>
                        <a:buSzPts val="700"/>
                        <a:buFont typeface="Arial"/>
                        <a:buNone/>
                      </a:pPr>
                      <a:r>
                        <a:rPr lang="ja" sz="700" u="none" strike="noStrike" cap="none">
                          <a:latin typeface="Arial"/>
                          <a:ea typeface="Arial"/>
                          <a:cs typeface="Arial"/>
                          <a:sym typeface="Arial"/>
                        </a:rPr>
                        <a:t>例）</a:t>
                      </a:r>
                      <a:endParaRPr sz="700" u="none" strike="noStrike" cap="none">
                        <a:latin typeface="Arial"/>
                        <a:ea typeface="Arial"/>
                        <a:cs typeface="Arial"/>
                        <a:sym typeface="Arial"/>
                      </a:endParaRPr>
                    </a:p>
                    <a:p>
                      <a:pPr marL="0" marR="0" lvl="0" indent="0" algn="l" rtl="0">
                        <a:lnSpc>
                          <a:spcPct val="100000"/>
                        </a:lnSpc>
                        <a:spcBef>
                          <a:spcPts val="0"/>
                        </a:spcBef>
                        <a:spcAft>
                          <a:spcPts val="0"/>
                        </a:spcAft>
                        <a:buClr>
                          <a:srgbClr val="000000"/>
                        </a:buClr>
                        <a:buSzPts val="700"/>
                        <a:buFont typeface="Arial"/>
                        <a:buNone/>
                      </a:pPr>
                      <a:r>
                        <a:rPr lang="ja" sz="700" u="none" strike="noStrike" cap="none">
                          <a:latin typeface="Arial"/>
                          <a:ea typeface="Arial"/>
                          <a:cs typeface="Arial"/>
                          <a:sym typeface="Arial"/>
                        </a:rPr>
                        <a:t>病院で処方箋を受け取った後、薬局を探さなければいけない</a:t>
                      </a:r>
                      <a:br>
                        <a:rPr lang="ja" sz="700" u="none" strike="noStrike" cap="none">
                          <a:latin typeface="Arial"/>
                          <a:ea typeface="Arial"/>
                          <a:cs typeface="Arial"/>
                          <a:sym typeface="Arial"/>
                        </a:rPr>
                      </a:br>
                      <a:r>
                        <a:rPr lang="ja" sz="700" u="none" strike="noStrike" cap="none">
                          <a:latin typeface="Arial"/>
                          <a:ea typeface="Arial"/>
                          <a:cs typeface="Arial"/>
                          <a:sym typeface="Arial"/>
                        </a:rPr>
                        <a:t>手間が省けたため</a:t>
                      </a:r>
                      <a:endParaRPr sz="1400" u="none" strike="noStrike" cap="none"/>
                    </a:p>
                  </a:txBody>
                  <a:tcPr marL="84400" marR="84400" marT="42200" marB="42200" anchor="ctr"/>
                </a:tc>
                <a:extLst>
                  <a:ext uri="{0D108BD9-81ED-4DB2-BD59-A6C34878D82A}">
                    <a16:rowId xmlns:a16="http://schemas.microsoft.com/office/drawing/2014/main" val="10001"/>
                  </a:ext>
                </a:extLst>
              </a:tr>
              <a:tr h="531700">
                <a:tc>
                  <a:txBody>
                    <a:bodyPr/>
                    <a:lstStyle/>
                    <a:p>
                      <a:pPr marL="0" marR="0" lvl="0" indent="0" algn="l" rtl="0">
                        <a:lnSpc>
                          <a:spcPct val="100000"/>
                        </a:lnSpc>
                        <a:spcBef>
                          <a:spcPts val="0"/>
                        </a:spcBef>
                        <a:spcAft>
                          <a:spcPts val="0"/>
                        </a:spcAft>
                        <a:buClr>
                          <a:srgbClr val="000000"/>
                        </a:buClr>
                        <a:buSzPts val="1400"/>
                        <a:buFont typeface="Arial"/>
                        <a:buNone/>
                      </a:pPr>
                      <a:r>
                        <a:rPr sz="700">
                          <a:latin typeface="Arial"/>
                        </a:rPr>
                        <a:t>友人に勧められてレポート作成の際にChatGPTを使ってみたところ、情報の整理が早く進み、作業時間を大幅に短縮できた</a:t>
                      </a:r>
                      <a:endParaRPr sz="800" u="none" strike="noStrike" cap="none"/>
                    </a:p>
                  </a:txBody>
                  <a:tcPr marL="84400" marR="84400" marT="42200" marB="42200" anchor="ctr"/>
                </a:tc>
                <a:tc>
                  <a:txBody>
                    <a:bodyPr/>
                    <a:lstStyle/>
                    <a:p>
                      <a:pPr marL="0" marR="0" lvl="0" indent="0" algn="l" rtl="0">
                        <a:lnSpc>
                          <a:spcPct val="100000"/>
                        </a:lnSpc>
                        <a:spcBef>
                          <a:spcPts val="0"/>
                        </a:spcBef>
                        <a:spcAft>
                          <a:spcPts val="0"/>
                        </a:spcAft>
                        <a:buClr>
                          <a:schemeClr val="dk1"/>
                        </a:buClr>
                        <a:buSzPts val="700"/>
                        <a:buFont typeface="Arial"/>
                        <a:buNone/>
                      </a:pPr>
                      <a:r>
                        <a:rPr sz="700">
                          <a:latin typeface="Arial"/>
                        </a:rPr>
                        <a:t>何をどう調べればよいか分からなかった作業でも、AIに聞くだけで方向性が見え、迷う時間が減ったため</a:t>
                      </a:r>
                      <a:endParaRPr sz="800" u="none" strike="noStrike" cap="none"/>
                    </a:p>
                  </a:txBody>
                  <a:tcPr marL="84400" marR="84400" marT="42200" marB="42200" anchor="ctr"/>
                </a:tc>
                <a:extLst>
                  <a:ext uri="{0D108BD9-81ED-4DB2-BD59-A6C34878D82A}">
                    <a16:rowId xmlns:a16="http://schemas.microsoft.com/office/drawing/2014/main" val="10002"/>
                  </a:ext>
                </a:extLst>
              </a:tr>
              <a:tr h="531700">
                <a:tc>
                  <a:txBody>
                    <a:bodyPr/>
                    <a:lstStyle/>
                    <a:p>
                      <a:pPr marL="0" marR="0" lvl="0" indent="0" algn="l" rtl="0">
                        <a:lnSpc>
                          <a:spcPct val="115000"/>
                        </a:lnSpc>
                        <a:spcBef>
                          <a:spcPts val="0"/>
                        </a:spcBef>
                        <a:spcAft>
                          <a:spcPts val="0"/>
                        </a:spcAft>
                        <a:buClr>
                          <a:srgbClr val="000000"/>
                        </a:buClr>
                        <a:buSzPts val="1050"/>
                        <a:buFont typeface="Arial"/>
                        <a:buNone/>
                      </a:pPr>
                      <a:r>
                        <a:rPr sz="700">
                          <a:latin typeface="Arial"/>
                        </a:rPr>
                        <a:t>コンビニでd払い・dポイントを使って支払いをしたら、会計がスムーズなうえポイントも貯まってお得だった</a:t>
                      </a:r>
                      <a:endParaRPr sz="800" u="none" strike="noStrike" cap="none">
                        <a:solidFill>
                          <a:schemeClr val="accent5"/>
                        </a:solidFill>
                      </a:endParaRPr>
                    </a:p>
                  </a:txBody>
                  <a:tcPr marL="91425" marR="91425" marT="91425" marB="91425" anchor="ctr"/>
                </a:tc>
                <a:tc>
                  <a:txBody>
                    <a:bodyPr/>
                    <a:lstStyle/>
                    <a:p>
                      <a:pPr marL="0" marR="0" lvl="0" indent="0" algn="l" rtl="0">
                        <a:lnSpc>
                          <a:spcPct val="115000"/>
                        </a:lnSpc>
                        <a:spcBef>
                          <a:spcPts val="0"/>
                        </a:spcBef>
                        <a:spcAft>
                          <a:spcPts val="0"/>
                        </a:spcAft>
                        <a:buClr>
                          <a:srgbClr val="000000"/>
                        </a:buClr>
                        <a:buSzPts val="1050"/>
                        <a:buFont typeface="Arial"/>
                        <a:buNone/>
                      </a:pPr>
                      <a:r>
                        <a:rPr sz="700">
                          <a:latin typeface="Arial"/>
                        </a:rPr>
                        <a:t>財布からカードを取り出さずスマホ一つで支払いとポイント利用が完結し、レジでの待ち時間も減ったため</a:t>
                      </a:r>
                      <a:endParaRPr sz="800" u="none" strike="noStrike" cap="none">
                        <a:solidFill>
                          <a:schemeClr val="accent5"/>
                        </a:solidFill>
                      </a:endParaRPr>
                    </a:p>
                  </a:txBody>
                  <a:tcPr marL="91425" marR="91425" marT="91425" marB="91425" anchor="ctr"/>
                </a:tc>
                <a:extLst>
                  <a:ext uri="{0D108BD9-81ED-4DB2-BD59-A6C34878D82A}">
                    <a16:rowId xmlns:a16="http://schemas.microsoft.com/office/drawing/2014/main" val="10003"/>
                  </a:ext>
                </a:extLst>
              </a:tr>
              <a:tr h="531700">
                <a:tc>
                  <a:txBody>
                    <a:bodyPr/>
                    <a:lstStyle/>
                    <a:p>
                      <a:pPr marL="0" marR="0" lvl="0" indent="0" algn="l" rtl="0">
                        <a:lnSpc>
                          <a:spcPct val="115000"/>
                        </a:lnSpc>
                        <a:spcBef>
                          <a:spcPts val="0"/>
                        </a:spcBef>
                        <a:spcAft>
                          <a:spcPts val="0"/>
                        </a:spcAft>
                        <a:buClr>
                          <a:srgbClr val="000000"/>
                        </a:buClr>
                        <a:buSzPts val="1050"/>
                        <a:buFont typeface="Arial"/>
                        <a:buNone/>
                      </a:pPr>
                      <a:r>
                        <a:rPr sz="700">
                          <a:latin typeface="Arial"/>
                        </a:rPr>
                        <a:t>電車の遅延情報がスマホに自動で通知され、慌てずに別の乗り換えルートへ切り替えられた</a:t>
                      </a:r>
                      <a:endParaRPr sz="850" u="none" strike="noStrike" cap="none"/>
                    </a:p>
                  </a:txBody>
                  <a:tcPr marL="91425" marR="91425" marT="91425" marB="91425" anchor="ctr"/>
                </a:tc>
                <a:tc>
                  <a:txBody>
                    <a:bodyPr/>
                    <a:lstStyle/>
                    <a:p>
                      <a:pPr marL="0" marR="0" lvl="0" indent="0" algn="l" rtl="0">
                        <a:lnSpc>
                          <a:spcPct val="115000"/>
                        </a:lnSpc>
                        <a:spcBef>
                          <a:spcPts val="0"/>
                        </a:spcBef>
                        <a:spcAft>
                          <a:spcPts val="0"/>
                        </a:spcAft>
                        <a:buClr>
                          <a:srgbClr val="000000"/>
                        </a:buClr>
                        <a:buSzPts val="1050"/>
                        <a:buFont typeface="Arial"/>
                        <a:buNone/>
                      </a:pPr>
                      <a:r>
                        <a:rPr sz="700">
                          <a:latin typeface="Arial"/>
                        </a:rPr>
                        <a:t>自分から調べに行かなくても必要な情報が自動的に届き、判断の手間が省けたため</a:t>
                      </a:r>
                      <a:endParaRPr sz="750" u="none" strike="noStrike" cap="none"/>
                    </a:p>
                  </a:txBody>
                  <a:tcPr marL="91425" marR="91425" marT="91425" marB="91425" anchor="ctr"/>
                </a:tc>
                <a:extLst>
                  <a:ext uri="{0D108BD9-81ED-4DB2-BD59-A6C34878D82A}">
                    <a16:rowId xmlns:a16="http://schemas.microsoft.com/office/drawing/2014/main" val="10004"/>
                  </a:ext>
                </a:extLst>
              </a:tr>
            </a:tbl>
          </a:graphicData>
        </a:graphic>
      </p:graphicFrame>
      <p:graphicFrame>
        <p:nvGraphicFramePr>
          <p:cNvPr id="39" name="Google Shape;39;p1"/>
          <p:cNvGraphicFramePr/>
          <p:nvPr/>
        </p:nvGraphicFramePr>
        <p:xfrm>
          <a:off x="6712827" y="1064582"/>
          <a:ext cx="5355675" cy="2455025"/>
        </p:xfrm>
        <a:graphic>
          <a:graphicData uri="http://schemas.openxmlformats.org/drawingml/2006/table">
            <a:tbl>
              <a:tblPr firstRow="1" bandRow="1">
                <a:noFill/>
                <a:tableStyleId>{A91AA888-54A0-4C54-936F-01206E308FBF}</a:tableStyleId>
              </a:tblPr>
              <a:tblGrid>
                <a:gridCol w="2168900">
                  <a:extLst>
                    <a:ext uri="{9D8B030D-6E8A-4147-A177-3AD203B41FA5}">
                      <a16:colId xmlns:a16="http://schemas.microsoft.com/office/drawing/2014/main" val="20000"/>
                    </a:ext>
                  </a:extLst>
                </a:gridCol>
                <a:gridCol w="3186775">
                  <a:extLst>
                    <a:ext uri="{9D8B030D-6E8A-4147-A177-3AD203B41FA5}">
                      <a16:colId xmlns:a16="http://schemas.microsoft.com/office/drawing/2014/main" val="20001"/>
                    </a:ext>
                  </a:extLst>
                </a:gridCol>
              </a:tblGrid>
              <a:tr h="300275">
                <a:tc>
                  <a:txBody>
                    <a:bodyPr/>
                    <a:lstStyle/>
                    <a:p>
                      <a:pPr marL="0" marR="0" lvl="0" indent="0" algn="l" rtl="0">
                        <a:lnSpc>
                          <a:spcPct val="100000"/>
                        </a:lnSpc>
                        <a:spcBef>
                          <a:spcPts val="0"/>
                        </a:spcBef>
                        <a:spcAft>
                          <a:spcPts val="0"/>
                        </a:spcAft>
                        <a:buClr>
                          <a:srgbClr val="000000"/>
                        </a:buClr>
                        <a:buSzPts val="1050"/>
                        <a:buFont typeface="Arial"/>
                        <a:buNone/>
                      </a:pPr>
                      <a:r>
                        <a:rPr lang="ja" sz="1050" u="none" strike="noStrike" cap="none">
                          <a:latin typeface="Arial"/>
                          <a:ea typeface="Arial"/>
                          <a:cs typeface="Arial"/>
                          <a:sym typeface="Arial"/>
                        </a:rPr>
                        <a:t>不便や不快に感じた出来事</a:t>
                      </a:r>
                      <a:endParaRPr sz="1400" u="none" strike="noStrike" cap="none"/>
                    </a:p>
                  </a:txBody>
                  <a:tcPr marL="84400" marR="84400" marT="42200" marB="42200">
                    <a:solidFill>
                      <a:srgbClr val="7F7F7F"/>
                    </a:solidFill>
                  </a:tcPr>
                </a:tc>
                <a:tc>
                  <a:txBody>
                    <a:bodyPr/>
                    <a:lstStyle/>
                    <a:p>
                      <a:pPr marL="0" marR="0" lvl="0" indent="0" algn="l" rtl="0">
                        <a:lnSpc>
                          <a:spcPct val="100000"/>
                        </a:lnSpc>
                        <a:spcBef>
                          <a:spcPts val="0"/>
                        </a:spcBef>
                        <a:spcAft>
                          <a:spcPts val="0"/>
                        </a:spcAft>
                        <a:buClr>
                          <a:srgbClr val="000000"/>
                        </a:buClr>
                        <a:buSzPts val="1050"/>
                        <a:buFont typeface="Arial"/>
                        <a:buNone/>
                      </a:pPr>
                      <a:r>
                        <a:rPr lang="ja" sz="1050" u="none" strike="noStrike" cap="none">
                          <a:latin typeface="Arial"/>
                          <a:ea typeface="Arial"/>
                          <a:cs typeface="Arial"/>
                          <a:sym typeface="Arial"/>
                        </a:rPr>
                        <a:t>なぜ不便や不快だと感じたのか</a:t>
                      </a:r>
                      <a:endParaRPr sz="1400" u="none" strike="noStrike" cap="none"/>
                    </a:p>
                  </a:txBody>
                  <a:tcPr marL="84400" marR="84400" marT="42200" marB="42200">
                    <a:solidFill>
                      <a:srgbClr val="7F7F7F"/>
                    </a:solidFill>
                  </a:tcPr>
                </a:tc>
                <a:extLst>
                  <a:ext uri="{0D108BD9-81ED-4DB2-BD59-A6C34878D82A}">
                    <a16:rowId xmlns:a16="http://schemas.microsoft.com/office/drawing/2014/main" val="10000"/>
                  </a:ext>
                </a:extLst>
              </a:tr>
              <a:tr h="531700">
                <a:tc>
                  <a:txBody>
                    <a:bodyPr/>
                    <a:lstStyle/>
                    <a:p>
                      <a:pPr marL="0" marR="0" lvl="0" indent="0" algn="l" rtl="0">
                        <a:lnSpc>
                          <a:spcPct val="100000"/>
                        </a:lnSpc>
                        <a:spcBef>
                          <a:spcPts val="0"/>
                        </a:spcBef>
                        <a:spcAft>
                          <a:spcPts val="0"/>
                        </a:spcAft>
                        <a:buClr>
                          <a:srgbClr val="000000"/>
                        </a:buClr>
                        <a:buSzPts val="700"/>
                        <a:buFont typeface="Arial"/>
                        <a:buNone/>
                      </a:pPr>
                      <a:r>
                        <a:rPr lang="ja" sz="700" u="none" strike="noStrike" cap="none">
                          <a:latin typeface="Arial"/>
                          <a:ea typeface="Arial"/>
                          <a:cs typeface="Arial"/>
                          <a:sym typeface="Arial"/>
                        </a:rPr>
                        <a:t>例）</a:t>
                      </a:r>
                      <a:endParaRPr sz="700" u="none" strike="noStrike" cap="none">
                        <a:latin typeface="Arial"/>
                        <a:ea typeface="Arial"/>
                        <a:cs typeface="Arial"/>
                        <a:sym typeface="Arial"/>
                      </a:endParaRPr>
                    </a:p>
                    <a:p>
                      <a:pPr marL="0" marR="0" lvl="0" indent="0" algn="l" rtl="0">
                        <a:lnSpc>
                          <a:spcPct val="100000"/>
                        </a:lnSpc>
                        <a:spcBef>
                          <a:spcPts val="0"/>
                        </a:spcBef>
                        <a:spcAft>
                          <a:spcPts val="0"/>
                        </a:spcAft>
                        <a:buClr>
                          <a:srgbClr val="000000"/>
                        </a:buClr>
                        <a:buSzPts val="700"/>
                        <a:buFont typeface="Arial"/>
                        <a:buNone/>
                      </a:pPr>
                      <a:r>
                        <a:rPr lang="ja" sz="700" u="none" strike="noStrike" cap="none">
                          <a:latin typeface="Arial"/>
                          <a:ea typeface="Arial"/>
                          <a:cs typeface="Arial"/>
                          <a:sym typeface="Arial"/>
                        </a:rPr>
                        <a:t>飲食店で分煙がされておらず、</a:t>
                      </a:r>
                      <a:endParaRPr sz="700" u="none" strike="noStrike" cap="none">
                        <a:latin typeface="Arial"/>
                        <a:ea typeface="Arial"/>
                        <a:cs typeface="Arial"/>
                        <a:sym typeface="Arial"/>
                      </a:endParaRPr>
                    </a:p>
                    <a:p>
                      <a:pPr marL="0" marR="0" lvl="0" indent="0" algn="l" rtl="0">
                        <a:lnSpc>
                          <a:spcPct val="100000"/>
                        </a:lnSpc>
                        <a:spcBef>
                          <a:spcPts val="0"/>
                        </a:spcBef>
                        <a:spcAft>
                          <a:spcPts val="0"/>
                        </a:spcAft>
                        <a:buClr>
                          <a:srgbClr val="000000"/>
                        </a:buClr>
                        <a:buSzPts val="700"/>
                        <a:buFont typeface="Arial"/>
                        <a:buNone/>
                      </a:pPr>
                      <a:r>
                        <a:rPr lang="ja" sz="700" u="none" strike="noStrike" cap="none">
                          <a:latin typeface="Arial"/>
                          <a:ea typeface="Arial"/>
                          <a:cs typeface="Arial"/>
                          <a:sym typeface="Arial"/>
                        </a:rPr>
                        <a:t>禁煙エリアでも煙草のにおいがした</a:t>
                      </a:r>
                      <a:endParaRPr sz="900" u="none" strike="noStrike" cap="none">
                        <a:latin typeface="Arial"/>
                        <a:ea typeface="Arial"/>
                        <a:cs typeface="Arial"/>
                        <a:sym typeface="Arial"/>
                      </a:endParaRPr>
                    </a:p>
                  </a:txBody>
                  <a:tcPr marL="84400" marR="84400" marT="42200" marB="42200" anchor="ctr"/>
                </a:tc>
                <a:tc>
                  <a:txBody>
                    <a:bodyPr/>
                    <a:lstStyle/>
                    <a:p>
                      <a:pPr marL="0" marR="0" lvl="0" indent="0" algn="l" rtl="0">
                        <a:lnSpc>
                          <a:spcPct val="100000"/>
                        </a:lnSpc>
                        <a:spcBef>
                          <a:spcPts val="0"/>
                        </a:spcBef>
                        <a:spcAft>
                          <a:spcPts val="0"/>
                        </a:spcAft>
                        <a:buClr>
                          <a:srgbClr val="000000"/>
                        </a:buClr>
                        <a:buSzPts val="700"/>
                        <a:buFont typeface="Arial"/>
                        <a:buNone/>
                      </a:pPr>
                      <a:r>
                        <a:rPr lang="ja" sz="700" u="none" strike="noStrike" cap="none">
                          <a:latin typeface="Arial"/>
                          <a:ea typeface="Arial"/>
                          <a:cs typeface="Arial"/>
                          <a:sym typeface="Arial"/>
                        </a:rPr>
                        <a:t>例）</a:t>
                      </a:r>
                      <a:endParaRPr sz="700" u="none" strike="noStrike" cap="none">
                        <a:latin typeface="Arial"/>
                        <a:ea typeface="Arial"/>
                        <a:cs typeface="Arial"/>
                        <a:sym typeface="Arial"/>
                      </a:endParaRPr>
                    </a:p>
                    <a:p>
                      <a:pPr marL="0" marR="0" lvl="0" indent="0" algn="l" rtl="0">
                        <a:lnSpc>
                          <a:spcPct val="100000"/>
                        </a:lnSpc>
                        <a:spcBef>
                          <a:spcPts val="0"/>
                        </a:spcBef>
                        <a:spcAft>
                          <a:spcPts val="0"/>
                        </a:spcAft>
                        <a:buClr>
                          <a:srgbClr val="000000"/>
                        </a:buClr>
                        <a:buSzPts val="700"/>
                        <a:buFont typeface="Arial"/>
                        <a:buNone/>
                      </a:pPr>
                      <a:r>
                        <a:rPr lang="ja" sz="700" u="none" strike="noStrike" cap="none">
                          <a:latin typeface="Arial"/>
                          <a:ea typeface="Arial"/>
                          <a:cs typeface="Arial"/>
                          <a:sym typeface="Arial"/>
                        </a:rPr>
                        <a:t>煙草のにおいが苦手で禁煙エリアのある飲食店に入ったのに</a:t>
                      </a:r>
                      <a:endParaRPr sz="700" u="none" strike="noStrike" cap="none">
                        <a:latin typeface="Arial"/>
                        <a:ea typeface="Arial"/>
                        <a:cs typeface="Arial"/>
                        <a:sym typeface="Arial"/>
                      </a:endParaRPr>
                    </a:p>
                    <a:p>
                      <a:pPr marL="0" marR="0" lvl="0" indent="0" algn="l" rtl="0">
                        <a:lnSpc>
                          <a:spcPct val="100000"/>
                        </a:lnSpc>
                        <a:spcBef>
                          <a:spcPts val="0"/>
                        </a:spcBef>
                        <a:spcAft>
                          <a:spcPts val="0"/>
                        </a:spcAft>
                        <a:buClr>
                          <a:srgbClr val="000000"/>
                        </a:buClr>
                        <a:buSzPts val="700"/>
                        <a:buFont typeface="Arial"/>
                        <a:buNone/>
                      </a:pPr>
                      <a:r>
                        <a:rPr lang="ja" sz="700" u="none" strike="noStrike" cap="none">
                          <a:latin typeface="Arial"/>
                          <a:ea typeface="Arial"/>
                          <a:cs typeface="Arial"/>
                          <a:sym typeface="Arial"/>
                        </a:rPr>
                        <a:t>煙草のにおいがしたため</a:t>
                      </a:r>
                      <a:endParaRPr sz="1400" u="none" strike="noStrike" cap="none"/>
                    </a:p>
                  </a:txBody>
                  <a:tcPr marL="84400" marR="84400" marT="42200" marB="42200" anchor="ctr"/>
                </a:tc>
                <a:extLst>
                  <a:ext uri="{0D108BD9-81ED-4DB2-BD59-A6C34878D82A}">
                    <a16:rowId xmlns:a16="http://schemas.microsoft.com/office/drawing/2014/main" val="10001"/>
                  </a:ext>
                </a:extLst>
              </a:tr>
              <a:tr h="559650">
                <a:tc>
                  <a:txBody>
                    <a:bodyPr/>
                    <a:lstStyle/>
                    <a:p>
                      <a:pPr marL="0" marR="0" lvl="0" indent="0" algn="l" rtl="0">
                        <a:lnSpc>
                          <a:spcPct val="100000"/>
                        </a:lnSpc>
                        <a:spcBef>
                          <a:spcPts val="0"/>
                        </a:spcBef>
                        <a:spcAft>
                          <a:spcPts val="0"/>
                        </a:spcAft>
                        <a:buClr>
                          <a:schemeClr val="dk1"/>
                        </a:buClr>
                        <a:buSzPts val="800"/>
                        <a:buFont typeface="Arial"/>
                        <a:buNone/>
                      </a:pPr>
                      <a:r>
                        <a:rPr sz="700">
                          <a:latin typeface="Arial"/>
                        </a:rPr>
                        <a:t>レポート作成で生成AIを使おうとしたが、何を質問すればよいか分からず、結局途中で使うのをやめてしまった</a:t>
                      </a:r>
                      <a:endParaRPr sz="800" u="none" strike="noStrike" cap="none"/>
                    </a:p>
                  </a:txBody>
                  <a:tcPr marL="84400" marR="84400" marT="42200" marB="42200" anchor="ctr"/>
                </a:tc>
                <a:tc>
                  <a:txBody>
                    <a:bodyPr/>
                    <a:lstStyle/>
                    <a:p>
                      <a:pPr marL="0" marR="0" lvl="0" indent="0" algn="l" rtl="0">
                        <a:lnSpc>
                          <a:spcPct val="100000"/>
                        </a:lnSpc>
                        <a:spcBef>
                          <a:spcPts val="0"/>
                        </a:spcBef>
                        <a:spcAft>
                          <a:spcPts val="0"/>
                        </a:spcAft>
                        <a:buClr>
                          <a:srgbClr val="000000"/>
                        </a:buClr>
                        <a:buSzPts val="1400"/>
                        <a:buFont typeface="Arial"/>
                        <a:buNone/>
                      </a:pPr>
                      <a:r>
                        <a:rPr sz="700">
                          <a:latin typeface="Arial"/>
                        </a:rPr>
                        <a:t>使い方が分からないまま、便利だと言われているのに自分は使いこなせないと感じ、もどかしかったため</a:t>
                      </a:r>
                      <a:endParaRPr sz="700" u="none" strike="noStrike" cap="none"/>
                    </a:p>
                  </a:txBody>
                  <a:tcPr marL="84400" marR="84400" marT="42200" marB="42200" anchor="ctr"/>
                </a:tc>
                <a:extLst>
                  <a:ext uri="{0D108BD9-81ED-4DB2-BD59-A6C34878D82A}">
                    <a16:rowId xmlns:a16="http://schemas.microsoft.com/office/drawing/2014/main" val="10002"/>
                  </a:ext>
                </a:extLst>
              </a:tr>
              <a:tr h="531700">
                <a:tc>
                  <a:txBody>
                    <a:bodyPr/>
                    <a:lstStyle/>
                    <a:p>
                      <a:pPr marL="0" marR="0" lvl="0" indent="0" algn="l" rtl="0">
                        <a:lnSpc>
                          <a:spcPct val="100000"/>
                        </a:lnSpc>
                        <a:spcBef>
                          <a:spcPts val="0"/>
                        </a:spcBef>
                        <a:spcAft>
                          <a:spcPts val="0"/>
                        </a:spcAft>
                        <a:buClr>
                          <a:schemeClr val="dk1"/>
                        </a:buClr>
                        <a:buSzPts val="800"/>
                        <a:buFont typeface="Arial"/>
                        <a:buNone/>
                      </a:pPr>
                      <a:r>
                        <a:rPr sz="700">
                          <a:latin typeface="Arial"/>
                        </a:rPr>
                        <a:t>スーパーでは店独自のポイントカード、コンビニではdポイント、ドラッグストアでは別のポイントと、財布の中にカードが何枚も増えてしまう</a:t>
                      </a:r>
                      <a:endParaRPr sz="750" u="none" strike="noStrike" cap="none"/>
                    </a:p>
                  </a:txBody>
                  <a:tcPr marL="91425" marR="91425" marT="91425" marB="91425" anchor="ctr"/>
                </a:tc>
                <a:tc>
                  <a:txBody>
                    <a:bodyPr/>
                    <a:lstStyle/>
                    <a:p>
                      <a:pPr marL="0" marR="0" lvl="0" indent="0" algn="l" rtl="0">
                        <a:lnSpc>
                          <a:spcPct val="100000"/>
                        </a:lnSpc>
                        <a:spcBef>
                          <a:spcPts val="0"/>
                        </a:spcBef>
                        <a:spcAft>
                          <a:spcPts val="0"/>
                        </a:spcAft>
                        <a:buClr>
                          <a:schemeClr val="dk1"/>
                        </a:buClr>
                        <a:buSzPts val="800"/>
                        <a:buFont typeface="Arial"/>
                        <a:buNone/>
                      </a:pPr>
                      <a:r>
                        <a:rPr sz="700">
                          <a:latin typeface="Arial"/>
                        </a:rPr>
                        <a:t>店ごとにポイントが分かれていて管理が煩雑なうえ、貯めたポイントも分散してなかなか使い切れないため</a:t>
                      </a:r>
                      <a:endParaRPr sz="600" u="none" strike="noStrike" cap="none"/>
                    </a:p>
                  </a:txBody>
                  <a:tcPr marL="91425" marR="91425" marT="91425" marB="91425" anchor="ctr"/>
                </a:tc>
                <a:extLst>
                  <a:ext uri="{0D108BD9-81ED-4DB2-BD59-A6C34878D82A}">
                    <a16:rowId xmlns:a16="http://schemas.microsoft.com/office/drawing/2014/main" val="10003"/>
                  </a:ext>
                </a:extLst>
              </a:tr>
              <a:tr h="531700">
                <a:tc>
                  <a:txBody>
                    <a:bodyPr/>
                    <a:lstStyle/>
                    <a:p>
                      <a:pPr marL="0" marR="0" lvl="0" indent="0" algn="l" rtl="0">
                        <a:lnSpc>
                          <a:spcPct val="100000"/>
                        </a:lnSpc>
                        <a:spcBef>
                          <a:spcPts val="0"/>
                        </a:spcBef>
                        <a:spcAft>
                          <a:spcPts val="0"/>
                        </a:spcAft>
                        <a:buClr>
                          <a:schemeClr val="dk1"/>
                        </a:buClr>
                        <a:buSzPts val="800"/>
                        <a:buFont typeface="Arial"/>
                        <a:buNone/>
                      </a:pPr>
                      <a:r>
                        <a:rPr sz="700">
                          <a:latin typeface="Arial"/>
                        </a:rPr>
                        <a:t>課題を生成AIで効率的に進める友人と、使いこなせていない自分とで、作業スピードの差が大きく開いてしまった</a:t>
                      </a:r>
                      <a:endParaRPr sz="750" u="none" strike="noStrike" cap="none"/>
                    </a:p>
                    <a:p>
                      <a:pPr marL="0" marR="0" lvl="0" indent="0" algn="l" rtl="0">
                        <a:lnSpc>
                          <a:spcPct val="100000"/>
                        </a:lnSpc>
                        <a:spcBef>
                          <a:spcPts val="0"/>
                        </a:spcBef>
                        <a:spcAft>
                          <a:spcPts val="0"/>
                        </a:spcAft>
                        <a:buClr>
                          <a:schemeClr val="dk1"/>
                        </a:buClr>
                        <a:buSzPts val="800"/>
                        <a:buFont typeface="Arial"/>
                        <a:buNone/>
                      </a:pPr>
                      <a:endParaRPr sz="750" u="none" strike="noStrike" cap="none"/>
                    </a:p>
                  </a:txBody>
                  <a:tcPr marL="91425" marR="91425" marT="91425" marB="91425" anchor="ctr"/>
                </a:tc>
                <a:tc>
                  <a:txBody>
                    <a:bodyPr/>
                    <a:lstStyle/>
                    <a:p>
                      <a:pPr marL="0" marR="0" lvl="0" indent="0" algn="l" rtl="0">
                        <a:lnSpc>
                          <a:spcPct val="115000"/>
                        </a:lnSpc>
                        <a:spcBef>
                          <a:spcPts val="0"/>
                        </a:spcBef>
                        <a:spcAft>
                          <a:spcPts val="0"/>
                        </a:spcAft>
                        <a:buClr>
                          <a:srgbClr val="000000"/>
                        </a:buClr>
                        <a:buSzPts val="1050"/>
                        <a:buFont typeface="Arial"/>
                        <a:buNone/>
                      </a:pPr>
                      <a:r>
                        <a:rPr sz="700">
                          <a:latin typeface="Arial"/>
                        </a:rPr>
                        <a:t>便利なツールがあるのに、使いこなせるかどうかで得られる恩恵に差が出てしまうことにもどかしさを感じたため</a:t>
                      </a:r>
                      <a:endParaRPr sz="750" u="none" strike="noStrike" cap="none"/>
                    </a:p>
                  </a:txBody>
                  <a:tcPr marL="91425" marR="91425" marT="91425" marB="91425" anchor="ctr"/>
                </a:tc>
                <a:extLst>
                  <a:ext uri="{0D108BD9-81ED-4DB2-BD59-A6C34878D82A}">
                    <a16:rowId xmlns:a16="http://schemas.microsoft.com/office/drawing/2014/main" val="10004"/>
                  </a:ext>
                </a:extLst>
              </a:tr>
            </a:tbl>
          </a:graphicData>
        </a:graphic>
      </p:graphicFrame>
    </p:spTree>
  </p:cSld>
  <p:clrMapOvr>
    <a:masterClrMapping/>
  </p:clrMapOvr>
</p:sld>
</file>

<file path=ppt/theme/theme1.xml><?xml version="1.0" encoding="utf-8"?>
<a:theme xmlns:a="http://schemas.openxmlformats.org/drawingml/2006/main" name="1_Office テーマ">
  <a:themeElements>
    <a:clrScheme name="FY2023RecruitingProject">
      <a:dk1>
        <a:srgbClr val="000000"/>
      </a:dk1>
      <a:lt1>
        <a:srgbClr val="FFFFFF"/>
      </a:lt1>
      <a:dk2>
        <a:srgbClr val="44546A"/>
      </a:dk2>
      <a:lt2>
        <a:srgbClr val="E7E6E6"/>
      </a:lt2>
      <a:accent1>
        <a:srgbClr val="33CCFF"/>
      </a:accent1>
      <a:accent2>
        <a:srgbClr val="FF3399"/>
      </a:accent2>
      <a:accent3>
        <a:srgbClr val="009999"/>
      </a:accent3>
      <a:accent4>
        <a:srgbClr val="CC0000"/>
      </a:accent4>
      <a:accent5>
        <a:srgbClr val="000000"/>
      </a:accent5>
      <a:accent6>
        <a:srgbClr val="000000"/>
      </a:accent6>
      <a:hlink>
        <a:srgbClr val="000000"/>
      </a:hlink>
      <a:folHlink>
        <a:srgbClr val="0000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テーマ">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ワイド画面</PresentationFormat>
  <Slides>1</Slides>
  <Notes>1</Notes>
  <HiddenSlides>0</HiddenSlides>
  <ScaleCrop>false</ScaleCrop>
  <HeadingPairs>
    <vt:vector size="4" baseType="variant">
      <vt:variant>
        <vt:lpstr>テーマ</vt:lpstr>
      </vt:variant>
      <vt:variant>
        <vt:i4>1</vt:i4>
      </vt:variant>
      <vt:variant>
        <vt:lpstr>スライド タイトル</vt:lpstr>
      </vt:variant>
      <vt:variant>
        <vt:i4>1</vt:i4>
      </vt:variant>
    </vt:vector>
  </HeadingPairs>
  <TitlesOfParts>
    <vt:vector size="2" baseType="lpstr">
      <vt:lpstr>1_Office テーマ</vt:lpstr>
      <vt:lpstr>PowerPoint プレゼンテーション</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cp:lastModifiedBy>和徳 那須</cp:lastModifiedBy>
  <cp:revision>1</cp:revision>
  <dcterms:modified xsi:type="dcterms:W3CDTF">2026-08-02T11:15:14Z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75af88a6-b88e-425b-bf39-433b2fafd692_SiteId">
    <vt:lpwstr>6786d483-f51b-44bd-b40a-6fe409a5265e</vt:lpwstr>
  </property>
  <property fmtid="{D5CDD505-2E9C-101B-9397-08002B2CF9AE}" pid="3" name="MSIP_Label_75af88a6-b88e-425b-bf39-433b2fafd692_SetDate">
    <vt:lpwstr>2025-07-31T04:35:14Z</vt:lpwstr>
  </property>
  <property fmtid="{D5CDD505-2E9C-101B-9397-08002B2CF9AE}" pid="4" name="MSIP_Label_75af88a6-b88e-425b-bf39-433b2fafd692_Name">
    <vt:lpwstr>秘密度C</vt:lpwstr>
  </property>
  <property fmtid="{D5CDD505-2E9C-101B-9397-08002B2CF9AE}" pid="5" name="MSIP_Label_75af88a6-b88e-425b-bf39-433b2fafd692_Method">
    <vt:lpwstr>Standard</vt:lpwstr>
  </property>
  <property fmtid="{D5CDD505-2E9C-101B-9397-08002B2CF9AE}" pid="6" name="MSIP_Label_75af88a6-b88e-425b-bf39-433b2fafd692_Enabled">
    <vt:lpwstr>true</vt:lpwstr>
  </property>
  <property fmtid="{D5CDD505-2E9C-101B-9397-08002B2CF9AE}" pid="7" name="MSIP_Label_75af88a6-b88e-425b-bf39-433b2fafd692_ContentBits">
    <vt:lpwstr>8</vt:lpwstr>
  </property>
</Properties>
</file>