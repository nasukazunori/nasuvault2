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テーマ選定までのストーリー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ドコモ ビジネス創造インターンシップ ― グループ議論 Day1〜2 進行設計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703320"/>
            <a:ext cx="2743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①事前課題 → ②テーマ選定 ―ここまでをどう設計し、どう振る舞うか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2026.07.28 作成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4日間の全体像と、今回のスコープ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5ステップのうち、最初の関門は①→②。ここでの振る舞いが4日間全体の流れを決める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事前課題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96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各自が便利/不便を持ち寄る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2304288"/>
            <a:ext cx="219456" cy="146304"/>
          </a:xfrm>
          <a:prstGeom prst="rightArrow">
            <a:avLst/>
          </a:prstGeom>
          <a:solidFill>
            <a:srgbClr val="AEBEDD"/>
          </a:solidFill>
          <a:ln/>
        </p:spPr>
      </p:sp>
      <p:sp>
        <p:nvSpPr>
          <p:cNvPr id="9" name="Shape 7"/>
          <p:cNvSpPr/>
          <p:nvPr/>
        </p:nvSpPr>
        <p:spPr>
          <a:xfrm>
            <a:off x="2724912" y="150876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62072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テーマ選定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62072" y="2496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個人の観察をグループの1つのテーマへ収束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304288"/>
            <a:ext cx="219456" cy="146304"/>
          </a:xfrm>
          <a:prstGeom prst="rightArrow">
            <a:avLst/>
          </a:prstGeom>
          <a:solidFill>
            <a:srgbClr val="AEBEDD"/>
          </a:solidFill>
          <a:ln/>
        </p:spPr>
      </p:sp>
      <p:sp>
        <p:nvSpPr>
          <p:cNvPr id="14" name="Shape 12"/>
          <p:cNvSpPr/>
          <p:nvPr/>
        </p:nvSpPr>
        <p:spPr>
          <a:xfrm>
            <a:off x="4992624" y="150876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129784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9784" y="2496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決めたテーマを深掘り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22592" y="2304288"/>
            <a:ext cx="219456" cy="146304"/>
          </a:xfrm>
          <a:prstGeom prst="rightArrow">
            <a:avLst/>
          </a:prstGeom>
          <a:solidFill>
            <a:srgbClr val="AEBEDD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0336" y="150876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7496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97496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97496" y="2496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ドコモの新事業として具体化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90304" y="2304288"/>
            <a:ext cx="219456" cy="146304"/>
          </a:xfrm>
          <a:prstGeom prst="rightArrow">
            <a:avLst/>
          </a:prstGeom>
          <a:solidFill>
            <a:srgbClr val="AEBEDD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8048" y="150876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5208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6520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65208" y="2496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成果をまとめて発表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11247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794760"/>
            <a:ext cx="10698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なぜ①→②が最重要関門か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②を通過した後の③④は「決まったテーマを深掘りする作業」であり、個人の準備がそのまま活きる。しかし①②は「他己の意見と自分の意見をどう合流させるか」という、準備だけでは解決しない対人プロセ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ここで独走・迎合のどちらかに転ぶと、4日間の議論の質と自分の評価の両方に影響する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だからこそ、①②のための「進め方の設計」を独立して準備しておく価値がある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①事前課題:何を持ち寄るか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「本命」と「保険」の2種類を用意し、どちらに転んでも即応できる状態を作る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生成AI/情報デジタル格差 に関する便利・不便の観察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生成AIは便利だが、ITリテラシーが低い人は恩恵を受けられない、という自身の一次体験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SyncMeという実在のドコモプロダクトに接続できる、最も説得力の強い切り口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深掘りした分析(dポイントの偏り、ホワイトレーベル)がそのまま使える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554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AI以外の便利・不便も1〜2個、軽く用意しておく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他メンバーが全く違う切り口(観光・高齢者・家計・保険等)を持ち寄った場合の「即応カード」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深く作り込む必要はない。事前課題ワークシートの例示自体が多言語対応や家族の摩擦など、AI以外を想定している点に注意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目的は「予測を当てる」ことではなく「予測が外れても5分で対応できる」こと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②テーマ選定の難所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「個人の観察の持ち寄り」だけでは、空中戦になりやすい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観察がバラバラに拡散する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メンバーごとに全く異なる切り口(観光・家族・高齢者・AI等)を持ち寄り、共通項が見えないまま時間が過ぎる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06324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01752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声の大きい人に流される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収束の基準がないと、一番早く/強く主張した人の案になんとなく決まりやすい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48056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43484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独走すると当事者感が失われる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一人が完成度の高い答えを最初から持ち込むと、他メンバーが「決められた」と感じ、議論への主体性が下がる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解決策は次のスライド:結論ではなく「評価レンズ」を先に置く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解決策:「検討条件」という評価レンズを先に置く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結論を提示せず、どのテーマが出てきても検証できる基準を先に共有する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361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NTTグループ内でのドコモの役割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大きな負債を伴う投資は本社(NTT)の役割。ドコモは既存資産を生かした着実な事業を軸にする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361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1億人の会員基盤×dポイント経済圏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既存資産(会員・データ・決済網)の活用は必須要件ではなく「加点要素」として扱う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9C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5935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論点③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297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規制の変化点にどう向き合うか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27条の3見直し・ホッピング規制など未確定。緩和/強化どちらでも成立する設計が要る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9C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95935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論点④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297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利益重視か、トップライン重視か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増収減益の現状 vs 2030年度5兆円目標。段階設計(小さく利益率で証明→成長)で答える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想定テーマ候補と優先順位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収束のしやすさ・「なぜドコモか」の強さ・差別化リスクの3軸で評価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1371600"/>
                <a:gridCol w="6126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順位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テーマ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体感確率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根拠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生成AI民主化/情報格差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SyncMeという実在の旗艦プロダクトがあり説得力が突出。準備の厚みも加点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インバウンド観光客支援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事前課題ワークシートの例示と重なり、他メンバーが独立して持ち寄りやすい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家計・サブスク管理(アプリ候補)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AI内で最有力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個人の「自分ごと感」が強く収束しやすい。金融・決済に直結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資産形成/保険(アプリ候補)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AI内で次点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金融領域そのものだが規制影響への目配りが必要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高齢者の生活インフラ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データの裏付けは強いが定番テーマで新規性に欠ける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除外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9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防災・災害対応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9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9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金融・決済/マーケティングソリューションとの接続が弱く事業モデルが不整合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9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収束を成功させる「出し方」の設計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準備の中身は変えない。変えるのは、いつ・どれだけ出すかという順番だけ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Day1前半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14600" y="1444752"/>
            <a:ext cx="9189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評価レンズを先に共有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「検討条件」フレームワークを、結論ではなく判断基準として提示。他メンバーの案も同じ土俵で評価できる状態を作る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24328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Day1後半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14600" y="2651760"/>
            <a:ext cx="9189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観察を同列に出す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AIの観察も他の観察と同列に出す。独走せず、他メンバーの観察を拾って自分のフレームに接続する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831336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31336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14600" y="3858768"/>
            <a:ext cx="9189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収束の兆しで深掘りを投入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議論がAI/情報格差に向かい始めたら「実はこんなデータも」とdポイントの偏り分析を提供。あくまでチームの流れに乗せる形で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5038344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38344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Day3〜4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14600" y="5065776"/>
            <a:ext cx="9189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温存カードを開く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ホワイトレーベルの複層設計など、差別化の強い提案は終盤の「深掘りカード」として温存し、議論の質を最後に引き上げる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テーマ決定後の見通し(先読み)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テーマが「AI/情報格差」に決まった瞬間、③分析に即座に移行できる状態を作っておく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EDF1FA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問題提起層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生成AIの恩恵が一部の人にしか届いていない(情報・デジタル格差)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2423160"/>
            <a:ext cx="182880" cy="164592"/>
          </a:xfrm>
          <a:prstGeom prst="downArrow">
            <a:avLst/>
          </a:prstGeom>
          <a:solidFill>
            <a:srgbClr val="AEBE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587752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877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エンジン層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5877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SyncMe ―行動データから個人を理解し、恩恵を誰にでも届けるAI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3593592"/>
            <a:ext cx="182880" cy="164592"/>
          </a:xfrm>
          <a:prstGeom prst="downArrow">
            <a:avLst/>
          </a:prstGeom>
          <a:solidFill>
            <a:srgbClr val="AEBED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758184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EDF1FA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58184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75818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dポイントホワイトレーベル(複層設計) ―行動データの多様性を広げる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4764024"/>
            <a:ext cx="182880" cy="164592"/>
          </a:xfrm>
          <a:prstGeom prst="downArrow">
            <a:avLst/>
          </a:prstGeom>
          <a:solidFill>
            <a:srgbClr val="AEBED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928616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286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92861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家計管理/資産形成/保険 ―SyncMeの理解力を使った具体的サービス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1447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基盤層と応用層は競合ではなく補完関係:基盤が強化されるほど、どのアプリも精度が上がる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準備は「予測を当てる」ためではなく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「予測が外れても機能する」ためにある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935224"/>
            <a:ext cx="292608" cy="292608"/>
          </a:xfrm>
          <a:prstGeom prst="ellipse">
            <a:avLst/>
          </a:prstGeom>
          <a:solidFill>
            <a:srgbClr val="334A8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8803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評価レンズ(検討条件)を先に共有し、結論を押し付けない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3776472"/>
            <a:ext cx="292608" cy="292608"/>
          </a:xfrm>
          <a:prstGeom prst="ellipse">
            <a:avLst/>
          </a:prstGeom>
          <a:solidFill>
            <a:srgbClr val="334A8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3721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本命(AI/情報格差)と保険(他テーマ)の両方を、軽くでも用意しておく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4617720"/>
            <a:ext cx="292608" cy="292608"/>
          </a:xfrm>
          <a:prstGeom prst="ellipse">
            <a:avLst/>
          </a:prstGeom>
          <a:solidFill>
            <a:srgbClr val="334A8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56285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深掘りした分析は温存し、議論の流れに乗せる形で少しずつ提供する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5458968"/>
            <a:ext cx="292608" cy="292608"/>
          </a:xfrm>
          <a:prstGeom prst="ellipse">
            <a:avLst/>
          </a:prstGeom>
          <a:solidFill>
            <a:srgbClr val="3AA0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458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540410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テーマが決まった瞬間、③分析に即座に移行できる見取り図(4層構造)を持っておく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2026-07-28T06:22:26Z</dcterms:created>
  <dcterms:modified xsi:type="dcterms:W3CDTF">2026-07-28T06:22:26Z</dcterms:modified>
</cp:coreProperties>
</file>