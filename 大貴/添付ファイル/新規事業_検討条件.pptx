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5074920"/>
            <a:ext cx="12188952" cy="1783080"/>
          </a:xfrm>
          <a:prstGeom prst="rect">
            <a:avLst/>
          </a:prstGeom>
          <a:solidFill>
            <a:srgbClr val="8E0009"/>
          </a:solidFill>
          <a:ln/>
        </p:spPr>
      </p:sp>
      <p:sp>
        <p:nvSpPr>
          <p:cNvPr id="3" name="Text 1"/>
          <p:cNvSpPr/>
          <p:nvPr/>
        </p:nvSpPr>
        <p:spPr>
          <a:xfrm>
            <a:off x="822960" y="2011680"/>
            <a:ext cx="10515600" cy="1005840"/>
          </a:xfrm>
          <a:prstGeom prst="rect">
            <a:avLst/>
          </a:prstGeom>
          <a:noFill/>
          <a:ln/>
        </p:spPr>
        <p:txBody>
          <a:bodyPr wrap="square"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新規事業を考える上での検討条件</a:t>
            </a:r>
            <a:endParaRPr lang="en-US" sz="3600" dirty="0"/>
          </a:p>
        </p:txBody>
      </p:sp>
      <p:sp>
        <p:nvSpPr>
          <p:cNvPr id="4" name="Text 2"/>
          <p:cNvSpPr/>
          <p:nvPr/>
        </p:nvSpPr>
        <p:spPr>
          <a:xfrm>
            <a:off x="822960" y="2971800"/>
            <a:ext cx="10515600" cy="548640"/>
          </a:xfrm>
          <a:prstGeom prst="rect">
            <a:avLst/>
          </a:prstGeom>
          <a:noFill/>
          <a:ln/>
        </p:spPr>
        <p:txBody>
          <a:bodyPr wrap="square" rtlCol="0" anchor="ctr"/>
          <a:lstStyle/>
          <a:p>
            <a:pPr indent="0" marL="0">
              <a:buNone/>
            </a:pPr>
            <a:r>
              <a:rPr lang="en-US" sz="1600" dirty="0">
                <a:solidFill>
                  <a:srgbClr val="D8DCE8"/>
                </a:solidFill>
                <a:latin typeface="Yu Gothic" pitchFamily="34" charset="0"/>
                <a:ea typeface="Yu Gothic" pitchFamily="34" charset="-122"/>
                <a:cs typeface="Yu Gothic" pitchFamily="34" charset="-120"/>
              </a:rPr>
              <a:t>ドコモの経営環境分析から導かれる、2つの「条件」と2つの「論点」</a:t>
            </a:r>
            <a:endParaRPr lang="en-US" sz="1600" dirty="0"/>
          </a:p>
        </p:txBody>
      </p:sp>
      <p:sp>
        <p:nvSpPr>
          <p:cNvPr id="5" name="Text 3"/>
          <p:cNvSpPr/>
          <p:nvPr/>
        </p:nvSpPr>
        <p:spPr>
          <a:xfrm>
            <a:off x="822960" y="5532120"/>
            <a:ext cx="8229600" cy="457200"/>
          </a:xfrm>
          <a:prstGeom prst="rect">
            <a:avLst/>
          </a:prstGeom>
          <a:noFill/>
          <a:ln/>
        </p:spPr>
        <p:txBody>
          <a:bodyPr wrap="square" rtlCol="0" anchor="ctr"/>
          <a:lstStyle/>
          <a:p>
            <a:pPr indent="0" marL="0">
              <a:buNone/>
            </a:pPr>
            <a:r>
              <a:rPr lang="en-US" sz="1250" dirty="0">
                <a:solidFill>
                  <a:srgbClr val="F0D9DA"/>
                </a:solidFill>
                <a:latin typeface="Yu Gothic" pitchFamily="34" charset="0"/>
                <a:ea typeface="Yu Gothic" pitchFamily="34" charset="-122"/>
                <a:cs typeface="Yu Gothic" pitchFamily="34" charset="-120"/>
              </a:rPr>
              <a:t>ビジネス創造インターンシップ（イノベーションコース）検討メモ</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indent="0" marL="0">
              <a:buNone/>
            </a:pPr>
            <a:r>
              <a:rPr lang="en-US" sz="2600" b="1" dirty="0">
                <a:solidFill>
                  <a:srgbClr val="1B2A4A"/>
                </a:solidFill>
                <a:latin typeface="Yu Gothic" pitchFamily="34" charset="0"/>
                <a:ea typeface="Yu Gothic" pitchFamily="34" charset="-122"/>
                <a:cs typeface="Yu Gothic" pitchFamily="34" charset="-120"/>
              </a:rPr>
              <a:t>全体像：2つの「条件」と2つの「論点」</a:t>
            </a:r>
            <a:endParaRPr lang="en-US" sz="2600" dirty="0"/>
          </a:p>
        </p:txBody>
      </p:sp>
      <p:sp>
        <p:nvSpPr>
          <p:cNvPr id="3" name="Text 1"/>
          <p:cNvSpPr/>
          <p:nvPr/>
        </p:nvSpPr>
        <p:spPr>
          <a:xfrm>
            <a:off x="548640" y="841248"/>
            <a:ext cx="10972800" cy="320040"/>
          </a:xfrm>
          <a:prstGeom prst="rect">
            <a:avLst/>
          </a:prstGeom>
          <a:noFill/>
          <a:ln/>
        </p:spPr>
        <p:txBody>
          <a:bodyPr wrap="square" rtlCol="0" anchor="ctr"/>
          <a:lstStyle/>
          <a:p>
            <a:pPr indent="0" marL="0">
              <a:buNone/>
            </a:pPr>
            <a:r>
              <a:rPr lang="en-US" sz="1250" dirty="0">
                <a:solidFill>
                  <a:srgbClr val="6E6E6E"/>
                </a:solidFill>
                <a:latin typeface="Yu Gothic" pitchFamily="34" charset="0"/>
                <a:ea typeface="Yu Gothic" pitchFamily="34" charset="-122"/>
                <a:cs typeface="Yu Gothic" pitchFamily="34" charset="-120"/>
              </a:rPr>
              <a:t>①②は事実に基づく前提条件、③④は結論の出ていない検討すべき論点</a:t>
            </a:r>
            <a:endParaRPr lang="en-US" sz="1250" dirty="0"/>
          </a:p>
        </p:txBody>
      </p:sp>
      <p:sp>
        <p:nvSpPr>
          <p:cNvPr id="4" name="Shape 2"/>
          <p:cNvSpPr/>
          <p:nvPr/>
        </p:nvSpPr>
        <p:spPr>
          <a:xfrm>
            <a:off x="548640" y="1417320"/>
            <a:ext cx="5394960" cy="2331720"/>
          </a:xfrm>
          <a:prstGeom prst="rect">
            <a:avLst/>
          </a:prstGeom>
          <a:solidFill>
            <a:srgbClr val="FAFAFA"/>
          </a:solidFill>
          <a:ln w="12700">
            <a:solidFill>
              <a:srgbClr val="E3E3E3"/>
            </a:solidFill>
            <a:prstDash val="solid"/>
          </a:ln>
        </p:spPr>
      </p:sp>
      <p:sp>
        <p:nvSpPr>
          <p:cNvPr id="5" name="Shape 3"/>
          <p:cNvSpPr/>
          <p:nvPr/>
        </p:nvSpPr>
        <p:spPr>
          <a:xfrm>
            <a:off x="777240" y="1618488"/>
            <a:ext cx="502920" cy="502920"/>
          </a:xfrm>
          <a:prstGeom prst="ellipse">
            <a:avLst/>
          </a:prstGeom>
          <a:solidFill>
            <a:srgbClr val="C7000F"/>
          </a:solidFill>
          <a:ln/>
        </p:spPr>
      </p:sp>
      <p:sp>
        <p:nvSpPr>
          <p:cNvPr id="6" name="Text 4"/>
          <p:cNvSpPr/>
          <p:nvPr/>
        </p:nvSpPr>
        <p:spPr>
          <a:xfrm>
            <a:off x="777240" y="1618488"/>
            <a:ext cx="502920" cy="502920"/>
          </a:xfrm>
          <a:prstGeom prst="rect">
            <a:avLst/>
          </a:prstGeom>
          <a:noFill/>
          <a:ln/>
        </p:spPr>
        <p:txBody>
          <a:bodyPr wrap="square"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①</a:t>
            </a:r>
            <a:endParaRPr lang="en-US" sz="1800" dirty="0"/>
          </a:p>
        </p:txBody>
      </p:sp>
      <p:sp>
        <p:nvSpPr>
          <p:cNvPr id="7" name="Text 5"/>
          <p:cNvSpPr/>
          <p:nvPr/>
        </p:nvSpPr>
        <p:spPr>
          <a:xfrm>
            <a:off x="1417320" y="1600200"/>
            <a:ext cx="4297680" cy="548640"/>
          </a:xfrm>
          <a:prstGeom prst="rect">
            <a:avLst/>
          </a:prstGeom>
          <a:noFill/>
          <a:ln/>
        </p:spPr>
        <p:txBody>
          <a:bodyPr wrap="square" rtlCol="0" anchor="ctr"/>
          <a:lstStyle/>
          <a:p>
            <a:pPr indent="0" marL="0">
              <a:lnSpc>
                <a:spcPct val="105000"/>
              </a:lnSpc>
              <a:buNone/>
            </a:pPr>
            <a:r>
              <a:rPr lang="en-US" sz="1050" b="1" dirty="0">
                <a:solidFill>
                  <a:srgbClr val="C7000F"/>
                </a:solidFill>
                <a:latin typeface="Yu Gothic" pitchFamily="34" charset="0"/>
                <a:ea typeface="Yu Gothic" pitchFamily="34" charset="-122"/>
                <a:cs typeface="Yu Gothic" pitchFamily="34" charset="-120"/>
              </a:rPr>
              <a:t>条件　</a:t>
            </a:r>
            <a:pPr indent="0" marL="0">
              <a:lnSpc>
                <a:spcPct val="105000"/>
              </a:lnSpc>
              <a:buNone/>
            </a:pPr>
            <a:r>
              <a:rPr lang="en-US" sz="1400" b="1" dirty="0">
                <a:solidFill>
                  <a:srgbClr val="1B2A4A"/>
                </a:solidFill>
                <a:latin typeface="Yu Gothic" pitchFamily="34" charset="0"/>
                <a:ea typeface="Yu Gothic" pitchFamily="34" charset="-122"/>
                <a:cs typeface="Yu Gothic" pitchFamily="34" charset="-120"/>
              </a:rPr>
              <a:t>NTTグループ内でのドコモの役割</a:t>
            </a:r>
            <a:endParaRPr lang="en-US" sz="1050" dirty="0"/>
          </a:p>
        </p:txBody>
      </p:sp>
      <p:sp>
        <p:nvSpPr>
          <p:cNvPr id="8" name="Text 6"/>
          <p:cNvSpPr/>
          <p:nvPr/>
        </p:nvSpPr>
        <p:spPr>
          <a:xfrm>
            <a:off x="822960" y="2286000"/>
            <a:ext cx="4846320" cy="1280160"/>
          </a:xfrm>
          <a:prstGeom prst="rect">
            <a:avLst/>
          </a:prstGeom>
          <a:noFill/>
          <a:ln/>
        </p:spPr>
        <p:txBody>
          <a:bodyPr wrap="square" rtlCol="0" anchor="t"/>
          <a:lstStyle/>
          <a:p>
            <a:pPr indent="0" marL="0">
              <a:lnSpc>
                <a:spcPct val="115000"/>
              </a:lnSpc>
              <a:buNone/>
            </a:pPr>
            <a:r>
              <a:rPr lang="en-US" sz="1100" dirty="0">
                <a:solidFill>
                  <a:srgbClr val="3A3A3A"/>
                </a:solidFill>
                <a:latin typeface="Yu Gothic" pitchFamily="34" charset="0"/>
                <a:ea typeface="Yu Gothic" pitchFamily="34" charset="-122"/>
                <a:cs typeface="Yu Gothic" pitchFamily="34" charset="-120"/>
              </a:rPr>
              <a:t>大きな負債を伴う投資は本社(NTT)の役割。ドコモは既存資産を生かした着実な事業を軸にする（ただしM&amp;A等、説明のつく投資は許容範囲）。</a:t>
            </a:r>
            <a:endParaRPr lang="en-US" sz="1100" dirty="0"/>
          </a:p>
        </p:txBody>
      </p:sp>
      <p:sp>
        <p:nvSpPr>
          <p:cNvPr id="9" name="Shape 7"/>
          <p:cNvSpPr/>
          <p:nvPr/>
        </p:nvSpPr>
        <p:spPr>
          <a:xfrm>
            <a:off x="6263640" y="1417320"/>
            <a:ext cx="5394960" cy="2331720"/>
          </a:xfrm>
          <a:prstGeom prst="rect">
            <a:avLst/>
          </a:prstGeom>
          <a:solidFill>
            <a:srgbClr val="FAFAFA"/>
          </a:solidFill>
          <a:ln w="12700">
            <a:solidFill>
              <a:srgbClr val="E3E3E3"/>
            </a:solidFill>
            <a:prstDash val="solid"/>
          </a:ln>
        </p:spPr>
      </p:sp>
      <p:sp>
        <p:nvSpPr>
          <p:cNvPr id="10" name="Shape 8"/>
          <p:cNvSpPr/>
          <p:nvPr/>
        </p:nvSpPr>
        <p:spPr>
          <a:xfrm>
            <a:off x="6492240" y="1618488"/>
            <a:ext cx="502920" cy="502920"/>
          </a:xfrm>
          <a:prstGeom prst="ellipse">
            <a:avLst/>
          </a:prstGeom>
          <a:solidFill>
            <a:srgbClr val="B5760A"/>
          </a:solidFill>
          <a:ln/>
        </p:spPr>
      </p:sp>
      <p:sp>
        <p:nvSpPr>
          <p:cNvPr id="11" name="Text 9"/>
          <p:cNvSpPr/>
          <p:nvPr/>
        </p:nvSpPr>
        <p:spPr>
          <a:xfrm>
            <a:off x="6492240" y="1618488"/>
            <a:ext cx="502920" cy="502920"/>
          </a:xfrm>
          <a:prstGeom prst="rect">
            <a:avLst/>
          </a:prstGeom>
          <a:noFill/>
          <a:ln/>
        </p:spPr>
        <p:txBody>
          <a:bodyPr wrap="square"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②</a:t>
            </a:r>
            <a:endParaRPr lang="en-US" sz="1800" dirty="0"/>
          </a:p>
        </p:txBody>
      </p:sp>
      <p:sp>
        <p:nvSpPr>
          <p:cNvPr id="12" name="Text 10"/>
          <p:cNvSpPr/>
          <p:nvPr/>
        </p:nvSpPr>
        <p:spPr>
          <a:xfrm>
            <a:off x="7132320" y="1600200"/>
            <a:ext cx="4297680" cy="548640"/>
          </a:xfrm>
          <a:prstGeom prst="rect">
            <a:avLst/>
          </a:prstGeom>
          <a:noFill/>
          <a:ln/>
        </p:spPr>
        <p:txBody>
          <a:bodyPr wrap="square" rtlCol="0" anchor="ctr"/>
          <a:lstStyle/>
          <a:p>
            <a:pPr indent="0" marL="0">
              <a:lnSpc>
                <a:spcPct val="105000"/>
              </a:lnSpc>
              <a:buNone/>
            </a:pPr>
            <a:r>
              <a:rPr lang="en-US" sz="1050" b="1" dirty="0">
                <a:solidFill>
                  <a:srgbClr val="B5760A"/>
                </a:solidFill>
                <a:latin typeface="Yu Gothic" pitchFamily="34" charset="0"/>
                <a:ea typeface="Yu Gothic" pitchFamily="34" charset="-122"/>
                <a:cs typeface="Yu Gothic" pitchFamily="34" charset="-120"/>
              </a:rPr>
              <a:t>視点　</a:t>
            </a:r>
            <a:pPr indent="0" marL="0">
              <a:lnSpc>
                <a:spcPct val="105000"/>
              </a:lnSpc>
              <a:buNone/>
            </a:pPr>
            <a:r>
              <a:rPr lang="en-US" sz="1400" b="1" dirty="0">
                <a:solidFill>
                  <a:srgbClr val="1B2A4A"/>
                </a:solidFill>
                <a:latin typeface="Yu Gothic" pitchFamily="34" charset="0"/>
                <a:ea typeface="Yu Gothic" pitchFamily="34" charset="-122"/>
                <a:cs typeface="Yu Gothic" pitchFamily="34" charset="-120"/>
              </a:rPr>
              <a:t>1億人の会員基盤×dポイント経済圏</a:t>
            </a:r>
            <a:endParaRPr lang="en-US" sz="1050" dirty="0"/>
          </a:p>
        </p:txBody>
      </p:sp>
      <p:sp>
        <p:nvSpPr>
          <p:cNvPr id="13" name="Text 11"/>
          <p:cNvSpPr/>
          <p:nvPr/>
        </p:nvSpPr>
        <p:spPr>
          <a:xfrm>
            <a:off x="6537960" y="2286000"/>
            <a:ext cx="4846320" cy="1280160"/>
          </a:xfrm>
          <a:prstGeom prst="rect">
            <a:avLst/>
          </a:prstGeom>
          <a:noFill/>
          <a:ln/>
        </p:spPr>
        <p:txBody>
          <a:bodyPr wrap="square" rtlCol="0" anchor="t"/>
          <a:lstStyle/>
          <a:p>
            <a:pPr indent="0" marL="0">
              <a:lnSpc>
                <a:spcPct val="115000"/>
              </a:lnSpc>
              <a:buNone/>
            </a:pPr>
            <a:r>
              <a:rPr lang="en-US" sz="1100" dirty="0">
                <a:solidFill>
                  <a:srgbClr val="3A3A3A"/>
                </a:solidFill>
                <a:latin typeface="Yu Gothic" pitchFamily="34" charset="0"/>
                <a:ea typeface="Yu Gothic" pitchFamily="34" charset="-122"/>
                <a:cs typeface="Yu Gothic" pitchFamily="34" charset="-120"/>
              </a:rPr>
              <a:t>既存資産（会員・データ・決済網）をどう生かすかを起点にする。ただし必須要件ではなく「加点要素」として扱うべき。</a:t>
            </a:r>
            <a:endParaRPr lang="en-US" sz="1100" dirty="0"/>
          </a:p>
        </p:txBody>
      </p:sp>
      <p:sp>
        <p:nvSpPr>
          <p:cNvPr id="14" name="Shape 12"/>
          <p:cNvSpPr/>
          <p:nvPr/>
        </p:nvSpPr>
        <p:spPr>
          <a:xfrm>
            <a:off x="548640" y="4023360"/>
            <a:ext cx="5394960" cy="2331720"/>
          </a:xfrm>
          <a:prstGeom prst="rect">
            <a:avLst/>
          </a:prstGeom>
          <a:solidFill>
            <a:srgbClr val="FAFAFA"/>
          </a:solidFill>
          <a:ln w="12700">
            <a:solidFill>
              <a:srgbClr val="E3E3E3"/>
            </a:solidFill>
            <a:prstDash val="solid"/>
          </a:ln>
        </p:spPr>
      </p:sp>
      <p:sp>
        <p:nvSpPr>
          <p:cNvPr id="15" name="Shape 13"/>
          <p:cNvSpPr/>
          <p:nvPr/>
        </p:nvSpPr>
        <p:spPr>
          <a:xfrm>
            <a:off x="777240" y="4224528"/>
            <a:ext cx="502920" cy="502920"/>
          </a:xfrm>
          <a:prstGeom prst="ellipse">
            <a:avLst/>
          </a:prstGeom>
          <a:solidFill>
            <a:srgbClr val="1B2A4A"/>
          </a:solidFill>
          <a:ln/>
        </p:spPr>
      </p:sp>
      <p:sp>
        <p:nvSpPr>
          <p:cNvPr id="16" name="Text 14"/>
          <p:cNvSpPr/>
          <p:nvPr/>
        </p:nvSpPr>
        <p:spPr>
          <a:xfrm>
            <a:off x="777240" y="4224528"/>
            <a:ext cx="502920" cy="502920"/>
          </a:xfrm>
          <a:prstGeom prst="rect">
            <a:avLst/>
          </a:prstGeom>
          <a:noFill/>
          <a:ln/>
        </p:spPr>
        <p:txBody>
          <a:bodyPr wrap="square"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③</a:t>
            </a:r>
            <a:endParaRPr lang="en-US" sz="1800" dirty="0"/>
          </a:p>
        </p:txBody>
      </p:sp>
      <p:sp>
        <p:nvSpPr>
          <p:cNvPr id="17" name="Text 15"/>
          <p:cNvSpPr/>
          <p:nvPr/>
        </p:nvSpPr>
        <p:spPr>
          <a:xfrm>
            <a:off x="1417320" y="4206240"/>
            <a:ext cx="4297680" cy="548640"/>
          </a:xfrm>
          <a:prstGeom prst="rect">
            <a:avLst/>
          </a:prstGeom>
          <a:noFill/>
          <a:ln/>
        </p:spPr>
        <p:txBody>
          <a:bodyPr wrap="square" rtlCol="0" anchor="ctr"/>
          <a:lstStyle/>
          <a:p>
            <a:pPr indent="0" marL="0">
              <a:lnSpc>
                <a:spcPct val="105000"/>
              </a:lnSpc>
              <a:buNone/>
            </a:pPr>
            <a:r>
              <a:rPr lang="en-US" sz="1050" b="1" dirty="0">
                <a:solidFill>
                  <a:srgbClr val="1B2A4A"/>
                </a:solidFill>
                <a:latin typeface="Yu Gothic" pitchFamily="34" charset="0"/>
                <a:ea typeface="Yu Gothic" pitchFamily="34" charset="-122"/>
                <a:cs typeface="Yu Gothic" pitchFamily="34" charset="-120"/>
              </a:rPr>
              <a:t>論点　</a:t>
            </a:r>
            <a:pPr indent="0" marL="0">
              <a:lnSpc>
                <a:spcPct val="105000"/>
              </a:lnSpc>
              <a:buNone/>
            </a:pPr>
            <a:r>
              <a:rPr lang="en-US" sz="1400" b="1" dirty="0">
                <a:solidFill>
                  <a:srgbClr val="1B2A4A"/>
                </a:solidFill>
                <a:latin typeface="Yu Gothic" pitchFamily="34" charset="0"/>
                <a:ea typeface="Yu Gothic" pitchFamily="34" charset="-122"/>
                <a:cs typeface="Yu Gothic" pitchFamily="34" charset="-120"/>
              </a:rPr>
              <a:t>規制の変化点にどう向き合うか</a:t>
            </a:r>
            <a:endParaRPr lang="en-US" sz="1050" dirty="0"/>
          </a:p>
        </p:txBody>
      </p:sp>
      <p:sp>
        <p:nvSpPr>
          <p:cNvPr id="18" name="Text 16"/>
          <p:cNvSpPr/>
          <p:nvPr/>
        </p:nvSpPr>
        <p:spPr>
          <a:xfrm>
            <a:off x="822960" y="4892040"/>
            <a:ext cx="4846320" cy="1280160"/>
          </a:xfrm>
          <a:prstGeom prst="rect">
            <a:avLst/>
          </a:prstGeom>
          <a:noFill/>
          <a:ln/>
        </p:spPr>
        <p:txBody>
          <a:bodyPr wrap="square" rtlCol="0" anchor="t"/>
          <a:lstStyle/>
          <a:p>
            <a:pPr indent="0" marL="0">
              <a:lnSpc>
                <a:spcPct val="115000"/>
              </a:lnSpc>
              <a:buNone/>
            </a:pPr>
            <a:r>
              <a:rPr lang="en-US" sz="1100" dirty="0">
                <a:solidFill>
                  <a:srgbClr val="3A3A3A"/>
                </a:solidFill>
                <a:latin typeface="Yu Gothic" pitchFamily="34" charset="0"/>
                <a:ea typeface="Yu Gothic" pitchFamily="34" charset="-122"/>
                <a:cs typeface="Yu Gothic" pitchFamily="34" charset="-120"/>
              </a:rPr>
              <a:t>27条の3見直し・ホッピング規制など、規制の方向性は未確定。緩和／強化どちらに転んでも成立する事業設計が要る。</a:t>
            </a:r>
            <a:endParaRPr lang="en-US" sz="1100" dirty="0"/>
          </a:p>
        </p:txBody>
      </p:sp>
      <p:sp>
        <p:nvSpPr>
          <p:cNvPr id="19" name="Shape 17"/>
          <p:cNvSpPr/>
          <p:nvPr/>
        </p:nvSpPr>
        <p:spPr>
          <a:xfrm>
            <a:off x="6263640" y="4023360"/>
            <a:ext cx="5394960" cy="2331720"/>
          </a:xfrm>
          <a:prstGeom prst="rect">
            <a:avLst/>
          </a:prstGeom>
          <a:solidFill>
            <a:srgbClr val="FAFAFA"/>
          </a:solidFill>
          <a:ln w="12700">
            <a:solidFill>
              <a:srgbClr val="E3E3E3"/>
            </a:solidFill>
            <a:prstDash val="solid"/>
          </a:ln>
        </p:spPr>
      </p:sp>
      <p:sp>
        <p:nvSpPr>
          <p:cNvPr id="20" name="Shape 18"/>
          <p:cNvSpPr/>
          <p:nvPr/>
        </p:nvSpPr>
        <p:spPr>
          <a:xfrm>
            <a:off x="6492240" y="4224528"/>
            <a:ext cx="502920" cy="502920"/>
          </a:xfrm>
          <a:prstGeom prst="ellipse">
            <a:avLst/>
          </a:prstGeom>
          <a:solidFill>
            <a:srgbClr val="1E7A4C"/>
          </a:solidFill>
          <a:ln/>
        </p:spPr>
      </p:sp>
      <p:sp>
        <p:nvSpPr>
          <p:cNvPr id="21" name="Text 19"/>
          <p:cNvSpPr/>
          <p:nvPr/>
        </p:nvSpPr>
        <p:spPr>
          <a:xfrm>
            <a:off x="6492240" y="4224528"/>
            <a:ext cx="502920" cy="502920"/>
          </a:xfrm>
          <a:prstGeom prst="rect">
            <a:avLst/>
          </a:prstGeom>
          <a:noFill/>
          <a:ln/>
        </p:spPr>
        <p:txBody>
          <a:bodyPr wrap="square"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④</a:t>
            </a:r>
            <a:endParaRPr lang="en-US" sz="1800" dirty="0"/>
          </a:p>
        </p:txBody>
      </p:sp>
      <p:sp>
        <p:nvSpPr>
          <p:cNvPr id="22" name="Text 20"/>
          <p:cNvSpPr/>
          <p:nvPr/>
        </p:nvSpPr>
        <p:spPr>
          <a:xfrm>
            <a:off x="7132320" y="4206240"/>
            <a:ext cx="4297680" cy="548640"/>
          </a:xfrm>
          <a:prstGeom prst="rect">
            <a:avLst/>
          </a:prstGeom>
          <a:noFill/>
          <a:ln/>
        </p:spPr>
        <p:txBody>
          <a:bodyPr wrap="square" rtlCol="0" anchor="ctr"/>
          <a:lstStyle/>
          <a:p>
            <a:pPr indent="0" marL="0">
              <a:lnSpc>
                <a:spcPct val="105000"/>
              </a:lnSpc>
              <a:buNone/>
            </a:pPr>
            <a:r>
              <a:rPr lang="en-US" sz="1050" b="1" dirty="0">
                <a:solidFill>
                  <a:srgbClr val="1E7A4C"/>
                </a:solidFill>
                <a:latin typeface="Yu Gothic" pitchFamily="34" charset="0"/>
                <a:ea typeface="Yu Gothic" pitchFamily="34" charset="-122"/>
                <a:cs typeface="Yu Gothic" pitchFamily="34" charset="-120"/>
              </a:rPr>
              <a:t>論点　</a:t>
            </a:r>
            <a:pPr indent="0" marL="0">
              <a:lnSpc>
                <a:spcPct val="105000"/>
              </a:lnSpc>
              <a:buNone/>
            </a:pPr>
            <a:r>
              <a:rPr lang="en-US" sz="1400" b="1" dirty="0">
                <a:solidFill>
                  <a:srgbClr val="1B2A4A"/>
                </a:solidFill>
                <a:latin typeface="Yu Gothic" pitchFamily="34" charset="0"/>
                <a:ea typeface="Yu Gothic" pitchFamily="34" charset="-122"/>
                <a:cs typeface="Yu Gothic" pitchFamily="34" charset="-120"/>
              </a:rPr>
              <a:t>利益重視か、トップライン（成長）重視か</a:t>
            </a:r>
            <a:endParaRPr lang="en-US" sz="1050" dirty="0"/>
          </a:p>
        </p:txBody>
      </p:sp>
      <p:sp>
        <p:nvSpPr>
          <p:cNvPr id="23" name="Text 21"/>
          <p:cNvSpPr/>
          <p:nvPr/>
        </p:nvSpPr>
        <p:spPr>
          <a:xfrm>
            <a:off x="6537960" y="4892040"/>
            <a:ext cx="4846320" cy="1280160"/>
          </a:xfrm>
          <a:prstGeom prst="rect">
            <a:avLst/>
          </a:prstGeom>
          <a:noFill/>
          <a:ln/>
        </p:spPr>
        <p:txBody>
          <a:bodyPr wrap="square" rtlCol="0" anchor="t"/>
          <a:lstStyle/>
          <a:p>
            <a:pPr indent="0" marL="0">
              <a:lnSpc>
                <a:spcPct val="115000"/>
              </a:lnSpc>
              <a:buNone/>
            </a:pPr>
            <a:r>
              <a:rPr lang="en-US" sz="1100" dirty="0">
                <a:solidFill>
                  <a:srgbClr val="3A3A3A"/>
                </a:solidFill>
                <a:latin typeface="Yu Gothic" pitchFamily="34" charset="0"/>
                <a:ea typeface="Yu Gothic" pitchFamily="34" charset="-122"/>
                <a:cs typeface="Yu Gothic" pitchFamily="34" charset="-120"/>
              </a:rPr>
              <a:t>増収減益の現状は利益重視を示唆する一方、2030年度5兆円目標やシェア防衛には成長も欠かせない。トレードオフをどう扱うか。</a:t>
            </a:r>
            <a:endParaRPr lang="en-US" sz="1100" dirty="0"/>
          </a:p>
        </p:txBody>
      </p:sp>
      <p:sp>
        <p:nvSpPr>
          <p:cNvPr id="24" name="Text 22"/>
          <p:cNvSpPr/>
          <p:nvPr/>
        </p:nvSpPr>
        <p:spPr>
          <a:xfrm>
            <a:off x="365760" y="6537960"/>
            <a:ext cx="6400800" cy="274320"/>
          </a:xfrm>
          <a:prstGeom prst="rect">
            <a:avLst/>
          </a:prstGeom>
          <a:noFill/>
          <a:ln/>
        </p:spPr>
        <p:txBody>
          <a:bodyPr wrap="square" rtlCol="0" anchor="ctr"/>
          <a:lstStyle/>
          <a:p>
            <a:pPr indent="0" marL="0">
              <a:buNone/>
            </a:pPr>
            <a:r>
              <a:rPr lang="en-US" sz="900" dirty="0">
                <a:solidFill>
                  <a:srgbClr val="6E6E6E"/>
                </a:solidFill>
                <a:latin typeface="Yu Gothic" pitchFamily="34" charset="0"/>
                <a:ea typeface="Yu Gothic" pitchFamily="34" charset="-122"/>
                <a:cs typeface="Yu Gothic" pitchFamily="34" charset="-120"/>
              </a:rPr>
              <a:t>ドコモ新規事業インターン ― 検討条件の整理</a:t>
            </a:r>
            <a:endParaRPr lang="en-US" sz="900" dirty="0"/>
          </a:p>
        </p:txBody>
      </p:sp>
      <p:sp>
        <p:nvSpPr>
          <p:cNvPr id="25" name="Text 2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6E"/>
                </a:solidFill>
                <a:latin typeface="Yu Gothic" pitchFamily="34" charset="0"/>
                <a:ea typeface="Yu Gothic" pitchFamily="34" charset="-122"/>
                <a:cs typeface="Yu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indent="0" marL="0">
              <a:buNone/>
            </a:pPr>
            <a:r>
              <a:rPr lang="en-US" sz="2600" b="1" dirty="0">
                <a:solidFill>
                  <a:srgbClr val="1B2A4A"/>
                </a:solidFill>
                <a:latin typeface="Yu Gothic" pitchFamily="34" charset="0"/>
                <a:ea typeface="Yu Gothic" pitchFamily="34" charset="-122"/>
                <a:cs typeface="Yu Gothic" pitchFamily="34" charset="-120"/>
              </a:rPr>
              <a:t>条件① NTTグループ内でのドコモの役割</a:t>
            </a:r>
            <a:endParaRPr lang="en-US" sz="2600" dirty="0"/>
          </a:p>
        </p:txBody>
      </p:sp>
      <p:sp>
        <p:nvSpPr>
          <p:cNvPr id="3" name="Text 1"/>
          <p:cNvSpPr/>
          <p:nvPr/>
        </p:nvSpPr>
        <p:spPr>
          <a:xfrm>
            <a:off x="548640" y="841248"/>
            <a:ext cx="10972800" cy="320040"/>
          </a:xfrm>
          <a:prstGeom prst="rect">
            <a:avLst/>
          </a:prstGeom>
          <a:noFill/>
          <a:ln/>
        </p:spPr>
        <p:txBody>
          <a:bodyPr wrap="square" rtlCol="0" anchor="ctr"/>
          <a:lstStyle/>
          <a:p>
            <a:pPr indent="0" marL="0">
              <a:buNone/>
            </a:pPr>
            <a:r>
              <a:rPr lang="en-US" sz="1250" dirty="0">
                <a:solidFill>
                  <a:srgbClr val="6E6E6E"/>
                </a:solidFill>
                <a:latin typeface="Yu Gothic" pitchFamily="34" charset="0"/>
                <a:ea typeface="Yu Gothic" pitchFamily="34" charset="-122"/>
                <a:cs typeface="Yu Gothic" pitchFamily="34" charset="-120"/>
              </a:rPr>
              <a:t>レバレッジはNTT本体が引き受け、ドコモはキャッシュリッチな役割を担う</a:t>
            </a:r>
            <a:endParaRPr lang="en-US" sz="1250" dirty="0"/>
          </a:p>
        </p:txBody>
      </p:sp>
      <p:sp>
        <p:nvSpPr>
          <p:cNvPr id="4" name="Shape 2"/>
          <p:cNvSpPr/>
          <p:nvPr/>
        </p:nvSpPr>
        <p:spPr>
          <a:xfrm>
            <a:off x="548640" y="1417320"/>
            <a:ext cx="6400800" cy="4846320"/>
          </a:xfrm>
          <a:prstGeom prst="rect">
            <a:avLst/>
          </a:prstGeom>
          <a:solidFill>
            <a:srgbClr val="FAFAFA"/>
          </a:solidFill>
          <a:ln w="12700">
            <a:solidFill>
              <a:srgbClr val="E3E3E3"/>
            </a:solidFill>
            <a:prstDash val="solid"/>
          </a:ln>
        </p:spPr>
      </p:sp>
      <p:sp>
        <p:nvSpPr>
          <p:cNvPr id="5" name="Shape 3"/>
          <p:cNvSpPr/>
          <p:nvPr/>
        </p:nvSpPr>
        <p:spPr>
          <a:xfrm>
            <a:off x="548640" y="1417320"/>
            <a:ext cx="6400800" cy="502920"/>
          </a:xfrm>
          <a:prstGeom prst="rect">
            <a:avLst/>
          </a:prstGeom>
          <a:solidFill>
            <a:srgbClr val="1B2A4A"/>
          </a:solidFill>
          <a:ln/>
        </p:spPr>
      </p:sp>
      <p:sp>
        <p:nvSpPr>
          <p:cNvPr id="6" name="Text 4"/>
          <p:cNvSpPr/>
          <p:nvPr/>
        </p:nvSpPr>
        <p:spPr>
          <a:xfrm>
            <a:off x="731520" y="1417320"/>
            <a:ext cx="6035040" cy="502920"/>
          </a:xfrm>
          <a:prstGeom prst="rect">
            <a:avLst/>
          </a:prstGeom>
          <a:noFill/>
          <a:ln/>
        </p:spPr>
        <p:txBody>
          <a:bodyPr wrap="square"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根拠となる事実</a:t>
            </a:r>
            <a:endParaRPr lang="en-US" sz="1400" dirty="0"/>
          </a:p>
        </p:txBody>
      </p:sp>
      <p:sp>
        <p:nvSpPr>
          <p:cNvPr id="7" name="Text 5"/>
          <p:cNvSpPr/>
          <p:nvPr/>
        </p:nvSpPr>
        <p:spPr>
          <a:xfrm>
            <a:off x="822960" y="2103120"/>
            <a:ext cx="5852160" cy="3977640"/>
          </a:xfrm>
          <a:prstGeom prst="rect">
            <a:avLst/>
          </a:prstGeom>
          <a:noFill/>
          <a:ln/>
        </p:spPr>
        <p:txBody>
          <a:bodyPr wrap="square" rtlCol="0" anchor="t"/>
          <a:lstStyle/>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NTT（持株会社）の有利子負債は2026年3月期末で15兆7,116億円（前期比+5兆円超）</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住信SBIネット銀行買収、NTTデータG完全子会社化（約2.6兆円の外貨建社債発行）が急増の主因</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有利子負債／EBITDA倍率（金融事業除き）は4.2倍。2031年3月期に3.5倍程度へ引き下げる方針</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一方ドコモは長期借入債務520億円（2025年3月期末・銀行連結前）と実質無借金体質</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ドコモはNTTグループ内のキャッシュ・マネジメント・システム（CMS）で資金を融通する構造</a:t>
            </a:r>
            <a:endParaRPr lang="en-US" sz="1100" dirty="0"/>
          </a:p>
        </p:txBody>
      </p:sp>
      <p:sp>
        <p:nvSpPr>
          <p:cNvPr id="8" name="Shape 6"/>
          <p:cNvSpPr/>
          <p:nvPr/>
        </p:nvSpPr>
        <p:spPr>
          <a:xfrm>
            <a:off x="7223760" y="1417320"/>
            <a:ext cx="4297680" cy="4846320"/>
          </a:xfrm>
          <a:prstGeom prst="rect">
            <a:avLst/>
          </a:prstGeom>
          <a:solidFill>
            <a:srgbClr val="FBEBEC"/>
          </a:solidFill>
          <a:ln w="12700">
            <a:solidFill>
              <a:srgbClr val="F0C9CC"/>
            </a:solidFill>
            <a:prstDash val="solid"/>
          </a:ln>
        </p:spPr>
      </p:sp>
      <p:sp>
        <p:nvSpPr>
          <p:cNvPr id="9" name="Shape 7"/>
          <p:cNvSpPr/>
          <p:nvPr/>
        </p:nvSpPr>
        <p:spPr>
          <a:xfrm>
            <a:off x="7223760" y="1417320"/>
            <a:ext cx="4297680" cy="502920"/>
          </a:xfrm>
          <a:prstGeom prst="rect">
            <a:avLst/>
          </a:prstGeom>
          <a:solidFill>
            <a:srgbClr val="C7000F"/>
          </a:solidFill>
          <a:ln/>
        </p:spPr>
      </p:sp>
      <p:sp>
        <p:nvSpPr>
          <p:cNvPr id="10" name="Text 8"/>
          <p:cNvSpPr/>
          <p:nvPr/>
        </p:nvSpPr>
        <p:spPr>
          <a:xfrm>
            <a:off x="7406640" y="1417320"/>
            <a:ext cx="3931920" cy="502920"/>
          </a:xfrm>
          <a:prstGeom prst="rect">
            <a:avLst/>
          </a:prstGeom>
          <a:noFill/>
          <a:ln/>
        </p:spPr>
        <p:txBody>
          <a:bodyPr wrap="square"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導かれる条件（精査後）</a:t>
            </a:r>
            <a:endParaRPr lang="en-US" sz="1400" dirty="0"/>
          </a:p>
        </p:txBody>
      </p:sp>
      <p:sp>
        <p:nvSpPr>
          <p:cNvPr id="11" name="Text 9"/>
          <p:cNvSpPr/>
          <p:nvPr/>
        </p:nvSpPr>
        <p:spPr>
          <a:xfrm>
            <a:off x="7498080" y="2148840"/>
            <a:ext cx="3749040" cy="3931920"/>
          </a:xfrm>
          <a:prstGeom prst="rect">
            <a:avLst/>
          </a:prstGeom>
          <a:noFill/>
          <a:ln/>
        </p:spPr>
        <p:txBody>
          <a:bodyPr wrap="square" rtlCol="0" anchor="t"/>
          <a:lstStyle/>
          <a:p>
            <a:pPr indent="0" marL="0">
              <a:lnSpc>
                <a:spcPct val="120000"/>
              </a:lnSpc>
              <a:buNone/>
            </a:pPr>
            <a:r>
              <a:rPr lang="en-US" sz="1250" dirty="0">
                <a:solidFill>
                  <a:srgbClr val="3A3A3A"/>
                </a:solidFill>
                <a:latin typeface="Yu Gothic" pitchFamily="34" charset="0"/>
                <a:ea typeface="Yu Gothic" pitchFamily="34" charset="-122"/>
                <a:cs typeface="Yu Gothic" pitchFamily="34" charset="-120"/>
              </a:rPr>
              <a:t>野放図な負債拡大は避けるが、
</a:t>
            </a:r>
            <a:pPr indent="0" marL="0">
              <a:lnSpc>
                <a:spcPct val="120000"/>
              </a:lnSpc>
              <a:buNone/>
            </a:pPr>
            <a:r>
              <a:rPr lang="en-US" sz="1250" b="1" dirty="0">
                <a:solidFill>
                  <a:srgbClr val="C7000F"/>
                </a:solidFill>
                <a:latin typeface="Yu Gothic" pitchFamily="34" charset="0"/>
                <a:ea typeface="Yu Gothic" pitchFamily="34" charset="-122"/>
                <a:cs typeface="Yu Gothic" pitchFamily="34" charset="-120"/>
              </a:rPr>
              <a:t>成長投資として説明がつく負債・投資は許容範囲</a:t>
            </a:r>
            <a:pPr indent="0" marL="0">
              <a:lnSpc>
                <a:spcPct val="120000"/>
              </a:lnSpc>
              <a:buNone/>
            </a:pPr>
            <a:endParaRPr lang="en-US" sz="1250" dirty="0"/>
          </a:p>
          <a:p>
            <a:pPr indent="0" marL="0">
              <a:lnSpc>
                <a:spcPct val="120000"/>
              </a:lnSpc>
              <a:buNone/>
            </a:pPr>
            <a:endParaRPr lang="en-US" sz="1250" dirty="0"/>
          </a:p>
          <a:p>
            <a:pPr indent="0" marL="0">
              <a:lnSpc>
                <a:spcPct val="120000"/>
              </a:lnSpc>
              <a:buNone/>
            </a:pPr>
            <a:r>
              <a:rPr lang="en-US" sz="1150" dirty="0">
                <a:solidFill>
                  <a:srgbClr val="3A3A3A"/>
                </a:solidFill>
                <a:latin typeface="Yu Gothic" pitchFamily="34" charset="0"/>
                <a:ea typeface="Yu Gothic" pitchFamily="34" charset="-122"/>
                <a:cs typeface="Yu Gothic" pitchFamily="34" charset="-120"/>
              </a:rPr>
              <a:t>新規事業は「大きな借金をして勝負する」より、既存の顧客基盤・データ・キャッシュフローを使って着実に稼ぐ設計を軸にする。</a:t>
            </a:r>
            <a:endParaRPr lang="en-US" sz="1250" dirty="0"/>
          </a:p>
        </p:txBody>
      </p:sp>
      <p:sp>
        <p:nvSpPr>
          <p:cNvPr id="12" name="Text 10"/>
          <p:cNvSpPr/>
          <p:nvPr/>
        </p:nvSpPr>
        <p:spPr>
          <a:xfrm>
            <a:off x="365760" y="6537960"/>
            <a:ext cx="6400800" cy="274320"/>
          </a:xfrm>
          <a:prstGeom prst="rect">
            <a:avLst/>
          </a:prstGeom>
          <a:noFill/>
          <a:ln/>
        </p:spPr>
        <p:txBody>
          <a:bodyPr wrap="square" rtlCol="0" anchor="ctr"/>
          <a:lstStyle/>
          <a:p>
            <a:pPr indent="0" marL="0">
              <a:buNone/>
            </a:pPr>
            <a:r>
              <a:rPr lang="en-US" sz="900" dirty="0">
                <a:solidFill>
                  <a:srgbClr val="6E6E6E"/>
                </a:solidFill>
                <a:latin typeface="Yu Gothic" pitchFamily="34" charset="0"/>
                <a:ea typeface="Yu Gothic" pitchFamily="34" charset="-122"/>
                <a:cs typeface="Yu Gothic" pitchFamily="34" charset="-120"/>
              </a:rPr>
              <a:t>ドコモ新規事業インターン ― 検討条件の整理</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6E"/>
                </a:solidFill>
                <a:latin typeface="Yu Gothic" pitchFamily="34" charset="0"/>
                <a:ea typeface="Yu Gothic" pitchFamily="34" charset="-122"/>
                <a:cs typeface="Yu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indent="0" marL="0">
              <a:buNone/>
            </a:pPr>
            <a:r>
              <a:rPr lang="en-US" sz="2600" b="1" dirty="0">
                <a:solidFill>
                  <a:srgbClr val="1B2A4A"/>
                </a:solidFill>
                <a:latin typeface="Yu Gothic" pitchFamily="34" charset="0"/>
                <a:ea typeface="Yu Gothic" pitchFamily="34" charset="-122"/>
                <a:cs typeface="Yu Gothic" pitchFamily="34" charset="-120"/>
              </a:rPr>
              <a:t>視点② 1億人の会員基盤×dポイント経済圏</a:t>
            </a:r>
            <a:endParaRPr lang="en-US" sz="2600" dirty="0"/>
          </a:p>
        </p:txBody>
      </p:sp>
      <p:sp>
        <p:nvSpPr>
          <p:cNvPr id="3" name="Text 1"/>
          <p:cNvSpPr/>
          <p:nvPr/>
        </p:nvSpPr>
        <p:spPr>
          <a:xfrm>
            <a:off x="548640" y="841248"/>
            <a:ext cx="10972800" cy="320040"/>
          </a:xfrm>
          <a:prstGeom prst="rect">
            <a:avLst/>
          </a:prstGeom>
          <a:noFill/>
          <a:ln/>
        </p:spPr>
        <p:txBody>
          <a:bodyPr wrap="square" rtlCol="0" anchor="ctr"/>
          <a:lstStyle/>
          <a:p>
            <a:pPr indent="0" marL="0">
              <a:buNone/>
            </a:pPr>
            <a:r>
              <a:rPr lang="en-US" sz="1250" dirty="0">
                <a:solidFill>
                  <a:srgbClr val="6E6E6E"/>
                </a:solidFill>
                <a:latin typeface="Yu Gothic" pitchFamily="34" charset="0"/>
                <a:ea typeface="Yu Gothic" pitchFamily="34" charset="-122"/>
                <a:cs typeface="Yu Gothic" pitchFamily="34" charset="-120"/>
              </a:rPr>
              <a:t>既存資産の活用は「必須要件」ではなく「加点要素」として扱う</a:t>
            </a:r>
            <a:endParaRPr lang="en-US" sz="1250" dirty="0"/>
          </a:p>
        </p:txBody>
      </p:sp>
      <p:sp>
        <p:nvSpPr>
          <p:cNvPr id="4" name="Shape 2"/>
          <p:cNvSpPr/>
          <p:nvPr/>
        </p:nvSpPr>
        <p:spPr>
          <a:xfrm>
            <a:off x="548640" y="1417320"/>
            <a:ext cx="6400800" cy="4846320"/>
          </a:xfrm>
          <a:prstGeom prst="rect">
            <a:avLst/>
          </a:prstGeom>
          <a:solidFill>
            <a:srgbClr val="FAFAFA"/>
          </a:solidFill>
          <a:ln w="12700">
            <a:solidFill>
              <a:srgbClr val="E3E3E3"/>
            </a:solidFill>
            <a:prstDash val="solid"/>
          </a:ln>
        </p:spPr>
      </p:sp>
      <p:sp>
        <p:nvSpPr>
          <p:cNvPr id="5" name="Shape 3"/>
          <p:cNvSpPr/>
          <p:nvPr/>
        </p:nvSpPr>
        <p:spPr>
          <a:xfrm>
            <a:off x="548640" y="1417320"/>
            <a:ext cx="6400800" cy="502920"/>
          </a:xfrm>
          <a:prstGeom prst="rect">
            <a:avLst/>
          </a:prstGeom>
          <a:solidFill>
            <a:srgbClr val="1B2A4A"/>
          </a:solidFill>
          <a:ln/>
        </p:spPr>
      </p:sp>
      <p:sp>
        <p:nvSpPr>
          <p:cNvPr id="6" name="Text 4"/>
          <p:cNvSpPr/>
          <p:nvPr/>
        </p:nvSpPr>
        <p:spPr>
          <a:xfrm>
            <a:off x="731520" y="1417320"/>
            <a:ext cx="6035040" cy="502920"/>
          </a:xfrm>
          <a:prstGeom prst="rect">
            <a:avLst/>
          </a:prstGeom>
          <a:noFill/>
          <a:ln/>
        </p:spPr>
        <p:txBody>
          <a:bodyPr wrap="square"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根拠となる事実</a:t>
            </a:r>
            <a:endParaRPr lang="en-US" sz="1400" dirty="0"/>
          </a:p>
        </p:txBody>
      </p:sp>
      <p:sp>
        <p:nvSpPr>
          <p:cNvPr id="7" name="Text 5"/>
          <p:cNvSpPr/>
          <p:nvPr/>
        </p:nvSpPr>
        <p:spPr>
          <a:xfrm>
            <a:off x="822960" y="2103120"/>
            <a:ext cx="5852160" cy="3977640"/>
          </a:xfrm>
          <a:prstGeom prst="rect">
            <a:avLst/>
          </a:prstGeom>
          <a:noFill/>
          <a:ln/>
        </p:spPr>
        <p:txBody>
          <a:bodyPr wrap="square" rtlCol="0" anchor="t"/>
          <a:lstStyle/>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dポイント会員は約9,170万人、加盟パートナー約59万社・786ブランド</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決済額合計は約5.2兆円（※2022年度上期時点の数値、直近データは要確認）</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前田社長（スマートライフカンパニー時代）は「特に注力すべきは金融・決済とマーケティングソリューション」と明言</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dポイントはスマートライフ事業のコアアセットと位置づけられている</a:t>
            </a:r>
            <a:endParaRPr lang="en-US" sz="1100" dirty="0"/>
          </a:p>
        </p:txBody>
      </p:sp>
      <p:sp>
        <p:nvSpPr>
          <p:cNvPr id="8" name="Shape 6"/>
          <p:cNvSpPr/>
          <p:nvPr/>
        </p:nvSpPr>
        <p:spPr>
          <a:xfrm>
            <a:off x="7223760" y="1417320"/>
            <a:ext cx="4297680" cy="4846320"/>
          </a:xfrm>
          <a:prstGeom prst="rect">
            <a:avLst/>
          </a:prstGeom>
          <a:solidFill>
            <a:srgbClr val="FBF1E1"/>
          </a:solidFill>
          <a:ln w="12700">
            <a:solidFill>
              <a:srgbClr val="F0E0BC"/>
            </a:solidFill>
            <a:prstDash val="solid"/>
          </a:ln>
        </p:spPr>
      </p:sp>
      <p:sp>
        <p:nvSpPr>
          <p:cNvPr id="9" name="Shape 7"/>
          <p:cNvSpPr/>
          <p:nvPr/>
        </p:nvSpPr>
        <p:spPr>
          <a:xfrm>
            <a:off x="7223760" y="1417320"/>
            <a:ext cx="4297680" cy="502920"/>
          </a:xfrm>
          <a:prstGeom prst="rect">
            <a:avLst/>
          </a:prstGeom>
          <a:solidFill>
            <a:srgbClr val="B5760A"/>
          </a:solidFill>
          <a:ln/>
        </p:spPr>
      </p:sp>
      <p:sp>
        <p:nvSpPr>
          <p:cNvPr id="10" name="Text 8"/>
          <p:cNvSpPr/>
          <p:nvPr/>
        </p:nvSpPr>
        <p:spPr>
          <a:xfrm>
            <a:off x="7406640" y="1417320"/>
            <a:ext cx="3931920" cy="502920"/>
          </a:xfrm>
          <a:prstGeom prst="rect">
            <a:avLst/>
          </a:prstGeom>
          <a:noFill/>
          <a:ln/>
        </p:spPr>
        <p:txBody>
          <a:bodyPr wrap="square"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導かれる条件（精査後）</a:t>
            </a:r>
            <a:endParaRPr lang="en-US" sz="1400" dirty="0"/>
          </a:p>
        </p:txBody>
      </p:sp>
      <p:sp>
        <p:nvSpPr>
          <p:cNvPr id="11" name="Text 9"/>
          <p:cNvSpPr/>
          <p:nvPr/>
        </p:nvSpPr>
        <p:spPr>
          <a:xfrm>
            <a:off x="7498080" y="2148840"/>
            <a:ext cx="3749040" cy="3931920"/>
          </a:xfrm>
          <a:prstGeom prst="rect">
            <a:avLst/>
          </a:prstGeom>
          <a:noFill/>
          <a:ln/>
        </p:spPr>
        <p:txBody>
          <a:bodyPr wrap="square" rtlCol="0" anchor="t"/>
          <a:lstStyle/>
          <a:p>
            <a:pPr indent="0" marL="0">
              <a:lnSpc>
                <a:spcPct val="120000"/>
              </a:lnSpc>
              <a:buNone/>
            </a:pPr>
            <a:r>
              <a:rPr lang="en-US" sz="1150" dirty="0">
                <a:solidFill>
                  <a:srgbClr val="3A3A3A"/>
                </a:solidFill>
                <a:latin typeface="Yu Gothic" pitchFamily="34" charset="0"/>
                <a:ea typeface="Yu Gothic" pitchFamily="34" charset="-122"/>
                <a:cs typeface="Yu Gothic" pitchFamily="34" charset="-120"/>
              </a:rPr>
              <a:t>必須要件にすると、0→1の非連続なアイデアを排除しかねない
</a:t>
            </a:r>
            <a:pPr indent="0" marL="0">
              <a:lnSpc>
                <a:spcPct val="120000"/>
              </a:lnSpc>
              <a:buNone/>
            </a:pPr>
            <a:r>
              <a:rPr lang="en-US" sz="1250" b="1" dirty="0">
                <a:solidFill>
                  <a:srgbClr val="B5760A"/>
                </a:solidFill>
                <a:latin typeface="Yu Gothic" pitchFamily="34" charset="0"/>
                <a:ea typeface="Yu Gothic" pitchFamily="34" charset="-122"/>
                <a:cs typeface="Yu Gothic" pitchFamily="34" charset="-120"/>
              </a:rPr>
              <a:t>→ 既存資産の活用は「加点要素」に格下げ</a:t>
            </a:r>
            <a:pPr indent="0" marL="0">
              <a:lnSpc>
                <a:spcPct val="120000"/>
              </a:lnSpc>
              <a:buNone/>
            </a:pPr>
            <a:endParaRPr lang="en-US" sz="1150" dirty="0"/>
          </a:p>
          <a:p>
            <a:pPr indent="0" marL="0">
              <a:lnSpc>
                <a:spcPct val="120000"/>
              </a:lnSpc>
              <a:buNone/>
            </a:pPr>
            <a:endParaRPr lang="en-US" sz="1150" dirty="0"/>
          </a:p>
          <a:p>
            <a:pPr indent="0" marL="0">
              <a:lnSpc>
                <a:spcPct val="120000"/>
              </a:lnSpc>
              <a:buNone/>
            </a:pPr>
            <a:r>
              <a:rPr lang="en-US" sz="1150" dirty="0">
                <a:solidFill>
                  <a:srgbClr val="3A3A3A"/>
                </a:solidFill>
                <a:latin typeface="Yu Gothic" pitchFamily="34" charset="0"/>
                <a:ea typeface="Yu Gothic" pitchFamily="34" charset="-122"/>
                <a:cs typeface="Yu Gothic" pitchFamily="34" charset="-120"/>
              </a:rPr>
              <a:t>イノベーションコースは「テーマを絞らず0から新規事業を考える」枠。既存資産と接続できれば説得力は増すが、それ自体を必須条件にはしない。</a:t>
            </a:r>
            <a:endParaRPr lang="en-US" sz="1150" dirty="0"/>
          </a:p>
        </p:txBody>
      </p:sp>
      <p:sp>
        <p:nvSpPr>
          <p:cNvPr id="12" name="Text 10"/>
          <p:cNvSpPr/>
          <p:nvPr/>
        </p:nvSpPr>
        <p:spPr>
          <a:xfrm>
            <a:off x="365760" y="6537960"/>
            <a:ext cx="6400800" cy="274320"/>
          </a:xfrm>
          <a:prstGeom prst="rect">
            <a:avLst/>
          </a:prstGeom>
          <a:noFill/>
          <a:ln/>
        </p:spPr>
        <p:txBody>
          <a:bodyPr wrap="square" rtlCol="0" anchor="ctr"/>
          <a:lstStyle/>
          <a:p>
            <a:pPr indent="0" marL="0">
              <a:buNone/>
            </a:pPr>
            <a:r>
              <a:rPr lang="en-US" sz="900" dirty="0">
                <a:solidFill>
                  <a:srgbClr val="6E6E6E"/>
                </a:solidFill>
                <a:latin typeface="Yu Gothic" pitchFamily="34" charset="0"/>
                <a:ea typeface="Yu Gothic" pitchFamily="34" charset="-122"/>
                <a:cs typeface="Yu Gothic" pitchFamily="34" charset="-120"/>
              </a:rPr>
              <a:t>ドコモ新規事業インターン ― 検討条件の整理</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6E"/>
                </a:solidFill>
                <a:latin typeface="Yu Gothic" pitchFamily="34" charset="0"/>
                <a:ea typeface="Yu Gothic" pitchFamily="34" charset="-122"/>
                <a:cs typeface="Yu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indent="0" marL="0">
              <a:buNone/>
            </a:pPr>
            <a:r>
              <a:rPr lang="en-US" sz="2600" b="1" dirty="0">
                <a:solidFill>
                  <a:srgbClr val="1B2A4A"/>
                </a:solidFill>
                <a:latin typeface="Yu Gothic" pitchFamily="34" charset="0"/>
                <a:ea typeface="Yu Gothic" pitchFamily="34" charset="-122"/>
                <a:cs typeface="Yu Gothic" pitchFamily="34" charset="-120"/>
              </a:rPr>
              <a:t>論点③ 規制の変化点にどう向き合うか</a:t>
            </a:r>
            <a:endParaRPr lang="en-US" sz="2600" dirty="0"/>
          </a:p>
        </p:txBody>
      </p:sp>
      <p:sp>
        <p:nvSpPr>
          <p:cNvPr id="3" name="Text 1"/>
          <p:cNvSpPr/>
          <p:nvPr/>
        </p:nvSpPr>
        <p:spPr>
          <a:xfrm>
            <a:off x="548640" y="841248"/>
            <a:ext cx="10972800" cy="320040"/>
          </a:xfrm>
          <a:prstGeom prst="rect">
            <a:avLst/>
          </a:prstGeom>
          <a:noFill/>
          <a:ln/>
        </p:spPr>
        <p:txBody>
          <a:bodyPr wrap="square" rtlCol="0" anchor="ctr"/>
          <a:lstStyle/>
          <a:p>
            <a:pPr indent="0" marL="0">
              <a:buNone/>
            </a:pPr>
            <a:r>
              <a:rPr lang="en-US" sz="1250" dirty="0">
                <a:solidFill>
                  <a:srgbClr val="6E6E6E"/>
                </a:solidFill>
                <a:latin typeface="Yu Gothic" pitchFamily="34" charset="0"/>
                <a:ea typeface="Yu Gothic" pitchFamily="34" charset="-122"/>
                <a:cs typeface="Yu Gothic" pitchFamily="34" charset="-120"/>
              </a:rPr>
              <a:t>27条の3見直しとホッピング規制、どちらも結論は2026年夏頃に判明予定</a:t>
            </a:r>
            <a:endParaRPr lang="en-US" sz="1250" dirty="0"/>
          </a:p>
        </p:txBody>
      </p:sp>
      <p:sp>
        <p:nvSpPr>
          <p:cNvPr id="4" name="Shape 2"/>
          <p:cNvSpPr/>
          <p:nvPr/>
        </p:nvSpPr>
        <p:spPr>
          <a:xfrm>
            <a:off x="548640" y="1417320"/>
            <a:ext cx="5394960" cy="4846320"/>
          </a:xfrm>
          <a:prstGeom prst="rect">
            <a:avLst/>
          </a:prstGeom>
          <a:solidFill>
            <a:srgbClr val="FAFAFA"/>
          </a:solidFill>
          <a:ln w="12700">
            <a:solidFill>
              <a:srgbClr val="E3E3E3"/>
            </a:solidFill>
            <a:prstDash val="solid"/>
          </a:ln>
        </p:spPr>
      </p:sp>
      <p:sp>
        <p:nvSpPr>
          <p:cNvPr id="5" name="Shape 3"/>
          <p:cNvSpPr/>
          <p:nvPr/>
        </p:nvSpPr>
        <p:spPr>
          <a:xfrm>
            <a:off x="548640" y="1417320"/>
            <a:ext cx="5394960" cy="640080"/>
          </a:xfrm>
          <a:prstGeom prst="rect">
            <a:avLst/>
          </a:prstGeom>
          <a:solidFill>
            <a:srgbClr val="C7000F"/>
          </a:solidFill>
          <a:ln/>
        </p:spPr>
      </p:sp>
      <p:sp>
        <p:nvSpPr>
          <p:cNvPr id="6" name="Text 4"/>
          <p:cNvSpPr/>
          <p:nvPr/>
        </p:nvSpPr>
        <p:spPr>
          <a:xfrm>
            <a:off x="731520" y="1417320"/>
            <a:ext cx="5029200" cy="640080"/>
          </a:xfrm>
          <a:prstGeom prst="rect">
            <a:avLst/>
          </a:prstGeom>
          <a:noFill/>
          <a:ln/>
        </p:spPr>
        <p:txBody>
          <a:bodyPr wrap="square" rtlCol="0" anchor="ctr"/>
          <a:lstStyle/>
          <a:p>
            <a:pPr indent="0" marL="0">
              <a:lnSpc>
                <a:spcPct val="105000"/>
              </a:lnSpc>
              <a:buNone/>
            </a:pPr>
            <a:r>
              <a:rPr lang="en-US" sz="1350" b="1" dirty="0">
                <a:solidFill>
                  <a:srgbClr val="FFFFFF"/>
                </a:solidFill>
                <a:latin typeface="Yu Gothic" pitchFamily="34" charset="0"/>
                <a:ea typeface="Yu Gothic" pitchFamily="34" charset="-122"/>
                <a:cs typeface="Yu Gothic" pitchFamily="34" charset="-120"/>
              </a:rPr>
              <a:t>27条の3（端末値引き規制）の見直し</a:t>
            </a:r>
            <a:endParaRPr lang="en-US" sz="1350" dirty="0"/>
          </a:p>
        </p:txBody>
      </p:sp>
      <p:sp>
        <p:nvSpPr>
          <p:cNvPr id="7" name="Text 5"/>
          <p:cNvSpPr/>
          <p:nvPr/>
        </p:nvSpPr>
        <p:spPr>
          <a:xfrm>
            <a:off x="777240" y="2240280"/>
            <a:ext cx="4937760" cy="2377440"/>
          </a:xfrm>
          <a:prstGeom prst="rect">
            <a:avLst/>
          </a:prstGeom>
          <a:noFill/>
          <a:ln/>
        </p:spPr>
        <p:txBody>
          <a:bodyPr wrap="square" rtlCol="0" anchor="t"/>
          <a:lstStyle/>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現行：端末購入条件の利益提供は上限4万円、新規契約条件は上限2万円</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総務省が2025年12月「専門委員会」を設置し、「必要最小限に見直すべきでは」との論点が提起</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緩和されれば、端末値引き・キャッシュバック競争が再燃する可能性（「ドコモ・楽天中心に値引き競争再燃か」との観測）</a:t>
            </a:r>
            <a:endParaRPr lang="en-US" sz="1100" dirty="0"/>
          </a:p>
        </p:txBody>
      </p:sp>
      <p:sp>
        <p:nvSpPr>
          <p:cNvPr id="8" name="Shape 6"/>
          <p:cNvSpPr/>
          <p:nvPr/>
        </p:nvSpPr>
        <p:spPr>
          <a:xfrm>
            <a:off x="731520" y="4846320"/>
            <a:ext cx="5029200" cy="1234440"/>
          </a:xfrm>
          <a:prstGeom prst="rect">
            <a:avLst/>
          </a:prstGeom>
          <a:solidFill>
            <a:srgbClr val="FFFFFF"/>
          </a:solidFill>
          <a:ln w="12700">
            <a:solidFill>
              <a:srgbClr val="C7000F"/>
            </a:solidFill>
            <a:prstDash val="solid"/>
          </a:ln>
        </p:spPr>
      </p:sp>
      <p:sp>
        <p:nvSpPr>
          <p:cNvPr id="9" name="Text 7"/>
          <p:cNvSpPr/>
          <p:nvPr/>
        </p:nvSpPr>
        <p:spPr>
          <a:xfrm>
            <a:off x="868680" y="4910328"/>
            <a:ext cx="4754880" cy="1097280"/>
          </a:xfrm>
          <a:prstGeom prst="rect">
            <a:avLst/>
          </a:prstGeom>
          <a:noFill/>
          <a:ln/>
        </p:spPr>
        <p:txBody>
          <a:bodyPr wrap="square" rtlCol="0" anchor="ctr"/>
          <a:lstStyle/>
          <a:p>
            <a:pPr indent="0" marL="0">
              <a:lnSpc>
                <a:spcPct val="115000"/>
              </a:lnSpc>
              <a:buNone/>
            </a:pPr>
            <a:r>
              <a:rPr lang="en-US" sz="1050" i="1" dirty="0">
                <a:solidFill>
                  <a:srgbClr val="C7000F"/>
                </a:solidFill>
                <a:latin typeface="Yu Gothic" pitchFamily="34" charset="0"/>
                <a:ea typeface="Yu Gothic" pitchFamily="34" charset="-122"/>
                <a:cs typeface="Yu Gothic" pitchFamily="34" charset="-120"/>
              </a:rPr>
              <a:t>緩和 → 顧客獲得競争が激化。獲得コスト低下と競争激化の両面を想定した設計が必要</a:t>
            </a:r>
            <a:endParaRPr lang="en-US" sz="1050" dirty="0"/>
          </a:p>
        </p:txBody>
      </p:sp>
      <p:sp>
        <p:nvSpPr>
          <p:cNvPr id="10" name="Shape 8"/>
          <p:cNvSpPr/>
          <p:nvPr/>
        </p:nvSpPr>
        <p:spPr>
          <a:xfrm>
            <a:off x="6263640" y="1417320"/>
            <a:ext cx="5394960" cy="4846320"/>
          </a:xfrm>
          <a:prstGeom prst="rect">
            <a:avLst/>
          </a:prstGeom>
          <a:solidFill>
            <a:srgbClr val="FAFAFA"/>
          </a:solidFill>
          <a:ln w="12700">
            <a:solidFill>
              <a:srgbClr val="E3E3E3"/>
            </a:solidFill>
            <a:prstDash val="solid"/>
          </a:ln>
        </p:spPr>
      </p:sp>
      <p:sp>
        <p:nvSpPr>
          <p:cNvPr id="11" name="Shape 9"/>
          <p:cNvSpPr/>
          <p:nvPr/>
        </p:nvSpPr>
        <p:spPr>
          <a:xfrm>
            <a:off x="6263640" y="1417320"/>
            <a:ext cx="5394960" cy="640080"/>
          </a:xfrm>
          <a:prstGeom prst="rect">
            <a:avLst/>
          </a:prstGeom>
          <a:solidFill>
            <a:srgbClr val="1B2A4A"/>
          </a:solidFill>
          <a:ln/>
        </p:spPr>
      </p:sp>
      <p:sp>
        <p:nvSpPr>
          <p:cNvPr id="12" name="Text 10"/>
          <p:cNvSpPr/>
          <p:nvPr/>
        </p:nvSpPr>
        <p:spPr>
          <a:xfrm>
            <a:off x="6446520" y="1417320"/>
            <a:ext cx="5029200" cy="640080"/>
          </a:xfrm>
          <a:prstGeom prst="rect">
            <a:avLst/>
          </a:prstGeom>
          <a:noFill/>
          <a:ln/>
        </p:spPr>
        <p:txBody>
          <a:bodyPr wrap="square" rtlCol="0" anchor="ctr"/>
          <a:lstStyle/>
          <a:p>
            <a:pPr indent="0" marL="0">
              <a:lnSpc>
                <a:spcPct val="105000"/>
              </a:lnSpc>
              <a:buNone/>
            </a:pPr>
            <a:r>
              <a:rPr lang="en-US" sz="1350" b="1" dirty="0">
                <a:solidFill>
                  <a:srgbClr val="FFFFFF"/>
                </a:solidFill>
                <a:latin typeface="Yu Gothic" pitchFamily="34" charset="0"/>
                <a:ea typeface="Yu Gothic" pitchFamily="34" charset="-122"/>
                <a:cs typeface="Yu Gothic" pitchFamily="34" charset="-120"/>
              </a:rPr>
              <a:t>「ホッピング」規制という新論点</a:t>
            </a:r>
            <a:endParaRPr lang="en-US" sz="1350" dirty="0"/>
          </a:p>
        </p:txBody>
      </p:sp>
      <p:sp>
        <p:nvSpPr>
          <p:cNvPr id="13" name="Text 11"/>
          <p:cNvSpPr/>
          <p:nvPr/>
        </p:nvSpPr>
        <p:spPr>
          <a:xfrm>
            <a:off x="6492240" y="2240280"/>
            <a:ext cx="4937760" cy="2377440"/>
          </a:xfrm>
          <a:prstGeom prst="rect">
            <a:avLst/>
          </a:prstGeom>
          <a:noFill/>
          <a:ln/>
        </p:spPr>
        <p:txBody>
          <a:bodyPr wrap="square" rtlCol="0" anchor="t"/>
          <a:lstStyle/>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問題の構造：乗換特典目当てに契約→短期解約を繰り返す行為に、事業者側の持ち出し（赤字）が発生</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2026年1月、ドコモ含む4社が総務省ヒアリングを受けた（第2回専門委員会）</a:t>
            </a:r>
            <a:endParaRPr lang="en-US" sz="1100" dirty="0"/>
          </a:p>
          <a:p>
            <a:pPr marL="342900" indent="-342900">
              <a:lnSpc>
                <a:spcPct val="115000"/>
              </a:lnSpc>
              <a:spcAft>
                <a:spcPts val="1000"/>
              </a:spcAft>
              <a:buSzPct val="100000"/>
              <a:buChar char="•"/>
            </a:pPr>
            <a:r>
              <a:rPr lang="en-US" sz="1100" dirty="0">
                <a:solidFill>
                  <a:srgbClr val="3A3A3A"/>
                </a:solidFill>
                <a:latin typeface="Yu Gothic" pitchFamily="34" charset="0"/>
                <a:ea typeface="Yu Gothic" pitchFamily="34" charset="-122"/>
                <a:cs typeface="Yu Gothic" pitchFamily="34" charset="-120"/>
              </a:rPr>
              <a:t>2026年4月の第6回会議で具体的検討が進行。2026年夏頃に方針決定予定</a:t>
            </a:r>
            <a:endParaRPr lang="en-US" sz="1100" dirty="0"/>
          </a:p>
        </p:txBody>
      </p:sp>
      <p:sp>
        <p:nvSpPr>
          <p:cNvPr id="14" name="Shape 12"/>
          <p:cNvSpPr/>
          <p:nvPr/>
        </p:nvSpPr>
        <p:spPr>
          <a:xfrm>
            <a:off x="6446520" y="4846320"/>
            <a:ext cx="5029200" cy="1234440"/>
          </a:xfrm>
          <a:prstGeom prst="rect">
            <a:avLst/>
          </a:prstGeom>
          <a:solidFill>
            <a:srgbClr val="FFFFFF"/>
          </a:solidFill>
          <a:ln w="12700">
            <a:solidFill>
              <a:srgbClr val="1B2A4A"/>
            </a:solidFill>
            <a:prstDash val="solid"/>
          </a:ln>
        </p:spPr>
      </p:sp>
      <p:sp>
        <p:nvSpPr>
          <p:cNvPr id="15" name="Text 13"/>
          <p:cNvSpPr/>
          <p:nvPr/>
        </p:nvSpPr>
        <p:spPr>
          <a:xfrm>
            <a:off x="6583680" y="4910328"/>
            <a:ext cx="4754880" cy="1097280"/>
          </a:xfrm>
          <a:prstGeom prst="rect">
            <a:avLst/>
          </a:prstGeom>
          <a:noFill/>
          <a:ln/>
        </p:spPr>
        <p:txBody>
          <a:bodyPr wrap="square" rtlCol="0" anchor="ctr"/>
          <a:lstStyle/>
          <a:p>
            <a:pPr indent="0" marL="0">
              <a:lnSpc>
                <a:spcPct val="115000"/>
              </a:lnSpc>
              <a:buNone/>
            </a:pPr>
            <a:r>
              <a:rPr lang="en-US" sz="1050" i="1" dirty="0">
                <a:solidFill>
                  <a:srgbClr val="1B2A4A"/>
                </a:solidFill>
                <a:latin typeface="Yu Gothic" pitchFamily="34" charset="0"/>
                <a:ea typeface="Yu Gothic" pitchFamily="34" charset="-122"/>
                <a:cs typeface="Yu Gothic" pitchFamily="34" charset="-120"/>
              </a:rPr>
              <a:t>強化 → 短期獲得より、顧客との長期的な関係性・エンゲージメントを高める事業の価値が相対的に上がる</a:t>
            </a:r>
            <a:endParaRPr lang="en-US" sz="1050" dirty="0"/>
          </a:p>
        </p:txBody>
      </p:sp>
      <p:sp>
        <p:nvSpPr>
          <p:cNvPr id="16" name="Text 14"/>
          <p:cNvSpPr/>
          <p:nvPr/>
        </p:nvSpPr>
        <p:spPr>
          <a:xfrm>
            <a:off x="365760" y="6537960"/>
            <a:ext cx="6400800" cy="274320"/>
          </a:xfrm>
          <a:prstGeom prst="rect">
            <a:avLst/>
          </a:prstGeom>
          <a:noFill/>
          <a:ln/>
        </p:spPr>
        <p:txBody>
          <a:bodyPr wrap="square" rtlCol="0" anchor="ctr"/>
          <a:lstStyle/>
          <a:p>
            <a:pPr indent="0" marL="0">
              <a:buNone/>
            </a:pPr>
            <a:r>
              <a:rPr lang="en-US" sz="900" dirty="0">
                <a:solidFill>
                  <a:srgbClr val="6E6E6E"/>
                </a:solidFill>
                <a:latin typeface="Yu Gothic" pitchFamily="34" charset="0"/>
                <a:ea typeface="Yu Gothic" pitchFamily="34" charset="-122"/>
                <a:cs typeface="Yu Gothic" pitchFamily="34" charset="-120"/>
              </a:rPr>
              <a:t>ドコモ新規事業インターン ― 検討条件の整理</a:t>
            </a:r>
            <a:endParaRPr lang="en-US" sz="900" dirty="0"/>
          </a:p>
        </p:txBody>
      </p:sp>
      <p:sp>
        <p:nvSpPr>
          <p:cNvPr id="17" name="Text 1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6E"/>
                </a:solidFill>
                <a:latin typeface="Yu Gothic" pitchFamily="34" charset="0"/>
                <a:ea typeface="Yu Gothic" pitchFamily="34" charset="-122"/>
                <a:cs typeface="Yu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indent="0" marL="0">
              <a:buNone/>
            </a:pPr>
            <a:r>
              <a:rPr lang="en-US" sz="2600" b="1" dirty="0">
                <a:solidFill>
                  <a:srgbClr val="1B2A4A"/>
                </a:solidFill>
                <a:latin typeface="Yu Gothic" pitchFamily="34" charset="0"/>
                <a:ea typeface="Yu Gothic" pitchFamily="34" charset="-122"/>
                <a:cs typeface="Yu Gothic" pitchFamily="34" charset="-120"/>
              </a:rPr>
              <a:t>論点④ 利益重視か、トップライン（成長）重視か</a:t>
            </a:r>
            <a:endParaRPr lang="en-US" sz="2600" dirty="0"/>
          </a:p>
        </p:txBody>
      </p:sp>
      <p:sp>
        <p:nvSpPr>
          <p:cNvPr id="3" name="Text 1"/>
          <p:cNvSpPr/>
          <p:nvPr/>
        </p:nvSpPr>
        <p:spPr>
          <a:xfrm>
            <a:off x="548640" y="841248"/>
            <a:ext cx="10972800" cy="320040"/>
          </a:xfrm>
          <a:prstGeom prst="rect">
            <a:avLst/>
          </a:prstGeom>
          <a:noFill/>
          <a:ln/>
        </p:spPr>
        <p:txBody>
          <a:bodyPr wrap="square" rtlCol="0" anchor="ctr"/>
          <a:lstStyle/>
          <a:p>
            <a:pPr indent="0" marL="0">
              <a:buNone/>
            </a:pPr>
            <a:r>
              <a:rPr lang="en-US" sz="1250" dirty="0">
                <a:solidFill>
                  <a:srgbClr val="6E6E6E"/>
                </a:solidFill>
                <a:latin typeface="Yu Gothic" pitchFamily="34" charset="0"/>
                <a:ea typeface="Yu Gothic" pitchFamily="34" charset="-122"/>
                <a:cs typeface="Yu Gothic" pitchFamily="34" charset="-120"/>
              </a:rPr>
              <a:t>短期の財務健全性と中長期の企業価値は、しばしばトレードオフになる</a:t>
            </a:r>
            <a:endParaRPr lang="en-US" sz="1250" dirty="0"/>
          </a:p>
        </p:txBody>
      </p:sp>
      <p:sp>
        <p:nvSpPr>
          <p:cNvPr id="4" name="Shape 2"/>
          <p:cNvSpPr/>
          <p:nvPr/>
        </p:nvSpPr>
        <p:spPr>
          <a:xfrm>
            <a:off x="548640" y="1417320"/>
            <a:ext cx="5394960" cy="3429000"/>
          </a:xfrm>
          <a:prstGeom prst="rect">
            <a:avLst/>
          </a:prstGeom>
          <a:solidFill>
            <a:srgbClr val="FBEBEC"/>
          </a:solidFill>
          <a:ln w="12700">
            <a:solidFill>
              <a:srgbClr val="E3E3E3"/>
            </a:solidFill>
            <a:prstDash val="solid"/>
          </a:ln>
        </p:spPr>
      </p:sp>
      <p:sp>
        <p:nvSpPr>
          <p:cNvPr id="5" name="Text 3"/>
          <p:cNvSpPr/>
          <p:nvPr/>
        </p:nvSpPr>
        <p:spPr>
          <a:xfrm>
            <a:off x="777240" y="1581912"/>
            <a:ext cx="4937760" cy="365760"/>
          </a:xfrm>
          <a:prstGeom prst="rect">
            <a:avLst/>
          </a:prstGeom>
          <a:noFill/>
          <a:ln/>
        </p:spPr>
        <p:txBody>
          <a:bodyPr wrap="square" rtlCol="0" anchor="ctr"/>
          <a:lstStyle/>
          <a:p>
            <a:pPr indent="0" marL="0">
              <a:buNone/>
            </a:pPr>
            <a:r>
              <a:rPr lang="en-US" sz="1400" b="1" dirty="0">
                <a:solidFill>
                  <a:srgbClr val="C7000F"/>
                </a:solidFill>
                <a:latin typeface="Yu Gothic" pitchFamily="34" charset="0"/>
                <a:ea typeface="Yu Gothic" pitchFamily="34" charset="-122"/>
                <a:cs typeface="Yu Gothic" pitchFamily="34" charset="-120"/>
              </a:rPr>
              <a:t>利益重視派の根拠</a:t>
            </a:r>
            <a:endParaRPr lang="en-US" sz="1400" dirty="0"/>
          </a:p>
        </p:txBody>
      </p:sp>
      <p:sp>
        <p:nvSpPr>
          <p:cNvPr id="6" name="Text 4"/>
          <p:cNvSpPr/>
          <p:nvPr/>
        </p:nvSpPr>
        <p:spPr>
          <a:xfrm>
            <a:off x="777240" y="2011680"/>
            <a:ext cx="4937760" cy="2651760"/>
          </a:xfrm>
          <a:prstGeom prst="rect">
            <a:avLst/>
          </a:prstGeom>
          <a:noFill/>
          <a:ln/>
        </p:spPr>
        <p:txBody>
          <a:bodyPr wrap="square" rtlCol="0" anchor="t"/>
          <a:lstStyle/>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2026年3月期は増収減益（営業収益+4%、営業利益▲8%）。コスト増が売上の伸びを相殺</a:t>
            </a:r>
            <a:endParaRPr lang="en-US" sz="1100" dirty="0"/>
          </a:p>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NTTグループ全体で有利子負債/EBITDA倍率を下げる方針。財務規律を重視する空気</a:t>
            </a:r>
            <a:endParaRPr lang="en-US" sz="1100" dirty="0"/>
          </a:p>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ドコモは「実質無借金」という強みを持つ。それを崩してまで投資すべきか</a:t>
            </a:r>
            <a:endParaRPr lang="en-US" sz="1100" dirty="0"/>
          </a:p>
        </p:txBody>
      </p:sp>
      <p:sp>
        <p:nvSpPr>
          <p:cNvPr id="7" name="Shape 5"/>
          <p:cNvSpPr/>
          <p:nvPr/>
        </p:nvSpPr>
        <p:spPr>
          <a:xfrm>
            <a:off x="6263640" y="1417320"/>
            <a:ext cx="5394960" cy="3429000"/>
          </a:xfrm>
          <a:prstGeom prst="rect">
            <a:avLst/>
          </a:prstGeom>
          <a:solidFill>
            <a:srgbClr val="E9EDF5"/>
          </a:solidFill>
          <a:ln w="12700">
            <a:solidFill>
              <a:srgbClr val="E3E3E3"/>
            </a:solidFill>
            <a:prstDash val="solid"/>
          </a:ln>
        </p:spPr>
      </p:sp>
      <p:sp>
        <p:nvSpPr>
          <p:cNvPr id="8" name="Text 6"/>
          <p:cNvSpPr/>
          <p:nvPr/>
        </p:nvSpPr>
        <p:spPr>
          <a:xfrm>
            <a:off x="6492240" y="1581912"/>
            <a:ext cx="4937760" cy="365760"/>
          </a:xfrm>
          <a:prstGeom prst="rect">
            <a:avLst/>
          </a:prstGeom>
          <a:noFill/>
          <a:ln/>
        </p:spPr>
        <p:txBody>
          <a:bodyPr wrap="square" rtlCol="0" anchor="ctr"/>
          <a:lstStyle/>
          <a:p>
            <a:pPr indent="0" marL="0">
              <a:buNone/>
            </a:pPr>
            <a:r>
              <a:rPr lang="en-US" sz="1400" b="1" dirty="0">
                <a:solidFill>
                  <a:srgbClr val="1B2A4A"/>
                </a:solidFill>
                <a:latin typeface="Yu Gothic" pitchFamily="34" charset="0"/>
                <a:ea typeface="Yu Gothic" pitchFamily="34" charset="-122"/>
                <a:cs typeface="Yu Gothic" pitchFamily="34" charset="-120"/>
              </a:rPr>
              <a:t>成長（トップライン）重視派の根拠</a:t>
            </a:r>
            <a:endParaRPr lang="en-US" sz="1400" dirty="0"/>
          </a:p>
        </p:txBody>
      </p:sp>
      <p:sp>
        <p:nvSpPr>
          <p:cNvPr id="9" name="Text 7"/>
          <p:cNvSpPr/>
          <p:nvPr/>
        </p:nvSpPr>
        <p:spPr>
          <a:xfrm>
            <a:off x="6492240" y="2011680"/>
            <a:ext cx="4937760" cy="2651760"/>
          </a:xfrm>
          <a:prstGeom prst="rect">
            <a:avLst/>
          </a:prstGeom>
          <a:noFill/>
          <a:ln/>
        </p:spPr>
        <p:txBody>
          <a:bodyPr wrap="square" rtlCol="0" anchor="t"/>
          <a:lstStyle/>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2030年度「スマートライフ・法人事業収益5兆円」という明確なトップライン目標を自ら掲げている</a:t>
            </a:r>
            <a:endParaRPr lang="en-US" sz="1100" dirty="0"/>
          </a:p>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携帯シェア39.7%は微減傾向。KDDI・楽天モバイルは増加基調でシェア侵食リスクがある</a:t>
            </a:r>
            <a:endParaRPr lang="en-US" sz="1100" dirty="0"/>
          </a:p>
          <a:p>
            <a:pPr marL="342900" indent="-342900">
              <a:lnSpc>
                <a:spcPct val="115000"/>
              </a:lnSpc>
              <a:spcAft>
                <a:spcPts val="800"/>
              </a:spcAft>
              <a:buSzPct val="100000"/>
              <a:buChar char="•"/>
            </a:pPr>
            <a:r>
              <a:rPr lang="en-US" sz="1100" dirty="0">
                <a:solidFill>
                  <a:srgbClr val="3A3A3A"/>
                </a:solidFill>
                <a:latin typeface="Yu Gothic" pitchFamily="34" charset="0"/>
                <a:ea typeface="Yu Gothic" pitchFamily="34" charset="-122"/>
                <a:cs typeface="Yu Gothic" pitchFamily="34" charset="-120"/>
              </a:rPr>
              <a:t>利益重視に偏りすぎると保守的で小粒な事業しか生まれず、イノベーションコースの趣旨に反する</a:t>
            </a:r>
            <a:endParaRPr lang="en-US" sz="1100" dirty="0"/>
          </a:p>
        </p:txBody>
      </p:sp>
      <p:sp>
        <p:nvSpPr>
          <p:cNvPr id="10" name="Shape 8"/>
          <p:cNvSpPr/>
          <p:nvPr/>
        </p:nvSpPr>
        <p:spPr>
          <a:xfrm>
            <a:off x="548640" y="5120640"/>
            <a:ext cx="11109960" cy="1051560"/>
          </a:xfrm>
          <a:prstGeom prst="rect">
            <a:avLst/>
          </a:prstGeom>
          <a:solidFill>
            <a:srgbClr val="EAF5EE"/>
          </a:solidFill>
          <a:ln w="12700">
            <a:solidFill>
              <a:srgbClr val="CFE6D8"/>
            </a:solidFill>
            <a:prstDash val="solid"/>
          </a:ln>
        </p:spPr>
      </p:sp>
      <p:sp>
        <p:nvSpPr>
          <p:cNvPr id="11" name="Text 9"/>
          <p:cNvSpPr/>
          <p:nvPr/>
        </p:nvSpPr>
        <p:spPr>
          <a:xfrm>
            <a:off x="777240" y="5120640"/>
            <a:ext cx="10652760" cy="1051560"/>
          </a:xfrm>
          <a:prstGeom prst="rect">
            <a:avLst/>
          </a:prstGeom>
          <a:noFill/>
          <a:ln/>
        </p:spPr>
        <p:txBody>
          <a:bodyPr wrap="square" rtlCol="0" anchor="ctr"/>
          <a:lstStyle/>
          <a:p>
            <a:pPr indent="0" marL="0">
              <a:lnSpc>
                <a:spcPct val="120000"/>
              </a:lnSpc>
              <a:buNone/>
            </a:pPr>
            <a:r>
              <a:rPr lang="en-US" sz="1250" b="1" dirty="0">
                <a:solidFill>
                  <a:srgbClr val="1E7A4C"/>
                </a:solidFill>
                <a:latin typeface="Yu Gothic" pitchFamily="34" charset="0"/>
                <a:ea typeface="Yu Gothic" pitchFamily="34" charset="-122"/>
                <a:cs typeface="Yu Gothic" pitchFamily="34" charset="-120"/>
              </a:rPr>
              <a:t>問いへの向き合い方：</a:t>
            </a:r>
            <a:pPr indent="0" marL="0">
              <a:lnSpc>
                <a:spcPct val="120000"/>
              </a:lnSpc>
              <a:buNone/>
            </a:pPr>
            <a:r>
              <a:rPr lang="en-US" sz="1150" dirty="0">
                <a:solidFill>
                  <a:srgbClr val="3A3A3A"/>
                </a:solidFill>
                <a:latin typeface="Yu Gothic" pitchFamily="34" charset="0"/>
                <a:ea typeface="Yu Gothic" pitchFamily="34" charset="-122"/>
                <a:cs typeface="Yu Gothic" pitchFamily="34" charset="-120"/>
              </a:rPr>
              <a:t>「利益か成長か」を選ばせるのではなく、提案する新規事業が①段階設計（まず小さく利益率で証明し、その後トップライン拡大）で答えるか、②短期利益を犠牲にする理由を投資回収期間や中期市場規模で説明できるかを問う。</a:t>
            </a:r>
            <a:endParaRPr lang="en-US" sz="1250" dirty="0"/>
          </a:p>
        </p:txBody>
      </p:sp>
      <p:sp>
        <p:nvSpPr>
          <p:cNvPr id="12" name="Text 10"/>
          <p:cNvSpPr/>
          <p:nvPr/>
        </p:nvSpPr>
        <p:spPr>
          <a:xfrm>
            <a:off x="365760" y="6537960"/>
            <a:ext cx="6400800" cy="274320"/>
          </a:xfrm>
          <a:prstGeom prst="rect">
            <a:avLst/>
          </a:prstGeom>
          <a:noFill/>
          <a:ln/>
        </p:spPr>
        <p:txBody>
          <a:bodyPr wrap="square" rtlCol="0" anchor="ctr"/>
          <a:lstStyle/>
          <a:p>
            <a:pPr indent="0" marL="0">
              <a:buNone/>
            </a:pPr>
            <a:r>
              <a:rPr lang="en-US" sz="900" dirty="0">
                <a:solidFill>
                  <a:srgbClr val="6E6E6E"/>
                </a:solidFill>
                <a:latin typeface="Yu Gothic" pitchFamily="34" charset="0"/>
                <a:ea typeface="Yu Gothic" pitchFamily="34" charset="-122"/>
                <a:cs typeface="Yu Gothic" pitchFamily="34" charset="-120"/>
              </a:rPr>
              <a:t>ドコモ新規事業インターン ― 検討条件の整理</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6E6E"/>
                </a:solidFill>
                <a:latin typeface="Yu Gothic" pitchFamily="34" charset="0"/>
                <a:ea typeface="Yu Gothic" pitchFamily="34" charset="-122"/>
                <a:cs typeface="Yu Gothic"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2026-07-22T22:38:42Z</dcterms:created>
  <dcterms:modified xsi:type="dcterms:W3CDTF">2026-07-22T22:38:42Z</dcterms:modified>
</cp:coreProperties>
</file>