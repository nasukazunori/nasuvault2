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病院収容所要時間（分）</c:v>
                </c:pt>
              </c:strCache>
            </c:strRef>
          </c:tx>
          <c:spPr>
            <a:solidFill>
              <a:srgbClr val="B3261E"/>
            </a:solidFill>
            <a:effectLst/>
          </c:spPr>
          <c:invertIfNegative val="0"/>
          <c:dLbls>
            <c:numFmt formatCode="0.0&quot;分&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令和4年</c:v>
                  </c:pt>
                  <c:pt idx="1">
                    <c:v>令和5年</c:v>
                  </c:pt>
                  <c:pt idx="2">
                    <c:v>令和6年</c:v>
                  </c:pt>
                </c:lvl>
              </c:multiLvlStrCache>
            </c:multiLvlStrRef>
          </c:cat>
          <c:val>
            <c:numRef>
              <c:f>Sheet1!$B$2:$B$4</c:f>
              <c:numCache>
                <c:formatCode>General</c:formatCode>
                <c:ptCount val="3"/>
                <c:pt idx="0">
                  <c:v>47.2</c:v>
                </c:pt>
                <c:pt idx="1">
                  <c:v>45.6</c:v>
                </c:pt>
                <c:pt idx="2">
                  <c:v>44.6</c:v>
                </c:pt>
              </c:numCache>
            </c:numRef>
          </c:val>
        </c:ser>
        <c:dLbls>
          <c:numFmt formatCode="0.0&quot;分&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件数</c:v>
                </c:pt>
              </c:strCache>
            </c:strRef>
          </c:tx>
          <c:spPr>
            <a:solidFill>
              <a:srgbClr val="B3261E"/>
            </a:solidFill>
            <a:effectLst/>
          </c:spPr>
          <c:invertIfNegative val="0"/>
          <c:dLbls>
            <c:numFmt formatCode="#,##0&quot;回&quot;"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処置困難</c:v>
                  </c:pt>
                  <c:pt idx="1">
                    <c:v>その他</c:v>
                  </c:pt>
                  <c:pt idx="2">
                    <c:v>ベッド満床</c:v>
                  </c:pt>
                  <c:pt idx="3">
                    <c:v>専門外</c:v>
                  </c:pt>
                  <c:pt idx="4">
                    <c:v>手術中</c:v>
                  </c:pt>
                  <c:pt idx="5">
                    <c:v>医師不在</c:v>
                  </c:pt>
                  <c:pt idx="6">
                    <c:v>理由不明</c:v>
                  </c:pt>
                </c:lvl>
              </c:multiLvlStrCache>
            </c:multiLvlStrRef>
          </c:cat>
          <c:val>
            <c:numRef>
              <c:f>Sheet1!$B$2:$B$8</c:f>
              <c:numCache>
                <c:formatCode>General</c:formatCode>
                <c:ptCount val="7"/>
                <c:pt idx="0">
                  <c:v>12078</c:v>
                </c:pt>
                <c:pt idx="1">
                  <c:v>5383</c:v>
                </c:pt>
                <c:pt idx="2">
                  <c:v>3574</c:v>
                </c:pt>
                <c:pt idx="3">
                  <c:v>1937</c:v>
                </c:pt>
                <c:pt idx="4">
                  <c:v>109</c:v>
                </c:pt>
                <c:pt idx="5">
                  <c:v>47</c:v>
                </c:pt>
                <c:pt idx="6">
                  <c:v>34</c:v>
                </c:pt>
              </c:numCache>
            </c:numRef>
          </c:val>
        </c:ser>
        <c:dLbls>
          <c:numFmt formatCode="#,##0&quot;回&quot;"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1か月後生存率</c:v>
                </c:pt>
              </c:strCache>
            </c:strRef>
          </c:tx>
          <c:spPr>
            <a:solidFill>
              <a:srgbClr val="B3261E"/>
            </a:solidFill>
            <a:effectLst/>
          </c:spPr>
          <c:invertIfNegative val="0"/>
          <c:dLbls>
            <c:numFmt formatCode="0.0&quot;%&quot;"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応急手当なし</c:v>
                  </c:pt>
                  <c:pt idx="1">
                    <c:v>応急手当あり</c:v>
                  </c:pt>
                  <c:pt idx="2">
                    <c:v>うちAED使用</c:v>
                  </c:pt>
                </c:lvl>
              </c:multiLvlStrCache>
            </c:multiLvlStrRef>
          </c:cat>
          <c:val>
            <c:numRef>
              <c:f>Sheet1!$B$2:$B$4</c:f>
              <c:numCache>
                <c:formatCode>General</c:formatCode>
                <c:ptCount val="3"/>
                <c:pt idx="0">
                  <c:v>7.9</c:v>
                </c:pt>
                <c:pt idx="1">
                  <c:v>15.3</c:v>
                </c:pt>
                <c:pt idx="2">
                  <c:v>53.6</c:v>
                </c:pt>
              </c:numCache>
            </c:numRef>
          </c:val>
        </c:ser>
        <c:dLbls>
          <c:numFmt formatCode="0.0&quot;%&quot;"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78240" y="-1828800"/>
            <a:ext cx="5943600" cy="5943600"/>
          </a:xfrm>
          <a:prstGeom prst="ellipse">
            <a:avLst/>
          </a:prstGeom>
          <a:solidFill>
            <a:srgbClr val="FBEFEE"/>
          </a:solidFill>
          <a:ln/>
        </p:spPr>
      </p:sp>
      <p:sp>
        <p:nvSpPr>
          <p:cNvPr id="3" name="Shape 1"/>
          <p:cNvSpPr/>
          <p:nvPr/>
        </p:nvSpPr>
        <p:spPr>
          <a:xfrm>
            <a:off x="-2103120" y="4389120"/>
            <a:ext cx="4754880" cy="4754880"/>
          </a:xfrm>
          <a:prstGeom prst="ellipse">
            <a:avLst/>
          </a:prstGeom>
          <a:solidFill>
            <a:srgbClr val="FBEFEE"/>
          </a:solidFill>
          <a:ln/>
        </p:spPr>
      </p:sp>
      <p:sp>
        <p:nvSpPr>
          <p:cNvPr id="4" name="Shape 2"/>
          <p:cNvSpPr/>
          <p:nvPr/>
        </p:nvSpPr>
        <p:spPr>
          <a:xfrm>
            <a:off x="822960" y="822960"/>
            <a:ext cx="914400" cy="914400"/>
          </a:xfrm>
          <a:prstGeom prst="ellipse">
            <a:avLst/>
          </a:prstGeom>
          <a:solidFill>
            <a:srgbClr val="B3261E"/>
          </a:solidFill>
          <a:ln/>
        </p:spPr>
      </p:sp>
      <p:pic>
        <p:nvPicPr>
          <p:cNvPr id="5" name="Image 0" descr="/tmp/claude-0/-home-user-NasuVault2/6f2142b9-699b-5a57-a1e0-e3cdf04ed45e/scratchpad/pptx_build/icon_ambulance_white.png">    </p:cNvPr>
          <p:cNvPicPr>
            <a:picLocks noChangeAspect="1"/>
          </p:cNvPicPr>
          <p:nvPr/>
        </p:nvPicPr>
        <p:blipFill>
          <a:blip r:embed="rId1"/>
          <a:stretch>
            <a:fillRect/>
          </a:stretch>
        </p:blipFill>
        <p:spPr>
          <a:xfrm>
            <a:off x="923544" y="923544"/>
            <a:ext cx="713232" cy="713232"/>
          </a:xfrm>
          <a:prstGeom prst="rect">
            <a:avLst/>
          </a:prstGeom>
        </p:spPr>
      </p:pic>
      <p:sp>
        <p:nvSpPr>
          <p:cNvPr id="6" name="Text 3"/>
          <p:cNvSpPr/>
          <p:nvPr/>
        </p:nvSpPr>
        <p:spPr>
          <a:xfrm>
            <a:off x="822960" y="2148840"/>
            <a:ext cx="10515600" cy="41148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大貴のドコモインターン　事業検討資料</a:t>
            </a:r>
            <a:endParaRPr lang="en-US" sz="1500" dirty="0"/>
          </a:p>
        </p:txBody>
      </p:sp>
      <p:sp>
        <p:nvSpPr>
          <p:cNvPr id="7" name="Text 4"/>
          <p:cNvSpPr/>
          <p:nvPr/>
        </p:nvSpPr>
        <p:spPr>
          <a:xfrm>
            <a:off x="822960" y="2606040"/>
            <a:ext cx="10515600" cy="1554480"/>
          </a:xfrm>
          <a:prstGeom prst="rect">
            <a:avLst/>
          </a:prstGeom>
          <a:noFill/>
          <a:ln/>
        </p:spPr>
        <p:txBody>
          <a:bodyPr wrap="square" lIns="0" tIns="0" rIns="0" bIns="0" rtlCol="0" anchor="ctr"/>
          <a:lstStyle/>
          <a:p>
            <a:pPr indent="0" marL="0">
              <a:lnSpc>
                <a:spcPct val="105000"/>
              </a:lnSpc>
              <a:buNone/>
            </a:pPr>
            <a:r>
              <a:rPr lang="en-US" sz="4000" b="1" dirty="0">
                <a:solidFill>
                  <a:srgbClr val="000000"/>
                </a:solidFill>
                <a:latin typeface="Cambria" pitchFamily="34" charset="0"/>
                <a:ea typeface="Cambria" pitchFamily="34" charset="-122"/>
                <a:cs typeface="Cambria" pitchFamily="34" charset="-120"/>
              </a:rPr>
              <a:t>救急搬送における「たらい回し」問題の解決に向けて</a:t>
            </a:r>
            <a:endParaRPr lang="en-US" sz="4000" dirty="0"/>
          </a:p>
        </p:txBody>
      </p:sp>
      <p:sp>
        <p:nvSpPr>
          <p:cNvPr id="8" name="Text 5"/>
          <p:cNvSpPr/>
          <p:nvPr/>
        </p:nvSpPr>
        <p:spPr>
          <a:xfrm>
            <a:off x="822960" y="4160520"/>
            <a:ext cx="10058400" cy="457200"/>
          </a:xfrm>
          <a:prstGeom prst="rect">
            <a:avLst/>
          </a:prstGeom>
          <a:noFill/>
          <a:ln/>
        </p:spPr>
        <p:txBody>
          <a:bodyPr wrap="square" lIns="0" tIns="0" rIns="0" bIns="0" rtlCol="0" anchor="ctr"/>
          <a:lstStyle/>
          <a:p>
            <a:pPr indent="0" marL="0">
              <a:buNone/>
            </a:pPr>
            <a:r>
              <a:rPr lang="en-US" sz="1600" dirty="0">
                <a:solidFill>
                  <a:srgbClr val="000000"/>
                </a:solidFill>
                <a:latin typeface="Calibri" pitchFamily="34" charset="0"/>
                <a:ea typeface="Calibri" pitchFamily="34" charset="-122"/>
                <a:cs typeface="Calibri" pitchFamily="34" charset="-120"/>
              </a:rPr>
              <a:t>実現したい世界 ／ 困りごとと困っている人の数 ／ 消防庁の既存の取組と課題</a:t>
            </a:r>
            <a:endParaRPr lang="en-US" sz="1600" dirty="0"/>
          </a:p>
        </p:txBody>
      </p:sp>
      <p:sp>
        <p:nvSpPr>
          <p:cNvPr id="9" name="Text 6"/>
          <p:cNvSpPr/>
          <p:nvPr/>
        </p:nvSpPr>
        <p:spPr>
          <a:xfrm>
            <a:off x="822960" y="6172200"/>
            <a:ext cx="3657600" cy="36576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2026年8月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本日お伝えすること</a:t>
            </a:r>
            <a:endParaRPr lang="en-US" sz="3000" dirty="0"/>
          </a:p>
        </p:txBody>
      </p:sp>
      <p:sp>
        <p:nvSpPr>
          <p:cNvPr id="4" name="Shape 2"/>
          <p:cNvSpPr/>
          <p:nvPr/>
        </p:nvSpPr>
        <p:spPr>
          <a:xfrm>
            <a:off x="640080" y="1828800"/>
            <a:ext cx="685800" cy="685800"/>
          </a:xfrm>
          <a:prstGeom prst="ellipse">
            <a:avLst/>
          </a:prstGeom>
          <a:solidFill>
            <a:srgbClr val="B3261E"/>
          </a:solidFill>
          <a:ln/>
        </p:spPr>
      </p:sp>
      <p:pic>
        <p:nvPicPr>
          <p:cNvPr id="5" name="Image 0" descr="/tmp/claude-0/-home-user-NasuVault2/6f2142b9-699b-5a57-a1e0-e3cdf04ed45e/scratchpad/pptx_build/icon_flag_white.png">    </p:cNvPr>
          <p:cNvPicPr>
            <a:picLocks noChangeAspect="1"/>
          </p:cNvPicPr>
          <p:nvPr/>
        </p:nvPicPr>
        <p:blipFill>
          <a:blip r:embed="rId1"/>
          <a:stretch>
            <a:fillRect/>
          </a:stretch>
        </p:blipFill>
        <p:spPr>
          <a:xfrm>
            <a:off x="715518" y="1904238"/>
            <a:ext cx="534924" cy="534924"/>
          </a:xfrm>
          <a:prstGeom prst="rect">
            <a:avLst/>
          </a:prstGeom>
        </p:spPr>
      </p:pic>
      <p:sp>
        <p:nvSpPr>
          <p:cNvPr id="6" name="Text 3"/>
          <p:cNvSpPr/>
          <p:nvPr/>
        </p:nvSpPr>
        <p:spPr>
          <a:xfrm>
            <a:off x="1508760" y="1783080"/>
            <a:ext cx="914400" cy="36576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01</a:t>
            </a:r>
            <a:endParaRPr lang="en-US" sz="1400" dirty="0"/>
          </a:p>
        </p:txBody>
      </p:sp>
      <p:sp>
        <p:nvSpPr>
          <p:cNvPr id="7" name="Text 4"/>
          <p:cNvSpPr/>
          <p:nvPr/>
        </p:nvSpPr>
        <p:spPr>
          <a:xfrm>
            <a:off x="1508760" y="2011680"/>
            <a:ext cx="9601200" cy="365760"/>
          </a:xfrm>
          <a:prstGeom prst="rect">
            <a:avLst/>
          </a:prstGeom>
          <a:noFill/>
          <a:ln/>
        </p:spPr>
        <p:txBody>
          <a:bodyPr wrap="square" lIns="0" tIns="0" rIns="0" bIns="0" rtlCol="0" anchor="ctr"/>
          <a:lstStyle/>
          <a:p>
            <a:pPr indent="0" marL="0">
              <a:buNone/>
            </a:pPr>
            <a:r>
              <a:rPr lang="en-US" sz="1900" b="1" dirty="0">
                <a:solidFill>
                  <a:srgbClr val="000000"/>
                </a:solidFill>
                <a:latin typeface="Calibri" pitchFamily="34" charset="0"/>
                <a:ea typeface="Calibri" pitchFamily="34" charset="-122"/>
                <a:cs typeface="Calibri" pitchFamily="34" charset="-120"/>
              </a:rPr>
              <a:t>実現したい世界</a:t>
            </a:r>
            <a:endParaRPr lang="en-US" sz="1900" dirty="0"/>
          </a:p>
        </p:txBody>
      </p:sp>
      <p:sp>
        <p:nvSpPr>
          <p:cNvPr id="8" name="Text 5"/>
          <p:cNvSpPr/>
          <p:nvPr/>
        </p:nvSpPr>
        <p:spPr>
          <a:xfrm>
            <a:off x="1508760" y="2395728"/>
            <a:ext cx="9601200" cy="3200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たらい回しのない救急搬送とは何か</a:t>
            </a:r>
            <a:endParaRPr lang="en-US" sz="1250" dirty="0"/>
          </a:p>
        </p:txBody>
      </p:sp>
      <p:sp>
        <p:nvSpPr>
          <p:cNvPr id="9" name="Shape 6"/>
          <p:cNvSpPr/>
          <p:nvPr/>
        </p:nvSpPr>
        <p:spPr>
          <a:xfrm>
            <a:off x="640080" y="2971800"/>
            <a:ext cx="685800" cy="685800"/>
          </a:xfrm>
          <a:prstGeom prst="ellipse">
            <a:avLst/>
          </a:prstGeom>
          <a:solidFill>
            <a:srgbClr val="B3261E"/>
          </a:solidFill>
          <a:ln/>
        </p:spPr>
      </p:sp>
      <p:pic>
        <p:nvPicPr>
          <p:cNvPr id="10" name="Image 1" descr="/tmp/claude-0/-home-user-NasuVault2/6f2142b9-699b-5a57-a1e0-e3cdf04ed45e/scratchpad/pptx_build/icon_alert_white.png">    </p:cNvPr>
          <p:cNvPicPr>
            <a:picLocks noChangeAspect="1"/>
          </p:cNvPicPr>
          <p:nvPr/>
        </p:nvPicPr>
        <p:blipFill>
          <a:blip r:embed="rId2"/>
          <a:stretch>
            <a:fillRect/>
          </a:stretch>
        </p:blipFill>
        <p:spPr>
          <a:xfrm>
            <a:off x="715518" y="3047238"/>
            <a:ext cx="534924" cy="534924"/>
          </a:xfrm>
          <a:prstGeom prst="rect">
            <a:avLst/>
          </a:prstGeom>
        </p:spPr>
      </p:pic>
      <p:sp>
        <p:nvSpPr>
          <p:cNvPr id="11" name="Text 7"/>
          <p:cNvSpPr/>
          <p:nvPr/>
        </p:nvSpPr>
        <p:spPr>
          <a:xfrm>
            <a:off x="1508760" y="2926080"/>
            <a:ext cx="914400" cy="36576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02</a:t>
            </a:r>
            <a:endParaRPr lang="en-US" sz="1400" dirty="0"/>
          </a:p>
        </p:txBody>
      </p:sp>
      <p:sp>
        <p:nvSpPr>
          <p:cNvPr id="12" name="Text 8"/>
          <p:cNvSpPr/>
          <p:nvPr/>
        </p:nvSpPr>
        <p:spPr>
          <a:xfrm>
            <a:off x="1508760" y="3154680"/>
            <a:ext cx="9601200" cy="365760"/>
          </a:xfrm>
          <a:prstGeom prst="rect">
            <a:avLst/>
          </a:prstGeom>
          <a:noFill/>
          <a:ln/>
        </p:spPr>
        <p:txBody>
          <a:bodyPr wrap="square" lIns="0" tIns="0" rIns="0" bIns="0" rtlCol="0" anchor="ctr"/>
          <a:lstStyle/>
          <a:p>
            <a:pPr indent="0" marL="0">
              <a:buNone/>
            </a:pPr>
            <a:r>
              <a:rPr lang="en-US" sz="1900" b="1" dirty="0">
                <a:solidFill>
                  <a:srgbClr val="000000"/>
                </a:solidFill>
                <a:latin typeface="Calibri" pitchFamily="34" charset="0"/>
                <a:ea typeface="Calibri" pitchFamily="34" charset="-122"/>
                <a:cs typeface="Calibri" pitchFamily="34" charset="-120"/>
              </a:rPr>
              <a:t>困りごとと、困っている人の数</a:t>
            </a:r>
            <a:endParaRPr lang="en-US" sz="1900" dirty="0"/>
          </a:p>
        </p:txBody>
      </p:sp>
      <p:sp>
        <p:nvSpPr>
          <p:cNvPr id="13" name="Text 9"/>
          <p:cNvSpPr/>
          <p:nvPr/>
        </p:nvSpPr>
        <p:spPr>
          <a:xfrm>
            <a:off x="1508760" y="3538728"/>
            <a:ext cx="9601200" cy="3200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公的統計に基づく問題の実態と規模</a:t>
            </a:r>
            <a:endParaRPr lang="en-US" sz="1250" dirty="0"/>
          </a:p>
        </p:txBody>
      </p:sp>
      <p:sp>
        <p:nvSpPr>
          <p:cNvPr id="14" name="Shape 10"/>
          <p:cNvSpPr/>
          <p:nvPr/>
        </p:nvSpPr>
        <p:spPr>
          <a:xfrm>
            <a:off x="640080" y="4114800"/>
            <a:ext cx="685800" cy="685800"/>
          </a:xfrm>
          <a:prstGeom prst="ellipse">
            <a:avLst/>
          </a:prstGeom>
          <a:solidFill>
            <a:srgbClr val="B3261E"/>
          </a:solidFill>
          <a:ln/>
        </p:spPr>
      </p:sp>
      <p:pic>
        <p:nvPicPr>
          <p:cNvPr id="15" name="Image 2" descr="/tmp/claude-0/-home-user-NasuVault2/6f2142b9-699b-5a57-a1e0-e3cdf04ed45e/scratchpad/pptx_build/icon_hospitalSymbol_white.png">    </p:cNvPr>
          <p:cNvPicPr>
            <a:picLocks noChangeAspect="1"/>
          </p:cNvPicPr>
          <p:nvPr/>
        </p:nvPicPr>
        <p:blipFill>
          <a:blip r:embed="rId3"/>
          <a:stretch>
            <a:fillRect/>
          </a:stretch>
        </p:blipFill>
        <p:spPr>
          <a:xfrm>
            <a:off x="715518" y="4190238"/>
            <a:ext cx="534924" cy="534924"/>
          </a:xfrm>
          <a:prstGeom prst="rect">
            <a:avLst/>
          </a:prstGeom>
        </p:spPr>
      </p:pic>
      <p:sp>
        <p:nvSpPr>
          <p:cNvPr id="16" name="Text 11"/>
          <p:cNvSpPr/>
          <p:nvPr/>
        </p:nvSpPr>
        <p:spPr>
          <a:xfrm>
            <a:off x="1508760" y="4069080"/>
            <a:ext cx="914400" cy="36576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03</a:t>
            </a:r>
            <a:endParaRPr lang="en-US" sz="1400" dirty="0"/>
          </a:p>
        </p:txBody>
      </p:sp>
      <p:sp>
        <p:nvSpPr>
          <p:cNvPr id="17" name="Text 12"/>
          <p:cNvSpPr/>
          <p:nvPr/>
        </p:nvSpPr>
        <p:spPr>
          <a:xfrm>
            <a:off x="1508760" y="4297680"/>
            <a:ext cx="9601200" cy="365760"/>
          </a:xfrm>
          <a:prstGeom prst="rect">
            <a:avLst/>
          </a:prstGeom>
          <a:noFill/>
          <a:ln/>
        </p:spPr>
        <p:txBody>
          <a:bodyPr wrap="square" lIns="0" tIns="0" rIns="0" bIns="0" rtlCol="0" anchor="ctr"/>
          <a:lstStyle/>
          <a:p>
            <a:pPr indent="0" marL="0">
              <a:buNone/>
            </a:pPr>
            <a:r>
              <a:rPr lang="en-US" sz="1900" b="1" dirty="0">
                <a:solidFill>
                  <a:srgbClr val="000000"/>
                </a:solidFill>
                <a:latin typeface="Calibri" pitchFamily="34" charset="0"/>
                <a:ea typeface="Calibri" pitchFamily="34" charset="-122"/>
                <a:cs typeface="Calibri" pitchFamily="34" charset="-120"/>
              </a:rPr>
              <a:t>すでに実施されている消防庁の取組と課題</a:t>
            </a:r>
            <a:endParaRPr lang="en-US" sz="1900" dirty="0"/>
          </a:p>
        </p:txBody>
      </p:sp>
      <p:sp>
        <p:nvSpPr>
          <p:cNvPr id="18" name="Text 13"/>
          <p:cNvSpPr/>
          <p:nvPr/>
        </p:nvSpPr>
        <p:spPr>
          <a:xfrm>
            <a:off x="1508760" y="4681728"/>
            <a:ext cx="9601200" cy="3200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AI活用・情報連携基盤・搬送ルール整備の現在地</a:t>
            </a:r>
            <a:endParaRPr lang="en-US" sz="1250" dirty="0"/>
          </a:p>
        </p:txBody>
      </p:sp>
      <p:sp>
        <p:nvSpPr>
          <p:cNvPr id="19" name="Shape 14"/>
          <p:cNvSpPr/>
          <p:nvPr/>
        </p:nvSpPr>
        <p:spPr>
          <a:xfrm>
            <a:off x="640080" y="5257800"/>
            <a:ext cx="685800" cy="685800"/>
          </a:xfrm>
          <a:prstGeom prst="ellipse">
            <a:avLst/>
          </a:prstGeom>
          <a:solidFill>
            <a:srgbClr val="B3261E"/>
          </a:solidFill>
          <a:ln/>
        </p:spPr>
      </p:sp>
      <p:pic>
        <p:nvPicPr>
          <p:cNvPr id="20" name="Image 3" descr="/tmp/claude-0/-home-user-NasuVault2/6f2142b9-699b-5a57-a1e0-e3cdf04ed45e/scratchpad/pptx_build/icon_chart_white.png">    </p:cNvPr>
          <p:cNvPicPr>
            <a:picLocks noChangeAspect="1"/>
          </p:cNvPicPr>
          <p:nvPr/>
        </p:nvPicPr>
        <p:blipFill>
          <a:blip r:embed="rId4"/>
          <a:stretch>
            <a:fillRect/>
          </a:stretch>
        </p:blipFill>
        <p:spPr>
          <a:xfrm>
            <a:off x="715518" y="5333238"/>
            <a:ext cx="534924" cy="534924"/>
          </a:xfrm>
          <a:prstGeom prst="rect">
            <a:avLst/>
          </a:prstGeom>
        </p:spPr>
      </p:pic>
      <p:sp>
        <p:nvSpPr>
          <p:cNvPr id="21" name="Text 15"/>
          <p:cNvSpPr/>
          <p:nvPr/>
        </p:nvSpPr>
        <p:spPr>
          <a:xfrm>
            <a:off x="1508760" y="5212080"/>
            <a:ext cx="914400" cy="36576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04</a:t>
            </a:r>
            <a:endParaRPr lang="en-US" sz="1400" dirty="0"/>
          </a:p>
        </p:txBody>
      </p:sp>
      <p:sp>
        <p:nvSpPr>
          <p:cNvPr id="22" name="Text 16"/>
          <p:cNvSpPr/>
          <p:nvPr/>
        </p:nvSpPr>
        <p:spPr>
          <a:xfrm>
            <a:off x="1508760" y="5440680"/>
            <a:ext cx="9601200" cy="365760"/>
          </a:xfrm>
          <a:prstGeom prst="rect">
            <a:avLst/>
          </a:prstGeom>
          <a:noFill/>
          <a:ln/>
        </p:spPr>
        <p:txBody>
          <a:bodyPr wrap="square" lIns="0" tIns="0" rIns="0" bIns="0" rtlCol="0" anchor="ctr"/>
          <a:lstStyle/>
          <a:p>
            <a:pPr indent="0" marL="0">
              <a:buNone/>
            </a:pPr>
            <a:r>
              <a:rPr lang="en-US" sz="1900" b="1" dirty="0">
                <a:solidFill>
                  <a:srgbClr val="000000"/>
                </a:solidFill>
                <a:latin typeface="Calibri" pitchFamily="34" charset="0"/>
                <a:ea typeface="Calibri" pitchFamily="34" charset="-122"/>
                <a:cs typeface="Calibri" pitchFamily="34" charset="-120"/>
              </a:rPr>
              <a:t>まとめ：残された機会</a:t>
            </a:r>
            <a:endParaRPr lang="en-US" sz="1900" dirty="0"/>
          </a:p>
        </p:txBody>
      </p:sp>
      <p:sp>
        <p:nvSpPr>
          <p:cNvPr id="23" name="Text 17"/>
          <p:cNvSpPr/>
          <p:nvPr/>
        </p:nvSpPr>
        <p:spPr>
          <a:xfrm>
            <a:off x="1508760" y="5824728"/>
            <a:ext cx="9601200" cy="3200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既存施策ではカバーされていない領域</a:t>
            </a:r>
            <a:endParaRPr lang="en-US" sz="1250" dirty="0"/>
          </a:p>
        </p:txBody>
      </p:sp>
      <p:sp>
        <p:nvSpPr>
          <p:cNvPr id="24" name="Text 18"/>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VISION</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実現したい世界</a:t>
            </a:r>
            <a:endParaRPr lang="en-US" sz="3000" dirty="0"/>
          </a:p>
        </p:txBody>
      </p:sp>
      <p:sp>
        <p:nvSpPr>
          <p:cNvPr id="4" name="Text 2"/>
          <p:cNvSpPr/>
          <p:nvPr/>
        </p:nvSpPr>
        <p:spPr>
          <a:xfrm>
            <a:off x="548640" y="1508760"/>
            <a:ext cx="11064240" cy="1005840"/>
          </a:xfrm>
          <a:prstGeom prst="rect">
            <a:avLst/>
          </a:prstGeom>
          <a:noFill/>
          <a:ln/>
        </p:spPr>
        <p:txBody>
          <a:bodyPr wrap="square" lIns="0" tIns="0" rIns="0" bIns="0" rtlCol="0" anchor="ctr"/>
          <a:lstStyle/>
          <a:p>
            <a:pPr indent="0" marL="0">
              <a:lnSpc>
                <a:spcPct val="130000"/>
              </a:lnSpc>
              <a:buNone/>
            </a:pPr>
            <a:r>
              <a:rPr lang="en-US" sz="1650" dirty="0">
                <a:solidFill>
                  <a:srgbClr val="000000"/>
                </a:solidFill>
                <a:latin typeface="Calibri" pitchFamily="34" charset="0"/>
                <a:ea typeface="Calibri" pitchFamily="34" charset="-122"/>
                <a:cs typeface="Calibri" pitchFamily="34" charset="-120"/>
              </a:rPr>
              <a:t>救急車が病院に到着してから「収容できません」と断られることのない社会。</a:t>
            </a:r>
            <a:endParaRPr lang="en-US" sz="1650" dirty="0"/>
          </a:p>
          <a:p>
            <a:pPr indent="0" marL="0">
              <a:lnSpc>
                <a:spcPct val="130000"/>
              </a:lnSpc>
              <a:buNone/>
            </a:pPr>
            <a:r>
              <a:rPr lang="en-US" sz="1650" dirty="0">
                <a:solidFill>
                  <a:srgbClr val="000000"/>
                </a:solidFill>
                <a:latin typeface="Calibri" pitchFamily="34" charset="0"/>
                <a:ea typeface="Calibri" pitchFamily="34" charset="-122"/>
                <a:cs typeface="Calibri" pitchFamily="34" charset="-120"/>
              </a:rPr>
              <a:t>救急隊と病院が、患者の状態を正確・リアルタイムに共有し、最初の搬送先で確実に治療を受けられる世界をつくる。</a:t>
            </a:r>
            <a:endParaRPr lang="en-US" sz="1650" dirty="0"/>
          </a:p>
        </p:txBody>
      </p:sp>
      <p:sp>
        <p:nvSpPr>
          <p:cNvPr id="5" name="Shape 3"/>
          <p:cNvSpPr/>
          <p:nvPr/>
        </p:nvSpPr>
        <p:spPr>
          <a:xfrm>
            <a:off x="548640" y="2834640"/>
            <a:ext cx="3520440" cy="2926080"/>
          </a:xfrm>
          <a:prstGeom prst="roundRect">
            <a:avLst>
              <a:gd name="adj" fmla="val 3125"/>
            </a:avLst>
          </a:prstGeom>
          <a:solidFill>
            <a:srgbClr val="FBEFEE"/>
          </a:solidFill>
          <a:ln/>
        </p:spPr>
      </p:sp>
      <p:sp>
        <p:nvSpPr>
          <p:cNvPr id="6" name="Shape 4"/>
          <p:cNvSpPr/>
          <p:nvPr/>
        </p:nvSpPr>
        <p:spPr>
          <a:xfrm>
            <a:off x="868680" y="3154680"/>
            <a:ext cx="822960" cy="822960"/>
          </a:xfrm>
          <a:prstGeom prst="ellipse">
            <a:avLst/>
          </a:prstGeom>
          <a:solidFill>
            <a:srgbClr val="B3261E"/>
          </a:solidFill>
          <a:ln/>
        </p:spPr>
      </p:sp>
      <p:pic>
        <p:nvPicPr>
          <p:cNvPr id="7" name="Image 0" descr="/tmp/claude-0/-home-user-NasuVault2/6f2142b9-699b-5a57-a1e0-e3cdf04ed45e/scratchpad/pptx_build/icon_ambulance_white.png">    </p:cNvPr>
          <p:cNvPicPr>
            <a:picLocks noChangeAspect="1"/>
          </p:cNvPicPr>
          <p:nvPr/>
        </p:nvPicPr>
        <p:blipFill>
          <a:blip r:embed="rId1"/>
          <a:stretch>
            <a:fillRect/>
          </a:stretch>
        </p:blipFill>
        <p:spPr>
          <a:xfrm>
            <a:off x="959206" y="3245206"/>
            <a:ext cx="641909" cy="641909"/>
          </a:xfrm>
          <a:prstGeom prst="rect">
            <a:avLst/>
          </a:prstGeom>
        </p:spPr>
      </p:pic>
      <p:sp>
        <p:nvSpPr>
          <p:cNvPr id="8" name="Text 5"/>
          <p:cNvSpPr/>
          <p:nvPr/>
        </p:nvSpPr>
        <p:spPr>
          <a:xfrm>
            <a:off x="868680" y="4114800"/>
            <a:ext cx="2880360" cy="41148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搬送前</a:t>
            </a:r>
            <a:endParaRPr lang="en-US" sz="1800" dirty="0"/>
          </a:p>
        </p:txBody>
      </p:sp>
      <p:sp>
        <p:nvSpPr>
          <p:cNvPr id="9" name="Text 6"/>
          <p:cNvSpPr/>
          <p:nvPr/>
        </p:nvSpPr>
        <p:spPr>
          <a:xfrm>
            <a:off x="868680" y="4572000"/>
            <a:ext cx="2880360" cy="1005840"/>
          </a:xfrm>
          <a:prstGeom prst="rect">
            <a:avLst/>
          </a:prstGeom>
          <a:noFill/>
          <a:ln/>
        </p:spPr>
        <p:txBody>
          <a:bodyPr wrap="square" lIns="0" tIns="0" rIns="0" bIns="0" rtlCol="0" anchor="ctr"/>
          <a:lstStyle/>
          <a:p>
            <a:pPr indent="0" marL="0">
              <a:lnSpc>
                <a:spcPct val="125000"/>
              </a:lnSpc>
              <a:buNone/>
            </a:pPr>
            <a:r>
              <a:rPr lang="en-US" sz="1300" dirty="0">
                <a:solidFill>
                  <a:srgbClr val="000000"/>
                </a:solidFill>
                <a:latin typeface="Calibri" pitchFamily="34" charset="0"/>
                <a:ea typeface="Calibri" pitchFamily="34" charset="-122"/>
                <a:cs typeface="Calibri" pitchFamily="34" charset="-120"/>
              </a:rPr>
              <a:t>現場で得た症状・バイタル・既往歴が、迷わず正確に病院へ伝わる</a:t>
            </a:r>
            <a:endParaRPr lang="en-US" sz="1300" dirty="0"/>
          </a:p>
        </p:txBody>
      </p:sp>
      <p:sp>
        <p:nvSpPr>
          <p:cNvPr id="10" name="Shape 7"/>
          <p:cNvSpPr/>
          <p:nvPr/>
        </p:nvSpPr>
        <p:spPr>
          <a:xfrm>
            <a:off x="4343400" y="2834640"/>
            <a:ext cx="3520440" cy="2926080"/>
          </a:xfrm>
          <a:prstGeom prst="roundRect">
            <a:avLst>
              <a:gd name="adj" fmla="val 3125"/>
            </a:avLst>
          </a:prstGeom>
          <a:solidFill>
            <a:srgbClr val="FBEFEE"/>
          </a:solidFill>
          <a:ln/>
        </p:spPr>
      </p:sp>
      <p:sp>
        <p:nvSpPr>
          <p:cNvPr id="11" name="Shape 8"/>
          <p:cNvSpPr/>
          <p:nvPr/>
        </p:nvSpPr>
        <p:spPr>
          <a:xfrm>
            <a:off x="4663440" y="3154680"/>
            <a:ext cx="822960" cy="822960"/>
          </a:xfrm>
          <a:prstGeom prst="ellipse">
            <a:avLst/>
          </a:prstGeom>
          <a:solidFill>
            <a:srgbClr val="B3261E"/>
          </a:solidFill>
          <a:ln/>
        </p:spPr>
      </p:sp>
      <p:pic>
        <p:nvPicPr>
          <p:cNvPr id="12" name="Image 1" descr="/tmp/claude-0/-home-user-NasuVault2/6f2142b9-699b-5a57-a1e0-e3cdf04ed45e/scratchpad/pptx_build/icon_hospital_white.png">    </p:cNvPr>
          <p:cNvPicPr>
            <a:picLocks noChangeAspect="1"/>
          </p:cNvPicPr>
          <p:nvPr/>
        </p:nvPicPr>
        <p:blipFill>
          <a:blip r:embed="rId2"/>
          <a:stretch>
            <a:fillRect/>
          </a:stretch>
        </p:blipFill>
        <p:spPr>
          <a:xfrm>
            <a:off x="4753966" y="3245206"/>
            <a:ext cx="641909" cy="641909"/>
          </a:xfrm>
          <a:prstGeom prst="rect">
            <a:avLst/>
          </a:prstGeom>
        </p:spPr>
      </p:pic>
      <p:sp>
        <p:nvSpPr>
          <p:cNvPr id="13" name="Text 9"/>
          <p:cNvSpPr/>
          <p:nvPr/>
        </p:nvSpPr>
        <p:spPr>
          <a:xfrm>
            <a:off x="4663440" y="4114800"/>
            <a:ext cx="2880360" cy="41148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搬送先選定</a:t>
            </a:r>
            <a:endParaRPr lang="en-US" sz="1800" dirty="0"/>
          </a:p>
        </p:txBody>
      </p:sp>
      <p:sp>
        <p:nvSpPr>
          <p:cNvPr id="14" name="Text 10"/>
          <p:cNvSpPr/>
          <p:nvPr/>
        </p:nvSpPr>
        <p:spPr>
          <a:xfrm>
            <a:off x="4663440" y="4572000"/>
            <a:ext cx="2880360" cy="1005840"/>
          </a:xfrm>
          <a:prstGeom prst="rect">
            <a:avLst/>
          </a:prstGeom>
          <a:noFill/>
          <a:ln/>
        </p:spPr>
        <p:txBody>
          <a:bodyPr wrap="square" lIns="0" tIns="0" rIns="0" bIns="0" rtlCol="0" anchor="ctr"/>
          <a:lstStyle/>
          <a:p>
            <a:pPr indent="0" marL="0">
              <a:lnSpc>
                <a:spcPct val="125000"/>
              </a:lnSpc>
              <a:buNone/>
            </a:pPr>
            <a:r>
              <a:rPr lang="en-US" sz="1300" dirty="0">
                <a:solidFill>
                  <a:srgbClr val="000000"/>
                </a:solidFill>
                <a:latin typeface="Calibri" pitchFamily="34" charset="0"/>
                <a:ea typeface="Calibri" pitchFamily="34" charset="-122"/>
                <a:cs typeface="Calibri" pitchFamily="34" charset="-120"/>
              </a:rPr>
              <a:t>病院側の受入れ可否・専門対応力がリアルタイムに分かり、行き先のミスマッチが起きない</a:t>
            </a:r>
            <a:endParaRPr lang="en-US" sz="1300" dirty="0"/>
          </a:p>
        </p:txBody>
      </p:sp>
      <p:sp>
        <p:nvSpPr>
          <p:cNvPr id="15" name="Shape 11"/>
          <p:cNvSpPr/>
          <p:nvPr/>
        </p:nvSpPr>
        <p:spPr>
          <a:xfrm>
            <a:off x="8138160" y="2834640"/>
            <a:ext cx="3520440" cy="2926080"/>
          </a:xfrm>
          <a:prstGeom prst="roundRect">
            <a:avLst>
              <a:gd name="adj" fmla="val 3125"/>
            </a:avLst>
          </a:prstGeom>
          <a:solidFill>
            <a:srgbClr val="FBEFEE"/>
          </a:solidFill>
          <a:ln/>
        </p:spPr>
      </p:sp>
      <p:sp>
        <p:nvSpPr>
          <p:cNvPr id="16" name="Shape 12"/>
          <p:cNvSpPr/>
          <p:nvPr/>
        </p:nvSpPr>
        <p:spPr>
          <a:xfrm>
            <a:off x="8458200" y="3154680"/>
            <a:ext cx="822960" cy="822960"/>
          </a:xfrm>
          <a:prstGeom prst="ellipse">
            <a:avLst/>
          </a:prstGeom>
          <a:solidFill>
            <a:srgbClr val="B3261E"/>
          </a:solidFill>
          <a:ln/>
        </p:spPr>
      </p:sp>
      <p:pic>
        <p:nvPicPr>
          <p:cNvPr id="17" name="Image 2" descr="/tmp/claude-0/-home-user-NasuVault2/6f2142b9-699b-5a57-a1e0-e3cdf04ed45e/scratchpad/pptx_build/icon_heartbeat_white.png">    </p:cNvPr>
          <p:cNvPicPr>
            <a:picLocks noChangeAspect="1"/>
          </p:cNvPicPr>
          <p:nvPr/>
        </p:nvPicPr>
        <p:blipFill>
          <a:blip r:embed="rId3"/>
          <a:stretch>
            <a:fillRect/>
          </a:stretch>
        </p:blipFill>
        <p:spPr>
          <a:xfrm>
            <a:off x="8548726" y="3245206"/>
            <a:ext cx="641909" cy="641909"/>
          </a:xfrm>
          <a:prstGeom prst="rect">
            <a:avLst/>
          </a:prstGeom>
        </p:spPr>
      </p:pic>
      <p:sp>
        <p:nvSpPr>
          <p:cNvPr id="18" name="Text 13"/>
          <p:cNvSpPr/>
          <p:nvPr/>
        </p:nvSpPr>
        <p:spPr>
          <a:xfrm>
            <a:off x="8458200" y="4114800"/>
            <a:ext cx="2880360" cy="41148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処置・予後</a:t>
            </a:r>
            <a:endParaRPr lang="en-US" sz="1800" dirty="0"/>
          </a:p>
        </p:txBody>
      </p:sp>
      <p:sp>
        <p:nvSpPr>
          <p:cNvPr id="19" name="Text 14"/>
          <p:cNvSpPr/>
          <p:nvPr/>
        </p:nvSpPr>
        <p:spPr>
          <a:xfrm>
            <a:off x="8458200" y="4572000"/>
            <a:ext cx="2880360" cy="1005840"/>
          </a:xfrm>
          <a:prstGeom prst="rect">
            <a:avLst/>
          </a:prstGeom>
          <a:noFill/>
          <a:ln/>
        </p:spPr>
        <p:txBody>
          <a:bodyPr wrap="square" lIns="0" tIns="0" rIns="0" bIns="0" rtlCol="0" anchor="ctr"/>
          <a:lstStyle/>
          <a:p>
            <a:pPr indent="0" marL="0">
              <a:lnSpc>
                <a:spcPct val="125000"/>
              </a:lnSpc>
              <a:buNone/>
            </a:pPr>
            <a:r>
              <a:rPr lang="en-US" sz="1300" dirty="0">
                <a:solidFill>
                  <a:srgbClr val="000000"/>
                </a:solidFill>
                <a:latin typeface="Calibri" pitchFamily="34" charset="0"/>
                <a:ea typeface="Calibri" pitchFamily="34" charset="-122"/>
                <a:cs typeface="Calibri" pitchFamily="34" charset="-120"/>
              </a:rPr>
              <a:t>「処置困難」による再搬送（転送）がなくなり、防げる時間のロスと防げる死をなくす</a:t>
            </a:r>
            <a:endParaRPr lang="en-US" sz="1300" dirty="0"/>
          </a:p>
        </p:txBody>
      </p:sp>
      <p:sp>
        <p:nvSpPr>
          <p:cNvPr id="20" name="Text 15"/>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PROBLEM 01</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救急搬送の現状 ― 増え続ける件数、延び続ける時間</a:t>
            </a:r>
            <a:endParaRPr lang="en-US" sz="3000" dirty="0"/>
          </a:p>
        </p:txBody>
      </p:sp>
      <p:sp>
        <p:nvSpPr>
          <p:cNvPr id="4" name="Shape 2"/>
          <p:cNvSpPr/>
          <p:nvPr/>
        </p:nvSpPr>
        <p:spPr>
          <a:xfrm>
            <a:off x="548640" y="1600200"/>
            <a:ext cx="3566160" cy="1828800"/>
          </a:xfrm>
          <a:prstGeom prst="roundRect">
            <a:avLst>
              <a:gd name="adj" fmla="val 4000"/>
            </a:avLst>
          </a:prstGeom>
          <a:solidFill>
            <a:srgbClr val="FBEFEE"/>
          </a:solidFill>
          <a:ln/>
        </p:spPr>
      </p:sp>
      <p:sp>
        <p:nvSpPr>
          <p:cNvPr id="5" name="Text 3"/>
          <p:cNvSpPr/>
          <p:nvPr/>
        </p:nvSpPr>
        <p:spPr>
          <a:xfrm>
            <a:off x="777240" y="1764792"/>
            <a:ext cx="3108960" cy="548640"/>
          </a:xfrm>
          <a:prstGeom prst="rect">
            <a:avLst/>
          </a:prstGeom>
          <a:noFill/>
          <a:ln/>
        </p:spPr>
        <p:txBody>
          <a:bodyPr wrap="square" lIns="0" tIns="0" rIns="0" bIns="0" rtlCol="0" anchor="b"/>
          <a:lstStyle/>
          <a:p>
            <a:pPr indent="0" marL="0">
              <a:buNone/>
            </a:pPr>
            <a:r>
              <a:rPr lang="en-US" sz="3400" b="1" dirty="0">
                <a:solidFill>
                  <a:srgbClr val="000000"/>
                </a:solidFill>
                <a:latin typeface="Cambria" pitchFamily="34" charset="0"/>
                <a:ea typeface="Cambria" pitchFamily="34" charset="-122"/>
                <a:cs typeface="Cambria" pitchFamily="34" charset="-120"/>
              </a:rPr>
              <a:t>771.8</a:t>
            </a:r>
            <a:pPr indent="0" marL="0">
              <a:buNone/>
            </a:pPr>
            <a:r>
              <a:rPr lang="en-US" sz="1600" b="1" dirty="0">
                <a:solidFill>
                  <a:srgbClr val="000000"/>
                </a:solidFill>
                <a:latin typeface="Cambria" pitchFamily="34" charset="0"/>
                <a:ea typeface="Cambria" pitchFamily="34" charset="-122"/>
                <a:cs typeface="Cambria" pitchFamily="34" charset="-120"/>
              </a:rPr>
              <a:t>万件</a:t>
            </a:r>
            <a:endParaRPr lang="en-US" sz="3400" dirty="0"/>
          </a:p>
        </p:txBody>
      </p:sp>
      <p:sp>
        <p:nvSpPr>
          <p:cNvPr id="6" name="Text 4"/>
          <p:cNvSpPr/>
          <p:nvPr/>
        </p:nvSpPr>
        <p:spPr>
          <a:xfrm>
            <a:off x="777240" y="2350008"/>
            <a:ext cx="310896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救急出動件数（令和6年中）</a:t>
            </a:r>
            <a:endParaRPr lang="en-US" sz="1300" dirty="0"/>
          </a:p>
        </p:txBody>
      </p:sp>
      <p:sp>
        <p:nvSpPr>
          <p:cNvPr id="7" name="Text 5"/>
          <p:cNvSpPr/>
          <p:nvPr/>
        </p:nvSpPr>
        <p:spPr>
          <a:xfrm>
            <a:off x="777240" y="2651760"/>
            <a:ext cx="3108960" cy="64008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前年比+1.0%・過去最多</a:t>
            </a:r>
            <a:endParaRPr lang="en-US" sz="1050" dirty="0"/>
          </a:p>
          <a:p>
            <a:pPr indent="0" marL="0">
              <a:buNone/>
            </a:pPr>
            <a:r>
              <a:rPr lang="en-US" sz="1050" dirty="0">
                <a:solidFill>
                  <a:srgbClr val="000000"/>
                </a:solidFill>
                <a:latin typeface="Calibri" pitchFamily="34" charset="0"/>
                <a:ea typeface="Calibri" pitchFamily="34" charset="-122"/>
                <a:cs typeface="Calibri" pitchFamily="34" charset="-120"/>
              </a:rPr>
              <a:t>約4.1秒に1回の割合で出動</a:t>
            </a:r>
            <a:endParaRPr lang="en-US" sz="1050" dirty="0"/>
          </a:p>
        </p:txBody>
      </p:sp>
      <p:sp>
        <p:nvSpPr>
          <p:cNvPr id="8" name="Shape 6"/>
          <p:cNvSpPr/>
          <p:nvPr/>
        </p:nvSpPr>
        <p:spPr>
          <a:xfrm>
            <a:off x="4297680" y="1600200"/>
            <a:ext cx="3566160" cy="1828800"/>
          </a:xfrm>
          <a:prstGeom prst="roundRect">
            <a:avLst>
              <a:gd name="adj" fmla="val 4000"/>
            </a:avLst>
          </a:prstGeom>
          <a:solidFill>
            <a:srgbClr val="FBEFEE"/>
          </a:solidFill>
          <a:ln/>
        </p:spPr>
      </p:sp>
      <p:sp>
        <p:nvSpPr>
          <p:cNvPr id="9" name="Text 7"/>
          <p:cNvSpPr/>
          <p:nvPr/>
        </p:nvSpPr>
        <p:spPr>
          <a:xfrm>
            <a:off x="4526280" y="1764792"/>
            <a:ext cx="3108960" cy="548640"/>
          </a:xfrm>
          <a:prstGeom prst="rect">
            <a:avLst/>
          </a:prstGeom>
          <a:noFill/>
          <a:ln/>
        </p:spPr>
        <p:txBody>
          <a:bodyPr wrap="square" lIns="0" tIns="0" rIns="0" bIns="0" rtlCol="0" anchor="b"/>
          <a:lstStyle/>
          <a:p>
            <a:pPr indent="0" marL="0">
              <a:buNone/>
            </a:pPr>
            <a:r>
              <a:rPr lang="en-US" sz="3400" b="1" dirty="0">
                <a:solidFill>
                  <a:srgbClr val="000000"/>
                </a:solidFill>
                <a:latin typeface="Cambria" pitchFamily="34" charset="0"/>
                <a:ea typeface="Cambria" pitchFamily="34" charset="-122"/>
                <a:cs typeface="Cambria" pitchFamily="34" charset="-120"/>
              </a:rPr>
              <a:t>676.9</a:t>
            </a:r>
            <a:pPr indent="0" marL="0">
              <a:buNone/>
            </a:pPr>
            <a:r>
              <a:rPr lang="en-US" sz="1600" b="1" dirty="0">
                <a:solidFill>
                  <a:srgbClr val="000000"/>
                </a:solidFill>
                <a:latin typeface="Cambria" pitchFamily="34" charset="0"/>
                <a:ea typeface="Cambria" pitchFamily="34" charset="-122"/>
                <a:cs typeface="Cambria" pitchFamily="34" charset="-120"/>
              </a:rPr>
              <a:t>万人</a:t>
            </a:r>
            <a:endParaRPr lang="en-US" sz="3400" dirty="0"/>
          </a:p>
        </p:txBody>
      </p:sp>
      <p:sp>
        <p:nvSpPr>
          <p:cNvPr id="10" name="Text 8"/>
          <p:cNvSpPr/>
          <p:nvPr/>
        </p:nvSpPr>
        <p:spPr>
          <a:xfrm>
            <a:off x="4526280" y="2350008"/>
            <a:ext cx="310896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救急搬送人員（令和6年中）</a:t>
            </a:r>
            <a:endParaRPr lang="en-US" sz="1300" dirty="0"/>
          </a:p>
        </p:txBody>
      </p:sp>
      <p:sp>
        <p:nvSpPr>
          <p:cNvPr id="11" name="Text 9"/>
          <p:cNvSpPr/>
          <p:nvPr/>
        </p:nvSpPr>
        <p:spPr>
          <a:xfrm>
            <a:off x="4526280" y="2651760"/>
            <a:ext cx="3108960" cy="64008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前年比+1.9%・過去最多</a:t>
            </a:r>
            <a:endParaRPr lang="en-US" sz="1050" dirty="0"/>
          </a:p>
        </p:txBody>
      </p:sp>
      <p:sp>
        <p:nvSpPr>
          <p:cNvPr id="12" name="Shape 10"/>
          <p:cNvSpPr/>
          <p:nvPr/>
        </p:nvSpPr>
        <p:spPr>
          <a:xfrm>
            <a:off x="8046720" y="1600200"/>
            <a:ext cx="3566160" cy="1828800"/>
          </a:xfrm>
          <a:prstGeom prst="roundRect">
            <a:avLst>
              <a:gd name="adj" fmla="val 4000"/>
            </a:avLst>
          </a:prstGeom>
          <a:solidFill>
            <a:srgbClr val="FBEFEE"/>
          </a:solidFill>
          <a:ln/>
        </p:spPr>
      </p:sp>
      <p:sp>
        <p:nvSpPr>
          <p:cNvPr id="13" name="Text 11"/>
          <p:cNvSpPr/>
          <p:nvPr/>
        </p:nvSpPr>
        <p:spPr>
          <a:xfrm>
            <a:off x="8275320" y="1764792"/>
            <a:ext cx="3108960" cy="548640"/>
          </a:xfrm>
          <a:prstGeom prst="rect">
            <a:avLst/>
          </a:prstGeom>
          <a:noFill/>
          <a:ln/>
        </p:spPr>
        <p:txBody>
          <a:bodyPr wrap="square" lIns="0" tIns="0" rIns="0" bIns="0" rtlCol="0" anchor="b"/>
          <a:lstStyle/>
          <a:p>
            <a:pPr indent="0" marL="0">
              <a:buNone/>
            </a:pPr>
            <a:r>
              <a:rPr lang="en-US" sz="3400" b="1" dirty="0">
                <a:solidFill>
                  <a:srgbClr val="000000"/>
                </a:solidFill>
                <a:latin typeface="Cambria" pitchFamily="34" charset="0"/>
                <a:ea typeface="Cambria" pitchFamily="34" charset="-122"/>
                <a:cs typeface="Cambria" pitchFamily="34" charset="-120"/>
              </a:rPr>
              <a:t>9.8</a:t>
            </a:r>
            <a:pPr indent="0" marL="0">
              <a:buNone/>
            </a:pPr>
            <a:r>
              <a:rPr lang="en-US" sz="1600" b="1" dirty="0">
                <a:solidFill>
                  <a:srgbClr val="000000"/>
                </a:solidFill>
                <a:latin typeface="Cambria" pitchFamily="34" charset="0"/>
                <a:ea typeface="Cambria" pitchFamily="34" charset="-122"/>
                <a:cs typeface="Cambria" pitchFamily="34" charset="-120"/>
              </a:rPr>
              <a:t>分</a:t>
            </a:r>
            <a:endParaRPr lang="en-US" sz="3400" dirty="0"/>
          </a:p>
        </p:txBody>
      </p:sp>
      <p:sp>
        <p:nvSpPr>
          <p:cNvPr id="14" name="Text 12"/>
          <p:cNvSpPr/>
          <p:nvPr/>
        </p:nvSpPr>
        <p:spPr>
          <a:xfrm>
            <a:off x="8275320" y="2350008"/>
            <a:ext cx="310896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現場到着所要時間（平均）</a:t>
            </a:r>
            <a:endParaRPr lang="en-US" sz="1300" dirty="0"/>
          </a:p>
        </p:txBody>
      </p:sp>
      <p:sp>
        <p:nvSpPr>
          <p:cNvPr id="15" name="Text 13"/>
          <p:cNvSpPr/>
          <p:nvPr/>
        </p:nvSpPr>
        <p:spPr>
          <a:xfrm>
            <a:off x="8275320" y="2651760"/>
            <a:ext cx="3108960" cy="64008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前年約10.0分</a:t>
            </a:r>
            <a:endParaRPr lang="en-US" sz="1050" dirty="0"/>
          </a:p>
          <a:p>
            <a:pPr indent="0" marL="0">
              <a:buNone/>
            </a:pPr>
            <a:r>
              <a:rPr lang="en-US" sz="1050" dirty="0">
                <a:solidFill>
                  <a:srgbClr val="000000"/>
                </a:solidFill>
                <a:latin typeface="Calibri" pitchFamily="34" charset="0"/>
                <a:ea typeface="Calibri" pitchFamily="34" charset="-122"/>
                <a:cs typeface="Calibri" pitchFamily="34" charset="-120"/>
              </a:rPr>
              <a:t>コロナ前(令和元年)比 +1.1分</a:t>
            </a:r>
            <a:endParaRPr lang="en-US" sz="1050" dirty="0"/>
          </a:p>
        </p:txBody>
      </p:sp>
      <p:sp>
        <p:nvSpPr>
          <p:cNvPr id="16" name="Text 14"/>
          <p:cNvSpPr/>
          <p:nvPr/>
        </p:nvSpPr>
        <p:spPr>
          <a:xfrm>
            <a:off x="548640" y="3703320"/>
            <a:ext cx="8229600" cy="32004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病院収容所要時間の推移（119番通報から医師への引き継ぎまでの平均時間）</a:t>
            </a:r>
            <a:endParaRPr lang="en-US" sz="1350" dirty="0"/>
          </a:p>
        </p:txBody>
      </p:sp>
      <p:sp>
        <p:nvSpPr>
          <p:cNvPr id="17" name="Text 15"/>
          <p:cNvSpPr/>
          <p:nvPr/>
        </p:nvSpPr>
        <p:spPr>
          <a:xfrm>
            <a:off x="548640" y="4023360"/>
            <a:ext cx="822960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※コロナ前の令和元年は約39.5分。令和6年はそれより約5.1分長い水準で推移</a:t>
            </a:r>
            <a:endParaRPr lang="en-US" sz="1050" dirty="0"/>
          </a:p>
        </p:txBody>
      </p:sp>
      <p:graphicFrame>
        <p:nvGraphicFramePr>
          <p:cNvPr id="18" name="Chart 0" descr=""/>
          <p:cNvGraphicFramePr/>
          <p:nvPr/>
        </p:nvGraphicFramePr>
        <p:xfrm>
          <a:off x="548640" y="4343400"/>
          <a:ext cx="7863840" cy="214884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8732520" y="4343400"/>
            <a:ext cx="2880360" cy="2148840"/>
          </a:xfrm>
          <a:prstGeom prst="roundRect">
            <a:avLst>
              <a:gd name="adj" fmla="val 3404"/>
            </a:avLst>
          </a:prstGeom>
          <a:solidFill>
            <a:srgbClr val="FBEFEE"/>
          </a:solidFill>
          <a:ln/>
        </p:spPr>
      </p:sp>
      <p:sp>
        <p:nvSpPr>
          <p:cNvPr id="20" name="Text 17"/>
          <p:cNvSpPr/>
          <p:nvPr/>
        </p:nvSpPr>
        <p:spPr>
          <a:xfrm>
            <a:off x="9006840" y="4526280"/>
            <a:ext cx="2377440" cy="1828800"/>
          </a:xfrm>
          <a:prstGeom prst="rect">
            <a:avLst/>
          </a:prstGeom>
          <a:noFill/>
          <a:ln/>
        </p:spPr>
        <p:txBody>
          <a:bodyPr wrap="square" lIns="0" tIns="0" rIns="0" bIns="0" rtlCol="0" anchor="ctr"/>
          <a:lstStyle/>
          <a:p>
            <a:pPr indent="0" marL="0">
              <a:lnSpc>
                <a:spcPct val="120000"/>
              </a:lnSpc>
              <a:buNone/>
            </a:pPr>
            <a:r>
              <a:rPr lang="en-US" sz="1150" dirty="0">
                <a:solidFill>
                  <a:srgbClr val="000000"/>
                </a:solidFill>
                <a:latin typeface="Calibri" pitchFamily="34" charset="0"/>
                <a:ea typeface="Calibri" pitchFamily="34" charset="-122"/>
                <a:cs typeface="Calibri" pitchFamily="34" charset="-120"/>
              </a:rPr>
              <a:t>全国の救急需要は
</a:t>
            </a:r>
            <a:endParaRPr lang="en-US" sz="1150" dirty="0"/>
          </a:p>
          <a:p>
            <a:pPr indent="0" marL="0">
              <a:lnSpc>
                <a:spcPct val="120000"/>
              </a:lnSpc>
              <a:buNone/>
            </a:pPr>
            <a:r>
              <a:rPr lang="en-US" sz="1150" b="1" dirty="0">
                <a:solidFill>
                  <a:srgbClr val="000000"/>
                </a:solidFill>
                <a:latin typeface="Calibri" pitchFamily="34" charset="0"/>
                <a:ea typeface="Calibri" pitchFamily="34" charset="-122"/>
                <a:cs typeface="Calibri" pitchFamily="34" charset="-120"/>
              </a:rPr>
              <a:t>令和12年まで増加見込み</a:t>
            </a:r>
            <a:endParaRPr lang="en-US" sz="1150" dirty="0"/>
          </a:p>
          <a:p>
            <a:pPr indent="0" marL="0">
              <a:lnSpc>
                <a:spcPct val="120000"/>
              </a:lnSpc>
              <a:buNone/>
            </a:pPr>
            <a:r>
              <a:rPr lang="en-US" sz="1150" dirty="0">
                <a:solidFill>
                  <a:srgbClr val="000000"/>
                </a:solidFill>
                <a:latin typeface="Calibri" pitchFamily="34" charset="0"/>
                <a:ea typeface="Calibri" pitchFamily="34" charset="-122"/>
                <a:cs typeface="Calibri" pitchFamily="34" charset="-120"/>
              </a:rPr>
              <a:t>消防庁は、需要増に伴う搬送時間の延伸と、それによる救命率低下への対策が必要と指摘</a:t>
            </a:r>
            <a:endParaRPr lang="en-US" sz="1150" dirty="0"/>
          </a:p>
        </p:txBody>
      </p:sp>
      <p:sp>
        <p:nvSpPr>
          <p:cNvPr id="21" name="Text 18"/>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出典：総務省消防庁「令和7年版 消防白書」第2章第5節「救急体制」 https://www.fdma.go.jp/publication/hakusho/r7/69377.html</a:t>
            </a:r>
            <a:endParaRPr lang="en-US" sz="900" dirty="0"/>
          </a:p>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総務省消防庁「令和6年版 消防白書」第2章第5節「救急体制」 https://www.fdma.go.jp/publication/hakusho/r6/chapter2/section5/68130.html</a:t>
            </a:r>
            <a:endParaRPr lang="en-US" sz="900" dirty="0"/>
          </a:p>
        </p:txBody>
      </p:sp>
      <p:sp>
        <p:nvSpPr>
          <p:cNvPr id="22" name="Text 19"/>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PROBLEM 02</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「転送」― 病院に着いてから断られる、年23,082人</a:t>
            </a:r>
            <a:endParaRPr lang="en-US" sz="3000" dirty="0"/>
          </a:p>
        </p:txBody>
      </p:sp>
      <p:sp>
        <p:nvSpPr>
          <p:cNvPr id="4" name="Shape 2"/>
          <p:cNvSpPr/>
          <p:nvPr/>
        </p:nvSpPr>
        <p:spPr>
          <a:xfrm>
            <a:off x="548640" y="1508760"/>
            <a:ext cx="11064240" cy="594360"/>
          </a:xfrm>
          <a:prstGeom prst="roundRect">
            <a:avLst>
              <a:gd name="adj" fmla="val 9231"/>
            </a:avLst>
          </a:prstGeom>
          <a:solidFill>
            <a:srgbClr val="FBEFEE"/>
          </a:solidFill>
          <a:ln/>
        </p:spPr>
      </p:sp>
      <p:sp>
        <p:nvSpPr>
          <p:cNvPr id="5" name="Text 3"/>
          <p:cNvSpPr/>
          <p:nvPr/>
        </p:nvSpPr>
        <p:spPr>
          <a:xfrm>
            <a:off x="777240" y="1508760"/>
            <a:ext cx="10607040" cy="59436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「転送」とは：</a:t>
            </a:r>
            <a:pPr indent="0" marL="0">
              <a:buNone/>
            </a:pPr>
            <a:r>
              <a:rPr lang="en-US" sz="1250" dirty="0">
                <a:solidFill>
                  <a:srgbClr val="000000"/>
                </a:solidFill>
                <a:latin typeface="Calibri" pitchFamily="34" charset="0"/>
                <a:ea typeface="Calibri" pitchFamily="34" charset="-122"/>
                <a:cs typeface="Calibri" pitchFamily="34" charset="-120"/>
              </a:rPr>
              <a:t>搬送した医療機関が収容不能であったため、同一の救急隊が引き続き同一の傷病者を別の医療機関へ搬送した事案（令和4年中データ）</a:t>
            </a:r>
            <a:endParaRPr lang="en-US" sz="1250" dirty="0"/>
          </a:p>
        </p:txBody>
      </p:sp>
      <p:sp>
        <p:nvSpPr>
          <p:cNvPr id="6" name="Shape 4"/>
          <p:cNvSpPr/>
          <p:nvPr/>
        </p:nvSpPr>
        <p:spPr>
          <a:xfrm>
            <a:off x="548640" y="2286000"/>
            <a:ext cx="2331720" cy="1417320"/>
          </a:xfrm>
          <a:prstGeom prst="roundRect">
            <a:avLst>
              <a:gd name="adj" fmla="val 5161"/>
            </a:avLst>
          </a:prstGeom>
          <a:solidFill>
            <a:srgbClr val="FBEFEE"/>
          </a:solidFill>
          <a:ln/>
        </p:spPr>
      </p:sp>
      <p:sp>
        <p:nvSpPr>
          <p:cNvPr id="7" name="Text 5"/>
          <p:cNvSpPr/>
          <p:nvPr/>
        </p:nvSpPr>
        <p:spPr>
          <a:xfrm>
            <a:off x="777240" y="2450592"/>
            <a:ext cx="1874520" cy="548640"/>
          </a:xfrm>
          <a:prstGeom prst="rect">
            <a:avLst/>
          </a:prstGeom>
          <a:noFill/>
          <a:ln/>
        </p:spPr>
        <p:txBody>
          <a:bodyPr wrap="square" lIns="0" tIns="0" rIns="0" bIns="0" rtlCol="0" anchor="b"/>
          <a:lstStyle/>
          <a:p>
            <a:pPr indent="0" marL="0">
              <a:buNone/>
            </a:pPr>
            <a:r>
              <a:rPr lang="en-US" sz="3400" b="1" dirty="0">
                <a:solidFill>
                  <a:srgbClr val="000000"/>
                </a:solidFill>
                <a:latin typeface="Cambria" pitchFamily="34" charset="0"/>
                <a:ea typeface="Cambria" pitchFamily="34" charset="-122"/>
                <a:cs typeface="Cambria" pitchFamily="34" charset="-120"/>
              </a:rPr>
              <a:t>23,082</a:t>
            </a:r>
            <a:pPr indent="0" marL="0">
              <a:buNone/>
            </a:pPr>
            <a:r>
              <a:rPr lang="en-US" sz="1600" b="1" dirty="0">
                <a:solidFill>
                  <a:srgbClr val="000000"/>
                </a:solidFill>
                <a:latin typeface="Cambria" pitchFamily="34" charset="0"/>
                <a:ea typeface="Cambria" pitchFamily="34" charset="-122"/>
                <a:cs typeface="Cambria" pitchFamily="34" charset="-120"/>
              </a:rPr>
              <a:t>人</a:t>
            </a:r>
            <a:endParaRPr lang="en-US" sz="3400" dirty="0"/>
          </a:p>
        </p:txBody>
      </p:sp>
      <p:sp>
        <p:nvSpPr>
          <p:cNvPr id="8" name="Text 6"/>
          <p:cNvSpPr/>
          <p:nvPr/>
        </p:nvSpPr>
        <p:spPr>
          <a:xfrm>
            <a:off x="777240" y="3035808"/>
            <a:ext cx="187452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転送された人数</a:t>
            </a:r>
            <a:endParaRPr lang="en-US" sz="1300" dirty="0"/>
          </a:p>
        </p:txBody>
      </p:sp>
      <p:sp>
        <p:nvSpPr>
          <p:cNvPr id="9" name="Text 7"/>
          <p:cNvSpPr/>
          <p:nvPr/>
        </p:nvSpPr>
        <p:spPr>
          <a:xfrm>
            <a:off x="777240" y="3337560"/>
            <a:ext cx="1874520" cy="22860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搬送人員の0.4%</a:t>
            </a:r>
            <a:endParaRPr lang="en-US" sz="1050" dirty="0"/>
          </a:p>
        </p:txBody>
      </p:sp>
      <p:sp>
        <p:nvSpPr>
          <p:cNvPr id="10" name="Shape 8"/>
          <p:cNvSpPr/>
          <p:nvPr/>
        </p:nvSpPr>
        <p:spPr>
          <a:xfrm>
            <a:off x="3017520" y="2286000"/>
            <a:ext cx="2331720" cy="1417320"/>
          </a:xfrm>
          <a:prstGeom prst="roundRect">
            <a:avLst>
              <a:gd name="adj" fmla="val 5161"/>
            </a:avLst>
          </a:prstGeom>
          <a:solidFill>
            <a:srgbClr val="FBEFEE"/>
          </a:solidFill>
          <a:ln/>
        </p:spPr>
      </p:sp>
      <p:sp>
        <p:nvSpPr>
          <p:cNvPr id="11" name="Text 9"/>
          <p:cNvSpPr/>
          <p:nvPr/>
        </p:nvSpPr>
        <p:spPr>
          <a:xfrm>
            <a:off x="3246120" y="2450592"/>
            <a:ext cx="1874520" cy="548640"/>
          </a:xfrm>
          <a:prstGeom prst="rect">
            <a:avLst/>
          </a:prstGeom>
          <a:noFill/>
          <a:ln/>
        </p:spPr>
        <p:txBody>
          <a:bodyPr wrap="square" lIns="0" tIns="0" rIns="0" bIns="0" rtlCol="0" anchor="b"/>
          <a:lstStyle/>
          <a:p>
            <a:pPr indent="0" marL="0">
              <a:buNone/>
            </a:pPr>
            <a:r>
              <a:rPr lang="en-US" sz="3400" b="1" dirty="0">
                <a:solidFill>
                  <a:srgbClr val="000000"/>
                </a:solidFill>
                <a:latin typeface="Cambria" pitchFamily="34" charset="0"/>
                <a:ea typeface="Cambria" pitchFamily="34" charset="-122"/>
                <a:cs typeface="Cambria" pitchFamily="34" charset="-120"/>
              </a:rPr>
              <a:t>23,162</a:t>
            </a:r>
            <a:pPr indent="0" marL="0">
              <a:buNone/>
            </a:pPr>
            <a:r>
              <a:rPr lang="en-US" sz="1600" b="1" dirty="0">
                <a:solidFill>
                  <a:srgbClr val="000000"/>
                </a:solidFill>
                <a:latin typeface="Cambria" pitchFamily="34" charset="0"/>
                <a:ea typeface="Cambria" pitchFamily="34" charset="-122"/>
                <a:cs typeface="Cambria" pitchFamily="34" charset="-120"/>
              </a:rPr>
              <a:t>回</a:t>
            </a:r>
            <a:endParaRPr lang="en-US" sz="3400" dirty="0"/>
          </a:p>
        </p:txBody>
      </p:sp>
      <p:sp>
        <p:nvSpPr>
          <p:cNvPr id="12" name="Text 10"/>
          <p:cNvSpPr/>
          <p:nvPr/>
        </p:nvSpPr>
        <p:spPr>
          <a:xfrm>
            <a:off x="3246120" y="3035808"/>
            <a:ext cx="187452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転送回数</a:t>
            </a:r>
            <a:endParaRPr lang="en-US" sz="1300" dirty="0"/>
          </a:p>
        </p:txBody>
      </p:sp>
      <p:sp>
        <p:nvSpPr>
          <p:cNvPr id="13" name="Shape 11"/>
          <p:cNvSpPr/>
          <p:nvPr/>
        </p:nvSpPr>
        <p:spPr>
          <a:xfrm>
            <a:off x="5486400" y="2286000"/>
            <a:ext cx="2331720" cy="1417320"/>
          </a:xfrm>
          <a:prstGeom prst="roundRect">
            <a:avLst>
              <a:gd name="adj" fmla="val 5161"/>
            </a:avLst>
          </a:prstGeom>
          <a:solidFill>
            <a:srgbClr val="FBEFEE"/>
          </a:solidFill>
          <a:ln/>
        </p:spPr>
      </p:sp>
      <p:sp>
        <p:nvSpPr>
          <p:cNvPr id="14" name="Text 12"/>
          <p:cNvSpPr/>
          <p:nvPr/>
        </p:nvSpPr>
        <p:spPr>
          <a:xfrm>
            <a:off x="5715000" y="2450592"/>
            <a:ext cx="1874520" cy="548640"/>
          </a:xfrm>
          <a:prstGeom prst="rect">
            <a:avLst/>
          </a:prstGeom>
          <a:noFill/>
          <a:ln/>
        </p:spPr>
        <p:txBody>
          <a:bodyPr wrap="square" lIns="0" tIns="0" rIns="0" bIns="0" rtlCol="0" anchor="b"/>
          <a:lstStyle/>
          <a:p>
            <a:pPr indent="0" marL="0">
              <a:buNone/>
            </a:pPr>
            <a:r>
              <a:rPr lang="en-US" sz="3400" b="1" dirty="0">
                <a:solidFill>
                  <a:srgbClr val="000000"/>
                </a:solidFill>
                <a:latin typeface="Cambria" pitchFamily="34" charset="0"/>
                <a:ea typeface="Cambria" pitchFamily="34" charset="-122"/>
                <a:cs typeface="Cambria" pitchFamily="34" charset="-120"/>
              </a:rPr>
              <a:t>+38.7%</a:t>
            </a:r>
            <a:pPr indent="0" marL="0">
              <a:buNone/>
            </a:pPr>
            <a:endParaRPr lang="en-US" sz="3400" dirty="0"/>
          </a:p>
        </p:txBody>
      </p:sp>
      <p:sp>
        <p:nvSpPr>
          <p:cNvPr id="15" name="Text 13"/>
          <p:cNvSpPr/>
          <p:nvPr/>
        </p:nvSpPr>
        <p:spPr>
          <a:xfrm>
            <a:off x="5715000" y="3035808"/>
            <a:ext cx="1874520" cy="32004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対前年増加率</a:t>
            </a:r>
            <a:endParaRPr lang="en-US" sz="1300" dirty="0"/>
          </a:p>
        </p:txBody>
      </p:sp>
      <p:sp>
        <p:nvSpPr>
          <p:cNvPr id="16" name="Text 14"/>
          <p:cNvSpPr/>
          <p:nvPr/>
        </p:nvSpPr>
        <p:spPr>
          <a:xfrm>
            <a:off x="5715000" y="3337560"/>
            <a:ext cx="1874520" cy="22860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令和3年16,640人</a:t>
            </a:r>
            <a:endParaRPr lang="en-US" sz="1050" dirty="0"/>
          </a:p>
          <a:p>
            <a:pPr indent="0" marL="0">
              <a:buNone/>
            </a:pPr>
            <a:r>
              <a:rPr lang="en-US" sz="1050" dirty="0">
                <a:solidFill>
                  <a:srgbClr val="000000"/>
                </a:solidFill>
                <a:latin typeface="Calibri" pitchFamily="34" charset="0"/>
                <a:ea typeface="Calibri" pitchFamily="34" charset="-122"/>
                <a:cs typeface="Calibri" pitchFamily="34" charset="-120"/>
              </a:rPr>
              <a:t>→令和4年23,082人</a:t>
            </a:r>
            <a:endParaRPr lang="en-US" sz="1050" dirty="0"/>
          </a:p>
        </p:txBody>
      </p:sp>
      <p:sp>
        <p:nvSpPr>
          <p:cNvPr id="17" name="Shape 15"/>
          <p:cNvSpPr/>
          <p:nvPr/>
        </p:nvSpPr>
        <p:spPr>
          <a:xfrm>
            <a:off x="7955280" y="2286000"/>
            <a:ext cx="3474720" cy="1417320"/>
          </a:xfrm>
          <a:prstGeom prst="roundRect">
            <a:avLst>
              <a:gd name="adj" fmla="val 5161"/>
            </a:avLst>
          </a:prstGeom>
          <a:solidFill>
            <a:srgbClr val="FBEFEE"/>
          </a:solidFill>
          <a:ln/>
        </p:spPr>
      </p:sp>
      <p:sp>
        <p:nvSpPr>
          <p:cNvPr id="18" name="Text 16"/>
          <p:cNvSpPr/>
          <p:nvPr/>
        </p:nvSpPr>
        <p:spPr>
          <a:xfrm>
            <a:off x="8183880" y="2423160"/>
            <a:ext cx="3017520" cy="36576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7年ぶりの急増</a:t>
            </a:r>
            <a:endParaRPr lang="en-US" sz="1400" dirty="0"/>
          </a:p>
        </p:txBody>
      </p:sp>
      <p:sp>
        <p:nvSpPr>
          <p:cNvPr id="19" name="Text 17"/>
          <p:cNvSpPr/>
          <p:nvPr/>
        </p:nvSpPr>
        <p:spPr>
          <a:xfrm>
            <a:off x="8183880" y="2788920"/>
            <a:ext cx="3017520" cy="822960"/>
          </a:xfrm>
          <a:prstGeom prst="rect">
            <a:avLst/>
          </a:prstGeom>
          <a:noFill/>
          <a:ln/>
        </p:spPr>
        <p:txBody>
          <a:bodyPr wrap="square" lIns="0" tIns="0" rIns="0" bIns="0" rtlCol="0" anchor="ctr"/>
          <a:lstStyle/>
          <a:p>
            <a:pPr indent="0" marL="0">
              <a:lnSpc>
                <a:spcPct val="120000"/>
              </a:lnSpc>
              <a:buNone/>
            </a:pPr>
            <a:r>
              <a:rPr lang="en-US" sz="1100" dirty="0">
                <a:solidFill>
                  <a:srgbClr val="000000"/>
                </a:solidFill>
                <a:latin typeface="Calibri" pitchFamily="34" charset="0"/>
                <a:ea typeface="Calibri" pitchFamily="34" charset="-122"/>
                <a:cs typeface="Calibri" pitchFamily="34" charset="-120"/>
              </a:rPr>
              <a:t>平成27年以降、一貫して減少していた転送者数が令和4年に突然反転増加</a:t>
            </a:r>
            <a:endParaRPr lang="en-US" sz="1100" dirty="0"/>
          </a:p>
        </p:txBody>
      </p:sp>
      <p:sp>
        <p:nvSpPr>
          <p:cNvPr id="20" name="Text 18"/>
          <p:cNvSpPr/>
          <p:nvPr/>
        </p:nvSpPr>
        <p:spPr>
          <a:xfrm>
            <a:off x="548640" y="3931920"/>
            <a:ext cx="8229600" cy="32004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転送理由の内訳（令和4年中・全23,162回）</a:t>
            </a:r>
            <a:endParaRPr lang="en-US" sz="1350" dirty="0"/>
          </a:p>
        </p:txBody>
      </p:sp>
      <p:graphicFrame>
        <p:nvGraphicFramePr>
          <p:cNvPr id="21" name="Chart 0" descr=""/>
          <p:cNvGraphicFramePr/>
          <p:nvPr/>
        </p:nvGraphicFramePr>
        <p:xfrm>
          <a:off x="548640" y="4297680"/>
          <a:ext cx="11064240" cy="23317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8778240" y="4315968"/>
            <a:ext cx="2834640" cy="274320"/>
          </a:xfrm>
          <a:prstGeom prst="rect">
            <a:avLst/>
          </a:prstGeom>
          <a:noFill/>
          <a:ln/>
        </p:spPr>
        <p:txBody>
          <a:bodyPr wrap="square" lIns="0" tIns="0" rIns="0" bIns="0" rtlCol="0" anchor="ctr"/>
          <a:lstStyle/>
          <a:p>
            <a:pPr algn="r" indent="0" marL="0">
              <a:buNone/>
            </a:pPr>
            <a:r>
              <a:rPr lang="en-US" sz="1100" b="1" i="1" dirty="0">
                <a:solidFill>
                  <a:srgbClr val="000000"/>
                </a:solidFill>
                <a:latin typeface="Calibri" pitchFamily="34" charset="0"/>
                <a:ea typeface="Calibri" pitchFamily="34" charset="-122"/>
                <a:cs typeface="Calibri" pitchFamily="34" charset="-120"/>
              </a:rPr>
              <a:t>処置困難が52.1%（12,078回）を占め最多</a:t>
            </a:r>
            <a:endParaRPr lang="en-US" sz="1100" dirty="0"/>
          </a:p>
        </p:txBody>
      </p:sp>
      <p:sp>
        <p:nvSpPr>
          <p:cNvPr id="23" name="Text 20"/>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出典：総務省消防庁「令和5年版 救急・救助の現況」P56（第4章 救急自動車による転送件数） https://www.fdma.go.jp/publication/rescue/post-5.html</a:t>
            </a:r>
            <a:endParaRPr lang="en-US" sz="900" dirty="0"/>
          </a:p>
        </p:txBody>
      </p:sp>
      <p:sp>
        <p:nvSpPr>
          <p:cNvPr id="24" name="Text 21"/>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PROBLEM 03</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時間が生死を分ける ― 公的統計が示すエビデンス</a:t>
            </a:r>
            <a:endParaRPr lang="en-US" sz="3000" dirty="0"/>
          </a:p>
        </p:txBody>
      </p:sp>
      <p:sp>
        <p:nvSpPr>
          <p:cNvPr id="4" name="Text 2"/>
          <p:cNvSpPr/>
          <p:nvPr/>
        </p:nvSpPr>
        <p:spPr>
          <a:xfrm>
            <a:off x="548640" y="1508760"/>
            <a:ext cx="11064240" cy="548640"/>
          </a:xfrm>
          <a:prstGeom prst="rect">
            <a:avLst/>
          </a:prstGeom>
          <a:noFill/>
          <a:ln/>
        </p:spPr>
        <p:txBody>
          <a:bodyPr wrap="square" lIns="0" tIns="0" rIns="0" bIns="0" rtlCol="0" anchor="ctr"/>
          <a:lstStyle/>
          <a:p>
            <a:pPr indent="0" marL="0">
              <a:lnSpc>
                <a:spcPct val="125000"/>
              </a:lnSpc>
              <a:buNone/>
            </a:pPr>
            <a:r>
              <a:rPr lang="en-US" sz="1400" dirty="0">
                <a:solidFill>
                  <a:srgbClr val="000000"/>
                </a:solidFill>
                <a:latin typeface="Calibri" pitchFamily="34" charset="0"/>
                <a:ea typeface="Calibri" pitchFamily="34" charset="-122"/>
                <a:cs typeface="Calibri" pitchFamily="34" charset="-120"/>
              </a:rPr>
              <a:t>令和6年中、心肺機能停止のうち心原性で一般市民に目撃された傷病者は27,769人。処置の有無・速さで生存率は大きく変わる。</a:t>
            </a:r>
            <a:endParaRPr lang="en-US" sz="1400" dirty="0"/>
          </a:p>
        </p:txBody>
      </p:sp>
      <p:sp>
        <p:nvSpPr>
          <p:cNvPr id="5" name="Text 3"/>
          <p:cNvSpPr/>
          <p:nvPr/>
        </p:nvSpPr>
        <p:spPr>
          <a:xfrm>
            <a:off x="548640" y="2194560"/>
            <a:ext cx="6400800" cy="32004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1か月後生存率の比較</a:t>
            </a:r>
            <a:endParaRPr lang="en-US" sz="1350" dirty="0"/>
          </a:p>
        </p:txBody>
      </p:sp>
      <p:graphicFrame>
        <p:nvGraphicFramePr>
          <p:cNvPr id="6" name="Chart 0" descr=""/>
          <p:cNvGraphicFramePr/>
          <p:nvPr/>
        </p:nvGraphicFramePr>
        <p:xfrm>
          <a:off x="548640" y="251460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2514600"/>
            <a:ext cx="3840480" cy="1600200"/>
          </a:xfrm>
          <a:prstGeom prst="roundRect">
            <a:avLst>
              <a:gd name="adj" fmla="val 4571"/>
            </a:avLst>
          </a:prstGeom>
          <a:solidFill>
            <a:srgbClr val="FBEFEE"/>
          </a:solidFill>
          <a:ln/>
        </p:spPr>
      </p:sp>
      <p:sp>
        <p:nvSpPr>
          <p:cNvPr id="8" name="Text 5"/>
          <p:cNvSpPr/>
          <p:nvPr/>
        </p:nvSpPr>
        <p:spPr>
          <a:xfrm>
            <a:off x="7863840" y="2697480"/>
            <a:ext cx="3291840" cy="1280160"/>
          </a:xfrm>
          <a:prstGeom prst="rect">
            <a:avLst/>
          </a:prstGeom>
          <a:noFill/>
          <a:ln/>
        </p:spPr>
        <p:txBody>
          <a:bodyPr wrap="square" lIns="0" tIns="0" rIns="0" bIns="0" rtlCol="0" anchor="ctr"/>
          <a:lstStyle/>
          <a:p>
            <a:pPr indent="0" marL="0">
              <a:lnSpc>
                <a:spcPct val="115000"/>
              </a:lnSpc>
              <a:buNone/>
            </a:pPr>
            <a:r>
              <a:rPr lang="en-US" sz="2600" b="1" dirty="0">
                <a:solidFill>
                  <a:srgbClr val="000000"/>
                </a:solidFill>
                <a:latin typeface="Calibri" pitchFamily="34" charset="0"/>
                <a:ea typeface="Calibri" pitchFamily="34" charset="-122"/>
                <a:cs typeface="Calibri" pitchFamily="34" charset="-120"/>
              </a:rPr>
              <a:t>1.9倍
</a:t>
            </a:r>
            <a:endParaRPr lang="en-US" sz="2600" dirty="0"/>
          </a:p>
          <a:p>
            <a:pPr indent="0" marL="0">
              <a:lnSpc>
                <a:spcPct val="115000"/>
              </a:lnSpc>
              <a:buNone/>
            </a:pPr>
            <a:r>
              <a:rPr lang="en-US" sz="1200" dirty="0">
                <a:solidFill>
                  <a:srgbClr val="000000"/>
                </a:solidFill>
                <a:latin typeface="Calibri" pitchFamily="34" charset="0"/>
                <a:ea typeface="Calibri" pitchFamily="34" charset="-122"/>
                <a:cs typeface="Calibri" pitchFamily="34" charset="-120"/>
              </a:rPr>
              <a:t>応急手当ありは、なしと比べ1か月後生存率が約1.9倍（15.3% vs 7.9%）</a:t>
            </a:r>
            <a:endParaRPr lang="en-US" sz="2600" dirty="0"/>
          </a:p>
        </p:txBody>
      </p:sp>
      <p:sp>
        <p:nvSpPr>
          <p:cNvPr id="9" name="Shape 6"/>
          <p:cNvSpPr/>
          <p:nvPr/>
        </p:nvSpPr>
        <p:spPr>
          <a:xfrm>
            <a:off x="7589520" y="4251960"/>
            <a:ext cx="3840480" cy="1600200"/>
          </a:xfrm>
          <a:prstGeom prst="roundRect">
            <a:avLst>
              <a:gd name="adj" fmla="val 4571"/>
            </a:avLst>
          </a:prstGeom>
          <a:solidFill>
            <a:srgbClr val="FBEFEE"/>
          </a:solidFill>
          <a:ln/>
        </p:spPr>
      </p:sp>
      <p:sp>
        <p:nvSpPr>
          <p:cNvPr id="10" name="Text 7"/>
          <p:cNvSpPr/>
          <p:nvPr/>
        </p:nvSpPr>
        <p:spPr>
          <a:xfrm>
            <a:off x="7863840" y="4434840"/>
            <a:ext cx="3291840" cy="1280160"/>
          </a:xfrm>
          <a:prstGeom prst="rect">
            <a:avLst/>
          </a:prstGeom>
          <a:noFill/>
          <a:ln/>
        </p:spPr>
        <p:txBody>
          <a:bodyPr wrap="square" lIns="0" tIns="0" rIns="0" bIns="0" rtlCol="0" anchor="ctr"/>
          <a:lstStyle/>
          <a:p>
            <a:pPr indent="0" marL="0">
              <a:lnSpc>
                <a:spcPct val="115000"/>
              </a:lnSpc>
              <a:buNone/>
            </a:pPr>
            <a:r>
              <a:rPr lang="en-US" sz="2600" b="1" dirty="0">
                <a:solidFill>
                  <a:srgbClr val="000000"/>
                </a:solidFill>
                <a:latin typeface="Calibri" pitchFamily="34" charset="0"/>
                <a:ea typeface="Calibri" pitchFamily="34" charset="-122"/>
                <a:cs typeface="Calibri" pitchFamily="34" charset="-120"/>
              </a:rPr>
              <a:t>2.8倍
</a:t>
            </a:r>
            <a:endParaRPr lang="en-US" sz="2600" dirty="0"/>
          </a:p>
          <a:p>
            <a:pPr indent="0" marL="0">
              <a:lnSpc>
                <a:spcPct val="115000"/>
              </a:lnSpc>
              <a:buNone/>
            </a:pPr>
            <a:r>
              <a:rPr lang="en-US" sz="1200" dirty="0">
                <a:solidFill>
                  <a:srgbClr val="000000"/>
                </a:solidFill>
                <a:latin typeface="Calibri" pitchFamily="34" charset="0"/>
                <a:ea typeface="Calibri" pitchFamily="34" charset="-122"/>
                <a:cs typeface="Calibri" pitchFamily="34" charset="-120"/>
              </a:rPr>
              <a:t>1か月後社会復帰率も応急手当ありで約2.8倍に上昇（10.4% vs 3.7%）</a:t>
            </a:r>
            <a:endParaRPr lang="en-US" sz="2600" dirty="0"/>
          </a:p>
        </p:txBody>
      </p:sp>
      <p:sp>
        <p:nvSpPr>
          <p:cNvPr id="11" name="Text 8"/>
          <p:cNvSpPr/>
          <p:nvPr/>
        </p:nvSpPr>
        <p:spPr>
          <a:xfrm>
            <a:off x="548640" y="6080760"/>
            <a:ext cx="11064240" cy="320040"/>
          </a:xfrm>
          <a:prstGeom prst="rect">
            <a:avLst/>
          </a:prstGeom>
          <a:noFill/>
          <a:ln/>
        </p:spPr>
        <p:txBody>
          <a:bodyPr wrap="square" lIns="0" tIns="0" rIns="0" bIns="0" rtlCol="0" anchor="ctr"/>
          <a:lstStyle/>
          <a:p>
            <a:pPr indent="0" marL="0">
              <a:buNone/>
            </a:pPr>
            <a:r>
              <a:rPr lang="en-US" sz="1250" b="1" i="1" dirty="0">
                <a:solidFill>
                  <a:srgbClr val="000000"/>
                </a:solidFill>
                <a:latin typeface="Calibri" pitchFamily="34" charset="0"/>
                <a:ea typeface="Calibri" pitchFamily="34" charset="-122"/>
                <a:cs typeface="Calibri" pitchFamily="34" charset="-120"/>
              </a:rPr>
              <a:t>→ 転送による搬送・処置の遅れは、生存率を左右する時間的損失に直結し得る</a:t>
            </a:r>
            <a:endParaRPr lang="en-US" sz="1250" dirty="0"/>
          </a:p>
        </p:txBody>
      </p:sp>
      <p:sp>
        <p:nvSpPr>
          <p:cNvPr id="12" name="Text 9"/>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出典：総務省消防庁「令和7年版 消防白書」第2章第5節「救急体制」（救急蘇生統計） https://www.fdma.go.jp/publication/hakusho/r7/69377.html</a:t>
            </a:r>
            <a:endParaRPr lang="en-US" sz="900" dirty="0"/>
          </a:p>
        </p:txBody>
      </p:sp>
      <p:sp>
        <p:nvSpPr>
          <p:cNvPr id="13" name="Text 10"/>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困っている人の数 ― ここまでのまとめ</a:t>
            </a:r>
            <a:endParaRPr lang="en-US" sz="3000" dirty="0"/>
          </a:p>
        </p:txBody>
      </p:sp>
      <p:sp>
        <p:nvSpPr>
          <p:cNvPr id="4" name="Shape 2"/>
          <p:cNvSpPr/>
          <p:nvPr/>
        </p:nvSpPr>
        <p:spPr>
          <a:xfrm>
            <a:off x="548640" y="1645920"/>
            <a:ext cx="11064240" cy="1051560"/>
          </a:xfrm>
          <a:prstGeom prst="roundRect">
            <a:avLst>
              <a:gd name="adj" fmla="val 6957"/>
            </a:avLst>
          </a:prstGeom>
          <a:solidFill>
            <a:srgbClr val="FBEFEE"/>
          </a:solidFill>
          <a:ln/>
        </p:spPr>
      </p:sp>
      <p:sp>
        <p:nvSpPr>
          <p:cNvPr id="5" name="Shape 3"/>
          <p:cNvSpPr/>
          <p:nvPr/>
        </p:nvSpPr>
        <p:spPr>
          <a:xfrm>
            <a:off x="777240" y="1828800"/>
            <a:ext cx="685800" cy="685800"/>
          </a:xfrm>
          <a:prstGeom prst="ellipse">
            <a:avLst/>
          </a:prstGeom>
          <a:solidFill>
            <a:srgbClr val="B3261E"/>
          </a:solidFill>
          <a:ln/>
        </p:spPr>
      </p:sp>
      <p:pic>
        <p:nvPicPr>
          <p:cNvPr id="6" name="Image 0" descr="/tmp/claude-0/-home-user-NasuVault2/6f2142b9-699b-5a57-a1e0-e3cdf04ed45e/scratchpad/pptx_build/icon_users_white.png">    </p:cNvPr>
          <p:cNvPicPr>
            <a:picLocks noChangeAspect="1"/>
          </p:cNvPicPr>
          <p:nvPr/>
        </p:nvPicPr>
        <p:blipFill>
          <a:blip r:embed="rId1"/>
          <a:stretch>
            <a:fillRect/>
          </a:stretch>
        </p:blipFill>
        <p:spPr>
          <a:xfrm>
            <a:off x="852678" y="1904238"/>
            <a:ext cx="534924" cy="534924"/>
          </a:xfrm>
          <a:prstGeom prst="rect">
            <a:avLst/>
          </a:prstGeom>
        </p:spPr>
      </p:pic>
      <p:sp>
        <p:nvSpPr>
          <p:cNvPr id="7" name="Text 4"/>
          <p:cNvSpPr/>
          <p:nvPr/>
        </p:nvSpPr>
        <p:spPr>
          <a:xfrm>
            <a:off x="1691640" y="1755648"/>
            <a:ext cx="9692640" cy="457200"/>
          </a:xfrm>
          <a:prstGeom prst="rect">
            <a:avLst/>
          </a:prstGeom>
          <a:noFill/>
          <a:ln/>
        </p:spPr>
        <p:txBody>
          <a:bodyPr wrap="square" lIns="0" tIns="0" rIns="0" bIns="0" rtlCol="0" anchor="ctr"/>
          <a:lstStyle/>
          <a:p>
            <a:pPr indent="0" marL="0">
              <a:buNone/>
            </a:pPr>
            <a:r>
              <a:rPr lang="en-US" sz="1650" b="1" dirty="0">
                <a:solidFill>
                  <a:srgbClr val="000000"/>
                </a:solidFill>
                <a:latin typeface="Calibri" pitchFamily="34" charset="0"/>
                <a:ea typeface="Calibri" pitchFamily="34" charset="-122"/>
                <a:cs typeface="Calibri" pitchFamily="34" charset="-120"/>
              </a:rPr>
              <a:t>年間23,082人が「転送」を経験</a:t>
            </a:r>
            <a:endParaRPr lang="en-US" sz="1650" dirty="0"/>
          </a:p>
        </p:txBody>
      </p:sp>
      <p:sp>
        <p:nvSpPr>
          <p:cNvPr id="8" name="Text 5"/>
          <p:cNvSpPr/>
          <p:nvPr/>
        </p:nvSpPr>
        <p:spPr>
          <a:xfrm>
            <a:off x="1691640" y="2212848"/>
            <a:ext cx="9692640" cy="41148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令和4年中。しかも令和3年比+38.7%と、7年ぶりに急増している</a:t>
            </a:r>
            <a:endParaRPr lang="en-US" sz="1200" dirty="0"/>
          </a:p>
        </p:txBody>
      </p:sp>
      <p:sp>
        <p:nvSpPr>
          <p:cNvPr id="9" name="Shape 6"/>
          <p:cNvSpPr/>
          <p:nvPr/>
        </p:nvSpPr>
        <p:spPr>
          <a:xfrm>
            <a:off x="548640" y="2834640"/>
            <a:ext cx="11064240" cy="1051560"/>
          </a:xfrm>
          <a:prstGeom prst="roundRect">
            <a:avLst>
              <a:gd name="adj" fmla="val 6957"/>
            </a:avLst>
          </a:prstGeom>
          <a:solidFill>
            <a:srgbClr val="FBEFEE"/>
          </a:solidFill>
          <a:ln/>
        </p:spPr>
      </p:sp>
      <p:sp>
        <p:nvSpPr>
          <p:cNvPr id="10" name="Shape 7"/>
          <p:cNvSpPr/>
          <p:nvPr/>
        </p:nvSpPr>
        <p:spPr>
          <a:xfrm>
            <a:off x="777240" y="3017520"/>
            <a:ext cx="685800" cy="685800"/>
          </a:xfrm>
          <a:prstGeom prst="ellipse">
            <a:avLst/>
          </a:prstGeom>
          <a:solidFill>
            <a:srgbClr val="B3261E"/>
          </a:solidFill>
          <a:ln/>
        </p:spPr>
      </p:sp>
      <p:pic>
        <p:nvPicPr>
          <p:cNvPr id="11" name="Image 1" descr="/tmp/claude-0/-home-user-NasuVault2/6f2142b9-699b-5a57-a1e0-e3cdf04ed45e/scratchpad/pptx_build/icon_exchange_white.png">    </p:cNvPr>
          <p:cNvPicPr>
            <a:picLocks noChangeAspect="1"/>
          </p:cNvPicPr>
          <p:nvPr/>
        </p:nvPicPr>
        <p:blipFill>
          <a:blip r:embed="rId2"/>
          <a:stretch>
            <a:fillRect/>
          </a:stretch>
        </p:blipFill>
        <p:spPr>
          <a:xfrm>
            <a:off x="852678" y="3092958"/>
            <a:ext cx="534924" cy="534924"/>
          </a:xfrm>
          <a:prstGeom prst="rect">
            <a:avLst/>
          </a:prstGeom>
        </p:spPr>
      </p:pic>
      <p:sp>
        <p:nvSpPr>
          <p:cNvPr id="12" name="Text 8"/>
          <p:cNvSpPr/>
          <p:nvPr/>
        </p:nvSpPr>
        <p:spPr>
          <a:xfrm>
            <a:off x="1691640" y="2944368"/>
            <a:ext cx="9692640" cy="457200"/>
          </a:xfrm>
          <a:prstGeom prst="rect">
            <a:avLst/>
          </a:prstGeom>
          <a:noFill/>
          <a:ln/>
        </p:spPr>
        <p:txBody>
          <a:bodyPr wrap="square" lIns="0" tIns="0" rIns="0" bIns="0" rtlCol="0" anchor="ctr"/>
          <a:lstStyle/>
          <a:p>
            <a:pPr indent="0" marL="0">
              <a:buNone/>
            </a:pPr>
            <a:r>
              <a:rPr lang="en-US" sz="1650" b="1" dirty="0">
                <a:solidFill>
                  <a:srgbClr val="000000"/>
                </a:solidFill>
                <a:latin typeface="Calibri" pitchFamily="34" charset="0"/>
                <a:ea typeface="Calibri" pitchFamily="34" charset="-122"/>
                <a:cs typeface="Calibri" pitchFamily="34" charset="-120"/>
              </a:rPr>
              <a:t>うち約1.2万人（52.1%）は「処置困難」が理由</a:t>
            </a:r>
            <a:endParaRPr lang="en-US" sz="1650" dirty="0"/>
          </a:p>
        </p:txBody>
      </p:sp>
      <p:sp>
        <p:nvSpPr>
          <p:cNvPr id="13" name="Text 9"/>
          <p:cNvSpPr/>
          <p:nvPr/>
        </p:nvSpPr>
        <p:spPr>
          <a:xfrm>
            <a:off x="1691640" y="3401568"/>
            <a:ext cx="9692640" cy="41148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搬送前の情報共有不足によるミスマッチが疑われる、最大の転送理由</a:t>
            </a:r>
            <a:endParaRPr lang="en-US" sz="1200" dirty="0"/>
          </a:p>
        </p:txBody>
      </p:sp>
      <p:sp>
        <p:nvSpPr>
          <p:cNvPr id="14" name="Shape 10"/>
          <p:cNvSpPr/>
          <p:nvPr/>
        </p:nvSpPr>
        <p:spPr>
          <a:xfrm>
            <a:off x="548640" y="4023360"/>
            <a:ext cx="11064240" cy="1051560"/>
          </a:xfrm>
          <a:prstGeom prst="roundRect">
            <a:avLst>
              <a:gd name="adj" fmla="val 6957"/>
            </a:avLst>
          </a:prstGeom>
          <a:solidFill>
            <a:srgbClr val="FBEFEE"/>
          </a:solidFill>
          <a:ln/>
        </p:spPr>
      </p:sp>
      <p:sp>
        <p:nvSpPr>
          <p:cNvPr id="15" name="Shape 11"/>
          <p:cNvSpPr/>
          <p:nvPr/>
        </p:nvSpPr>
        <p:spPr>
          <a:xfrm>
            <a:off x="777240" y="4206240"/>
            <a:ext cx="685800" cy="685800"/>
          </a:xfrm>
          <a:prstGeom prst="ellipse">
            <a:avLst/>
          </a:prstGeom>
          <a:solidFill>
            <a:srgbClr val="B3261E"/>
          </a:solidFill>
          <a:ln/>
        </p:spPr>
      </p:sp>
      <p:pic>
        <p:nvPicPr>
          <p:cNvPr id="16" name="Image 2" descr="/tmp/claude-0/-home-user-NasuVault2/6f2142b9-699b-5a57-a1e0-e3cdf04ed45e/scratchpad/pptx_build/icon_chart_white.png">    </p:cNvPr>
          <p:cNvPicPr>
            <a:picLocks noChangeAspect="1"/>
          </p:cNvPicPr>
          <p:nvPr/>
        </p:nvPicPr>
        <p:blipFill>
          <a:blip r:embed="rId3"/>
          <a:stretch>
            <a:fillRect/>
          </a:stretch>
        </p:blipFill>
        <p:spPr>
          <a:xfrm>
            <a:off x="852678" y="4281678"/>
            <a:ext cx="534924" cy="534924"/>
          </a:xfrm>
          <a:prstGeom prst="rect">
            <a:avLst/>
          </a:prstGeom>
        </p:spPr>
      </p:pic>
      <p:sp>
        <p:nvSpPr>
          <p:cNvPr id="17" name="Text 12"/>
          <p:cNvSpPr/>
          <p:nvPr/>
        </p:nvSpPr>
        <p:spPr>
          <a:xfrm>
            <a:off x="1691640" y="4133088"/>
            <a:ext cx="9692640" cy="457200"/>
          </a:xfrm>
          <a:prstGeom prst="rect">
            <a:avLst/>
          </a:prstGeom>
          <a:noFill/>
          <a:ln/>
        </p:spPr>
        <p:txBody>
          <a:bodyPr wrap="square" lIns="0" tIns="0" rIns="0" bIns="0" rtlCol="0" anchor="ctr"/>
          <a:lstStyle/>
          <a:p>
            <a:pPr indent="0" marL="0">
              <a:buNone/>
            </a:pPr>
            <a:r>
              <a:rPr lang="en-US" sz="1650" b="1" dirty="0">
                <a:solidFill>
                  <a:srgbClr val="000000"/>
                </a:solidFill>
                <a:latin typeface="Calibri" pitchFamily="34" charset="0"/>
                <a:ea typeface="Calibri" pitchFamily="34" charset="-122"/>
                <a:cs typeface="Calibri" pitchFamily="34" charset="-120"/>
              </a:rPr>
              <a:t>救急出動・搬送人員は過去最多を更新中</a:t>
            </a:r>
            <a:endParaRPr lang="en-US" sz="1650" dirty="0"/>
          </a:p>
        </p:txBody>
      </p:sp>
      <p:sp>
        <p:nvSpPr>
          <p:cNvPr id="18" name="Text 13"/>
          <p:cNvSpPr/>
          <p:nvPr/>
        </p:nvSpPr>
        <p:spPr>
          <a:xfrm>
            <a:off x="1691640" y="4590288"/>
            <a:ext cx="9692640" cy="41148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令和6年も前年を上回り、消防庁は令和12年までの需要増加も見込む</a:t>
            </a:r>
            <a:endParaRPr lang="en-US" sz="1200" dirty="0"/>
          </a:p>
        </p:txBody>
      </p:sp>
      <p:sp>
        <p:nvSpPr>
          <p:cNvPr id="19" name="Shape 14"/>
          <p:cNvSpPr/>
          <p:nvPr/>
        </p:nvSpPr>
        <p:spPr>
          <a:xfrm>
            <a:off x="548640" y="5212080"/>
            <a:ext cx="11064240" cy="1051560"/>
          </a:xfrm>
          <a:prstGeom prst="roundRect">
            <a:avLst>
              <a:gd name="adj" fmla="val 6957"/>
            </a:avLst>
          </a:prstGeom>
          <a:solidFill>
            <a:srgbClr val="FBEFEE"/>
          </a:solidFill>
          <a:ln/>
        </p:spPr>
      </p:sp>
      <p:sp>
        <p:nvSpPr>
          <p:cNvPr id="20" name="Shape 15"/>
          <p:cNvSpPr/>
          <p:nvPr/>
        </p:nvSpPr>
        <p:spPr>
          <a:xfrm>
            <a:off x="777240" y="5394960"/>
            <a:ext cx="685800" cy="685800"/>
          </a:xfrm>
          <a:prstGeom prst="ellipse">
            <a:avLst/>
          </a:prstGeom>
          <a:solidFill>
            <a:srgbClr val="B3261E"/>
          </a:solidFill>
          <a:ln/>
        </p:spPr>
      </p:sp>
      <p:pic>
        <p:nvPicPr>
          <p:cNvPr id="21" name="Image 3" descr="/tmp/claude-0/-home-user-NasuVault2/6f2142b9-699b-5a57-a1e0-e3cdf04ed45e/scratchpad/pptx_build/icon_heartbeat_white.png">    </p:cNvPr>
          <p:cNvPicPr>
            <a:picLocks noChangeAspect="1"/>
          </p:cNvPicPr>
          <p:nvPr/>
        </p:nvPicPr>
        <p:blipFill>
          <a:blip r:embed="rId4"/>
          <a:stretch>
            <a:fillRect/>
          </a:stretch>
        </p:blipFill>
        <p:spPr>
          <a:xfrm>
            <a:off x="852678" y="5470398"/>
            <a:ext cx="534924" cy="534924"/>
          </a:xfrm>
          <a:prstGeom prst="rect">
            <a:avLst/>
          </a:prstGeom>
        </p:spPr>
      </p:pic>
      <p:sp>
        <p:nvSpPr>
          <p:cNvPr id="22" name="Text 16"/>
          <p:cNvSpPr/>
          <p:nvPr/>
        </p:nvSpPr>
        <p:spPr>
          <a:xfrm>
            <a:off x="1691640" y="5321808"/>
            <a:ext cx="9692640" cy="457200"/>
          </a:xfrm>
          <a:prstGeom prst="rect">
            <a:avLst/>
          </a:prstGeom>
          <a:noFill/>
          <a:ln/>
        </p:spPr>
        <p:txBody>
          <a:bodyPr wrap="square" lIns="0" tIns="0" rIns="0" bIns="0" rtlCol="0" anchor="ctr"/>
          <a:lstStyle/>
          <a:p>
            <a:pPr indent="0" marL="0">
              <a:buNone/>
            </a:pPr>
            <a:r>
              <a:rPr lang="en-US" sz="1650" b="1" dirty="0">
                <a:solidFill>
                  <a:srgbClr val="000000"/>
                </a:solidFill>
                <a:latin typeface="Calibri" pitchFamily="34" charset="0"/>
                <a:ea typeface="Calibri" pitchFamily="34" charset="-122"/>
                <a:cs typeface="Calibri" pitchFamily="34" charset="-120"/>
              </a:rPr>
              <a:t>心停止患者は処置の有無・速さで生存率が最大6.8倍動く</a:t>
            </a:r>
            <a:endParaRPr lang="en-US" sz="1650" dirty="0"/>
          </a:p>
        </p:txBody>
      </p:sp>
      <p:sp>
        <p:nvSpPr>
          <p:cNvPr id="23" name="Text 17"/>
          <p:cNvSpPr/>
          <p:nvPr/>
        </p:nvSpPr>
        <p:spPr>
          <a:xfrm>
            <a:off x="1691640" y="5779008"/>
            <a:ext cx="9692640" cy="41148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応急手当なし7.9%→AED使用53.6%。時間の遅れが命に直結する</a:t>
            </a:r>
            <a:endParaRPr lang="en-US" sz="1200" dirty="0"/>
          </a:p>
        </p:txBody>
      </p:sp>
      <p:sp>
        <p:nvSpPr>
          <p:cNvPr id="24" name="Text 18"/>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出典：本資料 4〜6ページに記載の総務省消防庁公表資料に基づく（詳細出典は各ページ参照）</a:t>
            </a:r>
            <a:endParaRPr lang="en-US" sz="900" dirty="0"/>
          </a:p>
        </p:txBody>
      </p:sp>
      <p:sp>
        <p:nvSpPr>
          <p:cNvPr id="25" name="Text 19"/>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EXISTING EFFORT 01</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消防庁の取組① ― AI活用・システム標準化</a:t>
            </a:r>
            <a:endParaRPr lang="en-US" sz="3000" dirty="0"/>
          </a:p>
        </p:txBody>
      </p:sp>
      <p:sp>
        <p:nvSpPr>
          <p:cNvPr id="4" name="Shape 2"/>
          <p:cNvSpPr/>
          <p:nvPr/>
        </p:nvSpPr>
        <p:spPr>
          <a:xfrm>
            <a:off x="548640" y="1645920"/>
            <a:ext cx="5349240" cy="3017520"/>
          </a:xfrm>
          <a:prstGeom prst="roundRect">
            <a:avLst>
              <a:gd name="adj" fmla="val 3030"/>
            </a:avLst>
          </a:prstGeom>
          <a:solidFill>
            <a:srgbClr val="FBEFEE"/>
          </a:solidFill>
          <a:ln/>
        </p:spPr>
      </p:sp>
      <p:sp>
        <p:nvSpPr>
          <p:cNvPr id="5" name="Shape 3"/>
          <p:cNvSpPr/>
          <p:nvPr/>
        </p:nvSpPr>
        <p:spPr>
          <a:xfrm>
            <a:off x="868680" y="1965960"/>
            <a:ext cx="731520" cy="731520"/>
          </a:xfrm>
          <a:prstGeom prst="ellipse">
            <a:avLst/>
          </a:prstGeom>
          <a:solidFill>
            <a:srgbClr val="B3261E"/>
          </a:solidFill>
          <a:ln/>
        </p:spPr>
      </p:sp>
      <p:pic>
        <p:nvPicPr>
          <p:cNvPr id="6" name="Image 0" descr="/tmp/claude-0/-home-user-NasuVault2/6f2142b9-699b-5a57-a1e0-e3cdf04ed45e/scratchpad/pptx_build/icon_route_white.png">    </p:cNvPr>
          <p:cNvPicPr>
            <a:picLocks noChangeAspect="1"/>
          </p:cNvPicPr>
          <p:nvPr/>
        </p:nvPicPr>
        <p:blipFill>
          <a:blip r:embed="rId1"/>
          <a:stretch>
            <a:fillRect/>
          </a:stretch>
        </p:blipFill>
        <p:spPr>
          <a:xfrm>
            <a:off x="949147" y="2046427"/>
            <a:ext cx="570586" cy="570586"/>
          </a:xfrm>
          <a:prstGeom prst="rect">
            <a:avLst/>
          </a:prstGeom>
        </p:spPr>
      </p:pic>
      <p:sp>
        <p:nvSpPr>
          <p:cNvPr id="7" name="Text 4"/>
          <p:cNvSpPr/>
          <p:nvPr/>
        </p:nvSpPr>
        <p:spPr>
          <a:xfrm>
            <a:off x="868680" y="2880360"/>
            <a:ext cx="4709160" cy="640080"/>
          </a:xfrm>
          <a:prstGeom prst="rect">
            <a:avLst/>
          </a:prstGeom>
          <a:noFill/>
          <a:ln/>
        </p:spPr>
        <p:txBody>
          <a:bodyPr wrap="square" lIns="0" tIns="0" rIns="0" bIns="0" rtlCol="0" anchor="ctr"/>
          <a:lstStyle/>
          <a:p>
            <a:pPr indent="0" marL="0">
              <a:lnSpc>
                <a:spcPct val="110000"/>
              </a:lnSpc>
              <a:buNone/>
            </a:pPr>
            <a:r>
              <a:rPr lang="en-US" sz="1600" b="1" dirty="0">
                <a:solidFill>
                  <a:srgbClr val="000000"/>
                </a:solidFill>
                <a:latin typeface="Cambria" pitchFamily="34" charset="0"/>
                <a:ea typeface="Cambria" pitchFamily="34" charset="-122"/>
                <a:cs typeface="Cambria" pitchFamily="34" charset="-120"/>
              </a:rPr>
              <a:t>AIを活用した救急隊運用最適化</a:t>
            </a:r>
            <a:endParaRPr lang="en-US" sz="1600" dirty="0"/>
          </a:p>
        </p:txBody>
      </p:sp>
      <p:sp>
        <p:nvSpPr>
          <p:cNvPr id="8" name="Text 5"/>
          <p:cNvSpPr/>
          <p:nvPr/>
        </p:nvSpPr>
        <p:spPr>
          <a:xfrm>
            <a:off x="868680" y="3474720"/>
            <a:ext cx="4709160" cy="502920"/>
          </a:xfrm>
          <a:prstGeom prst="rect">
            <a:avLst/>
          </a:prstGeom>
          <a:noFill/>
          <a:ln/>
        </p:spPr>
        <p:txBody>
          <a:bodyPr wrap="square" lIns="0" tIns="0" rIns="0" bIns="0" rtlCol="0" anchor="ctr"/>
          <a:lstStyle/>
          <a:p>
            <a:pPr indent="0" marL="0">
              <a:lnSpc>
                <a:spcPct val="120000"/>
              </a:lnSpc>
              <a:buNone/>
            </a:pPr>
            <a:r>
              <a:rPr lang="en-US" sz="1150" dirty="0">
                <a:solidFill>
                  <a:srgbClr val="000000"/>
                </a:solidFill>
                <a:latin typeface="Calibri" pitchFamily="34" charset="0"/>
                <a:ea typeface="Calibri" pitchFamily="34" charset="-122"/>
                <a:cs typeface="Calibri" pitchFamily="34" charset="-120"/>
              </a:rPr>
              <a:t>過去の出場実績や気象データ等からAIで救急需要を予測し、部隊配置を最適化。現場到着所要時間の短縮を狙う。</a:t>
            </a:r>
            <a:endParaRPr lang="en-US" sz="1150" dirty="0"/>
          </a:p>
        </p:txBody>
      </p:sp>
      <p:sp>
        <p:nvSpPr>
          <p:cNvPr id="9" name="Text 6"/>
          <p:cNvSpPr/>
          <p:nvPr/>
        </p:nvSpPr>
        <p:spPr>
          <a:xfrm>
            <a:off x="868680" y="3977640"/>
            <a:ext cx="4709160" cy="5943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令和7年、北九州市消防局・奈良県広域消防組合消防本部・京都市消防局・藤沢市消防局の4消防本部で実証研究を実施（12消防本部が導入検討中）</a:t>
            </a:r>
            <a:endParaRPr lang="en-US" sz="1050" dirty="0"/>
          </a:p>
        </p:txBody>
      </p:sp>
      <p:sp>
        <p:nvSpPr>
          <p:cNvPr id="10" name="Shape 7"/>
          <p:cNvSpPr/>
          <p:nvPr/>
        </p:nvSpPr>
        <p:spPr>
          <a:xfrm>
            <a:off x="6263640" y="1645920"/>
            <a:ext cx="5349240" cy="3017520"/>
          </a:xfrm>
          <a:prstGeom prst="roundRect">
            <a:avLst>
              <a:gd name="adj" fmla="val 3030"/>
            </a:avLst>
          </a:prstGeom>
          <a:solidFill>
            <a:srgbClr val="FBEFEE"/>
          </a:solidFill>
          <a:ln/>
        </p:spPr>
      </p:sp>
      <p:sp>
        <p:nvSpPr>
          <p:cNvPr id="11" name="Shape 8"/>
          <p:cNvSpPr/>
          <p:nvPr/>
        </p:nvSpPr>
        <p:spPr>
          <a:xfrm>
            <a:off x="6583680" y="1965960"/>
            <a:ext cx="731520" cy="731520"/>
          </a:xfrm>
          <a:prstGeom prst="ellipse">
            <a:avLst/>
          </a:prstGeom>
          <a:solidFill>
            <a:srgbClr val="B3261E"/>
          </a:solidFill>
          <a:ln/>
        </p:spPr>
      </p:sp>
      <p:pic>
        <p:nvPicPr>
          <p:cNvPr id="12" name="Image 1" descr="/tmp/claude-0/-home-user-NasuVault2/6f2142b9-699b-5a57-a1e0-e3cdf04ed45e/scratchpad/pptx_build/icon_chart_white.png">    </p:cNvPr>
          <p:cNvPicPr>
            <a:picLocks noChangeAspect="1"/>
          </p:cNvPicPr>
          <p:nvPr/>
        </p:nvPicPr>
        <p:blipFill>
          <a:blip r:embed="rId2"/>
          <a:stretch>
            <a:fillRect/>
          </a:stretch>
        </p:blipFill>
        <p:spPr>
          <a:xfrm>
            <a:off x="6664147" y="2046427"/>
            <a:ext cx="570586" cy="570586"/>
          </a:xfrm>
          <a:prstGeom prst="rect">
            <a:avLst/>
          </a:prstGeom>
        </p:spPr>
      </p:pic>
      <p:sp>
        <p:nvSpPr>
          <p:cNvPr id="13" name="Text 9"/>
          <p:cNvSpPr/>
          <p:nvPr/>
        </p:nvSpPr>
        <p:spPr>
          <a:xfrm>
            <a:off x="6583680" y="2880360"/>
            <a:ext cx="4709160" cy="640080"/>
          </a:xfrm>
          <a:prstGeom prst="rect">
            <a:avLst/>
          </a:prstGeom>
          <a:noFill/>
          <a:ln/>
        </p:spPr>
        <p:txBody>
          <a:bodyPr wrap="square" lIns="0" tIns="0" rIns="0" bIns="0" rtlCol="0" anchor="ctr"/>
          <a:lstStyle/>
          <a:p>
            <a:pPr indent="0" marL="0">
              <a:lnSpc>
                <a:spcPct val="110000"/>
              </a:lnSpc>
              <a:buNone/>
            </a:pPr>
            <a:r>
              <a:rPr lang="en-US" sz="1600" b="1" dirty="0">
                <a:solidFill>
                  <a:srgbClr val="000000"/>
                </a:solidFill>
                <a:latin typeface="Cambria" pitchFamily="34" charset="0"/>
                <a:ea typeface="Cambria" pitchFamily="34" charset="-122"/>
                <a:cs typeface="Cambria" pitchFamily="34" charset="-120"/>
              </a:rPr>
              <a:t>消防業務システムの標準化・クラウド化</a:t>
            </a:r>
            <a:endParaRPr lang="en-US" sz="1600" dirty="0"/>
          </a:p>
        </p:txBody>
      </p:sp>
      <p:sp>
        <p:nvSpPr>
          <p:cNvPr id="14" name="Text 10"/>
          <p:cNvSpPr/>
          <p:nvPr/>
        </p:nvSpPr>
        <p:spPr>
          <a:xfrm>
            <a:off x="6583680" y="3474720"/>
            <a:ext cx="4709160" cy="502920"/>
          </a:xfrm>
          <a:prstGeom prst="rect">
            <a:avLst/>
          </a:prstGeom>
          <a:noFill/>
          <a:ln/>
        </p:spPr>
        <p:txBody>
          <a:bodyPr wrap="square" lIns="0" tIns="0" rIns="0" bIns="0" rtlCol="0" anchor="ctr"/>
          <a:lstStyle/>
          <a:p>
            <a:pPr indent="0" marL="0">
              <a:lnSpc>
                <a:spcPct val="120000"/>
              </a:lnSpc>
              <a:buNone/>
            </a:pPr>
            <a:r>
              <a:rPr lang="en-US" sz="1150" dirty="0">
                <a:solidFill>
                  <a:srgbClr val="000000"/>
                </a:solidFill>
                <a:latin typeface="Calibri" pitchFamily="34" charset="0"/>
                <a:ea typeface="Calibri" pitchFamily="34" charset="-122"/>
                <a:cs typeface="Calibri" pitchFamily="34" charset="-120"/>
              </a:rPr>
              <a:t>各消防本部が個別に構築してきた業務システムについて、標準仕様を策定しクラウド化。</a:t>
            </a:r>
            <a:endParaRPr lang="en-US" sz="1150" dirty="0"/>
          </a:p>
        </p:txBody>
      </p:sp>
      <p:sp>
        <p:nvSpPr>
          <p:cNvPr id="15" name="Text 11"/>
          <p:cNvSpPr/>
          <p:nvPr/>
        </p:nvSpPr>
        <p:spPr>
          <a:xfrm>
            <a:off x="6583680" y="3977640"/>
            <a:ext cx="4709160" cy="5943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令和6年10月に標準仕様書等を策定・公表。令和7年3月に検討会最終とりまとめを公表</a:t>
            </a:r>
            <a:endParaRPr lang="en-US" sz="1050" dirty="0"/>
          </a:p>
        </p:txBody>
      </p:sp>
      <p:sp>
        <p:nvSpPr>
          <p:cNvPr id="16" name="Shape 12"/>
          <p:cNvSpPr/>
          <p:nvPr/>
        </p:nvSpPr>
        <p:spPr>
          <a:xfrm>
            <a:off x="548640" y="4937760"/>
            <a:ext cx="11064240" cy="1051560"/>
          </a:xfrm>
          <a:prstGeom prst="roundRect">
            <a:avLst>
              <a:gd name="adj" fmla="val 6957"/>
            </a:avLst>
          </a:prstGeom>
          <a:solidFill>
            <a:srgbClr val="E3E3E3"/>
          </a:solidFill>
          <a:ln/>
        </p:spPr>
      </p:sp>
      <p:sp>
        <p:nvSpPr>
          <p:cNvPr id="17" name="Text 13"/>
          <p:cNvSpPr/>
          <p:nvPr/>
        </p:nvSpPr>
        <p:spPr>
          <a:xfrm>
            <a:off x="822960" y="4937760"/>
            <a:ext cx="10515600" cy="1051560"/>
          </a:xfrm>
          <a:prstGeom prst="rect">
            <a:avLst/>
          </a:prstGeom>
          <a:noFill/>
          <a:ln/>
        </p:spPr>
        <p:txBody>
          <a:bodyPr wrap="square" lIns="0" tIns="0" rIns="0" bIns="0" rtlCol="0" anchor="ctr"/>
          <a:lstStyle/>
          <a:p>
            <a:pPr indent="0" marL="0">
              <a:lnSpc>
                <a:spcPct val="125000"/>
              </a:lnSpc>
              <a:buNone/>
            </a:pPr>
            <a:r>
              <a:rPr lang="en-US" sz="1350" b="1" dirty="0">
                <a:solidFill>
                  <a:srgbClr val="000000"/>
                </a:solidFill>
                <a:latin typeface="Calibri" pitchFamily="34" charset="0"/>
                <a:ea typeface="Calibri" pitchFamily="34" charset="-122"/>
                <a:cs typeface="Calibri" pitchFamily="34" charset="-120"/>
              </a:rPr>
              <a:t>課題：　</a:t>
            </a:r>
            <a:pPr indent="0" marL="0">
              <a:lnSpc>
                <a:spcPct val="125000"/>
              </a:lnSpc>
              <a:buNone/>
            </a:pPr>
            <a:r>
              <a:rPr lang="en-US" sz="1350" dirty="0">
                <a:solidFill>
                  <a:srgbClr val="000000"/>
                </a:solidFill>
                <a:latin typeface="Calibri" pitchFamily="34" charset="0"/>
                <a:ea typeface="Calibri" pitchFamily="34" charset="-122"/>
                <a:cs typeface="Calibri" pitchFamily="34" charset="-120"/>
              </a:rPr>
              <a:t>目的は「現場到着の迅速化」と「消防本部内部の業務効率化」。病院側との情報連携や搬送先選定の精度向上は、いずれも対象範囲外</a:t>
            </a:r>
            <a:endParaRPr lang="en-US" sz="1350" dirty="0"/>
          </a:p>
        </p:txBody>
      </p:sp>
      <p:sp>
        <p:nvSpPr>
          <p:cNvPr id="18" name="Text 14"/>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出典：総務省消防庁「令和7年版 消防白書」特集7「消防分野におけるDX・新技術の活用の推進」 https://www.fdma.go.jp/publication/hakusho/r7/items/special7.pdf</a:t>
            </a:r>
            <a:endParaRPr lang="en-US" sz="900" dirty="0"/>
          </a:p>
        </p:txBody>
      </p:sp>
      <p:sp>
        <p:nvSpPr>
          <p:cNvPr id="19" name="Text 15"/>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EXISTING EFFORT 02</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消防庁の取組② ― 救急医療情報連携プラットフォーム</a:t>
            </a:r>
            <a:endParaRPr lang="en-US" sz="3000" dirty="0"/>
          </a:p>
        </p:txBody>
      </p:sp>
      <p:sp>
        <p:nvSpPr>
          <p:cNvPr id="4" name="Shape 2"/>
          <p:cNvSpPr/>
          <p:nvPr/>
        </p:nvSpPr>
        <p:spPr>
          <a:xfrm>
            <a:off x="548640" y="1600200"/>
            <a:ext cx="11064240" cy="1188720"/>
          </a:xfrm>
          <a:prstGeom prst="roundRect">
            <a:avLst>
              <a:gd name="adj" fmla="val 6154"/>
            </a:avLst>
          </a:prstGeom>
          <a:solidFill>
            <a:srgbClr val="FBEFEE"/>
          </a:solidFill>
          <a:ln/>
        </p:spPr>
      </p:sp>
      <p:sp>
        <p:nvSpPr>
          <p:cNvPr id="5" name="Shape 3"/>
          <p:cNvSpPr/>
          <p:nvPr/>
        </p:nvSpPr>
        <p:spPr>
          <a:xfrm>
            <a:off x="822960" y="1828800"/>
            <a:ext cx="777240" cy="777240"/>
          </a:xfrm>
          <a:prstGeom prst="ellipse">
            <a:avLst/>
          </a:prstGeom>
          <a:solidFill>
            <a:srgbClr val="B3261E"/>
          </a:solidFill>
          <a:ln/>
        </p:spPr>
      </p:sp>
      <p:pic>
        <p:nvPicPr>
          <p:cNvPr id="6" name="Image 0" descr="/tmp/claude-0/-home-user-NasuVault2/6f2142b9-699b-5a57-a1e0-e3cdf04ed45e/scratchpad/pptx_build/icon_hospitalSymbol_white.png">    </p:cNvPr>
          <p:cNvPicPr>
            <a:picLocks noChangeAspect="1"/>
          </p:cNvPicPr>
          <p:nvPr/>
        </p:nvPicPr>
        <p:blipFill>
          <a:blip r:embed="rId1"/>
          <a:stretch>
            <a:fillRect/>
          </a:stretch>
        </p:blipFill>
        <p:spPr>
          <a:xfrm>
            <a:off x="908456" y="1914296"/>
            <a:ext cx="606247" cy="606247"/>
          </a:xfrm>
          <a:prstGeom prst="rect">
            <a:avLst/>
          </a:prstGeom>
        </p:spPr>
      </p:pic>
      <p:sp>
        <p:nvSpPr>
          <p:cNvPr id="7" name="Text 4"/>
          <p:cNvSpPr/>
          <p:nvPr/>
        </p:nvSpPr>
        <p:spPr>
          <a:xfrm>
            <a:off x="1828800" y="1737360"/>
            <a:ext cx="9509760" cy="914400"/>
          </a:xfrm>
          <a:prstGeom prst="rect">
            <a:avLst/>
          </a:prstGeom>
          <a:noFill/>
          <a:ln/>
        </p:spPr>
        <p:txBody>
          <a:bodyPr wrap="square" lIns="0" tIns="0" rIns="0" bIns="0" rtlCol="0" anchor="ctr"/>
          <a:lstStyle/>
          <a:p>
            <a:pPr indent="0" marL="0">
              <a:lnSpc>
                <a:spcPct val="125000"/>
              </a:lnSpc>
              <a:buNone/>
            </a:pPr>
            <a:r>
              <a:rPr lang="en-US" sz="1400" dirty="0">
                <a:solidFill>
                  <a:srgbClr val="000000"/>
                </a:solidFill>
                <a:latin typeface="Calibri" pitchFamily="34" charset="0"/>
                <a:ea typeface="Calibri" pitchFamily="34" charset="-122"/>
                <a:cs typeface="Calibri" pitchFamily="34" charset="-120"/>
              </a:rPr>
              <a:t>救急現場で得た主訴・バイタルサイン・負傷部位の画像等を、複数の搬送先候補医療機関へ迅速・安全に同時共有し、応需状況をタイムリーに把握できる仕組み（厚生労働省・消防庁）</a:t>
            </a:r>
            <a:endParaRPr lang="en-US" sz="1400" dirty="0"/>
          </a:p>
        </p:txBody>
      </p:sp>
      <p:sp>
        <p:nvSpPr>
          <p:cNvPr id="8" name="Shape 5"/>
          <p:cNvSpPr/>
          <p:nvPr/>
        </p:nvSpPr>
        <p:spPr>
          <a:xfrm>
            <a:off x="548640" y="3017520"/>
            <a:ext cx="5349240" cy="1828800"/>
          </a:xfrm>
          <a:prstGeom prst="roundRect">
            <a:avLst>
              <a:gd name="adj" fmla="val 5000"/>
            </a:avLst>
          </a:prstGeom>
          <a:solidFill>
            <a:srgbClr val="FBEFEE"/>
          </a:solidFill>
          <a:ln/>
        </p:spPr>
      </p:sp>
      <p:sp>
        <p:nvSpPr>
          <p:cNvPr id="9" name="Shape 6"/>
          <p:cNvSpPr/>
          <p:nvPr/>
        </p:nvSpPr>
        <p:spPr>
          <a:xfrm>
            <a:off x="822960" y="3310128"/>
            <a:ext cx="640080" cy="640080"/>
          </a:xfrm>
          <a:prstGeom prst="ellipse">
            <a:avLst/>
          </a:prstGeom>
          <a:solidFill>
            <a:srgbClr val="B3261E"/>
          </a:solidFill>
          <a:ln/>
        </p:spPr>
      </p:sp>
      <p:pic>
        <p:nvPicPr>
          <p:cNvPr id="10" name="Image 1" descr="/tmp/claude-0/-home-user-NasuVault2/6f2142b9-699b-5a57-a1e0-e3cdf04ed45e/scratchpad/pptx_build/icon_map_white.png">    </p:cNvPr>
          <p:cNvPicPr>
            <a:picLocks noChangeAspect="1"/>
          </p:cNvPicPr>
          <p:nvPr/>
        </p:nvPicPr>
        <p:blipFill>
          <a:blip r:embed="rId2"/>
          <a:stretch>
            <a:fillRect/>
          </a:stretch>
        </p:blipFill>
        <p:spPr>
          <a:xfrm>
            <a:off x="893369" y="3380537"/>
            <a:ext cx="499262" cy="499262"/>
          </a:xfrm>
          <a:prstGeom prst="rect">
            <a:avLst/>
          </a:prstGeom>
        </p:spPr>
      </p:pic>
      <p:sp>
        <p:nvSpPr>
          <p:cNvPr id="11" name="Text 7"/>
          <p:cNvSpPr/>
          <p:nvPr/>
        </p:nvSpPr>
        <p:spPr>
          <a:xfrm>
            <a:off x="1645920" y="3291840"/>
            <a:ext cx="3977640" cy="45720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静岡県</a:t>
            </a:r>
            <a:endParaRPr lang="en-US" sz="1800" dirty="0"/>
          </a:p>
        </p:txBody>
      </p:sp>
      <p:sp>
        <p:nvSpPr>
          <p:cNvPr id="12" name="Text 8"/>
          <p:cNvSpPr/>
          <p:nvPr/>
        </p:nvSpPr>
        <p:spPr>
          <a:xfrm>
            <a:off x="868680" y="3931920"/>
            <a:ext cx="4709160" cy="822960"/>
          </a:xfrm>
          <a:prstGeom prst="rect">
            <a:avLst/>
          </a:prstGeom>
          <a:noFill/>
          <a:ln/>
        </p:spPr>
        <p:txBody>
          <a:bodyPr wrap="square" lIns="0" tIns="0" rIns="0" bIns="0" rtlCol="0" anchor="ctr"/>
          <a:lstStyle/>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令和6年度、県内の一部地域で「救急医療情報連携プラットフォーム」モデル事業を実施</a:t>
            </a:r>
            <a:endParaRPr lang="en-US" sz="1200" dirty="0"/>
          </a:p>
        </p:txBody>
      </p:sp>
      <p:sp>
        <p:nvSpPr>
          <p:cNvPr id="13" name="Shape 9"/>
          <p:cNvSpPr/>
          <p:nvPr/>
        </p:nvSpPr>
        <p:spPr>
          <a:xfrm>
            <a:off x="6263640" y="3017520"/>
            <a:ext cx="5349240" cy="1828800"/>
          </a:xfrm>
          <a:prstGeom prst="roundRect">
            <a:avLst>
              <a:gd name="adj" fmla="val 5000"/>
            </a:avLst>
          </a:prstGeom>
          <a:solidFill>
            <a:srgbClr val="FBEFEE"/>
          </a:solidFill>
          <a:ln/>
        </p:spPr>
      </p:sp>
      <p:sp>
        <p:nvSpPr>
          <p:cNvPr id="14" name="Shape 10"/>
          <p:cNvSpPr/>
          <p:nvPr/>
        </p:nvSpPr>
        <p:spPr>
          <a:xfrm>
            <a:off x="6537960" y="3310128"/>
            <a:ext cx="640080" cy="640080"/>
          </a:xfrm>
          <a:prstGeom prst="ellipse">
            <a:avLst/>
          </a:prstGeom>
          <a:solidFill>
            <a:srgbClr val="B3261E"/>
          </a:solidFill>
          <a:ln/>
        </p:spPr>
      </p:sp>
      <p:pic>
        <p:nvPicPr>
          <p:cNvPr id="15" name="Image 2" descr="/tmp/claude-0/-home-user-NasuVault2/6f2142b9-699b-5a57-a1e0-e3cdf04ed45e/scratchpad/pptx_build/icon_map_white.png">    </p:cNvPr>
          <p:cNvPicPr>
            <a:picLocks noChangeAspect="1"/>
          </p:cNvPicPr>
          <p:nvPr/>
        </p:nvPicPr>
        <p:blipFill>
          <a:blip r:embed="rId3"/>
          <a:stretch>
            <a:fillRect/>
          </a:stretch>
        </p:blipFill>
        <p:spPr>
          <a:xfrm>
            <a:off x="6608369" y="3380537"/>
            <a:ext cx="499262" cy="499262"/>
          </a:xfrm>
          <a:prstGeom prst="rect">
            <a:avLst/>
          </a:prstGeom>
        </p:spPr>
      </p:pic>
      <p:sp>
        <p:nvSpPr>
          <p:cNvPr id="16" name="Text 11"/>
          <p:cNvSpPr/>
          <p:nvPr/>
        </p:nvSpPr>
        <p:spPr>
          <a:xfrm>
            <a:off x="7360920" y="3291840"/>
            <a:ext cx="3977640" cy="45720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広島県</a:t>
            </a:r>
            <a:endParaRPr lang="en-US" sz="1800" dirty="0"/>
          </a:p>
        </p:txBody>
      </p:sp>
      <p:sp>
        <p:nvSpPr>
          <p:cNvPr id="17" name="Text 12"/>
          <p:cNvSpPr/>
          <p:nvPr/>
        </p:nvSpPr>
        <p:spPr>
          <a:xfrm>
            <a:off x="6583680" y="3931920"/>
            <a:ext cx="4709160" cy="822960"/>
          </a:xfrm>
          <a:prstGeom prst="rect">
            <a:avLst/>
          </a:prstGeom>
          <a:noFill/>
          <a:ln/>
        </p:spPr>
        <p:txBody>
          <a:bodyPr wrap="square" lIns="0" tIns="0" rIns="0" bIns="0" rtlCol="0" anchor="ctr"/>
          <a:lstStyle/>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「災害時活用も視野に入れた救急医療機関と消防機関のワンストップ連携」を実証中</a:t>
            </a:r>
            <a:endParaRPr lang="en-US" sz="1200" dirty="0"/>
          </a:p>
        </p:txBody>
      </p:sp>
      <p:sp>
        <p:nvSpPr>
          <p:cNvPr id="18" name="Shape 13"/>
          <p:cNvSpPr/>
          <p:nvPr/>
        </p:nvSpPr>
        <p:spPr>
          <a:xfrm>
            <a:off x="548640" y="5120640"/>
            <a:ext cx="11064240" cy="868680"/>
          </a:xfrm>
          <a:prstGeom prst="roundRect">
            <a:avLst>
              <a:gd name="adj" fmla="val 8421"/>
            </a:avLst>
          </a:prstGeom>
          <a:solidFill>
            <a:srgbClr val="E3E3E3"/>
          </a:solidFill>
          <a:ln/>
        </p:spPr>
      </p:sp>
      <p:sp>
        <p:nvSpPr>
          <p:cNvPr id="19" name="Text 14"/>
          <p:cNvSpPr/>
          <p:nvPr/>
        </p:nvSpPr>
        <p:spPr>
          <a:xfrm>
            <a:off x="822960" y="5120640"/>
            <a:ext cx="10515600" cy="868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課題：　</a:t>
            </a:r>
            <a:pPr indent="0" marL="0">
              <a:buNone/>
            </a:pPr>
            <a:r>
              <a:rPr lang="en-US" sz="1350" dirty="0">
                <a:solidFill>
                  <a:srgbClr val="000000"/>
                </a:solidFill>
                <a:latin typeface="Calibri" pitchFamily="34" charset="0"/>
                <a:ea typeface="Calibri" pitchFamily="34" charset="-122"/>
                <a:cs typeface="Calibri" pitchFamily="34" charset="-120"/>
              </a:rPr>
              <a:t>まだ一部地域限定の実証段階。全国の救急現場では、依然として口頭伝達が基本のまま</a:t>
            </a:r>
            <a:endParaRPr lang="en-US" sz="1350" dirty="0"/>
          </a:p>
        </p:txBody>
      </p:sp>
      <p:sp>
        <p:nvSpPr>
          <p:cNvPr id="20" name="Text 15"/>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出典：厚生労働省 医政局地域医療計画課 救急・周産期医療等対策室「救急医療情報連携プラットフォームについて」都道府県向け説明会資料 https://www.mhlw.go.jp/content/10800000/001647797.pdf</a:t>
            </a:r>
            <a:endParaRPr lang="en-US" sz="900" dirty="0"/>
          </a:p>
        </p:txBody>
      </p:sp>
      <p:sp>
        <p:nvSpPr>
          <p:cNvPr id="21" name="Text 16"/>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EXISTING EFFORT 03</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消防庁の取組③ ― 搬送ルールと市民向け施策</a:t>
            </a:r>
            <a:endParaRPr lang="en-US" sz="3000" dirty="0"/>
          </a:p>
        </p:txBody>
      </p:sp>
      <p:sp>
        <p:nvSpPr>
          <p:cNvPr id="4" name="Shape 2"/>
          <p:cNvSpPr/>
          <p:nvPr/>
        </p:nvSpPr>
        <p:spPr>
          <a:xfrm>
            <a:off x="548640" y="1645920"/>
            <a:ext cx="11064240" cy="960120"/>
          </a:xfrm>
          <a:prstGeom prst="roundRect">
            <a:avLst>
              <a:gd name="adj" fmla="val 7619"/>
            </a:avLst>
          </a:prstGeom>
          <a:solidFill>
            <a:srgbClr val="FBEFEE"/>
          </a:solidFill>
          <a:ln/>
        </p:spPr>
      </p:sp>
      <p:sp>
        <p:nvSpPr>
          <p:cNvPr id="5" name="Shape 3"/>
          <p:cNvSpPr/>
          <p:nvPr/>
        </p:nvSpPr>
        <p:spPr>
          <a:xfrm>
            <a:off x="777240" y="1783080"/>
            <a:ext cx="685800" cy="685800"/>
          </a:xfrm>
          <a:prstGeom prst="ellipse">
            <a:avLst/>
          </a:prstGeom>
          <a:solidFill>
            <a:srgbClr val="B3261E"/>
          </a:solidFill>
          <a:ln/>
        </p:spPr>
      </p:sp>
      <p:pic>
        <p:nvPicPr>
          <p:cNvPr id="6" name="Image 0" descr="/tmp/claude-0/-home-user-NasuVault2/6f2142b9-699b-5a57-a1e0-e3cdf04ed45e/scratchpad/pptx_build/icon_exchange_white.png">    </p:cNvPr>
          <p:cNvPicPr>
            <a:picLocks noChangeAspect="1"/>
          </p:cNvPicPr>
          <p:nvPr/>
        </p:nvPicPr>
        <p:blipFill>
          <a:blip r:embed="rId1"/>
          <a:stretch>
            <a:fillRect/>
          </a:stretch>
        </p:blipFill>
        <p:spPr>
          <a:xfrm>
            <a:off x="852678" y="1858518"/>
            <a:ext cx="534924" cy="534924"/>
          </a:xfrm>
          <a:prstGeom prst="rect">
            <a:avLst/>
          </a:prstGeom>
        </p:spPr>
      </p:pic>
      <p:sp>
        <p:nvSpPr>
          <p:cNvPr id="7" name="Text 4"/>
          <p:cNvSpPr/>
          <p:nvPr/>
        </p:nvSpPr>
        <p:spPr>
          <a:xfrm>
            <a:off x="1691640" y="1719072"/>
            <a:ext cx="9692640" cy="41148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転院搬送における救急車の適正利用ガイドライン</a:t>
            </a:r>
            <a:endParaRPr lang="en-US" sz="1500" dirty="0"/>
          </a:p>
        </p:txBody>
      </p:sp>
      <p:sp>
        <p:nvSpPr>
          <p:cNvPr id="8" name="Text 5"/>
          <p:cNvSpPr/>
          <p:nvPr/>
        </p:nvSpPr>
        <p:spPr>
          <a:xfrm>
            <a:off x="1691640" y="2103120"/>
            <a:ext cx="9692640" cy="45720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令和7年6月30日、厚労省医政局長と連名で通知を改定。病院救急車の活用や、令和6年度新設の診療報酬「救急患者連携搬送料」の活用等を追加</a:t>
            </a:r>
            <a:endParaRPr lang="en-US" sz="1150" dirty="0"/>
          </a:p>
        </p:txBody>
      </p:sp>
      <p:sp>
        <p:nvSpPr>
          <p:cNvPr id="9" name="Shape 6"/>
          <p:cNvSpPr/>
          <p:nvPr/>
        </p:nvSpPr>
        <p:spPr>
          <a:xfrm>
            <a:off x="548640" y="2743200"/>
            <a:ext cx="11064240" cy="960120"/>
          </a:xfrm>
          <a:prstGeom prst="roundRect">
            <a:avLst>
              <a:gd name="adj" fmla="val 7619"/>
            </a:avLst>
          </a:prstGeom>
          <a:solidFill>
            <a:srgbClr val="FBEFEE"/>
          </a:solidFill>
          <a:ln/>
        </p:spPr>
      </p:sp>
      <p:sp>
        <p:nvSpPr>
          <p:cNvPr id="10" name="Shape 7"/>
          <p:cNvSpPr/>
          <p:nvPr/>
        </p:nvSpPr>
        <p:spPr>
          <a:xfrm>
            <a:off x="777240" y="2880360"/>
            <a:ext cx="685800" cy="685800"/>
          </a:xfrm>
          <a:prstGeom prst="ellipse">
            <a:avLst/>
          </a:prstGeom>
          <a:solidFill>
            <a:srgbClr val="B3261E"/>
          </a:solidFill>
          <a:ln/>
        </p:spPr>
      </p:sp>
      <p:pic>
        <p:nvPicPr>
          <p:cNvPr id="11" name="Image 1" descr="/tmp/claude-0/-home-user-NasuVault2/6f2142b9-699b-5a57-a1e0-e3cdf04ed45e/scratchpad/pptx_build/icon_phone_white.png">    </p:cNvPr>
          <p:cNvPicPr>
            <a:picLocks noChangeAspect="1"/>
          </p:cNvPicPr>
          <p:nvPr/>
        </p:nvPicPr>
        <p:blipFill>
          <a:blip r:embed="rId2"/>
          <a:stretch>
            <a:fillRect/>
          </a:stretch>
        </p:blipFill>
        <p:spPr>
          <a:xfrm>
            <a:off x="852678" y="2955798"/>
            <a:ext cx="534924" cy="534924"/>
          </a:xfrm>
          <a:prstGeom prst="rect">
            <a:avLst/>
          </a:prstGeom>
        </p:spPr>
      </p:pic>
      <p:sp>
        <p:nvSpPr>
          <p:cNvPr id="12" name="Text 8"/>
          <p:cNvSpPr/>
          <p:nvPr/>
        </p:nvSpPr>
        <p:spPr>
          <a:xfrm>
            <a:off x="1691640" y="2816352"/>
            <a:ext cx="9692640" cy="41148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救急安心センター事業（＃7119）</a:t>
            </a:r>
            <a:endParaRPr lang="en-US" sz="1500" dirty="0"/>
          </a:p>
        </p:txBody>
      </p:sp>
      <p:sp>
        <p:nvSpPr>
          <p:cNvPr id="13" name="Text 9"/>
          <p:cNvSpPr/>
          <p:nvPr/>
        </p:nvSpPr>
        <p:spPr>
          <a:xfrm>
            <a:off x="1691640" y="3200400"/>
            <a:ext cx="9692640" cy="45720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電話相談による、救急車の適時・適切な利用を支援</a:t>
            </a:r>
            <a:endParaRPr lang="en-US" sz="1150" dirty="0"/>
          </a:p>
        </p:txBody>
      </p:sp>
      <p:sp>
        <p:nvSpPr>
          <p:cNvPr id="14" name="Shape 10"/>
          <p:cNvSpPr/>
          <p:nvPr/>
        </p:nvSpPr>
        <p:spPr>
          <a:xfrm>
            <a:off x="548640" y="3840480"/>
            <a:ext cx="11064240" cy="960120"/>
          </a:xfrm>
          <a:prstGeom prst="roundRect">
            <a:avLst>
              <a:gd name="adj" fmla="val 7619"/>
            </a:avLst>
          </a:prstGeom>
          <a:solidFill>
            <a:srgbClr val="FBEFEE"/>
          </a:solidFill>
          <a:ln/>
        </p:spPr>
      </p:sp>
      <p:sp>
        <p:nvSpPr>
          <p:cNvPr id="15" name="Shape 11"/>
          <p:cNvSpPr/>
          <p:nvPr/>
        </p:nvSpPr>
        <p:spPr>
          <a:xfrm>
            <a:off x="777240" y="3977640"/>
            <a:ext cx="685800" cy="685800"/>
          </a:xfrm>
          <a:prstGeom prst="ellipse">
            <a:avLst/>
          </a:prstGeom>
          <a:solidFill>
            <a:srgbClr val="B3261E"/>
          </a:solidFill>
          <a:ln/>
        </p:spPr>
      </p:sp>
      <p:pic>
        <p:nvPicPr>
          <p:cNvPr id="16" name="Image 2" descr="/tmp/claude-0/-home-user-NasuVault2/6f2142b9-699b-5a57-a1e0-e3cdf04ed45e/scratchpad/pptx_build/icon_map_white.png">    </p:cNvPr>
          <p:cNvPicPr>
            <a:picLocks noChangeAspect="1"/>
          </p:cNvPicPr>
          <p:nvPr/>
        </p:nvPicPr>
        <p:blipFill>
          <a:blip r:embed="rId3"/>
          <a:stretch>
            <a:fillRect/>
          </a:stretch>
        </p:blipFill>
        <p:spPr>
          <a:xfrm>
            <a:off x="852678" y="4053078"/>
            <a:ext cx="534924" cy="534924"/>
          </a:xfrm>
          <a:prstGeom prst="rect">
            <a:avLst/>
          </a:prstGeom>
        </p:spPr>
      </p:pic>
      <p:sp>
        <p:nvSpPr>
          <p:cNvPr id="17" name="Text 12"/>
          <p:cNvSpPr/>
          <p:nvPr/>
        </p:nvSpPr>
        <p:spPr>
          <a:xfrm>
            <a:off x="1691640" y="3913632"/>
            <a:ext cx="9692640" cy="41148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全国版救急受診アプリ「Q助」</a:t>
            </a:r>
            <a:endParaRPr lang="en-US" sz="1500" dirty="0"/>
          </a:p>
        </p:txBody>
      </p:sp>
      <p:sp>
        <p:nvSpPr>
          <p:cNvPr id="18" name="Text 13"/>
          <p:cNvSpPr/>
          <p:nvPr/>
        </p:nvSpPr>
        <p:spPr>
          <a:xfrm>
            <a:off x="1691640" y="4297680"/>
            <a:ext cx="9692640" cy="45720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住民自らが行う緊急度判定を支援し、受診手段の情報を提供</a:t>
            </a:r>
            <a:endParaRPr lang="en-US" sz="1150" dirty="0"/>
          </a:p>
        </p:txBody>
      </p:sp>
      <p:sp>
        <p:nvSpPr>
          <p:cNvPr id="19" name="Shape 14"/>
          <p:cNvSpPr/>
          <p:nvPr/>
        </p:nvSpPr>
        <p:spPr>
          <a:xfrm>
            <a:off x="548640" y="5074920"/>
            <a:ext cx="11064240" cy="914400"/>
          </a:xfrm>
          <a:prstGeom prst="roundRect">
            <a:avLst>
              <a:gd name="adj" fmla="val 8000"/>
            </a:avLst>
          </a:prstGeom>
          <a:solidFill>
            <a:srgbClr val="E3E3E3"/>
          </a:solidFill>
          <a:ln/>
        </p:spPr>
      </p:sp>
      <p:sp>
        <p:nvSpPr>
          <p:cNvPr id="20" name="Text 15"/>
          <p:cNvSpPr/>
          <p:nvPr/>
        </p:nvSpPr>
        <p:spPr>
          <a:xfrm>
            <a:off x="822960" y="5074920"/>
            <a:ext cx="10515600" cy="914400"/>
          </a:xfrm>
          <a:prstGeom prst="rect">
            <a:avLst/>
          </a:prstGeom>
          <a:noFill/>
          <a:ln/>
        </p:spPr>
        <p:txBody>
          <a:bodyPr wrap="square" lIns="0" tIns="0" rIns="0" bIns="0" rtlCol="0" anchor="ctr"/>
          <a:lstStyle/>
          <a:p>
            <a:pPr indent="0" marL="0">
              <a:lnSpc>
                <a:spcPct val="120000"/>
              </a:lnSpc>
              <a:buNone/>
            </a:pPr>
            <a:r>
              <a:rPr lang="en-US" sz="1300" b="1" dirty="0">
                <a:solidFill>
                  <a:srgbClr val="000000"/>
                </a:solidFill>
                <a:latin typeface="Calibri" pitchFamily="34" charset="0"/>
                <a:ea typeface="Calibri" pitchFamily="34" charset="-122"/>
                <a:cs typeface="Calibri" pitchFamily="34" charset="-120"/>
              </a:rPr>
              <a:t>課題：　</a:t>
            </a:r>
            <a:pPr indent="0" marL="0">
              <a:lnSpc>
                <a:spcPct val="120000"/>
              </a:lnSpc>
              <a:buNone/>
            </a:pPr>
            <a:r>
              <a:rPr lang="en-US" sz="1300" dirty="0">
                <a:solidFill>
                  <a:srgbClr val="000000"/>
                </a:solidFill>
                <a:latin typeface="Calibri" pitchFamily="34" charset="0"/>
                <a:ea typeface="Calibri" pitchFamily="34" charset="-122"/>
                <a:cs typeface="Calibri" pitchFamily="34" charset="-120"/>
              </a:rPr>
              <a:t>対象は「病院間の転院搬送」または「市民の搬送要否判断」。初診搬送時に病院到着後判明する“処置困難”（年12,078回）への対応は範囲外</a:t>
            </a:r>
            <a:endParaRPr lang="en-US" sz="1300" dirty="0"/>
          </a:p>
        </p:txBody>
      </p:sp>
      <p:sp>
        <p:nvSpPr>
          <p:cNvPr id="21" name="Text 16"/>
          <p:cNvSpPr/>
          <p:nvPr/>
        </p:nvSpPr>
        <p:spPr>
          <a:xfrm>
            <a:off x="548640" y="6446520"/>
            <a:ext cx="11064240" cy="365760"/>
          </a:xfrm>
          <a:prstGeom prst="rect">
            <a:avLst/>
          </a:prstGeom>
          <a:noFill/>
          <a:ln/>
        </p:spPr>
        <p:txBody>
          <a:bodyPr wrap="square" lIns="0" tIns="0" rIns="0" bIns="0" rtlCol="0" anchor="ctr"/>
          <a:lstStyle/>
          <a:p>
            <a:pPr indent="0" marL="0">
              <a:lnSpc>
                <a:spcPct val="115000"/>
              </a:lnSpc>
              <a:buNone/>
            </a:pPr>
            <a:r>
              <a:rPr lang="en-US" sz="900" dirty="0">
                <a:solidFill>
                  <a:srgbClr val="000000"/>
                </a:solidFill>
                <a:latin typeface="Calibri" pitchFamily="34" charset="0"/>
                <a:ea typeface="Calibri" pitchFamily="34" charset="-122"/>
                <a:cs typeface="Calibri" pitchFamily="34" charset="-120"/>
              </a:rPr>
              <a:t>出典：総務省消防庁「令和7年版 消防白書」第2章第5節「救急体制」 https://www.fdma.go.jp/publication/hakusho/r7/69377.html</a:t>
            </a:r>
            <a:endParaRPr lang="en-US" sz="900" dirty="0"/>
          </a:p>
        </p:txBody>
      </p:sp>
      <p:sp>
        <p:nvSpPr>
          <p:cNvPr id="22" name="Text 17"/>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まとめ：残された機会</a:t>
            </a:r>
            <a:endParaRPr lang="en-US" sz="3000" dirty="0"/>
          </a:p>
        </p:txBody>
      </p:sp>
      <p:sp>
        <p:nvSpPr>
          <p:cNvPr id="4" name="Shape 2"/>
          <p:cNvSpPr/>
          <p:nvPr/>
        </p:nvSpPr>
        <p:spPr>
          <a:xfrm>
            <a:off x="548640" y="1645920"/>
            <a:ext cx="11064240" cy="457200"/>
          </a:xfrm>
          <a:prstGeom prst="rect">
            <a:avLst/>
          </a:prstGeom>
          <a:solidFill>
            <a:srgbClr val="E3E3E3"/>
          </a:solidFill>
          <a:ln/>
        </p:spPr>
      </p:sp>
      <p:sp>
        <p:nvSpPr>
          <p:cNvPr id="5" name="Text 3"/>
          <p:cNvSpPr/>
          <p:nvPr/>
        </p:nvSpPr>
        <p:spPr>
          <a:xfrm>
            <a:off x="685800" y="1645920"/>
            <a:ext cx="3063240" cy="45720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施策</a:t>
            </a:r>
            <a:endParaRPr lang="en-US" sz="1300" dirty="0"/>
          </a:p>
        </p:txBody>
      </p:sp>
      <p:sp>
        <p:nvSpPr>
          <p:cNvPr id="6" name="Text 4"/>
          <p:cNvSpPr/>
          <p:nvPr/>
        </p:nvSpPr>
        <p:spPr>
          <a:xfrm>
            <a:off x="3977640" y="1645920"/>
            <a:ext cx="3246120" cy="45720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主な対象</a:t>
            </a:r>
            <a:endParaRPr lang="en-US" sz="1300" dirty="0"/>
          </a:p>
        </p:txBody>
      </p:sp>
      <p:sp>
        <p:nvSpPr>
          <p:cNvPr id="7" name="Text 5"/>
          <p:cNvSpPr/>
          <p:nvPr/>
        </p:nvSpPr>
        <p:spPr>
          <a:xfrm>
            <a:off x="7452360" y="1645920"/>
            <a:ext cx="4160520" cy="45720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残された課題</a:t>
            </a:r>
            <a:endParaRPr lang="en-US" sz="1300" dirty="0"/>
          </a:p>
        </p:txBody>
      </p:sp>
      <p:sp>
        <p:nvSpPr>
          <p:cNvPr id="8" name="Text 6"/>
          <p:cNvSpPr/>
          <p:nvPr/>
        </p:nvSpPr>
        <p:spPr>
          <a:xfrm>
            <a:off x="685800" y="2103120"/>
            <a:ext cx="292608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AI運用最適化／</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システム標準化</a:t>
            </a:r>
            <a:endParaRPr lang="en-US" sz="1150" dirty="0"/>
          </a:p>
        </p:txBody>
      </p:sp>
      <p:sp>
        <p:nvSpPr>
          <p:cNvPr id="9" name="Text 7"/>
          <p:cNvSpPr/>
          <p:nvPr/>
        </p:nvSpPr>
        <p:spPr>
          <a:xfrm>
            <a:off x="3977640" y="2103120"/>
            <a:ext cx="310896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現場到着時間の短縮</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消防本部内部の業務効率化</a:t>
            </a:r>
            <a:endParaRPr lang="en-US" sz="1150" dirty="0"/>
          </a:p>
        </p:txBody>
      </p:sp>
      <p:sp>
        <p:nvSpPr>
          <p:cNvPr id="10" name="Text 8"/>
          <p:cNvSpPr/>
          <p:nvPr/>
        </p:nvSpPr>
        <p:spPr>
          <a:xfrm>
            <a:off x="7452360" y="2103120"/>
            <a:ext cx="402336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病院側との情報連携・</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搬送先選定の精度向上は対象外</a:t>
            </a:r>
            <a:endParaRPr lang="en-US" sz="1150" dirty="0"/>
          </a:p>
        </p:txBody>
      </p:sp>
      <p:sp>
        <p:nvSpPr>
          <p:cNvPr id="11" name="Shape 9"/>
          <p:cNvSpPr/>
          <p:nvPr/>
        </p:nvSpPr>
        <p:spPr>
          <a:xfrm>
            <a:off x="548640" y="3063240"/>
            <a:ext cx="11064240" cy="960120"/>
          </a:xfrm>
          <a:prstGeom prst="rect">
            <a:avLst/>
          </a:prstGeom>
          <a:solidFill>
            <a:srgbClr val="FBEFEE"/>
          </a:solidFill>
          <a:ln/>
        </p:spPr>
      </p:sp>
      <p:sp>
        <p:nvSpPr>
          <p:cNvPr id="12" name="Text 10"/>
          <p:cNvSpPr/>
          <p:nvPr/>
        </p:nvSpPr>
        <p:spPr>
          <a:xfrm>
            <a:off x="685800" y="3063240"/>
            <a:ext cx="292608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救急医療情報連携</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プラットフォーム</a:t>
            </a:r>
            <a:endParaRPr lang="en-US" sz="1150" dirty="0"/>
          </a:p>
        </p:txBody>
      </p:sp>
      <p:sp>
        <p:nvSpPr>
          <p:cNvPr id="13" name="Text 11"/>
          <p:cNvSpPr/>
          <p:nvPr/>
        </p:nvSpPr>
        <p:spPr>
          <a:xfrm>
            <a:off x="3977640" y="3063240"/>
            <a:ext cx="310896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静岡県・広島県の</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一部地域（実証段階）</a:t>
            </a:r>
            <a:endParaRPr lang="en-US" sz="1150" dirty="0"/>
          </a:p>
        </p:txBody>
      </p:sp>
      <p:sp>
        <p:nvSpPr>
          <p:cNvPr id="14" name="Text 12"/>
          <p:cNvSpPr/>
          <p:nvPr/>
        </p:nvSpPr>
        <p:spPr>
          <a:xfrm>
            <a:off x="7452360" y="3063240"/>
            <a:ext cx="402336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全国展開はこれから</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大半は今も口頭伝達</a:t>
            </a:r>
            <a:endParaRPr lang="en-US" sz="1150" dirty="0"/>
          </a:p>
        </p:txBody>
      </p:sp>
      <p:sp>
        <p:nvSpPr>
          <p:cNvPr id="15" name="Text 13"/>
          <p:cNvSpPr/>
          <p:nvPr/>
        </p:nvSpPr>
        <p:spPr>
          <a:xfrm>
            <a:off x="685800" y="4023360"/>
            <a:ext cx="292608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転院搬送ガイドライン／</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＃7119／Q助</a:t>
            </a:r>
            <a:endParaRPr lang="en-US" sz="1150" dirty="0"/>
          </a:p>
        </p:txBody>
      </p:sp>
      <p:sp>
        <p:nvSpPr>
          <p:cNvPr id="16" name="Text 14"/>
          <p:cNvSpPr/>
          <p:nvPr/>
        </p:nvSpPr>
        <p:spPr>
          <a:xfrm>
            <a:off x="3977640" y="4023360"/>
            <a:ext cx="310896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病院間の転院搬送</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市民の搬送要否判断</a:t>
            </a:r>
            <a:endParaRPr lang="en-US" sz="1150" dirty="0"/>
          </a:p>
        </p:txBody>
      </p:sp>
      <p:sp>
        <p:nvSpPr>
          <p:cNvPr id="17" name="Text 15"/>
          <p:cNvSpPr/>
          <p:nvPr/>
        </p:nvSpPr>
        <p:spPr>
          <a:xfrm>
            <a:off x="7452360" y="4023360"/>
            <a:ext cx="4023360" cy="960120"/>
          </a:xfrm>
          <a:prstGeom prst="rect">
            <a:avLst/>
          </a:prstGeom>
          <a:noFill/>
          <a:ln/>
        </p:spPr>
        <p:txBody>
          <a:bodyPr wrap="square" lIns="0" tIns="0" rIns="0" bIns="0" rtlCol="0" anchor="ctr"/>
          <a:lstStyle/>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初診搬送時の“処置困難”</a:t>
            </a:r>
            <a:endParaRPr lang="en-US" sz="1150" dirty="0"/>
          </a:p>
          <a:p>
            <a:pPr indent="0" marL="0">
              <a:lnSpc>
                <a:spcPct val="115000"/>
              </a:lnSpc>
              <a:buNone/>
            </a:pPr>
            <a:r>
              <a:rPr lang="en-US" sz="1150" dirty="0">
                <a:solidFill>
                  <a:srgbClr val="000000"/>
                </a:solidFill>
                <a:latin typeface="Calibri" pitchFamily="34" charset="0"/>
                <a:ea typeface="Calibri" pitchFamily="34" charset="-122"/>
                <a:cs typeface="Calibri" pitchFamily="34" charset="-120"/>
              </a:rPr>
              <a:t>（年12,078回）は非対象</a:t>
            </a:r>
            <a:endParaRPr lang="en-US" sz="1150" dirty="0"/>
          </a:p>
        </p:txBody>
      </p:sp>
      <p:sp>
        <p:nvSpPr>
          <p:cNvPr id="18" name="Shape 16"/>
          <p:cNvSpPr/>
          <p:nvPr/>
        </p:nvSpPr>
        <p:spPr>
          <a:xfrm>
            <a:off x="548640" y="5212080"/>
            <a:ext cx="11064240" cy="1234440"/>
          </a:xfrm>
          <a:prstGeom prst="roundRect">
            <a:avLst>
              <a:gd name="adj" fmla="val 5926"/>
            </a:avLst>
          </a:prstGeom>
          <a:solidFill>
            <a:srgbClr val="FBEFEE"/>
          </a:solidFill>
          <a:ln/>
        </p:spPr>
      </p:sp>
      <p:sp>
        <p:nvSpPr>
          <p:cNvPr id="19" name="Shape 17"/>
          <p:cNvSpPr/>
          <p:nvPr/>
        </p:nvSpPr>
        <p:spPr>
          <a:xfrm>
            <a:off x="777240" y="5394960"/>
            <a:ext cx="822960" cy="822960"/>
          </a:xfrm>
          <a:prstGeom prst="ellipse">
            <a:avLst/>
          </a:prstGeom>
          <a:solidFill>
            <a:srgbClr val="B3261E"/>
          </a:solidFill>
          <a:ln/>
        </p:spPr>
      </p:sp>
      <p:pic>
        <p:nvPicPr>
          <p:cNvPr id="20" name="Image 0" descr="/tmp/claude-0/-home-user-NasuVault2/6f2142b9-699b-5a57-a1e0-e3cdf04ed45e/scratchpad/pptx_build/icon_lightbulb_white.png">    </p:cNvPr>
          <p:cNvPicPr>
            <a:picLocks noChangeAspect="1"/>
          </p:cNvPicPr>
          <p:nvPr/>
        </p:nvPicPr>
        <p:blipFill>
          <a:blip r:embed="rId1"/>
          <a:stretch>
            <a:fillRect/>
          </a:stretch>
        </p:blipFill>
        <p:spPr>
          <a:xfrm>
            <a:off x="867766" y="5485486"/>
            <a:ext cx="641909" cy="641909"/>
          </a:xfrm>
          <a:prstGeom prst="rect">
            <a:avLst/>
          </a:prstGeom>
        </p:spPr>
      </p:pic>
      <p:sp>
        <p:nvSpPr>
          <p:cNvPr id="21" name="Text 18"/>
          <p:cNvSpPr/>
          <p:nvPr/>
        </p:nvSpPr>
        <p:spPr>
          <a:xfrm>
            <a:off x="1828800" y="5303520"/>
            <a:ext cx="9509760" cy="1051560"/>
          </a:xfrm>
          <a:prstGeom prst="rect">
            <a:avLst/>
          </a:prstGeom>
          <a:noFill/>
          <a:ln/>
        </p:spPr>
        <p:txBody>
          <a:bodyPr wrap="square" lIns="0" tIns="0" rIns="0" bIns="0" rtlCol="0" anchor="ctr"/>
          <a:lstStyle/>
          <a:p>
            <a:pPr indent="0" marL="0">
              <a:lnSpc>
                <a:spcPct val="130000"/>
              </a:lnSpc>
              <a:buNone/>
            </a:pPr>
            <a:r>
              <a:rPr lang="en-US" sz="1500" b="1" dirty="0">
                <a:solidFill>
                  <a:srgbClr val="000000"/>
                </a:solidFill>
                <a:latin typeface="Calibri" pitchFamily="34" charset="0"/>
                <a:ea typeface="Calibri" pitchFamily="34" charset="-122"/>
                <a:cs typeface="Calibri" pitchFamily="34" charset="-120"/>
              </a:rPr>
              <a:t>搬送前に、救急隊と病院が正確な情報をリアルタイムに共有し、</a:t>
            </a:r>
            <a:endParaRPr lang="en-US" sz="1500" dirty="0"/>
          </a:p>
          <a:p>
            <a:pPr indent="0" marL="0">
              <a:lnSpc>
                <a:spcPct val="130000"/>
              </a:lnSpc>
              <a:buNone/>
            </a:pPr>
            <a:r>
              <a:rPr lang="en-US" sz="1500" b="1" dirty="0">
                <a:solidFill>
                  <a:srgbClr val="000000"/>
                </a:solidFill>
                <a:latin typeface="Calibri" pitchFamily="34" charset="0"/>
                <a:ea typeface="Calibri" pitchFamily="34" charset="-122"/>
                <a:cs typeface="Calibri" pitchFamily="34" charset="-120"/>
              </a:rPr>
              <a:t>「処置困難」による転送（年12,078回）を減らす全国的な仕組みに、残された機会がある</a:t>
            </a:r>
            <a:endParaRPr lang="en-US" sz="1500" dirty="0"/>
          </a:p>
        </p:txBody>
      </p:sp>
      <p:sp>
        <p:nvSpPr>
          <p:cNvPr id="22" name="Text 19"/>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REFERENCES</a:t>
            </a:r>
            <a:endParaRPr lang="en-US" sz="1300" dirty="0"/>
          </a:p>
        </p:txBody>
      </p:sp>
      <p:sp>
        <p:nvSpPr>
          <p:cNvPr id="3" name="Text 1"/>
          <p:cNvSpPr/>
          <p:nvPr/>
        </p:nvSpPr>
        <p:spPr>
          <a:xfrm>
            <a:off x="548640" y="685800"/>
            <a:ext cx="11064240" cy="68580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出典一覧</a:t>
            </a:r>
            <a:endParaRPr lang="en-US" sz="3000" dirty="0"/>
          </a:p>
        </p:txBody>
      </p:sp>
      <p:sp>
        <p:nvSpPr>
          <p:cNvPr id="4" name="Text 2"/>
          <p:cNvSpPr/>
          <p:nvPr/>
        </p:nvSpPr>
        <p:spPr>
          <a:xfrm>
            <a:off x="548640" y="1691640"/>
            <a:ext cx="365760" cy="68580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960120" y="1691640"/>
            <a:ext cx="10607040" cy="685800"/>
          </a:xfrm>
          <a:prstGeom prst="rect">
            <a:avLst/>
          </a:prstGeom>
          <a:noFill/>
          <a:ln/>
        </p:spPr>
        <p:txBody>
          <a:bodyPr wrap="square" lIns="0" tIns="0" rIns="0" bIns="0" rtlCol="0" anchor="ctr"/>
          <a:lstStyle/>
          <a:p>
            <a:pPr indent="0" marL="0">
              <a:lnSpc>
                <a:spcPct val="120000"/>
              </a:lnSpc>
              <a:buNone/>
            </a:pPr>
            <a:r>
              <a:rPr lang="en-US" sz="1200" b="1" dirty="0">
                <a:solidFill>
                  <a:srgbClr val="000000"/>
                </a:solidFill>
                <a:latin typeface="Calibri" pitchFamily="34" charset="0"/>
                <a:ea typeface="Calibri" pitchFamily="34" charset="-122"/>
                <a:cs typeface="Calibri" pitchFamily="34" charset="-120"/>
              </a:rPr>
              <a:t>総務省消防庁「令和7年版 消防白書」第2章第5節「救急体制」</a:t>
            </a:r>
            <a:endParaRPr lang="en-US" sz="1200" dirty="0"/>
          </a:p>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https://www.fdma.go.jp/publication/hakusho/r7/69377.html</a:t>
            </a:r>
            <a:endParaRPr lang="en-US" sz="1200" dirty="0"/>
          </a:p>
        </p:txBody>
      </p:sp>
      <p:sp>
        <p:nvSpPr>
          <p:cNvPr id="6" name="Text 4"/>
          <p:cNvSpPr/>
          <p:nvPr/>
        </p:nvSpPr>
        <p:spPr>
          <a:xfrm>
            <a:off x="548640" y="2468880"/>
            <a:ext cx="365760" cy="68580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2.</a:t>
            </a:r>
            <a:endParaRPr lang="en-US" sz="1200" dirty="0"/>
          </a:p>
        </p:txBody>
      </p:sp>
      <p:sp>
        <p:nvSpPr>
          <p:cNvPr id="7" name="Text 5"/>
          <p:cNvSpPr/>
          <p:nvPr/>
        </p:nvSpPr>
        <p:spPr>
          <a:xfrm>
            <a:off x="960120" y="2468880"/>
            <a:ext cx="10607040" cy="685800"/>
          </a:xfrm>
          <a:prstGeom prst="rect">
            <a:avLst/>
          </a:prstGeom>
          <a:noFill/>
          <a:ln/>
        </p:spPr>
        <p:txBody>
          <a:bodyPr wrap="square" lIns="0" tIns="0" rIns="0" bIns="0" rtlCol="0" anchor="ctr"/>
          <a:lstStyle/>
          <a:p>
            <a:pPr indent="0" marL="0">
              <a:lnSpc>
                <a:spcPct val="120000"/>
              </a:lnSpc>
              <a:buNone/>
            </a:pPr>
            <a:r>
              <a:rPr lang="en-US" sz="1200" b="1" dirty="0">
                <a:solidFill>
                  <a:srgbClr val="000000"/>
                </a:solidFill>
                <a:latin typeface="Calibri" pitchFamily="34" charset="0"/>
                <a:ea typeface="Calibri" pitchFamily="34" charset="-122"/>
                <a:cs typeface="Calibri" pitchFamily="34" charset="-120"/>
              </a:rPr>
              <a:t>総務省消防庁「令和7年版 消防白書」特集7「消防分野におけるDX・新技術の活用の推進」</a:t>
            </a:r>
            <a:endParaRPr lang="en-US" sz="1200" dirty="0"/>
          </a:p>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https://www.fdma.go.jp/publication/hakusho/r7/items/special7.pdf</a:t>
            </a:r>
            <a:endParaRPr lang="en-US" sz="1200" dirty="0"/>
          </a:p>
        </p:txBody>
      </p:sp>
      <p:sp>
        <p:nvSpPr>
          <p:cNvPr id="8" name="Text 6"/>
          <p:cNvSpPr/>
          <p:nvPr/>
        </p:nvSpPr>
        <p:spPr>
          <a:xfrm>
            <a:off x="548640" y="3246120"/>
            <a:ext cx="365760" cy="68580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3.</a:t>
            </a:r>
            <a:endParaRPr lang="en-US" sz="1200" dirty="0"/>
          </a:p>
        </p:txBody>
      </p:sp>
      <p:sp>
        <p:nvSpPr>
          <p:cNvPr id="9" name="Text 7"/>
          <p:cNvSpPr/>
          <p:nvPr/>
        </p:nvSpPr>
        <p:spPr>
          <a:xfrm>
            <a:off x="960120" y="3246120"/>
            <a:ext cx="10607040" cy="685800"/>
          </a:xfrm>
          <a:prstGeom prst="rect">
            <a:avLst/>
          </a:prstGeom>
          <a:noFill/>
          <a:ln/>
        </p:spPr>
        <p:txBody>
          <a:bodyPr wrap="square" lIns="0" tIns="0" rIns="0" bIns="0" rtlCol="0" anchor="ctr"/>
          <a:lstStyle/>
          <a:p>
            <a:pPr indent="0" marL="0">
              <a:lnSpc>
                <a:spcPct val="120000"/>
              </a:lnSpc>
              <a:buNone/>
            </a:pPr>
            <a:r>
              <a:rPr lang="en-US" sz="1200" b="1" dirty="0">
                <a:solidFill>
                  <a:srgbClr val="000000"/>
                </a:solidFill>
                <a:latin typeface="Calibri" pitchFamily="34" charset="0"/>
                <a:ea typeface="Calibri" pitchFamily="34" charset="-122"/>
                <a:cs typeface="Calibri" pitchFamily="34" charset="-120"/>
              </a:rPr>
              <a:t>総務省消防庁「令和6年版 消防白書」第2章第5節「救急体制」</a:t>
            </a:r>
            <a:endParaRPr lang="en-US" sz="1200" dirty="0"/>
          </a:p>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https://www.fdma.go.jp/publication/hakusho/r6/chapter2/section5/68130.html</a:t>
            </a:r>
            <a:endParaRPr lang="en-US" sz="1200" dirty="0"/>
          </a:p>
        </p:txBody>
      </p:sp>
      <p:sp>
        <p:nvSpPr>
          <p:cNvPr id="10" name="Text 8"/>
          <p:cNvSpPr/>
          <p:nvPr/>
        </p:nvSpPr>
        <p:spPr>
          <a:xfrm>
            <a:off x="548640" y="4023360"/>
            <a:ext cx="365760" cy="68580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4.</a:t>
            </a:r>
            <a:endParaRPr lang="en-US" sz="1200" dirty="0"/>
          </a:p>
        </p:txBody>
      </p:sp>
      <p:sp>
        <p:nvSpPr>
          <p:cNvPr id="11" name="Text 9"/>
          <p:cNvSpPr/>
          <p:nvPr/>
        </p:nvSpPr>
        <p:spPr>
          <a:xfrm>
            <a:off x="960120" y="4023360"/>
            <a:ext cx="10607040" cy="685800"/>
          </a:xfrm>
          <a:prstGeom prst="rect">
            <a:avLst/>
          </a:prstGeom>
          <a:noFill/>
          <a:ln/>
        </p:spPr>
        <p:txBody>
          <a:bodyPr wrap="square" lIns="0" tIns="0" rIns="0" bIns="0" rtlCol="0" anchor="ctr"/>
          <a:lstStyle/>
          <a:p>
            <a:pPr indent="0" marL="0">
              <a:lnSpc>
                <a:spcPct val="120000"/>
              </a:lnSpc>
              <a:buNone/>
            </a:pPr>
            <a:r>
              <a:rPr lang="en-US" sz="1200" b="1" dirty="0">
                <a:solidFill>
                  <a:srgbClr val="000000"/>
                </a:solidFill>
                <a:latin typeface="Calibri" pitchFamily="34" charset="0"/>
                <a:ea typeface="Calibri" pitchFamily="34" charset="-122"/>
                <a:cs typeface="Calibri" pitchFamily="34" charset="-120"/>
              </a:rPr>
              <a:t>総務省消防庁「令和5年版 救急・救助の現況」P56（救急自動車による転送件数）</a:t>
            </a:r>
            <a:endParaRPr lang="en-US" sz="1200" dirty="0"/>
          </a:p>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https://www.fdma.go.jp/publication/rescue/post-5.html</a:t>
            </a:r>
            <a:endParaRPr lang="en-US" sz="1200" dirty="0"/>
          </a:p>
        </p:txBody>
      </p:sp>
      <p:sp>
        <p:nvSpPr>
          <p:cNvPr id="12" name="Text 10"/>
          <p:cNvSpPr/>
          <p:nvPr/>
        </p:nvSpPr>
        <p:spPr>
          <a:xfrm>
            <a:off x="548640" y="4800600"/>
            <a:ext cx="365760" cy="68580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5.</a:t>
            </a:r>
            <a:endParaRPr lang="en-US" sz="1200" dirty="0"/>
          </a:p>
        </p:txBody>
      </p:sp>
      <p:sp>
        <p:nvSpPr>
          <p:cNvPr id="13" name="Text 11"/>
          <p:cNvSpPr/>
          <p:nvPr/>
        </p:nvSpPr>
        <p:spPr>
          <a:xfrm>
            <a:off x="960120" y="4800600"/>
            <a:ext cx="10607040" cy="685800"/>
          </a:xfrm>
          <a:prstGeom prst="rect">
            <a:avLst/>
          </a:prstGeom>
          <a:noFill/>
          <a:ln/>
        </p:spPr>
        <p:txBody>
          <a:bodyPr wrap="square" lIns="0" tIns="0" rIns="0" bIns="0" rtlCol="0" anchor="ctr"/>
          <a:lstStyle/>
          <a:p>
            <a:pPr indent="0" marL="0">
              <a:lnSpc>
                <a:spcPct val="120000"/>
              </a:lnSpc>
              <a:buNone/>
            </a:pPr>
            <a:r>
              <a:rPr lang="en-US" sz="1200" b="1" dirty="0">
                <a:solidFill>
                  <a:srgbClr val="000000"/>
                </a:solidFill>
                <a:latin typeface="Calibri" pitchFamily="34" charset="0"/>
                <a:ea typeface="Calibri" pitchFamily="34" charset="-122"/>
                <a:cs typeface="Calibri" pitchFamily="34" charset="-120"/>
              </a:rPr>
              <a:t>総務省消防庁「救急搬送困難事案に係る状況調査について」</a:t>
            </a:r>
            <a:endParaRPr lang="en-US" sz="1200" dirty="0"/>
          </a:p>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https://www.fdma.go.jp/disaster/coronavirus-situ/post-1.html</a:t>
            </a:r>
            <a:endParaRPr lang="en-US" sz="1200" dirty="0"/>
          </a:p>
        </p:txBody>
      </p:sp>
      <p:sp>
        <p:nvSpPr>
          <p:cNvPr id="14" name="Text 12"/>
          <p:cNvSpPr/>
          <p:nvPr/>
        </p:nvSpPr>
        <p:spPr>
          <a:xfrm>
            <a:off x="548640" y="5577840"/>
            <a:ext cx="365760" cy="68580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6.</a:t>
            </a:r>
            <a:endParaRPr lang="en-US" sz="1200" dirty="0"/>
          </a:p>
        </p:txBody>
      </p:sp>
      <p:sp>
        <p:nvSpPr>
          <p:cNvPr id="15" name="Text 13"/>
          <p:cNvSpPr/>
          <p:nvPr/>
        </p:nvSpPr>
        <p:spPr>
          <a:xfrm>
            <a:off x="960120" y="5577840"/>
            <a:ext cx="10607040" cy="685800"/>
          </a:xfrm>
          <a:prstGeom prst="rect">
            <a:avLst/>
          </a:prstGeom>
          <a:noFill/>
          <a:ln/>
        </p:spPr>
        <p:txBody>
          <a:bodyPr wrap="square" lIns="0" tIns="0" rIns="0" bIns="0" rtlCol="0" anchor="ctr"/>
          <a:lstStyle/>
          <a:p>
            <a:pPr indent="0" marL="0">
              <a:lnSpc>
                <a:spcPct val="120000"/>
              </a:lnSpc>
              <a:buNone/>
            </a:pPr>
            <a:r>
              <a:rPr lang="en-US" sz="1200" b="1" dirty="0">
                <a:solidFill>
                  <a:srgbClr val="000000"/>
                </a:solidFill>
                <a:latin typeface="Calibri" pitchFamily="34" charset="0"/>
                <a:ea typeface="Calibri" pitchFamily="34" charset="-122"/>
                <a:cs typeface="Calibri" pitchFamily="34" charset="-120"/>
              </a:rPr>
              <a:t>厚生労働省 医政局地域医療計画課 救急・周産期医療等対策室「救急医療情報連携プラットフォームについて」都道府県向け説明会資料</a:t>
            </a:r>
            <a:endParaRPr lang="en-US" sz="1200" dirty="0"/>
          </a:p>
          <a:p>
            <a:pPr indent="0" marL="0">
              <a:lnSpc>
                <a:spcPct val="120000"/>
              </a:lnSpc>
              <a:buNone/>
            </a:pPr>
            <a:r>
              <a:rPr lang="en-US" sz="1200" dirty="0">
                <a:solidFill>
                  <a:srgbClr val="000000"/>
                </a:solidFill>
                <a:latin typeface="Calibri" pitchFamily="34" charset="0"/>
                <a:ea typeface="Calibri" pitchFamily="34" charset="-122"/>
                <a:cs typeface="Calibri" pitchFamily="34" charset="-120"/>
              </a:rPr>
              <a:t>https://www.mhlw.go.jp/content/10800000/001647797.pdf</a:t>
            </a:r>
            <a:endParaRPr lang="en-US" sz="1200" dirty="0"/>
          </a:p>
        </p:txBody>
      </p:sp>
      <p:sp>
        <p:nvSpPr>
          <p:cNvPr id="16" name="Text 14"/>
          <p:cNvSpPr/>
          <p:nvPr/>
        </p:nvSpPr>
        <p:spPr>
          <a:xfrm>
            <a:off x="548640" y="6400800"/>
            <a:ext cx="11064240" cy="365760"/>
          </a:xfrm>
          <a:prstGeom prst="rect">
            <a:avLst/>
          </a:prstGeom>
          <a:noFill/>
          <a:ln/>
        </p:spPr>
        <p:txBody>
          <a:bodyPr wrap="square" lIns="0" tIns="0" rIns="0" bIns="0" rtlCol="0" anchor="ctr"/>
          <a:lstStyle/>
          <a:p>
            <a:pPr indent="0" marL="0">
              <a:buNone/>
            </a:pPr>
            <a:r>
              <a:rPr lang="en-US" sz="950" dirty="0">
                <a:solidFill>
                  <a:srgbClr val="000000"/>
                </a:solidFill>
                <a:latin typeface="Calibri" pitchFamily="34" charset="0"/>
                <a:ea typeface="Calibri" pitchFamily="34" charset="-122"/>
                <a:cs typeface="Calibri" pitchFamily="34" charset="-120"/>
              </a:rPr>
              <a:t>※本資料内の数値は、上記の総務省消防庁・厚生労働省の公表資料に基づく。一部、複数年のデータから増減を算出した箇所を含む。</a:t>
            </a:r>
            <a:endParaRPr lang="en-US" sz="950" dirty="0"/>
          </a:p>
        </p:txBody>
      </p:sp>
      <p:sp>
        <p:nvSpPr>
          <p:cNvPr id="17" name="Text 15"/>
          <p:cNvSpPr/>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救急搬送における「たらい回し」問題の解決に向けて</dc:title>
  <dc:subject>PptxGenJS Presentation</dc:subject>
  <dc:creator>Docomo Internship</dc:creator>
  <cp:lastModifiedBy>Docomo Internship</cp:lastModifiedBy>
  <cp:revision>1</cp:revision>
  <dcterms:created xsi:type="dcterms:W3CDTF">2026-08-05T12:13:32Z</dcterms:created>
  <dcterms:modified xsi:type="dcterms:W3CDTF">2026-08-05T12:13:32Z</dcterms:modified>
</cp:coreProperties>
</file>