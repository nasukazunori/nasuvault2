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p:nvPr/>
        </p:nvSpPr>
        <p:spPr>
          <a:xfrm>
            <a:off x="548640" y="1737360"/>
            <a:ext cx="11094415" cy="457200"/>
          </a:xfrm>
          <a:prstGeom prst="rect">
            <a:avLst/>
          </a:prstGeom>
          <a:noFill/>
          <a:ln/>
        </p:spPr>
        <p:txBody>
          <a:bodyPr wrap="square" rtlCol="0" anchor="ctr"/>
          <a:lstStyle/>
          <a:p>
            <a:pPr indent="0" marL="0">
              <a:buNone/>
            </a:pPr>
            <a:r>
              <a:rPr lang="en-US" sz="1600" b="1" dirty="0">
                <a:solidFill>
                  <a:srgbClr val="C00000"/>
                </a:solidFill>
                <a:latin typeface="Yu Gothic" pitchFamily="34" charset="0"/>
                <a:ea typeface="Yu Gothic" pitchFamily="34" charset="-122"/>
                <a:cs typeface="Yu Gothic" pitchFamily="34" charset="-120"/>
              </a:rPr>
              <a:t>新規事業提案</a:t>
            </a:r>
            <a:endParaRPr lang="en-US" sz="1600" dirty="0"/>
          </a:p>
        </p:txBody>
      </p:sp>
      <p:sp>
        <p:nvSpPr>
          <p:cNvPr id="4" name="Text 2"/>
          <p:cNvSpPr/>
          <p:nvPr/>
        </p:nvSpPr>
        <p:spPr>
          <a:xfrm>
            <a:off x="548640" y="2194560"/>
            <a:ext cx="11094415" cy="1188720"/>
          </a:xfrm>
          <a:prstGeom prst="rect">
            <a:avLst/>
          </a:prstGeom>
          <a:noFill/>
          <a:ln/>
        </p:spPr>
        <p:txBody>
          <a:bodyPr wrap="square" rtlCol="0" anchor="ctr"/>
          <a:lstStyle/>
          <a:p>
            <a:pPr indent="0" marL="0">
              <a:buNone/>
            </a:pPr>
            <a:r>
              <a:rPr lang="en-US" sz="4400" b="1" dirty="0">
                <a:solidFill>
                  <a:srgbClr val="000000"/>
                </a:solidFill>
                <a:latin typeface="Yu Gothic" pitchFamily="34" charset="0"/>
                <a:ea typeface="Yu Gothic" pitchFamily="34" charset="-122"/>
                <a:cs typeface="Yu Gothic" pitchFamily="34" charset="-120"/>
              </a:rPr>
              <a:t>生命を救う救急搬送の実現</a:t>
            </a:r>
            <a:endParaRPr lang="en-US" sz="4400" dirty="0"/>
          </a:p>
        </p:txBody>
      </p:sp>
      <p:sp>
        <p:nvSpPr>
          <p:cNvPr id="5" name="Text 3"/>
          <p:cNvSpPr/>
          <p:nvPr/>
        </p:nvSpPr>
        <p:spPr>
          <a:xfrm>
            <a:off x="548640" y="3383280"/>
            <a:ext cx="11094415" cy="548640"/>
          </a:xfrm>
          <a:prstGeom prst="rect">
            <a:avLst/>
          </a:prstGeom>
          <a:noFill/>
          <a:ln/>
        </p:spPr>
        <p:txBody>
          <a:bodyPr wrap="square" rtlCol="0" anchor="ctr"/>
          <a:lstStyle/>
          <a:p>
            <a:pPr indent="0" marL="0">
              <a:buNone/>
            </a:pPr>
            <a:r>
              <a:rPr lang="en-US" sz="1600" dirty="0">
                <a:solidFill>
                  <a:srgbClr val="595959"/>
                </a:solidFill>
                <a:latin typeface="Yu Gothic" pitchFamily="34" charset="0"/>
                <a:ea typeface="Yu Gothic" pitchFamily="34" charset="-122"/>
                <a:cs typeface="Yu Gothic" pitchFamily="34" charset="-120"/>
              </a:rPr>
              <a:t>搬送困難事案・「たらい回し」問題の解消 ― ドコモアセット × TXP Medical連携によるビジネス評価</a:t>
            </a:r>
            <a:endParaRPr lang="en-US" sz="1600" dirty="0"/>
          </a:p>
        </p:txBody>
      </p:sp>
      <p:sp>
        <p:nvSpPr>
          <p:cNvPr id="6" name="Shape 4"/>
          <p:cNvSpPr/>
          <p:nvPr/>
        </p:nvSpPr>
        <p:spPr>
          <a:xfrm>
            <a:off x="548640" y="4114800"/>
            <a:ext cx="2011680" cy="0"/>
          </a:xfrm>
          <a:prstGeom prst="line">
            <a:avLst/>
          </a:prstGeom>
          <a:noFill/>
          <a:ln w="31750">
            <a:solidFill>
              <a:srgbClr val="C00000"/>
            </a:solidFill>
            <a:prstDash val="solid"/>
          </a:ln>
        </p:spPr>
      </p:sp>
      <p:sp>
        <p:nvSpPr>
          <p:cNvPr id="7" name="Text 5"/>
          <p:cNvSpPr/>
          <p:nvPr/>
        </p:nvSpPr>
        <p:spPr>
          <a:xfrm>
            <a:off x="548640" y="6035040"/>
            <a:ext cx="11094415" cy="365760"/>
          </a:xfrm>
          <a:prstGeom prst="rect">
            <a:avLst/>
          </a:prstGeom>
          <a:noFill/>
          <a:ln/>
        </p:spPr>
        <p:txBody>
          <a:bodyPr wrap="square" rtlCol="0" anchor="ctr"/>
          <a:lstStyle/>
          <a:p>
            <a:pPr indent="0" marL="0">
              <a:buNone/>
            </a:pPr>
            <a:r>
              <a:rPr lang="en-US" sz="1200" dirty="0">
                <a:solidFill>
                  <a:srgbClr val="595959"/>
                </a:solidFill>
                <a:latin typeface="Yu Gothic" pitchFamily="34" charset="0"/>
                <a:ea typeface="Yu Gothic" pitchFamily="34" charset="-122"/>
                <a:cs typeface="Yu Gothic" pitchFamily="34" charset="-120"/>
              </a:rPr>
              <a:t>2026年8月　ドコモ ビジネス創造インターンシップ　事業検討資料</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4415" cy="320040"/>
          </a:xfrm>
          <a:prstGeom prst="rect">
            <a:avLst/>
          </a:prstGeom>
          <a:noFill/>
          <a:ln/>
        </p:spPr>
        <p:txBody>
          <a:bodyPr wrap="square" rtlCol="0" anchor="ctr"/>
          <a:lstStyle/>
          <a:p>
            <a:pPr indent="0" marL="0">
              <a:buNone/>
            </a:pPr>
            <a:r>
              <a:rPr lang="en-US" sz="1300" b="1" dirty="0">
                <a:solidFill>
                  <a:srgbClr val="C00000"/>
                </a:solidFill>
                <a:latin typeface="Yu Gothic" pitchFamily="34" charset="0"/>
                <a:ea typeface="Yu Gothic" pitchFamily="34" charset="-122"/>
                <a:cs typeface="Yu Gothic" pitchFamily="34" charset="-120"/>
              </a:rPr>
              <a:t>AGENDA</a:t>
            </a:r>
            <a:endParaRPr lang="en-US" sz="1300" dirty="0"/>
          </a:p>
        </p:txBody>
      </p:sp>
      <p:sp>
        <p:nvSpPr>
          <p:cNvPr id="3" name="Text 1"/>
          <p:cNvSpPr/>
          <p:nvPr/>
        </p:nvSpPr>
        <p:spPr>
          <a:xfrm>
            <a:off x="548640" y="594360"/>
            <a:ext cx="11094415" cy="685800"/>
          </a:xfrm>
          <a:prstGeom prst="rect">
            <a:avLst/>
          </a:prstGeom>
          <a:noFill/>
          <a:ln/>
        </p:spPr>
        <p:txBody>
          <a:bodyPr wrap="square" rtlCol="0" anchor="ctr"/>
          <a:lstStyle/>
          <a:p>
            <a:pPr indent="0" marL="0">
              <a:buNone/>
            </a:pPr>
            <a:r>
              <a:rPr lang="en-US" sz="2800" b="1" dirty="0">
                <a:solidFill>
                  <a:srgbClr val="000000"/>
                </a:solidFill>
                <a:latin typeface="Yu Gothic" pitchFamily="34" charset="0"/>
                <a:ea typeface="Yu Gothic" pitchFamily="34" charset="-122"/>
                <a:cs typeface="Yu Gothic" pitchFamily="34" charset="-120"/>
              </a:rPr>
              <a:t>本資料の構成</a:t>
            </a:r>
            <a:endParaRPr lang="en-US" sz="2800" dirty="0"/>
          </a:p>
        </p:txBody>
      </p:sp>
      <p:sp>
        <p:nvSpPr>
          <p:cNvPr id="4" name="Text 2"/>
          <p:cNvSpPr/>
          <p:nvPr/>
        </p:nvSpPr>
        <p:spPr>
          <a:xfrm>
            <a:off x="548640" y="1554480"/>
            <a:ext cx="1005840" cy="566928"/>
          </a:xfrm>
          <a:prstGeom prst="rect">
            <a:avLst/>
          </a:prstGeom>
          <a:noFill/>
          <a:ln/>
        </p:spPr>
        <p:txBody>
          <a:bodyPr wrap="square" lIns="0" tIns="0" rIns="0" bIns="0" rtlCol="0" anchor="ctr"/>
          <a:lstStyle/>
          <a:p>
            <a:pPr indent="0" marL="0">
              <a:buNone/>
            </a:pPr>
            <a:r>
              <a:rPr lang="en-US" sz="1500" b="1" dirty="0">
                <a:solidFill>
                  <a:srgbClr val="C00000"/>
                </a:solidFill>
                <a:latin typeface="Yu Gothic" pitchFamily="34" charset="0"/>
                <a:ea typeface="Yu Gothic" pitchFamily="34" charset="-122"/>
                <a:cs typeface="Yu Gothic" pitchFamily="34" charset="-120"/>
              </a:rPr>
              <a:t>(a)</a:t>
            </a:r>
            <a:endParaRPr lang="en-US" sz="1500" dirty="0"/>
          </a:p>
        </p:txBody>
      </p:sp>
      <p:sp>
        <p:nvSpPr>
          <p:cNvPr id="5" name="Text 3"/>
          <p:cNvSpPr/>
          <p:nvPr/>
        </p:nvSpPr>
        <p:spPr>
          <a:xfrm>
            <a:off x="1645920" y="1554480"/>
            <a:ext cx="3017520" cy="566928"/>
          </a:xfrm>
          <a:prstGeom prst="rect">
            <a:avLst/>
          </a:prstGeom>
          <a:noFill/>
          <a:ln/>
        </p:spPr>
        <p:txBody>
          <a:bodyPr wrap="square" lIns="0" tIns="0" rIns="0" bIns="0" rtlCol="0" anchor="ctr"/>
          <a:lstStyle/>
          <a:p>
            <a:pPr indent="0" marL="0">
              <a:buNone/>
            </a:pPr>
            <a:r>
              <a:rPr lang="en-US" sz="1500" b="1" dirty="0">
                <a:solidFill>
                  <a:srgbClr val="000000"/>
                </a:solidFill>
                <a:latin typeface="Yu Gothic" pitchFamily="34" charset="0"/>
                <a:ea typeface="Yu Gothic" pitchFamily="34" charset="-122"/>
                <a:cs typeface="Yu Gothic" pitchFamily="34" charset="-120"/>
              </a:rPr>
              <a:t>テーマ</a:t>
            </a:r>
            <a:endParaRPr lang="en-US" sz="1500" dirty="0"/>
          </a:p>
        </p:txBody>
      </p:sp>
      <p:sp>
        <p:nvSpPr>
          <p:cNvPr id="6" name="Text 4"/>
          <p:cNvSpPr/>
          <p:nvPr/>
        </p:nvSpPr>
        <p:spPr>
          <a:xfrm>
            <a:off x="4754880" y="1554480"/>
            <a:ext cx="6888175" cy="566928"/>
          </a:xfrm>
          <a:prstGeom prst="rect">
            <a:avLst/>
          </a:prstGeom>
          <a:noFill/>
          <a:ln/>
        </p:spPr>
        <p:txBody>
          <a:bodyPr wrap="square" lIns="0" tIns="0" rIns="0" bIns="0" rtlCol="0" anchor="ctr"/>
          <a:lstStyle/>
          <a:p>
            <a:pPr indent="0" marL="0">
              <a:buNone/>
            </a:pPr>
            <a:r>
              <a:rPr lang="en-US" sz="1300" dirty="0">
                <a:solidFill>
                  <a:srgbClr val="595959"/>
                </a:solidFill>
                <a:latin typeface="Yu Gothic" pitchFamily="34" charset="0"/>
                <a:ea typeface="Yu Gothic" pitchFamily="34" charset="-122"/>
                <a:cs typeface="Yu Gothic" pitchFamily="34" charset="-120"/>
              </a:rPr>
              <a:t>実現したい世界</a:t>
            </a:r>
            <a:endParaRPr lang="en-US" sz="1300" dirty="0"/>
          </a:p>
        </p:txBody>
      </p:sp>
      <p:sp>
        <p:nvSpPr>
          <p:cNvPr id="7" name="Shape 5"/>
          <p:cNvSpPr/>
          <p:nvPr/>
        </p:nvSpPr>
        <p:spPr>
          <a:xfrm>
            <a:off x="548640" y="2121408"/>
            <a:ext cx="11094415" cy="0"/>
          </a:xfrm>
          <a:prstGeom prst="line">
            <a:avLst/>
          </a:prstGeom>
          <a:noFill/>
          <a:ln w="9525">
            <a:solidFill>
              <a:srgbClr val="D9D9D9"/>
            </a:solidFill>
            <a:prstDash val="solid"/>
          </a:ln>
        </p:spPr>
      </p:sp>
      <p:sp>
        <p:nvSpPr>
          <p:cNvPr id="8" name="Text 6"/>
          <p:cNvSpPr/>
          <p:nvPr/>
        </p:nvSpPr>
        <p:spPr>
          <a:xfrm>
            <a:off x="548640" y="2121408"/>
            <a:ext cx="1005840" cy="566928"/>
          </a:xfrm>
          <a:prstGeom prst="rect">
            <a:avLst/>
          </a:prstGeom>
          <a:noFill/>
          <a:ln/>
        </p:spPr>
        <p:txBody>
          <a:bodyPr wrap="square" lIns="0" tIns="0" rIns="0" bIns="0" rtlCol="0" anchor="ctr"/>
          <a:lstStyle/>
          <a:p>
            <a:pPr indent="0" marL="0">
              <a:buNone/>
            </a:pPr>
            <a:r>
              <a:rPr lang="en-US" sz="1500" b="1" dirty="0">
                <a:solidFill>
                  <a:srgbClr val="C00000"/>
                </a:solidFill>
                <a:latin typeface="Yu Gothic" pitchFamily="34" charset="0"/>
                <a:ea typeface="Yu Gothic" pitchFamily="34" charset="-122"/>
                <a:cs typeface="Yu Gothic" pitchFamily="34" charset="-120"/>
              </a:rPr>
              <a:t>(b)</a:t>
            </a:r>
            <a:endParaRPr lang="en-US" sz="1500" dirty="0"/>
          </a:p>
        </p:txBody>
      </p:sp>
      <p:sp>
        <p:nvSpPr>
          <p:cNvPr id="9" name="Text 7"/>
          <p:cNvSpPr/>
          <p:nvPr/>
        </p:nvSpPr>
        <p:spPr>
          <a:xfrm>
            <a:off x="1645920" y="2121408"/>
            <a:ext cx="3017520" cy="566928"/>
          </a:xfrm>
          <a:prstGeom prst="rect">
            <a:avLst/>
          </a:prstGeom>
          <a:noFill/>
          <a:ln/>
        </p:spPr>
        <p:txBody>
          <a:bodyPr wrap="square" lIns="0" tIns="0" rIns="0" bIns="0" rtlCol="0" anchor="ctr"/>
          <a:lstStyle/>
          <a:p>
            <a:pPr indent="0" marL="0">
              <a:buNone/>
            </a:pPr>
            <a:r>
              <a:rPr lang="en-US" sz="1500" b="1" dirty="0">
                <a:solidFill>
                  <a:srgbClr val="000000"/>
                </a:solidFill>
                <a:latin typeface="Yu Gothic" pitchFamily="34" charset="0"/>
                <a:ea typeface="Yu Gothic" pitchFamily="34" charset="-122"/>
                <a:cs typeface="Yu Gothic" pitchFamily="34" charset="-120"/>
              </a:rPr>
              <a:t>困っている人</a:t>
            </a:r>
            <a:endParaRPr lang="en-US" sz="1500" dirty="0"/>
          </a:p>
        </p:txBody>
      </p:sp>
      <p:sp>
        <p:nvSpPr>
          <p:cNvPr id="10" name="Text 8"/>
          <p:cNvSpPr/>
          <p:nvPr/>
        </p:nvSpPr>
        <p:spPr>
          <a:xfrm>
            <a:off x="4754880" y="2121408"/>
            <a:ext cx="6888175" cy="566928"/>
          </a:xfrm>
          <a:prstGeom prst="rect">
            <a:avLst/>
          </a:prstGeom>
          <a:noFill/>
          <a:ln/>
        </p:spPr>
        <p:txBody>
          <a:bodyPr wrap="square" lIns="0" tIns="0" rIns="0" bIns="0" rtlCol="0" anchor="ctr"/>
          <a:lstStyle/>
          <a:p>
            <a:pPr indent="0" marL="0">
              <a:buNone/>
            </a:pPr>
            <a:r>
              <a:rPr lang="en-US" sz="1300" dirty="0">
                <a:solidFill>
                  <a:srgbClr val="595959"/>
                </a:solidFill>
                <a:latin typeface="Yu Gothic" pitchFamily="34" charset="0"/>
                <a:ea typeface="Yu Gothic" pitchFamily="34" charset="-122"/>
                <a:cs typeface="Yu Gothic" pitchFamily="34" charset="-120"/>
              </a:rPr>
              <a:t>現状データ・転送問題・生存率エビデンス</a:t>
            </a:r>
            <a:endParaRPr lang="en-US" sz="1300" dirty="0"/>
          </a:p>
        </p:txBody>
      </p:sp>
      <p:sp>
        <p:nvSpPr>
          <p:cNvPr id="11" name="Shape 9"/>
          <p:cNvSpPr/>
          <p:nvPr/>
        </p:nvSpPr>
        <p:spPr>
          <a:xfrm>
            <a:off x="548640" y="2688336"/>
            <a:ext cx="11094415" cy="0"/>
          </a:xfrm>
          <a:prstGeom prst="line">
            <a:avLst/>
          </a:prstGeom>
          <a:noFill/>
          <a:ln w="9525">
            <a:solidFill>
              <a:srgbClr val="D9D9D9"/>
            </a:solidFill>
            <a:prstDash val="solid"/>
          </a:ln>
        </p:spPr>
      </p:sp>
      <p:sp>
        <p:nvSpPr>
          <p:cNvPr id="12" name="Text 10"/>
          <p:cNvSpPr/>
          <p:nvPr/>
        </p:nvSpPr>
        <p:spPr>
          <a:xfrm>
            <a:off x="548640" y="2688336"/>
            <a:ext cx="1005840" cy="566928"/>
          </a:xfrm>
          <a:prstGeom prst="rect">
            <a:avLst/>
          </a:prstGeom>
          <a:noFill/>
          <a:ln/>
        </p:spPr>
        <p:txBody>
          <a:bodyPr wrap="square" lIns="0" tIns="0" rIns="0" bIns="0" rtlCol="0" anchor="ctr"/>
          <a:lstStyle/>
          <a:p>
            <a:pPr indent="0" marL="0">
              <a:buNone/>
            </a:pPr>
            <a:r>
              <a:rPr lang="en-US" sz="1500" b="1" dirty="0">
                <a:solidFill>
                  <a:srgbClr val="C00000"/>
                </a:solidFill>
                <a:latin typeface="Yu Gothic" pitchFamily="34" charset="0"/>
                <a:ea typeface="Yu Gothic" pitchFamily="34" charset="-122"/>
                <a:cs typeface="Yu Gothic" pitchFamily="34" charset="-120"/>
              </a:rPr>
              <a:t>(c)</a:t>
            </a:r>
            <a:endParaRPr lang="en-US" sz="1500" dirty="0"/>
          </a:p>
        </p:txBody>
      </p:sp>
      <p:sp>
        <p:nvSpPr>
          <p:cNvPr id="13" name="Text 11"/>
          <p:cNvSpPr/>
          <p:nvPr/>
        </p:nvSpPr>
        <p:spPr>
          <a:xfrm>
            <a:off x="1645920" y="2688336"/>
            <a:ext cx="3017520" cy="566928"/>
          </a:xfrm>
          <a:prstGeom prst="rect">
            <a:avLst/>
          </a:prstGeom>
          <a:noFill/>
          <a:ln/>
        </p:spPr>
        <p:txBody>
          <a:bodyPr wrap="square" lIns="0" tIns="0" rIns="0" bIns="0" rtlCol="0" anchor="ctr"/>
          <a:lstStyle/>
          <a:p>
            <a:pPr indent="0" marL="0">
              <a:buNone/>
            </a:pPr>
            <a:r>
              <a:rPr lang="en-US" sz="1500" b="1" dirty="0">
                <a:solidFill>
                  <a:srgbClr val="000000"/>
                </a:solidFill>
                <a:latin typeface="Yu Gothic" pitchFamily="34" charset="0"/>
                <a:ea typeface="Yu Gothic" pitchFamily="34" charset="-122"/>
                <a:cs typeface="Yu Gothic" pitchFamily="34" charset="-120"/>
              </a:rPr>
              <a:t>ビジネス性</a:t>
            </a:r>
            <a:endParaRPr lang="en-US" sz="1500" dirty="0"/>
          </a:p>
        </p:txBody>
      </p:sp>
      <p:sp>
        <p:nvSpPr>
          <p:cNvPr id="14" name="Text 12"/>
          <p:cNvSpPr/>
          <p:nvPr/>
        </p:nvSpPr>
        <p:spPr>
          <a:xfrm>
            <a:off x="4754880" y="2688336"/>
            <a:ext cx="6888175" cy="566928"/>
          </a:xfrm>
          <a:prstGeom prst="rect">
            <a:avLst/>
          </a:prstGeom>
          <a:noFill/>
          <a:ln/>
        </p:spPr>
        <p:txBody>
          <a:bodyPr wrap="square" lIns="0" tIns="0" rIns="0" bIns="0" rtlCol="0" anchor="ctr"/>
          <a:lstStyle/>
          <a:p>
            <a:pPr indent="0" marL="0">
              <a:buNone/>
            </a:pPr>
            <a:r>
              <a:rPr lang="en-US" sz="1300" dirty="0">
                <a:solidFill>
                  <a:srgbClr val="595959"/>
                </a:solidFill>
                <a:latin typeface="Yu Gothic" pitchFamily="34" charset="0"/>
                <a:ea typeface="Yu Gothic" pitchFamily="34" charset="-122"/>
                <a:cs typeface="Yu Gothic" pitchFamily="34" charset="-120"/>
              </a:rPr>
              <a:t>収益構造の仮説</a:t>
            </a:r>
            <a:endParaRPr lang="en-US" sz="1300" dirty="0"/>
          </a:p>
        </p:txBody>
      </p:sp>
      <p:sp>
        <p:nvSpPr>
          <p:cNvPr id="15" name="Shape 13"/>
          <p:cNvSpPr/>
          <p:nvPr/>
        </p:nvSpPr>
        <p:spPr>
          <a:xfrm>
            <a:off x="548640" y="3255264"/>
            <a:ext cx="11094415" cy="0"/>
          </a:xfrm>
          <a:prstGeom prst="line">
            <a:avLst/>
          </a:prstGeom>
          <a:noFill/>
          <a:ln w="9525">
            <a:solidFill>
              <a:srgbClr val="D9D9D9"/>
            </a:solidFill>
            <a:prstDash val="solid"/>
          </a:ln>
        </p:spPr>
      </p:sp>
      <p:sp>
        <p:nvSpPr>
          <p:cNvPr id="16" name="Text 14"/>
          <p:cNvSpPr/>
          <p:nvPr/>
        </p:nvSpPr>
        <p:spPr>
          <a:xfrm>
            <a:off x="548640" y="3255264"/>
            <a:ext cx="1005840" cy="566928"/>
          </a:xfrm>
          <a:prstGeom prst="rect">
            <a:avLst/>
          </a:prstGeom>
          <a:noFill/>
          <a:ln/>
        </p:spPr>
        <p:txBody>
          <a:bodyPr wrap="square" lIns="0" tIns="0" rIns="0" bIns="0" rtlCol="0" anchor="ctr"/>
          <a:lstStyle/>
          <a:p>
            <a:pPr indent="0" marL="0">
              <a:buNone/>
            </a:pPr>
            <a:r>
              <a:rPr lang="en-US" sz="1500" b="1" dirty="0">
                <a:solidFill>
                  <a:srgbClr val="C00000"/>
                </a:solidFill>
                <a:latin typeface="Yu Gothic" pitchFamily="34" charset="0"/>
                <a:ea typeface="Yu Gothic" pitchFamily="34" charset="-122"/>
                <a:cs typeface="Yu Gothic" pitchFamily="34" charset="-120"/>
              </a:rPr>
              <a:t>(d)</a:t>
            </a:r>
            <a:endParaRPr lang="en-US" sz="1500" dirty="0"/>
          </a:p>
        </p:txBody>
      </p:sp>
      <p:sp>
        <p:nvSpPr>
          <p:cNvPr id="17" name="Text 15"/>
          <p:cNvSpPr/>
          <p:nvPr/>
        </p:nvSpPr>
        <p:spPr>
          <a:xfrm>
            <a:off x="1645920" y="3255264"/>
            <a:ext cx="3017520" cy="566928"/>
          </a:xfrm>
          <a:prstGeom prst="rect">
            <a:avLst/>
          </a:prstGeom>
          <a:noFill/>
          <a:ln/>
        </p:spPr>
        <p:txBody>
          <a:bodyPr wrap="square" lIns="0" tIns="0" rIns="0" bIns="0" rtlCol="0" anchor="ctr"/>
          <a:lstStyle/>
          <a:p>
            <a:pPr indent="0" marL="0">
              <a:buNone/>
            </a:pPr>
            <a:r>
              <a:rPr lang="en-US" sz="1500" b="1" dirty="0">
                <a:solidFill>
                  <a:srgbClr val="000000"/>
                </a:solidFill>
                <a:latin typeface="Yu Gothic" pitchFamily="34" charset="0"/>
                <a:ea typeface="Yu Gothic" pitchFamily="34" charset="-122"/>
                <a:cs typeface="Yu Gothic" pitchFamily="34" charset="-120"/>
              </a:rPr>
              <a:t>事業成立の検討</a:t>
            </a:r>
            <a:endParaRPr lang="en-US" sz="1500" dirty="0"/>
          </a:p>
        </p:txBody>
      </p:sp>
      <p:sp>
        <p:nvSpPr>
          <p:cNvPr id="18" name="Text 16"/>
          <p:cNvSpPr/>
          <p:nvPr/>
        </p:nvSpPr>
        <p:spPr>
          <a:xfrm>
            <a:off x="4754880" y="3255264"/>
            <a:ext cx="6888175" cy="566928"/>
          </a:xfrm>
          <a:prstGeom prst="rect">
            <a:avLst/>
          </a:prstGeom>
          <a:noFill/>
          <a:ln/>
        </p:spPr>
        <p:txBody>
          <a:bodyPr wrap="square" lIns="0" tIns="0" rIns="0" bIns="0" rtlCol="0" anchor="ctr"/>
          <a:lstStyle/>
          <a:p>
            <a:pPr indent="0" marL="0">
              <a:buNone/>
            </a:pPr>
            <a:r>
              <a:rPr lang="en-US" sz="1300" dirty="0">
                <a:solidFill>
                  <a:srgbClr val="595959"/>
                </a:solidFill>
                <a:latin typeface="Yu Gothic" pitchFamily="34" charset="0"/>
                <a:ea typeface="Yu Gothic" pitchFamily="34" charset="-122"/>
                <a:cs typeface="Yu Gothic" pitchFamily="34" charset="-120"/>
              </a:rPr>
              <a:t>追加調査項目と試算アプローチ</a:t>
            </a:r>
            <a:endParaRPr lang="en-US" sz="1300" dirty="0"/>
          </a:p>
        </p:txBody>
      </p:sp>
      <p:sp>
        <p:nvSpPr>
          <p:cNvPr id="19" name="Shape 17"/>
          <p:cNvSpPr/>
          <p:nvPr/>
        </p:nvSpPr>
        <p:spPr>
          <a:xfrm>
            <a:off x="548640" y="3822192"/>
            <a:ext cx="11094415" cy="0"/>
          </a:xfrm>
          <a:prstGeom prst="line">
            <a:avLst/>
          </a:prstGeom>
          <a:noFill/>
          <a:ln w="9525">
            <a:solidFill>
              <a:srgbClr val="D9D9D9"/>
            </a:solidFill>
            <a:prstDash val="solid"/>
          </a:ln>
        </p:spPr>
      </p:sp>
      <p:sp>
        <p:nvSpPr>
          <p:cNvPr id="20" name="Text 18"/>
          <p:cNvSpPr/>
          <p:nvPr/>
        </p:nvSpPr>
        <p:spPr>
          <a:xfrm>
            <a:off x="548640" y="3822192"/>
            <a:ext cx="1005840" cy="566928"/>
          </a:xfrm>
          <a:prstGeom prst="rect">
            <a:avLst/>
          </a:prstGeom>
          <a:noFill/>
          <a:ln/>
        </p:spPr>
        <p:txBody>
          <a:bodyPr wrap="square" lIns="0" tIns="0" rIns="0" bIns="0" rtlCol="0" anchor="ctr"/>
          <a:lstStyle/>
          <a:p>
            <a:pPr indent="0" marL="0">
              <a:buNone/>
            </a:pPr>
            <a:r>
              <a:rPr lang="en-US" sz="1500" b="1" dirty="0">
                <a:solidFill>
                  <a:srgbClr val="C00000"/>
                </a:solidFill>
                <a:latin typeface="Yu Gothic" pitchFamily="34" charset="0"/>
                <a:ea typeface="Yu Gothic" pitchFamily="34" charset="-122"/>
                <a:cs typeface="Yu Gothic" pitchFamily="34" charset="-120"/>
              </a:rPr>
              <a:t>(e)</a:t>
            </a:r>
            <a:endParaRPr lang="en-US" sz="1500" dirty="0"/>
          </a:p>
        </p:txBody>
      </p:sp>
      <p:sp>
        <p:nvSpPr>
          <p:cNvPr id="21" name="Text 19"/>
          <p:cNvSpPr/>
          <p:nvPr/>
        </p:nvSpPr>
        <p:spPr>
          <a:xfrm>
            <a:off x="1645920" y="3822192"/>
            <a:ext cx="3017520" cy="566928"/>
          </a:xfrm>
          <a:prstGeom prst="rect">
            <a:avLst/>
          </a:prstGeom>
          <a:noFill/>
          <a:ln/>
        </p:spPr>
        <p:txBody>
          <a:bodyPr wrap="square" lIns="0" tIns="0" rIns="0" bIns="0" rtlCol="0" anchor="ctr"/>
          <a:lstStyle/>
          <a:p>
            <a:pPr indent="0" marL="0">
              <a:buNone/>
            </a:pPr>
            <a:r>
              <a:rPr lang="en-US" sz="1500" b="1" dirty="0">
                <a:solidFill>
                  <a:srgbClr val="000000"/>
                </a:solidFill>
                <a:latin typeface="Yu Gothic" pitchFamily="34" charset="0"/>
                <a:ea typeface="Yu Gothic" pitchFamily="34" charset="-122"/>
                <a:cs typeface="Yu Gothic" pitchFamily="34" charset="-120"/>
              </a:rPr>
              <a:t>ソリューション</a:t>
            </a:r>
            <a:endParaRPr lang="en-US" sz="1500" dirty="0"/>
          </a:p>
        </p:txBody>
      </p:sp>
      <p:sp>
        <p:nvSpPr>
          <p:cNvPr id="22" name="Text 20"/>
          <p:cNvSpPr/>
          <p:nvPr/>
        </p:nvSpPr>
        <p:spPr>
          <a:xfrm>
            <a:off x="4754880" y="3822192"/>
            <a:ext cx="6888175" cy="566928"/>
          </a:xfrm>
          <a:prstGeom prst="rect">
            <a:avLst/>
          </a:prstGeom>
          <a:noFill/>
          <a:ln/>
        </p:spPr>
        <p:txBody>
          <a:bodyPr wrap="square" lIns="0" tIns="0" rIns="0" bIns="0" rtlCol="0" anchor="ctr"/>
          <a:lstStyle/>
          <a:p>
            <a:pPr indent="0" marL="0">
              <a:buNone/>
            </a:pPr>
            <a:r>
              <a:rPr lang="en-US" sz="1300" dirty="0">
                <a:solidFill>
                  <a:srgbClr val="595959"/>
                </a:solidFill>
                <a:latin typeface="Yu Gothic" pitchFamily="34" charset="0"/>
                <a:ea typeface="Yu Gothic" pitchFamily="34" charset="-122"/>
                <a:cs typeface="Yu Gothic" pitchFamily="34" charset="-120"/>
              </a:rPr>
              <a:t>AI予測 × NSER mobile高度化 × 5G</a:t>
            </a:r>
            <a:endParaRPr lang="en-US" sz="1300" dirty="0"/>
          </a:p>
        </p:txBody>
      </p:sp>
      <p:sp>
        <p:nvSpPr>
          <p:cNvPr id="23" name="Shape 21"/>
          <p:cNvSpPr/>
          <p:nvPr/>
        </p:nvSpPr>
        <p:spPr>
          <a:xfrm>
            <a:off x="548640" y="4389120"/>
            <a:ext cx="11094415" cy="0"/>
          </a:xfrm>
          <a:prstGeom prst="line">
            <a:avLst/>
          </a:prstGeom>
          <a:noFill/>
          <a:ln w="9525">
            <a:solidFill>
              <a:srgbClr val="D9D9D9"/>
            </a:solidFill>
            <a:prstDash val="solid"/>
          </a:ln>
        </p:spPr>
      </p:sp>
      <p:sp>
        <p:nvSpPr>
          <p:cNvPr id="24" name="Text 22"/>
          <p:cNvSpPr/>
          <p:nvPr/>
        </p:nvSpPr>
        <p:spPr>
          <a:xfrm>
            <a:off x="548640" y="4389120"/>
            <a:ext cx="1005840" cy="566928"/>
          </a:xfrm>
          <a:prstGeom prst="rect">
            <a:avLst/>
          </a:prstGeom>
          <a:noFill/>
          <a:ln/>
        </p:spPr>
        <p:txBody>
          <a:bodyPr wrap="square" lIns="0" tIns="0" rIns="0" bIns="0" rtlCol="0" anchor="ctr"/>
          <a:lstStyle/>
          <a:p>
            <a:pPr indent="0" marL="0">
              <a:buNone/>
            </a:pPr>
            <a:r>
              <a:rPr lang="en-US" sz="1500" b="1" dirty="0">
                <a:solidFill>
                  <a:srgbClr val="C00000"/>
                </a:solidFill>
                <a:latin typeface="Yu Gothic" pitchFamily="34" charset="0"/>
                <a:ea typeface="Yu Gothic" pitchFamily="34" charset="-122"/>
                <a:cs typeface="Yu Gothic" pitchFamily="34" charset="-120"/>
              </a:rPr>
              <a:t>(f)</a:t>
            </a:r>
            <a:endParaRPr lang="en-US" sz="1500" dirty="0"/>
          </a:p>
        </p:txBody>
      </p:sp>
      <p:sp>
        <p:nvSpPr>
          <p:cNvPr id="25" name="Text 23"/>
          <p:cNvSpPr/>
          <p:nvPr/>
        </p:nvSpPr>
        <p:spPr>
          <a:xfrm>
            <a:off x="1645920" y="4389120"/>
            <a:ext cx="3017520" cy="566928"/>
          </a:xfrm>
          <a:prstGeom prst="rect">
            <a:avLst/>
          </a:prstGeom>
          <a:noFill/>
          <a:ln/>
        </p:spPr>
        <p:txBody>
          <a:bodyPr wrap="square" lIns="0" tIns="0" rIns="0" bIns="0" rtlCol="0" anchor="ctr"/>
          <a:lstStyle/>
          <a:p>
            <a:pPr indent="0" marL="0">
              <a:buNone/>
            </a:pPr>
            <a:r>
              <a:rPr lang="en-US" sz="1500" b="1" dirty="0">
                <a:solidFill>
                  <a:srgbClr val="000000"/>
                </a:solidFill>
                <a:latin typeface="Yu Gothic" pitchFamily="34" charset="0"/>
                <a:ea typeface="Yu Gothic" pitchFamily="34" charset="-122"/>
                <a:cs typeface="Yu Gothic" pitchFamily="34" charset="-120"/>
              </a:rPr>
              <a:t>ドコモのアセット</a:t>
            </a:r>
            <a:endParaRPr lang="en-US" sz="1500" dirty="0"/>
          </a:p>
        </p:txBody>
      </p:sp>
      <p:sp>
        <p:nvSpPr>
          <p:cNvPr id="26" name="Text 24"/>
          <p:cNvSpPr/>
          <p:nvPr/>
        </p:nvSpPr>
        <p:spPr>
          <a:xfrm>
            <a:off x="4754880" y="4389120"/>
            <a:ext cx="6888175" cy="566928"/>
          </a:xfrm>
          <a:prstGeom prst="rect">
            <a:avLst/>
          </a:prstGeom>
          <a:noFill/>
          <a:ln/>
        </p:spPr>
        <p:txBody>
          <a:bodyPr wrap="square" lIns="0" tIns="0" rIns="0" bIns="0" rtlCol="0" anchor="ctr"/>
          <a:lstStyle/>
          <a:p>
            <a:pPr indent="0" marL="0">
              <a:buNone/>
            </a:pPr>
            <a:r>
              <a:rPr lang="en-US" sz="1300" dirty="0">
                <a:solidFill>
                  <a:srgbClr val="595959"/>
                </a:solidFill>
                <a:latin typeface="Yu Gothic" pitchFamily="34" charset="0"/>
                <a:ea typeface="Yu Gothic" pitchFamily="34" charset="-122"/>
                <a:cs typeface="Yu Gothic" pitchFamily="34" charset="-120"/>
              </a:rPr>
              <a:t>5つの資産とLAM技術</a:t>
            </a:r>
            <a:endParaRPr lang="en-US" sz="1300" dirty="0"/>
          </a:p>
        </p:txBody>
      </p:sp>
      <p:sp>
        <p:nvSpPr>
          <p:cNvPr id="27" name="Shape 25"/>
          <p:cNvSpPr/>
          <p:nvPr/>
        </p:nvSpPr>
        <p:spPr>
          <a:xfrm>
            <a:off x="548640" y="4956048"/>
            <a:ext cx="11094415" cy="0"/>
          </a:xfrm>
          <a:prstGeom prst="line">
            <a:avLst/>
          </a:prstGeom>
          <a:noFill/>
          <a:ln w="9525">
            <a:solidFill>
              <a:srgbClr val="D9D9D9"/>
            </a:solidFill>
            <a:prstDash val="solid"/>
          </a:ln>
        </p:spPr>
      </p:sp>
      <p:sp>
        <p:nvSpPr>
          <p:cNvPr id="28" name="Text 26"/>
          <p:cNvSpPr/>
          <p:nvPr/>
        </p:nvSpPr>
        <p:spPr>
          <a:xfrm>
            <a:off x="548640" y="4956048"/>
            <a:ext cx="1005840" cy="566928"/>
          </a:xfrm>
          <a:prstGeom prst="rect">
            <a:avLst/>
          </a:prstGeom>
          <a:noFill/>
          <a:ln/>
        </p:spPr>
        <p:txBody>
          <a:bodyPr wrap="square" lIns="0" tIns="0" rIns="0" bIns="0" rtlCol="0" anchor="ctr"/>
          <a:lstStyle/>
          <a:p>
            <a:pPr indent="0" marL="0">
              <a:buNone/>
            </a:pPr>
            <a:r>
              <a:rPr lang="en-US" sz="1500" b="1" dirty="0">
                <a:solidFill>
                  <a:srgbClr val="C00000"/>
                </a:solidFill>
                <a:latin typeface="Yu Gothic" pitchFamily="34" charset="0"/>
                <a:ea typeface="Yu Gothic" pitchFamily="34" charset="-122"/>
                <a:cs typeface="Yu Gothic" pitchFamily="34" charset="-120"/>
              </a:rPr>
              <a:t>3C/4P</a:t>
            </a:r>
            <a:endParaRPr lang="en-US" sz="1500" dirty="0"/>
          </a:p>
        </p:txBody>
      </p:sp>
      <p:sp>
        <p:nvSpPr>
          <p:cNvPr id="29" name="Text 27"/>
          <p:cNvSpPr/>
          <p:nvPr/>
        </p:nvSpPr>
        <p:spPr>
          <a:xfrm>
            <a:off x="1645920" y="4956048"/>
            <a:ext cx="3017520" cy="566928"/>
          </a:xfrm>
          <a:prstGeom prst="rect">
            <a:avLst/>
          </a:prstGeom>
          <a:noFill/>
          <a:ln/>
        </p:spPr>
        <p:txBody>
          <a:bodyPr wrap="square" lIns="0" tIns="0" rIns="0" bIns="0" rtlCol="0" anchor="ctr"/>
          <a:lstStyle/>
          <a:p>
            <a:pPr indent="0" marL="0">
              <a:buNone/>
            </a:pPr>
            <a:r>
              <a:rPr lang="en-US" sz="1500" b="1" dirty="0">
                <a:solidFill>
                  <a:srgbClr val="000000"/>
                </a:solidFill>
                <a:latin typeface="Yu Gothic" pitchFamily="34" charset="0"/>
                <a:ea typeface="Yu Gothic" pitchFamily="34" charset="-122"/>
                <a:cs typeface="Yu Gothic" pitchFamily="34" charset="-120"/>
              </a:rPr>
              <a:t>ビジネス評価</a:t>
            </a:r>
            <a:endParaRPr lang="en-US" sz="1500" dirty="0"/>
          </a:p>
        </p:txBody>
      </p:sp>
      <p:sp>
        <p:nvSpPr>
          <p:cNvPr id="30" name="Text 28"/>
          <p:cNvSpPr/>
          <p:nvPr/>
        </p:nvSpPr>
        <p:spPr>
          <a:xfrm>
            <a:off x="4754880" y="4956048"/>
            <a:ext cx="6888175" cy="566928"/>
          </a:xfrm>
          <a:prstGeom prst="rect">
            <a:avLst/>
          </a:prstGeom>
          <a:noFill/>
          <a:ln/>
        </p:spPr>
        <p:txBody>
          <a:bodyPr wrap="square" lIns="0" tIns="0" rIns="0" bIns="0" rtlCol="0" anchor="ctr"/>
          <a:lstStyle/>
          <a:p>
            <a:pPr indent="0" marL="0">
              <a:buNone/>
            </a:pPr>
            <a:r>
              <a:rPr lang="en-US" sz="1300" dirty="0">
                <a:solidFill>
                  <a:srgbClr val="595959"/>
                </a:solidFill>
                <a:latin typeface="Yu Gothic" pitchFamily="34" charset="0"/>
                <a:ea typeface="Yu Gothic" pitchFamily="34" charset="-122"/>
                <a:cs typeface="Yu Gothic" pitchFamily="34" charset="-120"/>
              </a:rPr>
              <a:t>競合分析・マーケティングプラン</a:t>
            </a:r>
            <a:endParaRPr lang="en-US" sz="1300" dirty="0"/>
          </a:p>
        </p:txBody>
      </p:sp>
      <p:sp>
        <p:nvSpPr>
          <p:cNvPr id="31" name="Shape 29"/>
          <p:cNvSpPr/>
          <p:nvPr/>
        </p:nvSpPr>
        <p:spPr>
          <a:xfrm>
            <a:off x="548640" y="5522976"/>
            <a:ext cx="11094415" cy="0"/>
          </a:xfrm>
          <a:prstGeom prst="line">
            <a:avLst/>
          </a:prstGeom>
          <a:noFill/>
          <a:ln w="9525">
            <a:solidFill>
              <a:srgbClr val="D9D9D9"/>
            </a:solidFill>
            <a:prstDash val="solid"/>
          </a:ln>
        </p:spPr>
      </p:sp>
      <p:sp>
        <p:nvSpPr>
          <p:cNvPr id="32" name="Text 30"/>
          <p:cNvSpPr/>
          <p:nvPr/>
        </p:nvSpPr>
        <p:spPr>
          <a:xfrm>
            <a:off x="548640" y="5522976"/>
            <a:ext cx="1005840" cy="566928"/>
          </a:xfrm>
          <a:prstGeom prst="rect">
            <a:avLst/>
          </a:prstGeom>
          <a:noFill/>
          <a:ln/>
        </p:spPr>
        <p:txBody>
          <a:bodyPr wrap="square" lIns="0" tIns="0" rIns="0" bIns="0" rtlCol="0" anchor="ctr"/>
          <a:lstStyle/>
          <a:p>
            <a:pPr indent="0" marL="0">
              <a:buNone/>
            </a:pPr>
            <a:r>
              <a:rPr lang="en-US" sz="1500" b="1" dirty="0">
                <a:solidFill>
                  <a:srgbClr val="C00000"/>
                </a:solidFill>
                <a:latin typeface="Yu Gothic" pitchFamily="34" charset="0"/>
                <a:ea typeface="Yu Gothic" pitchFamily="34" charset="-122"/>
                <a:cs typeface="Yu Gothic" pitchFamily="34" charset="-120"/>
              </a:rPr>
              <a:t>まとめ</a:t>
            </a:r>
            <a:endParaRPr lang="en-US" sz="1500" dirty="0"/>
          </a:p>
        </p:txBody>
      </p:sp>
      <p:sp>
        <p:nvSpPr>
          <p:cNvPr id="33" name="Text 31"/>
          <p:cNvSpPr/>
          <p:nvPr/>
        </p:nvSpPr>
        <p:spPr>
          <a:xfrm>
            <a:off x="1645920" y="5522976"/>
            <a:ext cx="3017520" cy="566928"/>
          </a:xfrm>
          <a:prstGeom prst="rect">
            <a:avLst/>
          </a:prstGeom>
          <a:noFill/>
          <a:ln/>
        </p:spPr>
        <p:txBody>
          <a:bodyPr wrap="square" lIns="0" tIns="0" rIns="0" bIns="0" rtlCol="0" anchor="ctr"/>
          <a:lstStyle/>
          <a:p>
            <a:pPr indent="0" marL="0">
              <a:buNone/>
            </a:pPr>
            <a:r>
              <a:rPr lang="en-US" sz="1500" b="1" dirty="0">
                <a:solidFill>
                  <a:srgbClr val="000000"/>
                </a:solidFill>
                <a:latin typeface="Yu Gothic" pitchFamily="34" charset="0"/>
                <a:ea typeface="Yu Gothic" pitchFamily="34" charset="-122"/>
                <a:cs typeface="Yu Gothic" pitchFamily="34" charset="-120"/>
              </a:rPr>
              <a:t>残された機会</a:t>
            </a:r>
            <a:endParaRPr lang="en-US" sz="1500" dirty="0"/>
          </a:p>
        </p:txBody>
      </p:sp>
      <p:sp>
        <p:nvSpPr>
          <p:cNvPr id="34" name="Text 32"/>
          <p:cNvSpPr/>
          <p:nvPr/>
        </p:nvSpPr>
        <p:spPr>
          <a:xfrm>
            <a:off x="4754880" y="5522976"/>
            <a:ext cx="6888175" cy="566928"/>
          </a:xfrm>
          <a:prstGeom prst="rect">
            <a:avLst/>
          </a:prstGeom>
          <a:noFill/>
          <a:ln/>
        </p:spPr>
        <p:txBody>
          <a:bodyPr wrap="square" lIns="0" tIns="0" rIns="0" bIns="0" rtlCol="0" anchor="ctr"/>
          <a:lstStyle/>
          <a:p>
            <a:pPr indent="0" marL="0">
              <a:buNone/>
            </a:pPr>
            <a:r>
              <a:rPr lang="en-US" sz="1300" dirty="0">
                <a:solidFill>
                  <a:srgbClr val="595959"/>
                </a:solidFill>
                <a:latin typeface="Yu Gothic" pitchFamily="34" charset="0"/>
                <a:ea typeface="Yu Gothic" pitchFamily="34" charset="-122"/>
                <a:cs typeface="Yu Gothic" pitchFamily="34" charset="-120"/>
              </a:rPr>
              <a:t>ネクストアクション</a:t>
            </a:r>
            <a:endParaRPr lang="en-US" sz="1300" dirty="0"/>
          </a:p>
        </p:txBody>
      </p:sp>
      <p:sp>
        <p:nvSpPr>
          <p:cNvPr id="35" name="Shape 33"/>
          <p:cNvSpPr/>
          <p:nvPr/>
        </p:nvSpPr>
        <p:spPr>
          <a:xfrm>
            <a:off x="548640" y="6089904"/>
            <a:ext cx="11094415" cy="0"/>
          </a:xfrm>
          <a:prstGeom prst="line">
            <a:avLst/>
          </a:prstGeom>
          <a:noFill/>
          <a:ln w="9525">
            <a:solidFill>
              <a:srgbClr val="D9D9D9"/>
            </a:solidFill>
            <a:prstDash val="solid"/>
          </a:ln>
        </p:spPr>
      </p:sp>
      <p:sp>
        <p:nvSpPr>
          <p:cNvPr id="36" name="Text 34"/>
          <p:cNvSpPr/>
          <p:nvPr/>
        </p:nvSpPr>
        <p:spPr>
          <a:xfrm>
            <a:off x="11368735" y="6400800"/>
            <a:ext cx="457200" cy="320040"/>
          </a:xfrm>
          <a:prstGeom prst="rect">
            <a:avLst/>
          </a:prstGeom>
          <a:noFill/>
          <a:ln/>
        </p:spPr>
        <p:txBody>
          <a:bodyPr wrap="square" rtlCol="0" anchor="ctr"/>
          <a:lstStyle/>
          <a:p>
            <a:pPr algn="r" indent="0" marL="0">
              <a:buNone/>
            </a:pPr>
            <a:r>
              <a:rPr lang="en-US" sz="1000" dirty="0">
                <a:solidFill>
                  <a:srgbClr val="595959"/>
                </a:solidFill>
                <a:latin typeface="Yu Gothic" pitchFamily="34" charset="0"/>
                <a:ea typeface="Yu Gothic" pitchFamily="34" charset="-122"/>
                <a:cs typeface="Yu Gothic"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4415" cy="320040"/>
          </a:xfrm>
          <a:prstGeom prst="rect">
            <a:avLst/>
          </a:prstGeom>
          <a:noFill/>
          <a:ln/>
        </p:spPr>
        <p:txBody>
          <a:bodyPr wrap="square" rtlCol="0" anchor="ctr"/>
          <a:lstStyle/>
          <a:p>
            <a:pPr indent="0" marL="0">
              <a:buNone/>
            </a:pPr>
            <a:r>
              <a:rPr lang="en-US" sz="1300" b="1" dirty="0">
                <a:solidFill>
                  <a:srgbClr val="C00000"/>
                </a:solidFill>
                <a:latin typeface="Yu Gothic" pitchFamily="34" charset="0"/>
                <a:ea typeface="Yu Gothic" pitchFamily="34" charset="-122"/>
                <a:cs typeface="Yu Gothic" pitchFamily="34" charset="-120"/>
              </a:rPr>
              <a:t>(a) テーマ</a:t>
            </a:r>
            <a:endParaRPr lang="en-US" sz="1300" dirty="0"/>
          </a:p>
        </p:txBody>
      </p:sp>
      <p:sp>
        <p:nvSpPr>
          <p:cNvPr id="3" name="Text 1"/>
          <p:cNvSpPr/>
          <p:nvPr/>
        </p:nvSpPr>
        <p:spPr>
          <a:xfrm>
            <a:off x="548640" y="594360"/>
            <a:ext cx="11094415" cy="685800"/>
          </a:xfrm>
          <a:prstGeom prst="rect">
            <a:avLst/>
          </a:prstGeom>
          <a:noFill/>
          <a:ln/>
        </p:spPr>
        <p:txBody>
          <a:bodyPr wrap="square" rtlCol="0" anchor="ctr"/>
          <a:lstStyle/>
          <a:p>
            <a:pPr indent="0" marL="0">
              <a:buNone/>
            </a:pPr>
            <a:r>
              <a:rPr lang="en-US" sz="2800" b="1" dirty="0">
                <a:solidFill>
                  <a:srgbClr val="000000"/>
                </a:solidFill>
                <a:latin typeface="Yu Gothic" pitchFamily="34" charset="0"/>
                <a:ea typeface="Yu Gothic" pitchFamily="34" charset="-122"/>
                <a:cs typeface="Yu Gothic" pitchFamily="34" charset="-120"/>
              </a:rPr>
              <a:t>実現したい世界</a:t>
            </a:r>
            <a:endParaRPr lang="en-US" sz="2800" dirty="0"/>
          </a:p>
        </p:txBody>
      </p:sp>
      <p:sp>
        <p:nvSpPr>
          <p:cNvPr id="4" name="Shape 2"/>
          <p:cNvSpPr/>
          <p:nvPr/>
        </p:nvSpPr>
        <p:spPr>
          <a:xfrm>
            <a:off x="548640" y="1737360"/>
            <a:ext cx="11094415" cy="1737360"/>
          </a:xfrm>
          <a:prstGeom prst="roundRect">
            <a:avLst>
              <a:gd name="adj" fmla="val 4211"/>
            </a:avLst>
          </a:prstGeom>
          <a:solidFill>
            <a:srgbClr val="F2F2F2"/>
          </a:solidFill>
          <a:ln w="9525">
            <a:solidFill>
              <a:srgbClr val="D9D9D9"/>
            </a:solidFill>
            <a:prstDash val="solid"/>
          </a:ln>
          <a:effectLst>
            <a:outerShdw sx="100000" sy="100000" kx="0" ky="0" algn="bl" rotWithShape="0" blurRad="76200" dist="25400" dir="5400000">
              <a:srgbClr val="000000">
                <a:alpha val="12000"/>
              </a:srgbClr>
            </a:outerShdw>
          </a:effectLst>
        </p:spPr>
      </p:sp>
      <p:sp>
        <p:nvSpPr>
          <p:cNvPr id="5" name="Text 3"/>
          <p:cNvSpPr/>
          <p:nvPr/>
        </p:nvSpPr>
        <p:spPr>
          <a:xfrm>
            <a:off x="914400" y="1965960"/>
            <a:ext cx="10362895" cy="640080"/>
          </a:xfrm>
          <a:prstGeom prst="rect">
            <a:avLst/>
          </a:prstGeom>
          <a:noFill/>
          <a:ln/>
        </p:spPr>
        <p:txBody>
          <a:bodyPr wrap="square" lIns="0" tIns="0" rIns="0" bIns="0" rtlCol="0" anchor="ctr"/>
          <a:lstStyle/>
          <a:p>
            <a:pPr indent="0" marL="0">
              <a:buNone/>
            </a:pPr>
            <a:r>
              <a:rPr lang="en-US" sz="2400" b="1" dirty="0">
                <a:solidFill>
                  <a:srgbClr val="000000"/>
                </a:solidFill>
                <a:latin typeface="Yu Gothic" pitchFamily="34" charset="0"/>
                <a:ea typeface="Yu Gothic" pitchFamily="34" charset="-122"/>
                <a:cs typeface="Yu Gothic" pitchFamily="34" charset="-120"/>
              </a:rPr>
              <a:t>「救急要請から治療開始まで、一刻も無駄にしない社会」</a:t>
            </a:r>
            <a:endParaRPr lang="en-US" sz="2400" dirty="0"/>
          </a:p>
        </p:txBody>
      </p:sp>
      <p:sp>
        <p:nvSpPr>
          <p:cNvPr id="6" name="Text 4"/>
          <p:cNvSpPr/>
          <p:nvPr/>
        </p:nvSpPr>
        <p:spPr>
          <a:xfrm>
            <a:off x="914400" y="2651760"/>
            <a:ext cx="10362895" cy="731520"/>
          </a:xfrm>
          <a:prstGeom prst="rect">
            <a:avLst/>
          </a:prstGeom>
          <a:noFill/>
          <a:ln/>
        </p:spPr>
        <p:txBody>
          <a:bodyPr wrap="square" lIns="0" tIns="0" rIns="0" bIns="0" rtlCol="0" anchor="ctr"/>
          <a:lstStyle/>
          <a:p>
            <a:pPr indent="0" marL="0">
              <a:buNone/>
            </a:pPr>
            <a:r>
              <a:rPr lang="en-US" sz="1500" dirty="0">
                <a:solidFill>
                  <a:srgbClr val="000000"/>
                </a:solidFill>
                <a:latin typeface="Yu Gothic" pitchFamily="34" charset="0"/>
                <a:ea typeface="Yu Gothic" pitchFamily="34" charset="-122"/>
                <a:cs typeface="Yu Gothic" pitchFamily="34" charset="-120"/>
              </a:rPr>
              <a:t>搬送の遅延・病院の「たらい回し（転送）」によって失われる命、残る後遺症、患者と家族が耐える苦しみの時間をゼロに近づける。</a:t>
            </a:r>
            <a:endParaRPr lang="en-US" sz="1500" dirty="0"/>
          </a:p>
        </p:txBody>
      </p:sp>
      <p:sp>
        <p:nvSpPr>
          <p:cNvPr id="7" name="Text 5"/>
          <p:cNvSpPr/>
          <p:nvPr/>
        </p:nvSpPr>
        <p:spPr>
          <a:xfrm>
            <a:off x="548640" y="3794760"/>
            <a:ext cx="11094415" cy="2194560"/>
          </a:xfrm>
          <a:prstGeom prst="rect">
            <a:avLst/>
          </a:prstGeom>
          <a:noFill/>
          <a:ln/>
        </p:spPr>
        <p:txBody>
          <a:bodyPr wrap="square" lIns="0" tIns="0" rIns="0" bIns="0" rtlCol="0" anchor="t"/>
          <a:lstStyle/>
          <a:p>
            <a:pPr marL="342900" indent="-342900">
              <a:spcAft>
                <a:spcPts val="1400"/>
              </a:spcAft>
              <a:buSzPct val="100000"/>
              <a:buChar char="•"/>
            </a:pPr>
            <a:r>
              <a:rPr lang="en-US" sz="1400" dirty="0">
                <a:solidFill>
                  <a:srgbClr val="000000"/>
                </a:solidFill>
                <a:latin typeface="Yu Gothic" pitchFamily="34" charset="0"/>
                <a:ea typeface="Yu Gothic" pitchFamily="34" charset="-122"/>
                <a:cs typeface="Yu Gothic" pitchFamily="34" charset="-120"/>
              </a:rPr>
              <a:t>テーマの経緯：「オンライン手続きで困るユーザー」から出発し、「ユーザー（困っている人）」と「顧客（払う人）」を分離するフレームワークで再検討</a:t>
            </a:r>
            <a:endParaRPr lang="en-US" sz="1400" dirty="0"/>
          </a:p>
          <a:p>
            <a:pPr marL="342900" indent="-342900">
              <a:spcAft>
                <a:spcPts val="1400"/>
              </a:spcAft>
              <a:buSzPct val="100000"/>
              <a:buChar char="•"/>
            </a:pPr>
            <a:r>
              <a:rPr lang="en-US" sz="1400" dirty="0">
                <a:solidFill>
                  <a:srgbClr val="000000"/>
                </a:solidFill>
                <a:latin typeface="Yu Gothic" pitchFamily="34" charset="0"/>
                <a:ea typeface="Yu Gothic" pitchFamily="34" charset="-122"/>
                <a:cs typeface="Yu Gothic" pitchFamily="34" charset="-120"/>
              </a:rPr>
              <a:t>議論の結果、「救急車で病院をたらい回しにされ、命が失われる」という、命に関わるレベルの課題強度を持つテーマへ転換</a:t>
            </a:r>
            <a:endParaRPr lang="en-US" sz="1400" dirty="0"/>
          </a:p>
          <a:p>
            <a:pPr marL="342900" indent="-342900">
              <a:spcAft>
                <a:spcPts val="1400"/>
              </a:spcAft>
              <a:buSzPct val="100000"/>
              <a:buChar char="•"/>
            </a:pPr>
            <a:r>
              <a:rPr lang="en-US" sz="1400" dirty="0">
                <a:solidFill>
                  <a:srgbClr val="000000"/>
                </a:solidFill>
                <a:latin typeface="Yu Gothic" pitchFamily="34" charset="0"/>
                <a:ea typeface="Yu Gothic" pitchFamily="34" charset="-122"/>
                <a:cs typeface="Yu Gothic" pitchFamily="34" charset="-120"/>
              </a:rPr>
              <a:t>総務省消防庁が毎年公表する公的統計で課題の存在を定量的に裏付け可能</a:t>
            </a:r>
            <a:endParaRPr lang="en-US" sz="1400" dirty="0"/>
          </a:p>
        </p:txBody>
      </p:sp>
      <p:sp>
        <p:nvSpPr>
          <p:cNvPr id="8" name="Text 6"/>
          <p:cNvSpPr/>
          <p:nvPr/>
        </p:nvSpPr>
        <p:spPr>
          <a:xfrm>
            <a:off x="11368735" y="6400800"/>
            <a:ext cx="457200" cy="320040"/>
          </a:xfrm>
          <a:prstGeom prst="rect">
            <a:avLst/>
          </a:prstGeom>
          <a:noFill/>
          <a:ln/>
        </p:spPr>
        <p:txBody>
          <a:bodyPr wrap="square" rtlCol="0" anchor="ctr"/>
          <a:lstStyle/>
          <a:p>
            <a:pPr algn="r" indent="0" marL="0">
              <a:buNone/>
            </a:pPr>
            <a:r>
              <a:rPr lang="en-US" sz="1000" dirty="0">
                <a:solidFill>
                  <a:srgbClr val="595959"/>
                </a:solidFill>
                <a:latin typeface="Yu Gothic" pitchFamily="34" charset="0"/>
                <a:ea typeface="Yu Gothic" pitchFamily="34" charset="-122"/>
                <a:cs typeface="Yu Gothic"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4415" cy="320040"/>
          </a:xfrm>
          <a:prstGeom prst="rect">
            <a:avLst/>
          </a:prstGeom>
          <a:noFill/>
          <a:ln/>
        </p:spPr>
        <p:txBody>
          <a:bodyPr wrap="square" rtlCol="0" anchor="ctr"/>
          <a:lstStyle/>
          <a:p>
            <a:pPr indent="0" marL="0">
              <a:buNone/>
            </a:pPr>
            <a:r>
              <a:rPr lang="en-US" sz="1300" b="1" dirty="0">
                <a:solidFill>
                  <a:srgbClr val="C00000"/>
                </a:solidFill>
                <a:latin typeface="Yu Gothic" pitchFamily="34" charset="0"/>
                <a:ea typeface="Yu Gothic" pitchFamily="34" charset="-122"/>
                <a:cs typeface="Yu Gothic" pitchFamily="34" charset="-120"/>
              </a:rPr>
              <a:t>(b) 困っている人 ①</a:t>
            </a:r>
            <a:endParaRPr lang="en-US" sz="1300" dirty="0"/>
          </a:p>
        </p:txBody>
      </p:sp>
      <p:sp>
        <p:nvSpPr>
          <p:cNvPr id="3" name="Text 1"/>
          <p:cNvSpPr/>
          <p:nvPr/>
        </p:nvSpPr>
        <p:spPr>
          <a:xfrm>
            <a:off x="548640" y="594360"/>
            <a:ext cx="11094415" cy="685800"/>
          </a:xfrm>
          <a:prstGeom prst="rect">
            <a:avLst/>
          </a:prstGeom>
          <a:noFill/>
          <a:ln/>
        </p:spPr>
        <p:txBody>
          <a:bodyPr wrap="square" rtlCol="0" anchor="ctr"/>
          <a:lstStyle/>
          <a:p>
            <a:pPr indent="0" marL="0">
              <a:buNone/>
            </a:pPr>
            <a:r>
              <a:rPr lang="en-US" sz="2800" b="1" dirty="0">
                <a:solidFill>
                  <a:srgbClr val="000000"/>
                </a:solidFill>
                <a:latin typeface="Yu Gothic" pitchFamily="34" charset="0"/>
                <a:ea typeface="Yu Gothic" pitchFamily="34" charset="-122"/>
                <a:cs typeface="Yu Gothic" pitchFamily="34" charset="-120"/>
              </a:rPr>
              <a:t>現状データ：悪化を続ける救急搬送の実態</a:t>
            </a:r>
            <a:endParaRPr lang="en-US" sz="2800" dirty="0"/>
          </a:p>
        </p:txBody>
      </p:sp>
      <p:sp>
        <p:nvSpPr>
          <p:cNvPr id="4" name="Shape 2"/>
          <p:cNvSpPr/>
          <p:nvPr/>
        </p:nvSpPr>
        <p:spPr>
          <a:xfrm>
            <a:off x="548640" y="1737360"/>
            <a:ext cx="2636444" cy="1554480"/>
          </a:xfrm>
          <a:prstGeom prst="roundRect">
            <a:avLst>
              <a:gd name="adj" fmla="val 4706"/>
            </a:avLst>
          </a:prstGeom>
          <a:solidFill>
            <a:srgbClr val="FFFFFF"/>
          </a:solidFill>
          <a:ln w="9525">
            <a:solidFill>
              <a:srgbClr val="D9D9D9"/>
            </a:solidFill>
            <a:prstDash val="solid"/>
          </a:ln>
          <a:effectLst>
            <a:outerShdw sx="100000" sy="100000" kx="0" ky="0" algn="bl" rotWithShape="0" blurRad="76200" dist="25400" dir="5400000">
              <a:srgbClr val="000000">
                <a:alpha val="12000"/>
              </a:srgbClr>
            </a:outerShdw>
          </a:effectLst>
        </p:spPr>
      </p:sp>
      <p:sp>
        <p:nvSpPr>
          <p:cNvPr id="5" name="Text 3"/>
          <p:cNvSpPr/>
          <p:nvPr/>
        </p:nvSpPr>
        <p:spPr>
          <a:xfrm>
            <a:off x="658368" y="1847088"/>
            <a:ext cx="2416988" cy="854964"/>
          </a:xfrm>
          <a:prstGeom prst="rect">
            <a:avLst/>
          </a:prstGeom>
          <a:noFill/>
          <a:ln/>
        </p:spPr>
        <p:txBody>
          <a:bodyPr wrap="square" lIns="0" tIns="0" rIns="0" bIns="0" rtlCol="0" anchor="b"/>
          <a:lstStyle/>
          <a:p>
            <a:pPr algn="l" indent="0" marL="0">
              <a:buNone/>
            </a:pPr>
            <a:r>
              <a:rPr lang="en-US" sz="2600" b="1" dirty="0">
                <a:solidFill>
                  <a:srgbClr val="C00000"/>
                </a:solidFill>
                <a:latin typeface="Yu Gothic" pitchFamily="34" charset="0"/>
                <a:ea typeface="Yu Gothic" pitchFamily="34" charset="-122"/>
                <a:cs typeface="Yu Gothic" pitchFamily="34" charset="-120"/>
              </a:rPr>
              <a:t>771.8万件</a:t>
            </a:r>
            <a:endParaRPr lang="en-US" sz="2600" dirty="0"/>
          </a:p>
        </p:txBody>
      </p:sp>
      <p:sp>
        <p:nvSpPr>
          <p:cNvPr id="6" name="Text 4"/>
          <p:cNvSpPr/>
          <p:nvPr/>
        </p:nvSpPr>
        <p:spPr>
          <a:xfrm>
            <a:off x="658368" y="2638044"/>
            <a:ext cx="2416988" cy="484632"/>
          </a:xfrm>
          <a:prstGeom prst="rect">
            <a:avLst/>
          </a:prstGeom>
          <a:noFill/>
          <a:ln/>
        </p:spPr>
        <p:txBody>
          <a:bodyPr wrap="square" lIns="0" tIns="0" rIns="0" bIns="0" rtlCol="0" anchor="t"/>
          <a:lstStyle/>
          <a:p>
            <a:pPr algn="l" indent="0" marL="0">
              <a:buNone/>
            </a:pPr>
            <a:r>
              <a:rPr lang="en-US" sz="1100" dirty="0">
                <a:solidFill>
                  <a:srgbClr val="000000"/>
                </a:solidFill>
                <a:latin typeface="Yu Gothic" pitchFamily="34" charset="0"/>
                <a:ea typeface="Yu Gothic" pitchFamily="34" charset="-122"/>
                <a:cs typeface="Yu Gothic" pitchFamily="34" charset="-120"/>
              </a:rPr>
              <a:t>救急出動件数（令和6年・過去最多、前年比+1.0%）</a:t>
            </a:r>
            <a:endParaRPr lang="en-US" sz="1100" dirty="0"/>
          </a:p>
        </p:txBody>
      </p:sp>
      <p:sp>
        <p:nvSpPr>
          <p:cNvPr id="7" name="Shape 5"/>
          <p:cNvSpPr/>
          <p:nvPr/>
        </p:nvSpPr>
        <p:spPr>
          <a:xfrm>
            <a:off x="3367964" y="1737360"/>
            <a:ext cx="2636444" cy="1554480"/>
          </a:xfrm>
          <a:prstGeom prst="roundRect">
            <a:avLst>
              <a:gd name="adj" fmla="val 4706"/>
            </a:avLst>
          </a:prstGeom>
          <a:solidFill>
            <a:srgbClr val="FFFFFF"/>
          </a:solidFill>
          <a:ln w="9525">
            <a:solidFill>
              <a:srgbClr val="D9D9D9"/>
            </a:solidFill>
            <a:prstDash val="solid"/>
          </a:ln>
          <a:effectLst>
            <a:outerShdw sx="100000" sy="100000" kx="0" ky="0" algn="bl" rotWithShape="0" blurRad="76200" dist="25400" dir="5400000">
              <a:srgbClr val="000000">
                <a:alpha val="12000"/>
              </a:srgbClr>
            </a:outerShdw>
          </a:effectLst>
        </p:spPr>
      </p:sp>
      <p:sp>
        <p:nvSpPr>
          <p:cNvPr id="8" name="Text 6"/>
          <p:cNvSpPr/>
          <p:nvPr/>
        </p:nvSpPr>
        <p:spPr>
          <a:xfrm>
            <a:off x="3477692" y="1847088"/>
            <a:ext cx="2416988" cy="854964"/>
          </a:xfrm>
          <a:prstGeom prst="rect">
            <a:avLst/>
          </a:prstGeom>
          <a:noFill/>
          <a:ln/>
        </p:spPr>
        <p:txBody>
          <a:bodyPr wrap="square" lIns="0" tIns="0" rIns="0" bIns="0" rtlCol="0" anchor="b"/>
          <a:lstStyle/>
          <a:p>
            <a:pPr algn="l" indent="0" marL="0">
              <a:buNone/>
            </a:pPr>
            <a:r>
              <a:rPr lang="en-US" sz="2600" b="1" dirty="0">
                <a:solidFill>
                  <a:srgbClr val="C00000"/>
                </a:solidFill>
                <a:latin typeface="Yu Gothic" pitchFamily="34" charset="0"/>
                <a:ea typeface="Yu Gothic" pitchFamily="34" charset="-122"/>
                <a:cs typeface="Yu Gothic" pitchFamily="34" charset="-120"/>
              </a:rPr>
              <a:t>676.9万人</a:t>
            </a:r>
            <a:endParaRPr lang="en-US" sz="2600" dirty="0"/>
          </a:p>
        </p:txBody>
      </p:sp>
      <p:sp>
        <p:nvSpPr>
          <p:cNvPr id="9" name="Text 7"/>
          <p:cNvSpPr/>
          <p:nvPr/>
        </p:nvSpPr>
        <p:spPr>
          <a:xfrm>
            <a:off x="3477692" y="2638044"/>
            <a:ext cx="2416988" cy="484632"/>
          </a:xfrm>
          <a:prstGeom prst="rect">
            <a:avLst/>
          </a:prstGeom>
          <a:noFill/>
          <a:ln/>
        </p:spPr>
        <p:txBody>
          <a:bodyPr wrap="square" lIns="0" tIns="0" rIns="0" bIns="0" rtlCol="0" anchor="t"/>
          <a:lstStyle/>
          <a:p>
            <a:pPr algn="l" indent="0" marL="0">
              <a:buNone/>
            </a:pPr>
            <a:r>
              <a:rPr lang="en-US" sz="1100" dirty="0">
                <a:solidFill>
                  <a:srgbClr val="000000"/>
                </a:solidFill>
                <a:latin typeface="Yu Gothic" pitchFamily="34" charset="0"/>
                <a:ea typeface="Yu Gothic" pitchFamily="34" charset="-122"/>
                <a:cs typeface="Yu Gothic" pitchFamily="34" charset="-120"/>
              </a:rPr>
              <a:t>搬送人員（令和6年・過去最多、前年比+1.9%）</a:t>
            </a:r>
            <a:endParaRPr lang="en-US" sz="1100" dirty="0"/>
          </a:p>
        </p:txBody>
      </p:sp>
      <p:sp>
        <p:nvSpPr>
          <p:cNvPr id="10" name="Shape 8"/>
          <p:cNvSpPr/>
          <p:nvPr/>
        </p:nvSpPr>
        <p:spPr>
          <a:xfrm>
            <a:off x="6187288" y="1737360"/>
            <a:ext cx="2636444" cy="1554480"/>
          </a:xfrm>
          <a:prstGeom prst="roundRect">
            <a:avLst>
              <a:gd name="adj" fmla="val 4706"/>
            </a:avLst>
          </a:prstGeom>
          <a:solidFill>
            <a:srgbClr val="FFFFFF"/>
          </a:solidFill>
          <a:ln w="9525">
            <a:solidFill>
              <a:srgbClr val="D9D9D9"/>
            </a:solidFill>
            <a:prstDash val="solid"/>
          </a:ln>
          <a:effectLst>
            <a:outerShdw sx="100000" sy="100000" kx="0" ky="0" algn="bl" rotWithShape="0" blurRad="76200" dist="25400" dir="5400000">
              <a:srgbClr val="000000">
                <a:alpha val="12000"/>
              </a:srgbClr>
            </a:outerShdw>
          </a:effectLst>
        </p:spPr>
      </p:sp>
      <p:sp>
        <p:nvSpPr>
          <p:cNvPr id="11" name="Text 9"/>
          <p:cNvSpPr/>
          <p:nvPr/>
        </p:nvSpPr>
        <p:spPr>
          <a:xfrm>
            <a:off x="6297016" y="1847088"/>
            <a:ext cx="2416988" cy="854964"/>
          </a:xfrm>
          <a:prstGeom prst="rect">
            <a:avLst/>
          </a:prstGeom>
          <a:noFill/>
          <a:ln/>
        </p:spPr>
        <p:txBody>
          <a:bodyPr wrap="square" lIns="0" tIns="0" rIns="0" bIns="0" rtlCol="0" anchor="b"/>
          <a:lstStyle/>
          <a:p>
            <a:pPr algn="l" indent="0" marL="0">
              <a:buNone/>
            </a:pPr>
            <a:r>
              <a:rPr lang="en-US" sz="2600" b="1" dirty="0">
                <a:solidFill>
                  <a:srgbClr val="C00000"/>
                </a:solidFill>
                <a:latin typeface="Yu Gothic" pitchFamily="34" charset="0"/>
                <a:ea typeface="Yu Gothic" pitchFamily="34" charset="-122"/>
                <a:cs typeface="Yu Gothic" pitchFamily="34" charset="-120"/>
              </a:rPr>
              <a:t>9.8分</a:t>
            </a:r>
            <a:endParaRPr lang="en-US" sz="2600" dirty="0"/>
          </a:p>
        </p:txBody>
      </p:sp>
      <p:sp>
        <p:nvSpPr>
          <p:cNvPr id="12" name="Text 10"/>
          <p:cNvSpPr/>
          <p:nvPr/>
        </p:nvSpPr>
        <p:spPr>
          <a:xfrm>
            <a:off x="6297016" y="2638044"/>
            <a:ext cx="2416988" cy="484632"/>
          </a:xfrm>
          <a:prstGeom prst="rect">
            <a:avLst/>
          </a:prstGeom>
          <a:noFill/>
          <a:ln/>
        </p:spPr>
        <p:txBody>
          <a:bodyPr wrap="square" lIns="0" tIns="0" rIns="0" bIns="0" rtlCol="0" anchor="t"/>
          <a:lstStyle/>
          <a:p>
            <a:pPr algn="l" indent="0" marL="0">
              <a:buNone/>
            </a:pPr>
            <a:r>
              <a:rPr lang="en-US" sz="1100" dirty="0">
                <a:solidFill>
                  <a:srgbClr val="000000"/>
                </a:solidFill>
                <a:latin typeface="Yu Gothic" pitchFamily="34" charset="0"/>
                <a:ea typeface="Yu Gothic" pitchFamily="34" charset="-122"/>
                <a:cs typeface="Yu Gothic" pitchFamily="34" charset="-120"/>
              </a:rPr>
              <a:t>現場到着所要時間 平均（令和元年比 +1.1分）</a:t>
            </a:r>
            <a:endParaRPr lang="en-US" sz="1100" dirty="0"/>
          </a:p>
        </p:txBody>
      </p:sp>
      <p:sp>
        <p:nvSpPr>
          <p:cNvPr id="13" name="Shape 11"/>
          <p:cNvSpPr/>
          <p:nvPr/>
        </p:nvSpPr>
        <p:spPr>
          <a:xfrm>
            <a:off x="9006611" y="1737360"/>
            <a:ext cx="2636444" cy="1554480"/>
          </a:xfrm>
          <a:prstGeom prst="roundRect">
            <a:avLst>
              <a:gd name="adj" fmla="val 4706"/>
            </a:avLst>
          </a:prstGeom>
          <a:solidFill>
            <a:srgbClr val="FFFFFF"/>
          </a:solidFill>
          <a:ln w="9525">
            <a:solidFill>
              <a:srgbClr val="D9D9D9"/>
            </a:solidFill>
            <a:prstDash val="solid"/>
          </a:ln>
          <a:effectLst>
            <a:outerShdw sx="100000" sy="100000" kx="0" ky="0" algn="bl" rotWithShape="0" blurRad="76200" dist="25400" dir="5400000">
              <a:srgbClr val="000000">
                <a:alpha val="12000"/>
              </a:srgbClr>
            </a:outerShdw>
          </a:effectLst>
        </p:spPr>
      </p:sp>
      <p:sp>
        <p:nvSpPr>
          <p:cNvPr id="14" name="Text 12"/>
          <p:cNvSpPr/>
          <p:nvPr/>
        </p:nvSpPr>
        <p:spPr>
          <a:xfrm>
            <a:off x="9116339" y="1847088"/>
            <a:ext cx="2416988" cy="854964"/>
          </a:xfrm>
          <a:prstGeom prst="rect">
            <a:avLst/>
          </a:prstGeom>
          <a:noFill/>
          <a:ln/>
        </p:spPr>
        <p:txBody>
          <a:bodyPr wrap="square" lIns="0" tIns="0" rIns="0" bIns="0" rtlCol="0" anchor="b"/>
          <a:lstStyle/>
          <a:p>
            <a:pPr algn="l" indent="0" marL="0">
              <a:buNone/>
            </a:pPr>
            <a:r>
              <a:rPr lang="en-US" sz="2600" b="1" dirty="0">
                <a:solidFill>
                  <a:srgbClr val="C00000"/>
                </a:solidFill>
                <a:latin typeface="Yu Gothic" pitchFamily="34" charset="0"/>
                <a:ea typeface="Yu Gothic" pitchFamily="34" charset="-122"/>
                <a:cs typeface="Yu Gothic" pitchFamily="34" charset="-120"/>
              </a:rPr>
              <a:t>44.6分</a:t>
            </a:r>
            <a:endParaRPr lang="en-US" sz="2600" dirty="0"/>
          </a:p>
        </p:txBody>
      </p:sp>
      <p:sp>
        <p:nvSpPr>
          <p:cNvPr id="15" name="Text 13"/>
          <p:cNvSpPr/>
          <p:nvPr/>
        </p:nvSpPr>
        <p:spPr>
          <a:xfrm>
            <a:off x="9116339" y="2638044"/>
            <a:ext cx="2416988" cy="484632"/>
          </a:xfrm>
          <a:prstGeom prst="rect">
            <a:avLst/>
          </a:prstGeom>
          <a:noFill/>
          <a:ln/>
        </p:spPr>
        <p:txBody>
          <a:bodyPr wrap="square" lIns="0" tIns="0" rIns="0" bIns="0" rtlCol="0" anchor="t"/>
          <a:lstStyle/>
          <a:p>
            <a:pPr algn="l" indent="0" marL="0">
              <a:buNone/>
            </a:pPr>
            <a:r>
              <a:rPr lang="en-US" sz="1100" dirty="0">
                <a:solidFill>
                  <a:srgbClr val="000000"/>
                </a:solidFill>
                <a:latin typeface="Yu Gothic" pitchFamily="34" charset="0"/>
                <a:ea typeface="Yu Gothic" pitchFamily="34" charset="-122"/>
                <a:cs typeface="Yu Gothic" pitchFamily="34" charset="-120"/>
              </a:rPr>
              <a:t>病院収容所要時間 平均（令和元年比 +5.1分）</a:t>
            </a:r>
            <a:endParaRPr lang="en-US" sz="1100" dirty="0"/>
          </a:p>
        </p:txBody>
      </p:sp>
      <p:sp>
        <p:nvSpPr>
          <p:cNvPr id="16" name="Text 14"/>
          <p:cNvSpPr/>
          <p:nvPr/>
        </p:nvSpPr>
        <p:spPr>
          <a:xfrm>
            <a:off x="548640" y="3611880"/>
            <a:ext cx="11094415" cy="201168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rgbClr val="000000"/>
                </a:solidFill>
                <a:latin typeface="Yu Gothic" pitchFamily="34" charset="0"/>
                <a:ea typeface="Yu Gothic" pitchFamily="34" charset="-122"/>
                <a:cs typeface="Yu Gothic" pitchFamily="34" charset="-120"/>
              </a:rPr>
              <a:t>救急需要は毎年過去最多を更新し続けており、現場到着・病院収容ともにコロナ前（令和元年）よりも時間がかかる状態が常態化</a:t>
            </a:r>
            <a:endParaRPr lang="en-US" sz="1400" dirty="0"/>
          </a:p>
          <a:p>
            <a:pPr marL="342900" indent="-342900">
              <a:spcAft>
                <a:spcPts val="1200"/>
              </a:spcAft>
              <a:buSzPct val="100000"/>
              <a:buChar char="•"/>
            </a:pPr>
            <a:r>
              <a:rPr lang="en-US" sz="1400" dirty="0">
                <a:solidFill>
                  <a:srgbClr val="000000"/>
                </a:solidFill>
                <a:latin typeface="Yu Gothic" pitchFamily="34" charset="0"/>
                <a:ea typeface="Yu Gothic" pitchFamily="34" charset="-122"/>
                <a:cs typeface="Yu Gothic" pitchFamily="34" charset="-120"/>
              </a:rPr>
              <a:t>「搬送困難事案」の定義：医療機関への受入照会回数4回以上　かつ　現場滞在時間30分以上</a:t>
            </a:r>
            <a:endParaRPr lang="en-US" sz="1400" dirty="0"/>
          </a:p>
          <a:p>
            <a:pPr marL="342900" indent="-342900">
              <a:spcAft>
                <a:spcPts val="1200"/>
              </a:spcAft>
              <a:buSzPct val="100000"/>
              <a:buChar char="•"/>
            </a:pPr>
            <a:r>
              <a:rPr lang="en-US" sz="1400" dirty="0">
                <a:solidFill>
                  <a:srgbClr val="000000"/>
                </a:solidFill>
                <a:latin typeface="Yu Gothic" pitchFamily="34" charset="0"/>
                <a:ea typeface="Yu Gothic" pitchFamily="34" charset="-122"/>
                <a:cs typeface="Yu Gothic" pitchFamily="34" charset="-120"/>
              </a:rPr>
              <a:t>受入照会4回以上の事案が全体の4.6%、現場滞在30分以上の事案が全体の6.3%を占める（大都市部でより高い傾向）</a:t>
            </a:r>
            <a:endParaRPr lang="en-US" sz="1400" dirty="0"/>
          </a:p>
        </p:txBody>
      </p:sp>
      <p:sp>
        <p:nvSpPr>
          <p:cNvPr id="17" name="Text 15"/>
          <p:cNvSpPr/>
          <p:nvPr/>
        </p:nvSpPr>
        <p:spPr>
          <a:xfrm>
            <a:off x="548640" y="6355080"/>
            <a:ext cx="10545775" cy="365760"/>
          </a:xfrm>
          <a:prstGeom prst="rect">
            <a:avLst/>
          </a:prstGeom>
          <a:noFill/>
          <a:ln/>
        </p:spPr>
        <p:txBody>
          <a:bodyPr wrap="square"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出典：総務省消防庁「令和7年版 消防白書」第2章第5節、「救急搬送困難事案に係る状況調査について」</a:t>
            </a:r>
            <a:endParaRPr lang="en-US" sz="900" dirty="0"/>
          </a:p>
        </p:txBody>
      </p:sp>
      <p:sp>
        <p:nvSpPr>
          <p:cNvPr id="18" name="Text 16"/>
          <p:cNvSpPr/>
          <p:nvPr/>
        </p:nvSpPr>
        <p:spPr>
          <a:xfrm>
            <a:off x="11368735" y="6400800"/>
            <a:ext cx="457200" cy="320040"/>
          </a:xfrm>
          <a:prstGeom prst="rect">
            <a:avLst/>
          </a:prstGeom>
          <a:noFill/>
          <a:ln/>
        </p:spPr>
        <p:txBody>
          <a:bodyPr wrap="square" rtlCol="0" anchor="ctr"/>
          <a:lstStyle/>
          <a:p>
            <a:pPr algn="r" indent="0" marL="0">
              <a:buNone/>
            </a:pPr>
            <a:r>
              <a:rPr lang="en-US" sz="1000" dirty="0">
                <a:solidFill>
                  <a:srgbClr val="595959"/>
                </a:solidFill>
                <a:latin typeface="Yu Gothic" pitchFamily="34" charset="0"/>
                <a:ea typeface="Yu Gothic" pitchFamily="34" charset="-122"/>
                <a:cs typeface="Yu Gothic"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4415" cy="320040"/>
          </a:xfrm>
          <a:prstGeom prst="rect">
            <a:avLst/>
          </a:prstGeom>
          <a:noFill/>
          <a:ln/>
        </p:spPr>
        <p:txBody>
          <a:bodyPr wrap="square" rtlCol="0" anchor="ctr"/>
          <a:lstStyle/>
          <a:p>
            <a:pPr indent="0" marL="0">
              <a:buNone/>
            </a:pPr>
            <a:r>
              <a:rPr lang="en-US" sz="1300" b="1" dirty="0">
                <a:solidFill>
                  <a:srgbClr val="C00000"/>
                </a:solidFill>
                <a:latin typeface="Yu Gothic" pitchFamily="34" charset="0"/>
                <a:ea typeface="Yu Gothic" pitchFamily="34" charset="-122"/>
                <a:cs typeface="Yu Gothic" pitchFamily="34" charset="-120"/>
              </a:rPr>
              <a:t>(b) 困っている人 ②</a:t>
            </a:r>
            <a:endParaRPr lang="en-US" sz="1300" dirty="0"/>
          </a:p>
        </p:txBody>
      </p:sp>
      <p:sp>
        <p:nvSpPr>
          <p:cNvPr id="3" name="Text 1"/>
          <p:cNvSpPr/>
          <p:nvPr/>
        </p:nvSpPr>
        <p:spPr>
          <a:xfrm>
            <a:off x="548640" y="594360"/>
            <a:ext cx="11094415" cy="685800"/>
          </a:xfrm>
          <a:prstGeom prst="rect">
            <a:avLst/>
          </a:prstGeom>
          <a:noFill/>
          <a:ln/>
        </p:spPr>
        <p:txBody>
          <a:bodyPr wrap="square" rtlCol="0" anchor="ctr"/>
          <a:lstStyle/>
          <a:p>
            <a:pPr indent="0" marL="0">
              <a:buNone/>
            </a:pPr>
            <a:r>
              <a:rPr lang="en-US" sz="2800" b="1" dirty="0">
                <a:solidFill>
                  <a:srgbClr val="000000"/>
                </a:solidFill>
                <a:latin typeface="Yu Gothic" pitchFamily="34" charset="0"/>
                <a:ea typeface="Yu Gothic" pitchFamily="34" charset="-122"/>
                <a:cs typeface="Yu Gothic" pitchFamily="34" charset="-120"/>
              </a:rPr>
              <a:t>「転送」問題と、時間が命を左右するエビデンス</a:t>
            </a:r>
            <a:endParaRPr lang="en-US" sz="2800" dirty="0"/>
          </a:p>
        </p:txBody>
      </p:sp>
      <p:sp>
        <p:nvSpPr>
          <p:cNvPr id="4" name="Shape 2"/>
          <p:cNvSpPr/>
          <p:nvPr/>
        </p:nvSpPr>
        <p:spPr>
          <a:xfrm>
            <a:off x="548640" y="1691640"/>
            <a:ext cx="5577840" cy="2743200"/>
          </a:xfrm>
          <a:prstGeom prst="roundRect">
            <a:avLst>
              <a:gd name="adj" fmla="val 2667"/>
            </a:avLst>
          </a:prstGeom>
          <a:solidFill>
            <a:srgbClr val="F2F2F2"/>
          </a:solidFill>
          <a:ln w="9525">
            <a:solidFill>
              <a:srgbClr val="D9D9D9"/>
            </a:solidFill>
            <a:prstDash val="solid"/>
          </a:ln>
          <a:effectLst>
            <a:outerShdw sx="100000" sy="100000" kx="0" ky="0" algn="bl" rotWithShape="0" blurRad="76200" dist="25400" dir="5400000">
              <a:srgbClr val="000000">
                <a:alpha val="12000"/>
              </a:srgbClr>
            </a:outerShdw>
          </a:effectLst>
        </p:spPr>
      </p:sp>
      <p:sp>
        <p:nvSpPr>
          <p:cNvPr id="5" name="Text 3"/>
          <p:cNvSpPr/>
          <p:nvPr/>
        </p:nvSpPr>
        <p:spPr>
          <a:xfrm>
            <a:off x="822960" y="1828800"/>
            <a:ext cx="5029200" cy="365760"/>
          </a:xfrm>
          <a:prstGeom prst="rect">
            <a:avLst/>
          </a:prstGeom>
          <a:noFill/>
          <a:ln/>
        </p:spPr>
        <p:txBody>
          <a:bodyPr wrap="square" lIns="0" tIns="0" rIns="0" bIns="0" rtlCol="0" anchor="ctr"/>
          <a:lstStyle/>
          <a:p>
            <a:pPr indent="0" marL="0">
              <a:buNone/>
            </a:pPr>
            <a:r>
              <a:rPr lang="en-US" sz="1500" b="1" dirty="0">
                <a:solidFill>
                  <a:srgbClr val="000000"/>
                </a:solidFill>
                <a:latin typeface="Yu Gothic" pitchFamily="34" charset="0"/>
                <a:ea typeface="Yu Gothic" pitchFamily="34" charset="-122"/>
                <a:cs typeface="Yu Gothic" pitchFamily="34" charset="-120"/>
              </a:rPr>
              <a:t>転送＝病院到着後に断られる問題（令和4年）</a:t>
            </a:r>
            <a:endParaRPr lang="en-US" sz="1500" dirty="0"/>
          </a:p>
        </p:txBody>
      </p:sp>
      <p:sp>
        <p:nvSpPr>
          <p:cNvPr id="6" name="Text 4"/>
          <p:cNvSpPr/>
          <p:nvPr/>
        </p:nvSpPr>
        <p:spPr>
          <a:xfrm>
            <a:off x="822960" y="2240280"/>
            <a:ext cx="5029200" cy="822960"/>
          </a:xfrm>
          <a:prstGeom prst="rect">
            <a:avLst/>
          </a:prstGeom>
          <a:noFill/>
          <a:ln/>
        </p:spPr>
        <p:txBody>
          <a:bodyPr wrap="square" lIns="0" tIns="0" rIns="0" bIns="0" rtlCol="0" anchor="ctr"/>
          <a:lstStyle/>
          <a:p>
            <a:pPr indent="0" marL="0">
              <a:buNone/>
            </a:pPr>
            <a:r>
              <a:rPr lang="en-US" sz="3000" b="1" dirty="0">
                <a:solidFill>
                  <a:srgbClr val="C00000"/>
                </a:solidFill>
              </a:rPr>
              <a:t>23,082人</a:t>
            </a:r>
            <a:endParaRPr lang="en-US" sz="3000" dirty="0"/>
          </a:p>
          <a:p>
            <a:pPr indent="0" marL="0">
              <a:buNone/>
            </a:pPr>
            <a:r>
              <a:rPr lang="en-US" sz="1300" dirty="0">
                <a:solidFill>
                  <a:srgbClr val="000000"/>
                </a:solidFill>
              </a:rPr>
              <a:t>／年が転送（搬送人員の0.4%）、令和3年比 +38.7%で急増に転じた</a:t>
            </a:r>
            <a:endParaRPr lang="en-US" sz="3000" dirty="0"/>
          </a:p>
        </p:txBody>
      </p:sp>
      <p:sp>
        <p:nvSpPr>
          <p:cNvPr id="7" name="Text 5"/>
          <p:cNvSpPr/>
          <p:nvPr/>
        </p:nvSpPr>
        <p:spPr>
          <a:xfrm>
            <a:off x="822960" y="3108960"/>
            <a:ext cx="5029200" cy="1188720"/>
          </a:xfrm>
          <a:prstGeom prst="rect">
            <a:avLst/>
          </a:prstGeom>
          <a:noFill/>
          <a:ln/>
        </p:spPr>
        <p:txBody>
          <a:bodyPr wrap="square" lIns="0" tIns="0" rIns="0" bIns="0" rtlCol="0" anchor="t"/>
          <a:lstStyle/>
          <a:p>
            <a:pPr marL="342900" indent="-342900">
              <a:spcAft>
                <a:spcPts val="600"/>
              </a:spcAft>
              <a:buSzPct val="100000"/>
              <a:buChar char="•"/>
            </a:pPr>
            <a:r>
              <a:rPr lang="en-US" sz="1300" b="1" dirty="0">
                <a:solidFill>
                  <a:srgbClr val="C00000"/>
                </a:solidFill>
                <a:latin typeface="Yu Gothic" pitchFamily="34" charset="0"/>
                <a:ea typeface="Yu Gothic" pitchFamily="34" charset="-122"/>
                <a:cs typeface="Yu Gothic" pitchFamily="34" charset="-120"/>
              </a:rPr>
              <a:t>処置困難 52.1%（12,078回・最多）</a:t>
            </a:r>
            <a:endParaRPr lang="en-US" sz="1300" dirty="0"/>
          </a:p>
          <a:p>
            <a:pPr marL="342900" indent="-342900">
              <a:spcAft>
                <a:spcPts val="600"/>
              </a:spcAft>
              <a:buSzPct val="100000"/>
              <a:buChar char="•"/>
            </a:pPr>
            <a:r>
              <a:rPr lang="en-US" sz="1300" dirty="0">
                <a:solidFill>
                  <a:srgbClr val="000000"/>
                </a:solidFill>
                <a:latin typeface="Yu Gothic" pitchFamily="34" charset="0"/>
                <a:ea typeface="Yu Gothic" pitchFamily="34" charset="-122"/>
                <a:cs typeface="Yu Gothic" pitchFamily="34" charset="-120"/>
              </a:rPr>
              <a:t>その他 23.2%／ベッド満床 15.4%</a:t>
            </a:r>
            <a:endParaRPr lang="en-US" sz="1300" dirty="0"/>
          </a:p>
          <a:p>
            <a:pPr marL="342900" indent="-342900">
              <a:spcAft>
                <a:spcPts val="600"/>
              </a:spcAft>
              <a:buSzPct val="100000"/>
              <a:buChar char="•"/>
            </a:pPr>
            <a:r>
              <a:rPr lang="en-US" sz="1300" dirty="0">
                <a:solidFill>
                  <a:srgbClr val="000000"/>
                </a:solidFill>
                <a:latin typeface="Yu Gothic" pitchFamily="34" charset="0"/>
                <a:ea typeface="Yu Gothic" pitchFamily="34" charset="-122"/>
                <a:cs typeface="Yu Gothic" pitchFamily="34" charset="-120"/>
              </a:rPr>
              <a:t>専門外 8.4%／手術中 0.5%／医師不在 0.2%</a:t>
            </a:r>
            <a:endParaRPr lang="en-US" sz="1300" dirty="0"/>
          </a:p>
        </p:txBody>
      </p:sp>
      <p:sp>
        <p:nvSpPr>
          <p:cNvPr id="8" name="Shape 6"/>
          <p:cNvSpPr/>
          <p:nvPr/>
        </p:nvSpPr>
        <p:spPr>
          <a:xfrm>
            <a:off x="6309360" y="1691640"/>
            <a:ext cx="5333695" cy="2743200"/>
          </a:xfrm>
          <a:prstGeom prst="roundRect">
            <a:avLst>
              <a:gd name="adj" fmla="val 2667"/>
            </a:avLst>
          </a:prstGeom>
          <a:solidFill>
            <a:srgbClr val="F2F2F2"/>
          </a:solidFill>
          <a:ln w="9525">
            <a:solidFill>
              <a:srgbClr val="D9D9D9"/>
            </a:solidFill>
            <a:prstDash val="solid"/>
          </a:ln>
          <a:effectLst>
            <a:outerShdw sx="100000" sy="100000" kx="0" ky="0" algn="bl" rotWithShape="0" blurRad="76200" dist="25400" dir="5400000">
              <a:srgbClr val="000000">
                <a:alpha val="12000"/>
              </a:srgbClr>
            </a:outerShdw>
          </a:effectLst>
        </p:spPr>
      </p:sp>
      <p:sp>
        <p:nvSpPr>
          <p:cNvPr id="9" name="Text 7"/>
          <p:cNvSpPr/>
          <p:nvPr/>
        </p:nvSpPr>
        <p:spPr>
          <a:xfrm>
            <a:off x="6583680" y="1828800"/>
            <a:ext cx="4785055" cy="365760"/>
          </a:xfrm>
          <a:prstGeom prst="rect">
            <a:avLst/>
          </a:prstGeom>
          <a:noFill/>
          <a:ln/>
        </p:spPr>
        <p:txBody>
          <a:bodyPr wrap="square" lIns="0" tIns="0" rIns="0" bIns="0" rtlCol="0" anchor="ctr"/>
          <a:lstStyle/>
          <a:p>
            <a:pPr indent="0" marL="0">
              <a:buNone/>
            </a:pPr>
            <a:r>
              <a:rPr lang="en-US" sz="1500" b="1" dirty="0">
                <a:solidFill>
                  <a:srgbClr val="000000"/>
                </a:solidFill>
                <a:latin typeface="Yu Gothic" pitchFamily="34" charset="0"/>
                <a:ea typeface="Yu Gothic" pitchFamily="34" charset="-122"/>
                <a:cs typeface="Yu Gothic" pitchFamily="34" charset="-120"/>
              </a:rPr>
              <a:t>時間と生存率の関係（令和6年・救急蘇生統計）</a:t>
            </a:r>
            <a:endParaRPr lang="en-US" sz="1500" dirty="0"/>
          </a:p>
        </p:txBody>
      </p:sp>
      <p:sp>
        <p:nvSpPr>
          <p:cNvPr id="10" name="Text 8"/>
          <p:cNvSpPr/>
          <p:nvPr/>
        </p:nvSpPr>
        <p:spPr>
          <a:xfrm>
            <a:off x="6583680" y="2240280"/>
            <a:ext cx="4785055" cy="210312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000000"/>
                </a:solidFill>
                <a:latin typeface="Yu Gothic" pitchFamily="34" charset="0"/>
                <a:ea typeface="Yu Gothic" pitchFamily="34" charset="-122"/>
                <a:cs typeface="Yu Gothic" pitchFamily="34" charset="-120"/>
              </a:rPr>
              <a:t>心肺停止・心原性・市民目撃 27,769人：1か月後生存率 12.4%／社会復帰率 7.7%</a:t>
            </a:r>
            <a:endParaRPr lang="en-US" sz="1300" dirty="0"/>
          </a:p>
          <a:p>
            <a:pPr marL="342900" indent="-342900">
              <a:spcAft>
                <a:spcPts val="1000"/>
              </a:spcAft>
              <a:buSzPct val="100000"/>
              <a:buChar char="•"/>
            </a:pPr>
            <a:r>
              <a:rPr lang="en-US" sz="1300" dirty="0">
                <a:solidFill>
                  <a:srgbClr val="000000"/>
                </a:solidFill>
                <a:latin typeface="Yu Gothic" pitchFamily="34" charset="0"/>
                <a:ea typeface="Yu Gothic" pitchFamily="34" charset="-122"/>
                <a:cs typeface="Yu Gothic" pitchFamily="34" charset="-120"/>
              </a:rPr>
              <a:t>応急手当の有無で生存率 約1.9倍（15.3% vs 7.9%）、社会復帰率 約2.8倍</a:t>
            </a:r>
            <a:endParaRPr lang="en-US" sz="1300" dirty="0"/>
          </a:p>
          <a:p>
            <a:pPr marL="342900" indent="-342900">
              <a:spcAft>
                <a:spcPts val="1000"/>
              </a:spcAft>
              <a:buSzPct val="100000"/>
              <a:buChar char="•"/>
            </a:pPr>
            <a:r>
              <a:rPr lang="en-US" sz="1300" b="1" dirty="0">
                <a:solidFill>
                  <a:srgbClr val="C00000"/>
                </a:solidFill>
                <a:latin typeface="Yu Gothic" pitchFamily="34" charset="0"/>
                <a:ea typeface="Yu Gothic" pitchFamily="34" charset="-122"/>
                <a:cs typeface="Yu Gothic" pitchFamily="34" charset="-120"/>
              </a:rPr>
              <a:t>AED使用例では生存率 53.6%・社会復帰率 44.4%まで上昇</a:t>
            </a:r>
            <a:endParaRPr lang="en-US" sz="1300" dirty="0"/>
          </a:p>
        </p:txBody>
      </p:sp>
      <p:sp>
        <p:nvSpPr>
          <p:cNvPr id="11" name="Text 9"/>
          <p:cNvSpPr/>
          <p:nvPr/>
        </p:nvSpPr>
        <p:spPr>
          <a:xfrm>
            <a:off x="548640" y="4617720"/>
            <a:ext cx="11094415" cy="1188720"/>
          </a:xfrm>
          <a:prstGeom prst="rect">
            <a:avLst/>
          </a:prstGeom>
          <a:noFill/>
          <a:ln/>
        </p:spPr>
        <p:txBody>
          <a:bodyPr wrap="square" lIns="0" tIns="0" rIns="0" bIns="0" rtlCol="0" anchor="t"/>
          <a:lstStyle/>
          <a:p>
            <a:pPr marL="342900" indent="-342900">
              <a:spcAft>
                <a:spcPts val="1000"/>
              </a:spcAft>
              <a:buSzPct val="100000"/>
              <a:buChar char="•"/>
            </a:pPr>
            <a:r>
              <a:rPr lang="en-US" sz="1400" b="1" dirty="0">
                <a:solidFill>
                  <a:srgbClr val="000000"/>
                </a:solidFill>
                <a:latin typeface="Yu Gothic" pitchFamily="34" charset="0"/>
                <a:ea typeface="Yu Gothic" pitchFamily="34" charset="-122"/>
                <a:cs typeface="Yu Gothic" pitchFamily="34" charset="-120"/>
              </a:rPr>
              <a:t>示唆：転送理由の76%（処置困難＋ベッド満床＋専門外/医師不在/手術中）は、搬送前の情報連携・病院選定の高度化で対応しうる領域</a:t>
            </a:r>
            <a:endParaRPr lang="en-US" sz="1400" dirty="0"/>
          </a:p>
          <a:p>
            <a:pPr marL="342900" indent="-342900">
              <a:spcAft>
                <a:spcPts val="1000"/>
              </a:spcAft>
              <a:buSzPct val="100000"/>
              <a:buChar char="•"/>
            </a:pPr>
            <a:r>
              <a:rPr lang="en-US" sz="1400" dirty="0">
                <a:solidFill>
                  <a:srgbClr val="000000"/>
                </a:solidFill>
                <a:latin typeface="Yu Gothic" pitchFamily="34" charset="0"/>
                <a:ea typeface="Yu Gothic" pitchFamily="34" charset="-122"/>
                <a:cs typeface="Yu Gothic" pitchFamily="34" charset="-120"/>
              </a:rPr>
              <a:t>「時間＝生存率」の関係が統計的に明確である以上、搬送時間短縮・転送削減は生命に直結する社会的インパクトを持つ</a:t>
            </a:r>
            <a:endParaRPr lang="en-US" sz="1400" dirty="0"/>
          </a:p>
        </p:txBody>
      </p:sp>
      <p:sp>
        <p:nvSpPr>
          <p:cNvPr id="12" name="Text 10"/>
          <p:cNvSpPr/>
          <p:nvPr/>
        </p:nvSpPr>
        <p:spPr>
          <a:xfrm>
            <a:off x="548640" y="6355080"/>
            <a:ext cx="10545775" cy="365760"/>
          </a:xfrm>
          <a:prstGeom prst="rect">
            <a:avLst/>
          </a:prstGeom>
          <a:noFill/>
          <a:ln/>
        </p:spPr>
        <p:txBody>
          <a:bodyPr wrap="square"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出典：総務省消防庁「令和5年版 救急・救助の現況」、「令和7年版 消防白書」救急蘇生統計</a:t>
            </a:r>
            <a:endParaRPr lang="en-US" sz="900" dirty="0"/>
          </a:p>
        </p:txBody>
      </p:sp>
      <p:sp>
        <p:nvSpPr>
          <p:cNvPr id="13" name="Text 11"/>
          <p:cNvSpPr/>
          <p:nvPr/>
        </p:nvSpPr>
        <p:spPr>
          <a:xfrm>
            <a:off x="11368735" y="6400800"/>
            <a:ext cx="457200" cy="320040"/>
          </a:xfrm>
          <a:prstGeom prst="rect">
            <a:avLst/>
          </a:prstGeom>
          <a:noFill/>
          <a:ln/>
        </p:spPr>
        <p:txBody>
          <a:bodyPr wrap="square" rtlCol="0" anchor="ctr"/>
          <a:lstStyle/>
          <a:p>
            <a:pPr algn="r" indent="0" marL="0">
              <a:buNone/>
            </a:pPr>
            <a:r>
              <a:rPr lang="en-US" sz="1000" dirty="0">
                <a:solidFill>
                  <a:srgbClr val="595959"/>
                </a:solidFill>
                <a:latin typeface="Yu Gothic" pitchFamily="34" charset="0"/>
                <a:ea typeface="Yu Gothic" pitchFamily="34" charset="-122"/>
                <a:cs typeface="Yu Gothic"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4415" cy="320040"/>
          </a:xfrm>
          <a:prstGeom prst="rect">
            <a:avLst/>
          </a:prstGeom>
          <a:noFill/>
          <a:ln/>
        </p:spPr>
        <p:txBody>
          <a:bodyPr wrap="square" rtlCol="0" anchor="ctr"/>
          <a:lstStyle/>
          <a:p>
            <a:pPr indent="0" marL="0">
              <a:buNone/>
            </a:pPr>
            <a:r>
              <a:rPr lang="en-US" sz="1300" b="1" dirty="0">
                <a:solidFill>
                  <a:srgbClr val="C00000"/>
                </a:solidFill>
                <a:latin typeface="Yu Gothic" pitchFamily="34" charset="0"/>
                <a:ea typeface="Yu Gothic" pitchFamily="34" charset="-122"/>
                <a:cs typeface="Yu Gothic" pitchFamily="34" charset="-120"/>
              </a:rPr>
              <a:t>(c) ビジネス性</a:t>
            </a:r>
            <a:endParaRPr lang="en-US" sz="1300" dirty="0"/>
          </a:p>
        </p:txBody>
      </p:sp>
      <p:sp>
        <p:nvSpPr>
          <p:cNvPr id="3" name="Text 1"/>
          <p:cNvSpPr/>
          <p:nvPr/>
        </p:nvSpPr>
        <p:spPr>
          <a:xfrm>
            <a:off x="548640" y="594360"/>
            <a:ext cx="11094415" cy="685800"/>
          </a:xfrm>
          <a:prstGeom prst="rect">
            <a:avLst/>
          </a:prstGeom>
          <a:noFill/>
          <a:ln/>
        </p:spPr>
        <p:txBody>
          <a:bodyPr wrap="square" rtlCol="0" anchor="ctr"/>
          <a:lstStyle/>
          <a:p>
            <a:pPr indent="0" marL="0">
              <a:buNone/>
            </a:pPr>
            <a:r>
              <a:rPr lang="en-US" sz="2800" b="1" dirty="0">
                <a:solidFill>
                  <a:srgbClr val="000000"/>
                </a:solidFill>
                <a:latin typeface="Yu Gothic" pitchFamily="34" charset="0"/>
                <a:ea typeface="Yu Gothic" pitchFamily="34" charset="-122"/>
                <a:cs typeface="Yu Gothic" pitchFamily="34" charset="-120"/>
              </a:rPr>
              <a:t>事業として成立する仮説</a:t>
            </a:r>
            <a:endParaRPr lang="en-US" sz="2800" dirty="0"/>
          </a:p>
        </p:txBody>
      </p:sp>
      <p:sp>
        <p:nvSpPr>
          <p:cNvPr id="4" name="Text 2"/>
          <p:cNvSpPr/>
          <p:nvPr/>
        </p:nvSpPr>
        <p:spPr>
          <a:xfrm>
            <a:off x="548640" y="1737360"/>
            <a:ext cx="11094415" cy="192024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rgbClr val="000000"/>
                </a:solidFill>
                <a:latin typeface="Yu Gothic" pitchFamily="34" charset="0"/>
                <a:ea typeface="Yu Gothic" pitchFamily="34" charset="-122"/>
                <a:cs typeface="Yu Gothic" pitchFamily="34" charset="-120"/>
              </a:rPr>
              <a:t>生命を救う施策そのものはプライスレスだが、支払う主体（顧客）は患者本人ではなく別に存在する</a:t>
            </a:r>
            <a:endParaRPr lang="en-US" sz="1500" dirty="0"/>
          </a:p>
          <a:p>
            <a:pPr marL="342900" indent="-342900">
              <a:spcAft>
                <a:spcPts val="1200"/>
              </a:spcAft>
              <a:buSzPct val="100000"/>
              <a:buChar char="•"/>
            </a:pPr>
            <a:r>
              <a:rPr lang="en-US" sz="1500" dirty="0">
                <a:solidFill>
                  <a:srgbClr val="000000"/>
                </a:solidFill>
                <a:latin typeface="Yu Gothic" pitchFamily="34" charset="0"/>
                <a:ea typeface="Yu Gothic" pitchFamily="34" charset="-122"/>
                <a:cs typeface="Yu Gothic" pitchFamily="34" charset="-120"/>
              </a:rPr>
              <a:t>収入源の仮説：消防本部／自治体／厚生労働省（政策・補助金）― 患者（ユーザー）と顧客（ペイヤー）を分離して設計</a:t>
            </a:r>
            <a:endParaRPr lang="en-US" sz="1500" dirty="0"/>
          </a:p>
        </p:txBody>
      </p:sp>
      <p:sp>
        <p:nvSpPr>
          <p:cNvPr id="5" name="Shape 3"/>
          <p:cNvSpPr/>
          <p:nvPr/>
        </p:nvSpPr>
        <p:spPr>
          <a:xfrm>
            <a:off x="548640" y="3749040"/>
            <a:ext cx="11094415" cy="2331720"/>
          </a:xfrm>
          <a:prstGeom prst="roundRect">
            <a:avLst>
              <a:gd name="adj" fmla="val 3137"/>
            </a:avLst>
          </a:prstGeom>
          <a:solidFill>
            <a:srgbClr val="F2F2F2"/>
          </a:solidFill>
          <a:ln w="9525">
            <a:solidFill>
              <a:srgbClr val="D9D9D9"/>
            </a:solidFill>
            <a:prstDash val="solid"/>
          </a:ln>
          <a:effectLst>
            <a:outerShdw sx="100000" sy="100000" kx="0" ky="0" algn="bl" rotWithShape="0" blurRad="76200" dist="25400" dir="5400000">
              <a:srgbClr val="000000">
                <a:alpha val="12000"/>
              </a:srgbClr>
            </a:outerShdw>
          </a:effectLst>
        </p:spPr>
      </p:sp>
      <p:sp>
        <p:nvSpPr>
          <p:cNvPr id="6" name="Text 4"/>
          <p:cNvSpPr/>
          <p:nvPr/>
        </p:nvSpPr>
        <p:spPr>
          <a:xfrm>
            <a:off x="822960" y="3931920"/>
            <a:ext cx="10545775" cy="365760"/>
          </a:xfrm>
          <a:prstGeom prst="rect">
            <a:avLst/>
          </a:prstGeom>
          <a:noFill/>
          <a:ln/>
        </p:spPr>
        <p:txBody>
          <a:bodyPr wrap="square" lIns="0" tIns="0" rIns="0" bIns="0" rtlCol="0" anchor="ctr"/>
          <a:lstStyle/>
          <a:p>
            <a:pPr indent="0" marL="0">
              <a:buNone/>
            </a:pPr>
            <a:r>
              <a:rPr lang="en-US" sz="1600" b="1" dirty="0">
                <a:solidFill>
                  <a:srgbClr val="000000"/>
                </a:solidFill>
                <a:latin typeface="Yu Gothic" pitchFamily="34" charset="0"/>
                <a:ea typeface="Yu Gothic" pitchFamily="34" charset="-122"/>
                <a:cs typeface="Yu Gothic" pitchFamily="34" charset="-120"/>
              </a:rPr>
              <a:t>参入事業者の存在＝市場が実在することの証明</a:t>
            </a:r>
            <a:endParaRPr lang="en-US" sz="1600" dirty="0"/>
          </a:p>
        </p:txBody>
      </p:sp>
      <p:sp>
        <p:nvSpPr>
          <p:cNvPr id="7" name="Text 5"/>
          <p:cNvSpPr/>
          <p:nvPr/>
        </p:nvSpPr>
        <p:spPr>
          <a:xfrm>
            <a:off x="822960" y="4389120"/>
            <a:ext cx="10545775" cy="16002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000000"/>
                </a:solidFill>
                <a:latin typeface="Yu Gothic" pitchFamily="34" charset="0"/>
                <a:ea typeface="Yu Gothic" pitchFamily="34" charset="-122"/>
                <a:cs typeface="Yu Gothic" pitchFamily="34" charset="-120"/>
              </a:rPr>
              <a:t>TXP Medical社「NSER mobile」が全国51自治体で稼働（うち11自治体は本格運用）し、搬送困難事案の解消に取り組んでいる</a:t>
            </a:r>
            <a:endParaRPr lang="en-US" sz="1400" dirty="0"/>
          </a:p>
          <a:p>
            <a:pPr marL="342900" indent="-342900">
              <a:spcAft>
                <a:spcPts val="1000"/>
              </a:spcAft>
              <a:buSzPct val="100000"/>
              <a:buChar char="•"/>
            </a:pPr>
            <a:r>
              <a:rPr lang="en-US" sz="1400" dirty="0">
                <a:solidFill>
                  <a:srgbClr val="000000"/>
                </a:solidFill>
                <a:latin typeface="Yu Gothic" pitchFamily="34" charset="0"/>
                <a:ea typeface="Yu Gothic" pitchFamily="34" charset="-122"/>
                <a:cs typeface="Yu Gothic" pitchFamily="34" charset="-120"/>
              </a:rPr>
              <a:t>同社へNTTコミュニケーションズが2024年10月、資本業務提携により出資（第三者割当増資引受）― ニュースリリースは先方企業名義（NTTコミュニケーションズ表記、ドコモビジネス表記ではない点に留意）</a:t>
            </a:r>
            <a:endParaRPr lang="en-US" sz="1400" dirty="0"/>
          </a:p>
          <a:p>
            <a:pPr marL="342900" indent="-342900">
              <a:spcAft>
                <a:spcPts val="1000"/>
              </a:spcAft>
              <a:buSzPct val="100000"/>
              <a:buChar char="•"/>
            </a:pPr>
            <a:r>
              <a:rPr lang="en-US" sz="1400" b="1" dirty="0">
                <a:solidFill>
                  <a:srgbClr val="C00000"/>
                </a:solidFill>
                <a:latin typeface="Yu Gothic" pitchFamily="34" charset="0"/>
                <a:ea typeface="Yu Gothic" pitchFamily="34" charset="-122"/>
                <a:cs typeface="Yu Gothic" pitchFamily="34" charset="-120"/>
              </a:rPr>
              <a:t>→ 仮説：NTTグループが既に接点を持つ企業と連携することで、事業として成立させられる可能性が高い</a:t>
            </a:r>
            <a:endParaRPr lang="en-US" sz="1400" dirty="0"/>
          </a:p>
        </p:txBody>
      </p:sp>
      <p:sp>
        <p:nvSpPr>
          <p:cNvPr id="8" name="Text 6"/>
          <p:cNvSpPr/>
          <p:nvPr/>
        </p:nvSpPr>
        <p:spPr>
          <a:xfrm>
            <a:off x="11368735" y="6400800"/>
            <a:ext cx="457200" cy="320040"/>
          </a:xfrm>
          <a:prstGeom prst="rect">
            <a:avLst/>
          </a:prstGeom>
          <a:noFill/>
          <a:ln/>
        </p:spPr>
        <p:txBody>
          <a:bodyPr wrap="square" rtlCol="0" anchor="ctr"/>
          <a:lstStyle/>
          <a:p>
            <a:pPr algn="r" indent="0" marL="0">
              <a:buNone/>
            </a:pPr>
            <a:r>
              <a:rPr lang="en-US" sz="1000" dirty="0">
                <a:solidFill>
                  <a:srgbClr val="595959"/>
                </a:solidFill>
                <a:latin typeface="Yu Gothic" pitchFamily="34" charset="0"/>
                <a:ea typeface="Yu Gothic" pitchFamily="34" charset="-122"/>
                <a:cs typeface="Yu Gothic"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4415" cy="320040"/>
          </a:xfrm>
          <a:prstGeom prst="rect">
            <a:avLst/>
          </a:prstGeom>
          <a:noFill/>
          <a:ln/>
        </p:spPr>
        <p:txBody>
          <a:bodyPr wrap="square" rtlCol="0" anchor="ctr"/>
          <a:lstStyle/>
          <a:p>
            <a:pPr indent="0" marL="0">
              <a:buNone/>
            </a:pPr>
            <a:r>
              <a:rPr lang="en-US" sz="1300" b="1" dirty="0">
                <a:solidFill>
                  <a:srgbClr val="C00000"/>
                </a:solidFill>
                <a:latin typeface="Yu Gothic" pitchFamily="34" charset="0"/>
                <a:ea typeface="Yu Gothic" pitchFamily="34" charset="-122"/>
                <a:cs typeface="Yu Gothic" pitchFamily="34" charset="-120"/>
              </a:rPr>
              <a:t>(d) 事業成立の検討</a:t>
            </a:r>
            <a:endParaRPr lang="en-US" sz="1300" dirty="0"/>
          </a:p>
        </p:txBody>
      </p:sp>
      <p:sp>
        <p:nvSpPr>
          <p:cNvPr id="3" name="Text 1"/>
          <p:cNvSpPr/>
          <p:nvPr/>
        </p:nvSpPr>
        <p:spPr>
          <a:xfrm>
            <a:off x="548640" y="594360"/>
            <a:ext cx="11094415" cy="685800"/>
          </a:xfrm>
          <a:prstGeom prst="rect">
            <a:avLst/>
          </a:prstGeom>
          <a:noFill/>
          <a:ln/>
        </p:spPr>
        <p:txBody>
          <a:bodyPr wrap="square" rtlCol="0" anchor="ctr"/>
          <a:lstStyle/>
          <a:p>
            <a:pPr indent="0" marL="0">
              <a:buNone/>
            </a:pPr>
            <a:r>
              <a:rPr lang="en-US" sz="2800" b="1" dirty="0">
                <a:solidFill>
                  <a:srgbClr val="000000"/>
                </a:solidFill>
                <a:latin typeface="Yu Gothic" pitchFamily="34" charset="0"/>
                <a:ea typeface="Yu Gothic" pitchFamily="34" charset="-122"/>
                <a:cs typeface="Yu Gothic" pitchFamily="34" charset="-120"/>
              </a:rPr>
              <a:t>事業化に向けて必要な追加調査</a:t>
            </a:r>
            <a:endParaRPr lang="en-US" sz="2800" dirty="0"/>
          </a:p>
        </p:txBody>
      </p:sp>
      <p:sp>
        <p:nvSpPr>
          <p:cNvPr id="4" name="Shape 2"/>
          <p:cNvSpPr/>
          <p:nvPr/>
        </p:nvSpPr>
        <p:spPr>
          <a:xfrm>
            <a:off x="548640" y="1737360"/>
            <a:ext cx="11094415" cy="868680"/>
          </a:xfrm>
          <a:prstGeom prst="roundRect">
            <a:avLst>
              <a:gd name="adj" fmla="val 8421"/>
            </a:avLst>
          </a:prstGeom>
          <a:solidFill>
            <a:srgbClr val="FFFFFF"/>
          </a:solidFill>
          <a:ln w="9525">
            <a:solidFill>
              <a:srgbClr val="D9D9D9"/>
            </a:solidFill>
            <a:prstDash val="solid"/>
          </a:ln>
        </p:spPr>
      </p:sp>
      <p:sp>
        <p:nvSpPr>
          <p:cNvPr id="5" name="Shape 3"/>
          <p:cNvSpPr/>
          <p:nvPr/>
        </p:nvSpPr>
        <p:spPr>
          <a:xfrm>
            <a:off x="731520" y="1920240"/>
            <a:ext cx="502920" cy="502920"/>
          </a:xfrm>
          <a:prstGeom prst="ellipse">
            <a:avLst/>
          </a:prstGeom>
          <a:solidFill>
            <a:srgbClr val="C00000"/>
          </a:solidFill>
          <a:ln/>
        </p:spPr>
      </p:sp>
      <p:sp>
        <p:nvSpPr>
          <p:cNvPr id="6" name="Text 4"/>
          <p:cNvSpPr/>
          <p:nvPr/>
        </p:nvSpPr>
        <p:spPr>
          <a:xfrm>
            <a:off x="731520" y="19202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7" name="Text 5"/>
          <p:cNvSpPr/>
          <p:nvPr/>
        </p:nvSpPr>
        <p:spPr>
          <a:xfrm>
            <a:off x="1417320" y="1828800"/>
            <a:ext cx="4206240" cy="685800"/>
          </a:xfrm>
          <a:prstGeom prst="rect">
            <a:avLst/>
          </a:prstGeom>
          <a:noFill/>
          <a:ln/>
        </p:spPr>
        <p:txBody>
          <a:bodyPr wrap="square" lIns="0" tIns="0" rIns="0" bIns="0" rtlCol="0" anchor="ctr"/>
          <a:lstStyle/>
          <a:p>
            <a:pPr indent="0" marL="0">
              <a:buNone/>
            </a:pPr>
            <a:r>
              <a:rPr lang="en-US" sz="1400" b="1" dirty="0">
                <a:solidFill>
                  <a:srgbClr val="000000"/>
                </a:solidFill>
                <a:latin typeface="Yu Gothic" pitchFamily="34" charset="0"/>
                <a:ea typeface="Yu Gothic" pitchFamily="34" charset="-122"/>
                <a:cs typeface="Yu Gothic" pitchFamily="34" charset="-120"/>
              </a:rPr>
              <a:t>年間の救急搬送件数と所要時間の精査</a:t>
            </a:r>
            <a:endParaRPr lang="en-US" sz="1400" dirty="0"/>
          </a:p>
        </p:txBody>
      </p:sp>
      <p:sp>
        <p:nvSpPr>
          <p:cNvPr id="8" name="Text 6"/>
          <p:cNvSpPr/>
          <p:nvPr/>
        </p:nvSpPr>
        <p:spPr>
          <a:xfrm>
            <a:off x="5760720" y="1828800"/>
            <a:ext cx="5608015" cy="685800"/>
          </a:xfrm>
          <a:prstGeom prst="rect">
            <a:avLst/>
          </a:prstGeom>
          <a:noFill/>
          <a:ln/>
        </p:spPr>
        <p:txBody>
          <a:bodyPr wrap="square" lIns="0" tIns="0" rIns="0" bIns="0" rtlCol="0" anchor="ctr"/>
          <a:lstStyle/>
          <a:p>
            <a:pPr indent="0" marL="0">
              <a:buNone/>
            </a:pPr>
            <a:r>
              <a:rPr lang="en-US" sz="1200" dirty="0">
                <a:solidFill>
                  <a:srgbClr val="595959"/>
                </a:solidFill>
                <a:latin typeface="Yu Gothic" pitchFamily="34" charset="0"/>
                <a:ea typeface="Yu Gothic" pitchFamily="34" charset="-122"/>
                <a:cs typeface="Yu Gothic" pitchFamily="34" charset="-120"/>
              </a:rPr>
              <a:t>総務省消防庁の一次データで、地域別・時間帯別の内訳まで把握する</a:t>
            </a:r>
            <a:endParaRPr lang="en-US" sz="1200" dirty="0"/>
          </a:p>
        </p:txBody>
      </p:sp>
      <p:sp>
        <p:nvSpPr>
          <p:cNvPr id="9" name="Shape 7"/>
          <p:cNvSpPr/>
          <p:nvPr/>
        </p:nvSpPr>
        <p:spPr>
          <a:xfrm>
            <a:off x="548640" y="2724912"/>
            <a:ext cx="11094415" cy="868680"/>
          </a:xfrm>
          <a:prstGeom prst="roundRect">
            <a:avLst>
              <a:gd name="adj" fmla="val 8421"/>
            </a:avLst>
          </a:prstGeom>
          <a:solidFill>
            <a:srgbClr val="FFFFFF"/>
          </a:solidFill>
          <a:ln w="9525">
            <a:solidFill>
              <a:srgbClr val="D9D9D9"/>
            </a:solidFill>
            <a:prstDash val="solid"/>
          </a:ln>
        </p:spPr>
      </p:sp>
      <p:sp>
        <p:nvSpPr>
          <p:cNvPr id="10" name="Shape 8"/>
          <p:cNvSpPr/>
          <p:nvPr/>
        </p:nvSpPr>
        <p:spPr>
          <a:xfrm>
            <a:off x="731520" y="2907792"/>
            <a:ext cx="502920" cy="502920"/>
          </a:xfrm>
          <a:prstGeom prst="ellipse">
            <a:avLst/>
          </a:prstGeom>
          <a:solidFill>
            <a:srgbClr val="C00000"/>
          </a:solidFill>
          <a:ln/>
        </p:spPr>
      </p:sp>
      <p:sp>
        <p:nvSpPr>
          <p:cNvPr id="11" name="Text 9"/>
          <p:cNvSpPr/>
          <p:nvPr/>
        </p:nvSpPr>
        <p:spPr>
          <a:xfrm>
            <a:off x="731520" y="29077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12" name="Text 10"/>
          <p:cNvSpPr/>
          <p:nvPr/>
        </p:nvSpPr>
        <p:spPr>
          <a:xfrm>
            <a:off x="1417320" y="2816352"/>
            <a:ext cx="4206240" cy="685800"/>
          </a:xfrm>
          <a:prstGeom prst="rect">
            <a:avLst/>
          </a:prstGeom>
          <a:noFill/>
          <a:ln/>
        </p:spPr>
        <p:txBody>
          <a:bodyPr wrap="square" lIns="0" tIns="0" rIns="0" bIns="0" rtlCol="0" anchor="ctr"/>
          <a:lstStyle/>
          <a:p>
            <a:pPr indent="0" marL="0">
              <a:buNone/>
            </a:pPr>
            <a:r>
              <a:rPr lang="en-US" sz="1400" b="1" dirty="0">
                <a:solidFill>
                  <a:srgbClr val="000000"/>
                </a:solidFill>
                <a:latin typeface="Yu Gothic" pitchFamily="34" charset="0"/>
                <a:ea typeface="Yu Gothic" pitchFamily="34" charset="-122"/>
                <a:cs typeface="Yu Gothic" pitchFamily="34" charset="-120"/>
              </a:rPr>
              <a:t>時間短縮効果の算定</a:t>
            </a:r>
            <a:endParaRPr lang="en-US" sz="1400" dirty="0"/>
          </a:p>
        </p:txBody>
      </p:sp>
      <p:sp>
        <p:nvSpPr>
          <p:cNvPr id="13" name="Text 11"/>
          <p:cNvSpPr/>
          <p:nvPr/>
        </p:nvSpPr>
        <p:spPr>
          <a:xfrm>
            <a:off x="5760720" y="2816352"/>
            <a:ext cx="5608015" cy="685800"/>
          </a:xfrm>
          <a:prstGeom prst="rect">
            <a:avLst/>
          </a:prstGeom>
          <a:noFill/>
          <a:ln/>
        </p:spPr>
        <p:txBody>
          <a:bodyPr wrap="square" lIns="0" tIns="0" rIns="0" bIns="0" rtlCol="0" anchor="ctr"/>
          <a:lstStyle/>
          <a:p>
            <a:pPr indent="0" marL="0">
              <a:buNone/>
            </a:pPr>
            <a:r>
              <a:rPr lang="en-US" sz="1200" dirty="0">
                <a:solidFill>
                  <a:srgbClr val="595959"/>
                </a:solidFill>
                <a:latin typeface="Yu Gothic" pitchFamily="34" charset="0"/>
                <a:ea typeface="Yu Gothic" pitchFamily="34" charset="-122"/>
                <a:cs typeface="Yu Gothic" pitchFamily="34" charset="-120"/>
              </a:rPr>
              <a:t>「病院への照会が4件→1件で完結」等のシナリオで、削減時間を定量化する</a:t>
            </a:r>
            <a:endParaRPr lang="en-US" sz="1200" dirty="0"/>
          </a:p>
        </p:txBody>
      </p:sp>
      <p:sp>
        <p:nvSpPr>
          <p:cNvPr id="14" name="Shape 12"/>
          <p:cNvSpPr/>
          <p:nvPr/>
        </p:nvSpPr>
        <p:spPr>
          <a:xfrm>
            <a:off x="548640" y="3712464"/>
            <a:ext cx="11094415" cy="868680"/>
          </a:xfrm>
          <a:prstGeom prst="roundRect">
            <a:avLst>
              <a:gd name="adj" fmla="val 8421"/>
            </a:avLst>
          </a:prstGeom>
          <a:solidFill>
            <a:srgbClr val="FFFFFF"/>
          </a:solidFill>
          <a:ln w="9525">
            <a:solidFill>
              <a:srgbClr val="D9D9D9"/>
            </a:solidFill>
            <a:prstDash val="solid"/>
          </a:ln>
        </p:spPr>
      </p:sp>
      <p:sp>
        <p:nvSpPr>
          <p:cNvPr id="15" name="Shape 13"/>
          <p:cNvSpPr/>
          <p:nvPr/>
        </p:nvSpPr>
        <p:spPr>
          <a:xfrm>
            <a:off x="731520" y="3895344"/>
            <a:ext cx="502920" cy="502920"/>
          </a:xfrm>
          <a:prstGeom prst="ellipse">
            <a:avLst/>
          </a:prstGeom>
          <a:solidFill>
            <a:srgbClr val="C00000"/>
          </a:solidFill>
          <a:ln/>
        </p:spPr>
      </p:sp>
      <p:sp>
        <p:nvSpPr>
          <p:cNvPr id="16" name="Text 14"/>
          <p:cNvSpPr/>
          <p:nvPr/>
        </p:nvSpPr>
        <p:spPr>
          <a:xfrm>
            <a:off x="731520" y="389534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17" name="Text 15"/>
          <p:cNvSpPr/>
          <p:nvPr/>
        </p:nvSpPr>
        <p:spPr>
          <a:xfrm>
            <a:off x="1417320" y="3803904"/>
            <a:ext cx="4206240" cy="685800"/>
          </a:xfrm>
          <a:prstGeom prst="rect">
            <a:avLst/>
          </a:prstGeom>
          <a:noFill/>
          <a:ln/>
        </p:spPr>
        <p:txBody>
          <a:bodyPr wrap="square" lIns="0" tIns="0" rIns="0" bIns="0" rtlCol="0" anchor="ctr"/>
          <a:lstStyle/>
          <a:p>
            <a:pPr indent="0" marL="0">
              <a:buNone/>
            </a:pPr>
            <a:r>
              <a:rPr lang="en-US" sz="1400" b="1" dirty="0">
                <a:solidFill>
                  <a:srgbClr val="000000"/>
                </a:solidFill>
                <a:latin typeface="Yu Gothic" pitchFamily="34" charset="0"/>
                <a:ea typeface="Yu Gothic" pitchFamily="34" charset="-122"/>
                <a:cs typeface="Yu Gothic" pitchFamily="34" charset="-120"/>
              </a:rPr>
              <a:t>時間短縮効果の金銭価値への換算</a:t>
            </a:r>
            <a:endParaRPr lang="en-US" sz="1400" dirty="0"/>
          </a:p>
        </p:txBody>
      </p:sp>
      <p:sp>
        <p:nvSpPr>
          <p:cNvPr id="18" name="Text 16"/>
          <p:cNvSpPr/>
          <p:nvPr/>
        </p:nvSpPr>
        <p:spPr>
          <a:xfrm>
            <a:off x="5760720" y="3803904"/>
            <a:ext cx="5608015" cy="685800"/>
          </a:xfrm>
          <a:prstGeom prst="rect">
            <a:avLst/>
          </a:prstGeom>
          <a:noFill/>
          <a:ln/>
        </p:spPr>
        <p:txBody>
          <a:bodyPr wrap="square" lIns="0" tIns="0" rIns="0" bIns="0" rtlCol="0" anchor="ctr"/>
          <a:lstStyle/>
          <a:p>
            <a:pPr indent="0" marL="0">
              <a:buNone/>
            </a:pPr>
            <a:r>
              <a:rPr lang="en-US" sz="1200" dirty="0">
                <a:solidFill>
                  <a:srgbClr val="595959"/>
                </a:solidFill>
                <a:latin typeface="Yu Gothic" pitchFamily="34" charset="0"/>
                <a:ea typeface="Yu Gothic" pitchFamily="34" charset="-122"/>
                <a:cs typeface="Yu Gothic" pitchFamily="34" charset="-120"/>
              </a:rPr>
              <a:t>統計的生命価値（VSL）等の指標を用いて、社会的便益を金額換算する</a:t>
            </a:r>
            <a:endParaRPr lang="en-US" sz="1200" dirty="0"/>
          </a:p>
        </p:txBody>
      </p:sp>
      <p:sp>
        <p:nvSpPr>
          <p:cNvPr id="19" name="Shape 17"/>
          <p:cNvSpPr/>
          <p:nvPr/>
        </p:nvSpPr>
        <p:spPr>
          <a:xfrm>
            <a:off x="548640" y="4700016"/>
            <a:ext cx="11094415" cy="868680"/>
          </a:xfrm>
          <a:prstGeom prst="roundRect">
            <a:avLst>
              <a:gd name="adj" fmla="val 8421"/>
            </a:avLst>
          </a:prstGeom>
          <a:solidFill>
            <a:srgbClr val="FFFFFF"/>
          </a:solidFill>
          <a:ln w="9525">
            <a:solidFill>
              <a:srgbClr val="D9D9D9"/>
            </a:solidFill>
            <a:prstDash val="solid"/>
          </a:ln>
        </p:spPr>
      </p:sp>
      <p:sp>
        <p:nvSpPr>
          <p:cNvPr id="20" name="Shape 18"/>
          <p:cNvSpPr/>
          <p:nvPr/>
        </p:nvSpPr>
        <p:spPr>
          <a:xfrm>
            <a:off x="731520" y="4882896"/>
            <a:ext cx="502920" cy="502920"/>
          </a:xfrm>
          <a:prstGeom prst="ellipse">
            <a:avLst/>
          </a:prstGeom>
          <a:solidFill>
            <a:srgbClr val="C00000"/>
          </a:solidFill>
          <a:ln/>
        </p:spPr>
      </p:sp>
      <p:sp>
        <p:nvSpPr>
          <p:cNvPr id="21" name="Text 19"/>
          <p:cNvSpPr/>
          <p:nvPr/>
        </p:nvSpPr>
        <p:spPr>
          <a:xfrm>
            <a:off x="731520" y="488289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4</a:t>
            </a:r>
            <a:endParaRPr lang="en-US" sz="1800" dirty="0"/>
          </a:p>
        </p:txBody>
      </p:sp>
      <p:sp>
        <p:nvSpPr>
          <p:cNvPr id="22" name="Text 20"/>
          <p:cNvSpPr/>
          <p:nvPr/>
        </p:nvSpPr>
        <p:spPr>
          <a:xfrm>
            <a:off x="1417320" y="4791456"/>
            <a:ext cx="4206240" cy="685800"/>
          </a:xfrm>
          <a:prstGeom prst="rect">
            <a:avLst/>
          </a:prstGeom>
          <a:noFill/>
          <a:ln/>
        </p:spPr>
        <p:txBody>
          <a:bodyPr wrap="square" lIns="0" tIns="0" rIns="0" bIns="0" rtlCol="0" anchor="ctr"/>
          <a:lstStyle/>
          <a:p>
            <a:pPr indent="0" marL="0">
              <a:buNone/>
            </a:pPr>
            <a:r>
              <a:rPr lang="en-US" sz="1400" b="1" dirty="0">
                <a:solidFill>
                  <a:srgbClr val="000000"/>
                </a:solidFill>
                <a:latin typeface="Yu Gothic" pitchFamily="34" charset="0"/>
                <a:ea typeface="Yu Gothic" pitchFamily="34" charset="-122"/>
                <a:cs typeface="Yu Gothic" pitchFamily="34" charset="-120"/>
              </a:rPr>
              <a:t>出資関係を通じた企業価値向上の検討</a:t>
            </a:r>
            <a:endParaRPr lang="en-US" sz="1400" dirty="0"/>
          </a:p>
        </p:txBody>
      </p:sp>
      <p:sp>
        <p:nvSpPr>
          <p:cNvPr id="23" name="Text 21"/>
          <p:cNvSpPr/>
          <p:nvPr/>
        </p:nvSpPr>
        <p:spPr>
          <a:xfrm>
            <a:off x="5760720" y="4791456"/>
            <a:ext cx="5608015" cy="685800"/>
          </a:xfrm>
          <a:prstGeom prst="rect">
            <a:avLst/>
          </a:prstGeom>
          <a:noFill/>
          <a:ln/>
        </p:spPr>
        <p:txBody>
          <a:bodyPr wrap="square" lIns="0" tIns="0" rIns="0" bIns="0" rtlCol="0" anchor="ctr"/>
          <a:lstStyle/>
          <a:p>
            <a:pPr indent="0" marL="0">
              <a:buNone/>
            </a:pPr>
            <a:r>
              <a:rPr lang="en-US" sz="1200" dirty="0">
                <a:solidFill>
                  <a:srgbClr val="595959"/>
                </a:solidFill>
                <a:latin typeface="Yu Gothic" pitchFamily="34" charset="0"/>
                <a:ea typeface="Yu Gothic" pitchFamily="34" charset="-122"/>
                <a:cs typeface="Yu Gothic" pitchFamily="34" charset="-120"/>
              </a:rPr>
              <a:t>TXP Medical社との連携が進んだ場合の、キャピタルゲインの可能性を整理する</a:t>
            </a:r>
            <a:endParaRPr lang="en-US" sz="1200" dirty="0"/>
          </a:p>
        </p:txBody>
      </p:sp>
      <p:sp>
        <p:nvSpPr>
          <p:cNvPr id="24" name="Text 22"/>
          <p:cNvSpPr/>
          <p:nvPr/>
        </p:nvSpPr>
        <p:spPr>
          <a:xfrm>
            <a:off x="548640" y="5733288"/>
            <a:ext cx="11094415" cy="502920"/>
          </a:xfrm>
          <a:prstGeom prst="rect">
            <a:avLst/>
          </a:prstGeom>
          <a:noFill/>
          <a:ln/>
        </p:spPr>
        <p:txBody>
          <a:bodyPr wrap="square" lIns="0" tIns="0" rIns="0" bIns="0" rtlCol="0" anchor="ctr"/>
          <a:lstStyle/>
          <a:p>
            <a:pPr indent="0" marL="0">
              <a:buNone/>
            </a:pPr>
            <a:r>
              <a:rPr lang="en-US" sz="1100" i="1" dirty="0">
                <a:solidFill>
                  <a:srgbClr val="595959"/>
                </a:solidFill>
                <a:latin typeface="Yu Gothic" pitchFamily="34" charset="0"/>
                <a:ea typeface="Yu Gothic" pitchFamily="34" charset="-122"/>
                <a:cs typeface="Yu Gothic" pitchFamily="34" charset="-120"/>
              </a:rPr>
              <a:t>参考：統計的生命価値（VSL）＝ 2.26億円／人（内閣府推計・国土交通省が公共事業評価で採用する標準値）。試算のものさしとして活用しうるが、本テーマへの適用には転送削減件数と重篤化回避率の一次データ検証が必要。</a:t>
            </a:r>
            <a:endParaRPr lang="en-US" sz="1100" dirty="0"/>
          </a:p>
        </p:txBody>
      </p:sp>
      <p:sp>
        <p:nvSpPr>
          <p:cNvPr id="25" name="Text 23"/>
          <p:cNvSpPr/>
          <p:nvPr/>
        </p:nvSpPr>
        <p:spPr>
          <a:xfrm>
            <a:off x="11368735" y="6400800"/>
            <a:ext cx="457200" cy="320040"/>
          </a:xfrm>
          <a:prstGeom prst="rect">
            <a:avLst/>
          </a:prstGeom>
          <a:noFill/>
          <a:ln/>
        </p:spPr>
        <p:txBody>
          <a:bodyPr wrap="square" rtlCol="0" anchor="ctr"/>
          <a:lstStyle/>
          <a:p>
            <a:pPr algn="r" indent="0" marL="0">
              <a:buNone/>
            </a:pPr>
            <a:r>
              <a:rPr lang="en-US" sz="1000" dirty="0">
                <a:solidFill>
                  <a:srgbClr val="595959"/>
                </a:solidFill>
                <a:latin typeface="Yu Gothic" pitchFamily="34" charset="0"/>
                <a:ea typeface="Yu Gothic" pitchFamily="34" charset="-122"/>
                <a:cs typeface="Yu Gothic"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4415" cy="320040"/>
          </a:xfrm>
          <a:prstGeom prst="rect">
            <a:avLst/>
          </a:prstGeom>
          <a:noFill/>
          <a:ln/>
        </p:spPr>
        <p:txBody>
          <a:bodyPr wrap="square" rtlCol="0" anchor="ctr"/>
          <a:lstStyle/>
          <a:p>
            <a:pPr indent="0" marL="0">
              <a:buNone/>
            </a:pPr>
            <a:r>
              <a:rPr lang="en-US" sz="1300" b="1" dirty="0">
                <a:solidFill>
                  <a:srgbClr val="C00000"/>
                </a:solidFill>
                <a:latin typeface="Yu Gothic" pitchFamily="34" charset="0"/>
                <a:ea typeface="Yu Gothic" pitchFamily="34" charset="-122"/>
                <a:cs typeface="Yu Gothic" pitchFamily="34" charset="-120"/>
              </a:rPr>
              <a:t>(e) ソリューション ①</a:t>
            </a:r>
            <a:endParaRPr lang="en-US" sz="1300" dirty="0"/>
          </a:p>
        </p:txBody>
      </p:sp>
      <p:sp>
        <p:nvSpPr>
          <p:cNvPr id="3" name="Text 1"/>
          <p:cNvSpPr/>
          <p:nvPr/>
        </p:nvSpPr>
        <p:spPr>
          <a:xfrm>
            <a:off x="548640" y="594360"/>
            <a:ext cx="11094415" cy="685800"/>
          </a:xfrm>
          <a:prstGeom prst="rect">
            <a:avLst/>
          </a:prstGeom>
          <a:noFill/>
          <a:ln/>
        </p:spPr>
        <p:txBody>
          <a:bodyPr wrap="square" rtlCol="0" anchor="ctr"/>
          <a:lstStyle/>
          <a:p>
            <a:pPr indent="0" marL="0">
              <a:buNone/>
            </a:pPr>
            <a:r>
              <a:rPr lang="en-US" sz="2800" b="1" dirty="0">
                <a:solidFill>
                  <a:srgbClr val="000000"/>
                </a:solidFill>
                <a:latin typeface="Yu Gothic" pitchFamily="34" charset="0"/>
                <a:ea typeface="Yu Gothic" pitchFamily="34" charset="-122"/>
                <a:cs typeface="Yu Gothic" pitchFamily="34" charset="-120"/>
              </a:rPr>
              <a:t>入電から現地到着までの時間短縮</a:t>
            </a:r>
            <a:endParaRPr lang="en-US" sz="2800" dirty="0"/>
          </a:p>
        </p:txBody>
      </p:sp>
      <p:sp>
        <p:nvSpPr>
          <p:cNvPr id="4" name="Text 2"/>
          <p:cNvSpPr/>
          <p:nvPr/>
        </p:nvSpPr>
        <p:spPr>
          <a:xfrm>
            <a:off x="548640" y="1600200"/>
            <a:ext cx="11094415" cy="457200"/>
          </a:xfrm>
          <a:prstGeom prst="rect">
            <a:avLst/>
          </a:prstGeom>
          <a:noFill/>
          <a:ln/>
        </p:spPr>
        <p:txBody>
          <a:bodyPr wrap="square" lIns="0" tIns="0" rIns="0" bIns="0" rtlCol="0" anchor="ctr"/>
          <a:lstStyle/>
          <a:p>
            <a:pPr indent="0" marL="0">
              <a:buNone/>
            </a:pPr>
            <a:r>
              <a:rPr lang="en-US" sz="1600" b="1" dirty="0">
                <a:solidFill>
                  <a:srgbClr val="000000"/>
                </a:solidFill>
                <a:latin typeface="Yu Gothic" pitchFamily="34" charset="0"/>
                <a:ea typeface="Yu Gothic" pitchFamily="34" charset="-122"/>
                <a:cs typeface="Yu Gothic" pitchFamily="34" charset="-120"/>
              </a:rPr>
              <a:t>救急需要のAI予測により、救急隊を先回りで最適配置する</a:t>
            </a:r>
            <a:endParaRPr lang="en-US" sz="1600" dirty="0"/>
          </a:p>
        </p:txBody>
      </p:sp>
      <p:sp>
        <p:nvSpPr>
          <p:cNvPr id="5" name="Shape 3"/>
          <p:cNvSpPr/>
          <p:nvPr/>
        </p:nvSpPr>
        <p:spPr>
          <a:xfrm>
            <a:off x="548640" y="2240280"/>
            <a:ext cx="3515258" cy="1554480"/>
          </a:xfrm>
          <a:prstGeom prst="roundRect">
            <a:avLst>
              <a:gd name="adj" fmla="val 4706"/>
            </a:avLst>
          </a:prstGeom>
          <a:solidFill>
            <a:srgbClr val="F2F2F2"/>
          </a:solidFill>
          <a:ln w="9525">
            <a:solidFill>
              <a:srgbClr val="D9D9D9"/>
            </a:solidFill>
            <a:prstDash val="solid"/>
          </a:ln>
          <a:effectLst>
            <a:outerShdw sx="100000" sy="100000" kx="0" ky="0" algn="bl" rotWithShape="0" blurRad="76200" dist="25400" dir="5400000">
              <a:srgbClr val="000000">
                <a:alpha val="12000"/>
              </a:srgbClr>
            </a:outerShdw>
          </a:effectLst>
        </p:spPr>
      </p:sp>
      <p:sp>
        <p:nvSpPr>
          <p:cNvPr id="6" name="Text 4"/>
          <p:cNvSpPr/>
          <p:nvPr/>
        </p:nvSpPr>
        <p:spPr>
          <a:xfrm>
            <a:off x="731520" y="2377440"/>
            <a:ext cx="3149498" cy="365760"/>
          </a:xfrm>
          <a:prstGeom prst="rect">
            <a:avLst/>
          </a:prstGeom>
          <a:noFill/>
          <a:ln/>
        </p:spPr>
        <p:txBody>
          <a:bodyPr wrap="square" lIns="0" tIns="0" rIns="0" bIns="0" rtlCol="0" anchor="ctr"/>
          <a:lstStyle/>
          <a:p>
            <a:pPr indent="0" marL="0">
              <a:buNone/>
            </a:pPr>
            <a:r>
              <a:rPr lang="en-US" sz="1400" b="1" dirty="0">
                <a:solidFill>
                  <a:srgbClr val="C00000"/>
                </a:solidFill>
                <a:latin typeface="Yu Gothic" pitchFamily="34" charset="0"/>
                <a:ea typeface="Yu Gothic" pitchFamily="34" charset="-122"/>
                <a:cs typeface="Yu Gothic" pitchFamily="34" charset="-120"/>
              </a:rPr>
              <a:t>モバイル空間統計</a:t>
            </a:r>
            <a:endParaRPr lang="en-US" sz="1400" dirty="0"/>
          </a:p>
        </p:txBody>
      </p:sp>
      <p:sp>
        <p:nvSpPr>
          <p:cNvPr id="7" name="Text 5"/>
          <p:cNvSpPr/>
          <p:nvPr/>
        </p:nvSpPr>
        <p:spPr>
          <a:xfrm>
            <a:off x="731520" y="2743200"/>
            <a:ext cx="3149498" cy="960120"/>
          </a:xfrm>
          <a:prstGeom prst="rect">
            <a:avLst/>
          </a:prstGeom>
          <a:noFill/>
          <a:ln/>
        </p:spPr>
        <p:txBody>
          <a:bodyPr wrap="square" lIns="0" tIns="0" rIns="0" bIns="0" rtlCol="0" anchor="ctr"/>
          <a:lstStyle/>
          <a:p>
            <a:pPr indent="0" marL="0">
              <a:buNone/>
            </a:pPr>
            <a:r>
              <a:rPr lang="en-US" sz="1150" dirty="0">
                <a:solidFill>
                  <a:srgbClr val="000000"/>
                </a:solidFill>
                <a:latin typeface="Yu Gothic" pitchFamily="34" charset="0"/>
                <a:ea typeface="Yu Gothic" pitchFamily="34" charset="-122"/>
                <a:cs typeface="Yu Gothic" pitchFamily="34" charset="-120"/>
              </a:rPr>
              <a:t>人流ビッグデータから、時間帯・エリア別の人口動態を把握</a:t>
            </a:r>
            <a:endParaRPr lang="en-US" sz="1150" dirty="0"/>
          </a:p>
        </p:txBody>
      </p:sp>
      <p:sp>
        <p:nvSpPr>
          <p:cNvPr id="8" name="Shape 6"/>
          <p:cNvSpPr/>
          <p:nvPr/>
        </p:nvSpPr>
        <p:spPr>
          <a:xfrm>
            <a:off x="4338218" y="2240280"/>
            <a:ext cx="3515258" cy="1554480"/>
          </a:xfrm>
          <a:prstGeom prst="roundRect">
            <a:avLst>
              <a:gd name="adj" fmla="val 4706"/>
            </a:avLst>
          </a:prstGeom>
          <a:solidFill>
            <a:srgbClr val="F2F2F2"/>
          </a:solidFill>
          <a:ln w="9525">
            <a:solidFill>
              <a:srgbClr val="D9D9D9"/>
            </a:solidFill>
            <a:prstDash val="solid"/>
          </a:ln>
          <a:effectLst>
            <a:outerShdw sx="100000" sy="100000" kx="0" ky="0" algn="bl" rotWithShape="0" blurRad="76200" dist="25400" dir="5400000">
              <a:srgbClr val="000000">
                <a:alpha val="12000"/>
              </a:srgbClr>
            </a:outerShdw>
          </a:effectLst>
        </p:spPr>
      </p:sp>
      <p:sp>
        <p:nvSpPr>
          <p:cNvPr id="9" name="Text 7"/>
          <p:cNvSpPr/>
          <p:nvPr/>
        </p:nvSpPr>
        <p:spPr>
          <a:xfrm>
            <a:off x="4521098" y="2377440"/>
            <a:ext cx="3149498" cy="365760"/>
          </a:xfrm>
          <a:prstGeom prst="rect">
            <a:avLst/>
          </a:prstGeom>
          <a:noFill/>
          <a:ln/>
        </p:spPr>
        <p:txBody>
          <a:bodyPr wrap="square" lIns="0" tIns="0" rIns="0" bIns="0" rtlCol="0" anchor="ctr"/>
          <a:lstStyle/>
          <a:p>
            <a:pPr indent="0" marL="0">
              <a:buNone/>
            </a:pPr>
            <a:r>
              <a:rPr lang="en-US" sz="1400" b="1" dirty="0">
                <a:solidFill>
                  <a:srgbClr val="C00000"/>
                </a:solidFill>
                <a:latin typeface="Yu Gothic" pitchFamily="34" charset="0"/>
                <a:ea typeface="Yu Gothic" pitchFamily="34" charset="-122"/>
                <a:cs typeface="Yu Gothic" pitchFamily="34" charset="-120"/>
              </a:rPr>
              <a:t>過去の搬送実績</a:t>
            </a:r>
            <a:endParaRPr lang="en-US" sz="1400" dirty="0"/>
          </a:p>
        </p:txBody>
      </p:sp>
      <p:sp>
        <p:nvSpPr>
          <p:cNvPr id="10" name="Text 8"/>
          <p:cNvSpPr/>
          <p:nvPr/>
        </p:nvSpPr>
        <p:spPr>
          <a:xfrm>
            <a:off x="4521098" y="2743200"/>
            <a:ext cx="3149498" cy="960120"/>
          </a:xfrm>
          <a:prstGeom prst="rect">
            <a:avLst/>
          </a:prstGeom>
          <a:noFill/>
          <a:ln/>
        </p:spPr>
        <p:txBody>
          <a:bodyPr wrap="square" lIns="0" tIns="0" rIns="0" bIns="0" rtlCol="0" anchor="ctr"/>
          <a:lstStyle/>
          <a:p>
            <a:pPr indent="0" marL="0">
              <a:buNone/>
            </a:pPr>
            <a:r>
              <a:rPr lang="en-US" sz="1150" dirty="0">
                <a:solidFill>
                  <a:srgbClr val="000000"/>
                </a:solidFill>
                <a:latin typeface="Yu Gothic" pitchFamily="34" charset="0"/>
                <a:ea typeface="Yu Gothic" pitchFamily="34" charset="-122"/>
                <a:cs typeface="Yu Gothic" pitchFamily="34" charset="-120"/>
              </a:rPr>
              <a:t>発生場所・時間帯・季節性を学習データとして活用</a:t>
            </a:r>
            <a:endParaRPr lang="en-US" sz="1150" dirty="0"/>
          </a:p>
        </p:txBody>
      </p:sp>
      <p:sp>
        <p:nvSpPr>
          <p:cNvPr id="11" name="Shape 9"/>
          <p:cNvSpPr/>
          <p:nvPr/>
        </p:nvSpPr>
        <p:spPr>
          <a:xfrm>
            <a:off x="8127797" y="2240280"/>
            <a:ext cx="3515258" cy="1554480"/>
          </a:xfrm>
          <a:prstGeom prst="roundRect">
            <a:avLst>
              <a:gd name="adj" fmla="val 4706"/>
            </a:avLst>
          </a:prstGeom>
          <a:solidFill>
            <a:srgbClr val="F2F2F2"/>
          </a:solidFill>
          <a:ln w="9525">
            <a:solidFill>
              <a:srgbClr val="D9D9D9"/>
            </a:solidFill>
            <a:prstDash val="solid"/>
          </a:ln>
          <a:effectLst>
            <a:outerShdw sx="100000" sy="100000" kx="0" ky="0" algn="bl" rotWithShape="0" blurRad="76200" dist="25400" dir="5400000">
              <a:srgbClr val="000000">
                <a:alpha val="12000"/>
              </a:srgbClr>
            </a:outerShdw>
          </a:effectLst>
        </p:spPr>
      </p:sp>
      <p:sp>
        <p:nvSpPr>
          <p:cNvPr id="12" name="Text 10"/>
          <p:cNvSpPr/>
          <p:nvPr/>
        </p:nvSpPr>
        <p:spPr>
          <a:xfrm>
            <a:off x="8310677" y="2377440"/>
            <a:ext cx="3149498" cy="365760"/>
          </a:xfrm>
          <a:prstGeom prst="rect">
            <a:avLst/>
          </a:prstGeom>
          <a:noFill/>
          <a:ln/>
        </p:spPr>
        <p:txBody>
          <a:bodyPr wrap="square" lIns="0" tIns="0" rIns="0" bIns="0" rtlCol="0" anchor="ctr"/>
          <a:lstStyle/>
          <a:p>
            <a:pPr indent="0" marL="0">
              <a:buNone/>
            </a:pPr>
            <a:r>
              <a:rPr lang="en-US" sz="1400" b="1" dirty="0">
                <a:solidFill>
                  <a:srgbClr val="C00000"/>
                </a:solidFill>
                <a:latin typeface="Yu Gothic" pitchFamily="34" charset="0"/>
                <a:ea typeface="Yu Gothic" pitchFamily="34" charset="-122"/>
                <a:cs typeface="Yu Gothic" pitchFamily="34" charset="-120"/>
              </a:rPr>
              <a:t>気象・行動データ</a:t>
            </a:r>
            <a:endParaRPr lang="en-US" sz="1400" dirty="0"/>
          </a:p>
        </p:txBody>
      </p:sp>
      <p:sp>
        <p:nvSpPr>
          <p:cNvPr id="13" name="Text 11"/>
          <p:cNvSpPr/>
          <p:nvPr/>
        </p:nvSpPr>
        <p:spPr>
          <a:xfrm>
            <a:off x="8310677" y="2743200"/>
            <a:ext cx="3149498" cy="960120"/>
          </a:xfrm>
          <a:prstGeom prst="rect">
            <a:avLst/>
          </a:prstGeom>
          <a:noFill/>
          <a:ln/>
        </p:spPr>
        <p:txBody>
          <a:bodyPr wrap="square" lIns="0" tIns="0" rIns="0" bIns="0" rtlCol="0" anchor="ctr"/>
          <a:lstStyle/>
          <a:p>
            <a:pPr indent="0" marL="0">
              <a:buNone/>
            </a:pPr>
            <a:r>
              <a:rPr lang="en-US" sz="1150" dirty="0">
                <a:solidFill>
                  <a:srgbClr val="000000"/>
                </a:solidFill>
                <a:latin typeface="Yu Gothic" pitchFamily="34" charset="0"/>
                <a:ea typeface="Yu Gothic" pitchFamily="34" charset="-122"/>
                <a:cs typeface="Yu Gothic" pitchFamily="34" charset="-120"/>
              </a:rPr>
              <a:t>気象条件に加え、d払い・自動販売機IoTの購買動向（例：飲料購入増→熱中症兆候）を組み合わせる拡張案</a:t>
            </a:r>
            <a:endParaRPr lang="en-US" sz="1150" dirty="0"/>
          </a:p>
        </p:txBody>
      </p:sp>
      <p:sp>
        <p:nvSpPr>
          <p:cNvPr id="14" name="Text 12"/>
          <p:cNvSpPr/>
          <p:nvPr/>
        </p:nvSpPr>
        <p:spPr>
          <a:xfrm>
            <a:off x="548640" y="3931920"/>
            <a:ext cx="11094415" cy="365760"/>
          </a:xfrm>
          <a:prstGeom prst="rect">
            <a:avLst/>
          </a:prstGeom>
          <a:noFill/>
          <a:ln/>
        </p:spPr>
        <p:txBody>
          <a:bodyPr wrap="square" lIns="0" tIns="0" rIns="0" bIns="0" rtlCol="0" anchor="ctr"/>
          <a:lstStyle/>
          <a:p>
            <a:pPr indent="0" marL="0">
              <a:buNone/>
            </a:pPr>
            <a:r>
              <a:rPr lang="en-US" sz="1400" b="1" dirty="0">
                <a:solidFill>
                  <a:srgbClr val="000000"/>
                </a:solidFill>
                <a:latin typeface="Yu Gothic" pitchFamily="34" charset="0"/>
                <a:ea typeface="Yu Gothic" pitchFamily="34" charset="-122"/>
                <a:cs typeface="Yu Gothic" pitchFamily="34" charset="-120"/>
              </a:rPr>
              <a:t>→ AIが救急需要を予測し、最適な部隊配置をシミュレーション</a:t>
            </a:r>
            <a:endParaRPr lang="en-US" sz="1400" dirty="0"/>
          </a:p>
        </p:txBody>
      </p:sp>
      <p:sp>
        <p:nvSpPr>
          <p:cNvPr id="15" name="Shape 13"/>
          <p:cNvSpPr/>
          <p:nvPr/>
        </p:nvSpPr>
        <p:spPr>
          <a:xfrm>
            <a:off x="548640" y="4434840"/>
            <a:ext cx="11094415" cy="1554480"/>
          </a:xfrm>
          <a:prstGeom prst="roundRect">
            <a:avLst>
              <a:gd name="adj" fmla="val 4706"/>
            </a:avLst>
          </a:prstGeom>
          <a:solidFill>
            <a:srgbClr val="FFFFFF"/>
          </a:solidFill>
          <a:ln w="9525">
            <a:solidFill>
              <a:srgbClr val="D9D9D9"/>
            </a:solidFill>
            <a:prstDash val="solid"/>
          </a:ln>
          <a:effectLst>
            <a:outerShdw sx="100000" sy="100000" kx="0" ky="0" algn="bl" rotWithShape="0" blurRad="76200" dist="25400" dir="5400000">
              <a:srgbClr val="000000">
                <a:alpha val="12000"/>
              </a:srgbClr>
            </a:outerShdw>
          </a:effectLst>
        </p:spPr>
      </p:sp>
      <p:sp>
        <p:nvSpPr>
          <p:cNvPr id="16" name="Text 14"/>
          <p:cNvSpPr/>
          <p:nvPr/>
        </p:nvSpPr>
        <p:spPr>
          <a:xfrm>
            <a:off x="822960" y="4572000"/>
            <a:ext cx="10545775" cy="320040"/>
          </a:xfrm>
          <a:prstGeom prst="rect">
            <a:avLst/>
          </a:prstGeom>
          <a:noFill/>
          <a:ln/>
        </p:spPr>
        <p:txBody>
          <a:bodyPr wrap="square" lIns="0" tIns="0" rIns="0" bIns="0" rtlCol="0" anchor="ctr"/>
          <a:lstStyle/>
          <a:p>
            <a:pPr indent="0" marL="0">
              <a:buNone/>
            </a:pPr>
            <a:r>
              <a:rPr lang="en-US" sz="1400" b="1" dirty="0">
                <a:solidFill>
                  <a:srgbClr val="000000"/>
                </a:solidFill>
                <a:latin typeface="Yu Gothic" pitchFamily="34" charset="0"/>
                <a:ea typeface="Yu Gothic" pitchFamily="34" charset="-122"/>
                <a:cs typeface="Yu Gothic" pitchFamily="34" charset="-120"/>
              </a:rPr>
              <a:t>既存実証の状況と、ドコモが上乗せできる余地</a:t>
            </a:r>
            <a:endParaRPr lang="en-US" sz="1400" dirty="0"/>
          </a:p>
        </p:txBody>
      </p:sp>
      <p:sp>
        <p:nvSpPr>
          <p:cNvPr id="17" name="Text 15"/>
          <p:cNvSpPr/>
          <p:nvPr/>
        </p:nvSpPr>
        <p:spPr>
          <a:xfrm>
            <a:off x="822960" y="4937760"/>
            <a:ext cx="10545775" cy="9601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00000"/>
                </a:solidFill>
                <a:latin typeface="Yu Gothic" pitchFamily="34" charset="0"/>
                <a:ea typeface="Yu Gothic" pitchFamily="34" charset="-122"/>
                <a:cs typeface="Yu Gothic" pitchFamily="34" charset="-120"/>
              </a:rPr>
              <a:t>消防庁の実証（北九州市・奈良県・京都市・藤沢市、令和7年）は現場到着時間の短縮が目的。予測精度がデータの質・量に依存する課題があり、全国標準化はまだ先</a:t>
            </a:r>
            <a:endParaRPr lang="en-US" sz="1300" dirty="0"/>
          </a:p>
          <a:p>
            <a:pPr marL="342900" indent="-342900">
              <a:spcAft>
                <a:spcPts val="600"/>
              </a:spcAft>
              <a:buSzPct val="100000"/>
              <a:buChar char="•"/>
            </a:pPr>
            <a:r>
              <a:rPr lang="en-US" sz="1300" b="1" dirty="0">
                <a:solidFill>
                  <a:srgbClr val="C00000"/>
                </a:solidFill>
                <a:latin typeface="Yu Gothic" pitchFamily="34" charset="0"/>
                <a:ea typeface="Yu Gothic" pitchFamily="34" charset="-122"/>
                <a:cs typeface="Yu Gothic" pitchFamily="34" charset="-120"/>
              </a:rPr>
              <a:t>→ モバイル空間統計・購買行動データ等、ドコモ独自の行動データを加えることで予測精度の向上を狙える余地が残る（要検証）</a:t>
            </a:r>
            <a:endParaRPr lang="en-US" sz="1300" dirty="0"/>
          </a:p>
        </p:txBody>
      </p:sp>
      <p:sp>
        <p:nvSpPr>
          <p:cNvPr id="18" name="Text 16"/>
          <p:cNvSpPr/>
          <p:nvPr/>
        </p:nvSpPr>
        <p:spPr>
          <a:xfrm>
            <a:off x="11368735" y="6400800"/>
            <a:ext cx="457200" cy="320040"/>
          </a:xfrm>
          <a:prstGeom prst="rect">
            <a:avLst/>
          </a:prstGeom>
          <a:noFill/>
          <a:ln/>
        </p:spPr>
        <p:txBody>
          <a:bodyPr wrap="square" rtlCol="0" anchor="ctr"/>
          <a:lstStyle/>
          <a:p>
            <a:pPr algn="r" indent="0" marL="0">
              <a:buNone/>
            </a:pPr>
            <a:r>
              <a:rPr lang="en-US" sz="1000" dirty="0">
                <a:solidFill>
                  <a:srgbClr val="595959"/>
                </a:solidFill>
                <a:latin typeface="Yu Gothic" pitchFamily="34" charset="0"/>
                <a:ea typeface="Yu Gothic" pitchFamily="34" charset="-122"/>
                <a:cs typeface="Yu Gothic"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4415" cy="320040"/>
          </a:xfrm>
          <a:prstGeom prst="rect">
            <a:avLst/>
          </a:prstGeom>
          <a:noFill/>
          <a:ln/>
        </p:spPr>
        <p:txBody>
          <a:bodyPr wrap="square" rtlCol="0" anchor="ctr"/>
          <a:lstStyle/>
          <a:p>
            <a:pPr indent="0" marL="0">
              <a:buNone/>
            </a:pPr>
            <a:r>
              <a:rPr lang="en-US" sz="1300" b="1" dirty="0">
                <a:solidFill>
                  <a:srgbClr val="C00000"/>
                </a:solidFill>
                <a:latin typeface="Yu Gothic" pitchFamily="34" charset="0"/>
                <a:ea typeface="Yu Gothic" pitchFamily="34" charset="-122"/>
                <a:cs typeface="Yu Gothic" pitchFamily="34" charset="-120"/>
              </a:rPr>
              <a:t>(e) ソリューション ②</a:t>
            </a:r>
            <a:endParaRPr lang="en-US" sz="1300" dirty="0"/>
          </a:p>
        </p:txBody>
      </p:sp>
      <p:sp>
        <p:nvSpPr>
          <p:cNvPr id="3" name="Text 1"/>
          <p:cNvSpPr/>
          <p:nvPr/>
        </p:nvSpPr>
        <p:spPr>
          <a:xfrm>
            <a:off x="548640" y="594360"/>
            <a:ext cx="11094415" cy="685800"/>
          </a:xfrm>
          <a:prstGeom prst="rect">
            <a:avLst/>
          </a:prstGeom>
          <a:noFill/>
          <a:ln/>
        </p:spPr>
        <p:txBody>
          <a:bodyPr wrap="square" rtlCol="0" anchor="ctr"/>
          <a:lstStyle/>
          <a:p>
            <a:pPr indent="0" marL="0">
              <a:buNone/>
            </a:pPr>
            <a:r>
              <a:rPr lang="en-US" sz="2800" b="1" dirty="0">
                <a:solidFill>
                  <a:srgbClr val="000000"/>
                </a:solidFill>
                <a:latin typeface="Yu Gothic" pitchFamily="34" charset="0"/>
                <a:ea typeface="Yu Gothic" pitchFamily="34" charset="-122"/>
                <a:cs typeface="Yu Gothic" pitchFamily="34" charset="-120"/>
              </a:rPr>
              <a:t>現地から病院収容までの時間短縮・転送削減</a:t>
            </a:r>
            <a:endParaRPr lang="en-US" sz="2800" dirty="0"/>
          </a:p>
        </p:txBody>
      </p:sp>
      <p:sp>
        <p:nvSpPr>
          <p:cNvPr id="4" name="Text 2"/>
          <p:cNvSpPr/>
          <p:nvPr/>
        </p:nvSpPr>
        <p:spPr>
          <a:xfrm>
            <a:off x="548640" y="1600200"/>
            <a:ext cx="11094415" cy="457200"/>
          </a:xfrm>
          <a:prstGeom prst="rect">
            <a:avLst/>
          </a:prstGeom>
          <a:noFill/>
          <a:ln/>
        </p:spPr>
        <p:txBody>
          <a:bodyPr wrap="square" lIns="0" tIns="0" rIns="0" bIns="0" rtlCol="0" anchor="ctr"/>
          <a:lstStyle/>
          <a:p>
            <a:pPr indent="0" marL="0">
              <a:buNone/>
            </a:pPr>
            <a:r>
              <a:rPr lang="en-US" sz="1600" b="1" dirty="0">
                <a:solidFill>
                  <a:srgbClr val="000000"/>
                </a:solidFill>
                <a:latin typeface="Yu Gothic" pitchFamily="34" charset="0"/>
                <a:ea typeface="Yu Gothic" pitchFamily="34" charset="-122"/>
                <a:cs typeface="Yu Gothic" pitchFamily="34" charset="-120"/>
              </a:rPr>
              <a:t>TXP Medical社「NSER mobile」を、ドコモのAI・通信技術で高度化する</a:t>
            </a:r>
            <a:endParaRPr lang="en-US" sz="1600" dirty="0"/>
          </a:p>
        </p:txBody>
      </p:sp>
      <p:sp>
        <p:nvSpPr>
          <p:cNvPr id="5" name="Shape 3"/>
          <p:cNvSpPr/>
          <p:nvPr/>
        </p:nvSpPr>
        <p:spPr>
          <a:xfrm>
            <a:off x="548640" y="2194560"/>
            <a:ext cx="11094415" cy="1051560"/>
          </a:xfrm>
          <a:prstGeom prst="roundRect">
            <a:avLst>
              <a:gd name="adj" fmla="val 6957"/>
            </a:avLst>
          </a:prstGeom>
          <a:solidFill>
            <a:srgbClr val="F2F2F2"/>
          </a:solidFill>
          <a:ln w="9525">
            <a:solidFill>
              <a:srgbClr val="D9D9D9"/>
            </a:solidFill>
            <a:prstDash val="solid"/>
          </a:ln>
        </p:spPr>
      </p:sp>
      <p:sp>
        <p:nvSpPr>
          <p:cNvPr id="6" name="Text 4"/>
          <p:cNvSpPr/>
          <p:nvPr/>
        </p:nvSpPr>
        <p:spPr>
          <a:xfrm>
            <a:off x="777240" y="2194560"/>
            <a:ext cx="548640" cy="1051560"/>
          </a:xfrm>
          <a:prstGeom prst="rect">
            <a:avLst/>
          </a:prstGeom>
          <a:noFill/>
          <a:ln/>
        </p:spPr>
        <p:txBody>
          <a:bodyPr wrap="square" lIns="0" tIns="0" rIns="0" bIns="0" rtlCol="0" anchor="ctr"/>
          <a:lstStyle/>
          <a:p>
            <a:pPr algn="ctr" indent="0" marL="0">
              <a:buNone/>
            </a:pPr>
            <a:r>
              <a:rPr lang="en-US" sz="2400" b="1" dirty="0">
                <a:solidFill>
                  <a:srgbClr val="C00000"/>
                </a:solidFill>
                <a:latin typeface="Yu Gothic" pitchFamily="34" charset="0"/>
                <a:ea typeface="Yu Gothic" pitchFamily="34" charset="-122"/>
                <a:cs typeface="Yu Gothic" pitchFamily="34" charset="-120"/>
              </a:rPr>
              <a:t>①</a:t>
            </a:r>
            <a:endParaRPr lang="en-US" sz="2400" dirty="0"/>
          </a:p>
        </p:txBody>
      </p:sp>
      <p:sp>
        <p:nvSpPr>
          <p:cNvPr id="7" name="Text 5"/>
          <p:cNvSpPr/>
          <p:nvPr/>
        </p:nvSpPr>
        <p:spPr>
          <a:xfrm>
            <a:off x="1463040" y="2304288"/>
            <a:ext cx="3566160" cy="822960"/>
          </a:xfrm>
          <a:prstGeom prst="rect">
            <a:avLst/>
          </a:prstGeom>
          <a:noFill/>
          <a:ln/>
        </p:spPr>
        <p:txBody>
          <a:bodyPr wrap="square" lIns="0" tIns="0" rIns="0" bIns="0" rtlCol="0" anchor="ctr"/>
          <a:lstStyle/>
          <a:p>
            <a:pPr indent="0" marL="0">
              <a:buNone/>
            </a:pPr>
            <a:r>
              <a:rPr lang="en-US" sz="1400" b="1" dirty="0">
                <a:solidFill>
                  <a:srgbClr val="000000"/>
                </a:solidFill>
                <a:latin typeface="Yu Gothic" pitchFamily="34" charset="0"/>
                <a:ea typeface="Yu Gothic" pitchFamily="34" charset="-122"/>
                <a:cs typeface="Yu Gothic" pitchFamily="34" charset="-120"/>
              </a:rPr>
              <a:t>音声AIによる症状の一次予測</a:t>
            </a:r>
            <a:endParaRPr lang="en-US" sz="1400" dirty="0"/>
          </a:p>
        </p:txBody>
      </p:sp>
      <p:sp>
        <p:nvSpPr>
          <p:cNvPr id="8" name="Text 6"/>
          <p:cNvSpPr/>
          <p:nvPr/>
        </p:nvSpPr>
        <p:spPr>
          <a:xfrm>
            <a:off x="5120640" y="2286000"/>
            <a:ext cx="6248095" cy="868680"/>
          </a:xfrm>
          <a:prstGeom prst="rect">
            <a:avLst/>
          </a:prstGeom>
          <a:noFill/>
          <a:ln/>
        </p:spPr>
        <p:txBody>
          <a:bodyPr wrap="square" lIns="0" tIns="0" rIns="0" bIns="0" rtlCol="0" anchor="ctr"/>
          <a:lstStyle/>
          <a:p>
            <a:pPr indent="0" marL="0">
              <a:buNone/>
            </a:pPr>
            <a:r>
              <a:rPr lang="en-US" sz="1200" dirty="0">
                <a:solidFill>
                  <a:srgbClr val="000000"/>
                </a:solidFill>
                <a:latin typeface="Yu Gothic" pitchFamily="34" charset="0"/>
                <a:ea typeface="Yu Gothic" pitchFamily="34" charset="-122"/>
                <a:cs typeface="Yu Gothic" pitchFamily="34" charset="-120"/>
              </a:rPr>
              <a:t>救急隊員の音声メモを生成AIが構造化・解析し、症状を一次予測（ドコモのLAM技術を応用）</a:t>
            </a:r>
            <a:endParaRPr lang="en-US" sz="1200" dirty="0"/>
          </a:p>
        </p:txBody>
      </p:sp>
      <p:sp>
        <p:nvSpPr>
          <p:cNvPr id="9" name="Shape 7"/>
          <p:cNvSpPr/>
          <p:nvPr/>
        </p:nvSpPr>
        <p:spPr>
          <a:xfrm>
            <a:off x="548640" y="3401568"/>
            <a:ext cx="11094415" cy="1051560"/>
          </a:xfrm>
          <a:prstGeom prst="roundRect">
            <a:avLst>
              <a:gd name="adj" fmla="val 6957"/>
            </a:avLst>
          </a:prstGeom>
          <a:solidFill>
            <a:srgbClr val="F2F2F2"/>
          </a:solidFill>
          <a:ln w="9525">
            <a:solidFill>
              <a:srgbClr val="D9D9D9"/>
            </a:solidFill>
            <a:prstDash val="solid"/>
          </a:ln>
        </p:spPr>
      </p:sp>
      <p:sp>
        <p:nvSpPr>
          <p:cNvPr id="10" name="Text 8"/>
          <p:cNvSpPr/>
          <p:nvPr/>
        </p:nvSpPr>
        <p:spPr>
          <a:xfrm>
            <a:off x="777240" y="3401568"/>
            <a:ext cx="548640" cy="1051560"/>
          </a:xfrm>
          <a:prstGeom prst="rect">
            <a:avLst/>
          </a:prstGeom>
          <a:noFill/>
          <a:ln/>
        </p:spPr>
        <p:txBody>
          <a:bodyPr wrap="square" lIns="0" tIns="0" rIns="0" bIns="0" rtlCol="0" anchor="ctr"/>
          <a:lstStyle/>
          <a:p>
            <a:pPr algn="ctr" indent="0" marL="0">
              <a:buNone/>
            </a:pPr>
            <a:r>
              <a:rPr lang="en-US" sz="2400" b="1" dirty="0">
                <a:solidFill>
                  <a:srgbClr val="C00000"/>
                </a:solidFill>
                <a:latin typeface="Yu Gothic" pitchFamily="34" charset="0"/>
                <a:ea typeface="Yu Gothic" pitchFamily="34" charset="-122"/>
                <a:cs typeface="Yu Gothic" pitchFamily="34" charset="-120"/>
              </a:rPr>
              <a:t>②</a:t>
            </a:r>
            <a:endParaRPr lang="en-US" sz="2400" dirty="0"/>
          </a:p>
        </p:txBody>
      </p:sp>
      <p:sp>
        <p:nvSpPr>
          <p:cNvPr id="11" name="Text 9"/>
          <p:cNvSpPr/>
          <p:nvPr/>
        </p:nvSpPr>
        <p:spPr>
          <a:xfrm>
            <a:off x="1463040" y="3511296"/>
            <a:ext cx="3566160" cy="822960"/>
          </a:xfrm>
          <a:prstGeom prst="rect">
            <a:avLst/>
          </a:prstGeom>
          <a:noFill/>
          <a:ln/>
        </p:spPr>
        <p:txBody>
          <a:bodyPr wrap="square" lIns="0" tIns="0" rIns="0" bIns="0" rtlCol="0" anchor="ctr"/>
          <a:lstStyle/>
          <a:p>
            <a:pPr indent="0" marL="0">
              <a:buNone/>
            </a:pPr>
            <a:r>
              <a:rPr lang="en-US" sz="1400" b="1" dirty="0">
                <a:solidFill>
                  <a:srgbClr val="000000"/>
                </a:solidFill>
                <a:latin typeface="Yu Gothic" pitchFamily="34" charset="0"/>
                <a:ea typeface="Yu Gothic" pitchFamily="34" charset="-122"/>
                <a:cs typeface="Yu Gothic" pitchFamily="34" charset="-120"/>
              </a:rPr>
              <a:t>搬送先病院の優先度評価</a:t>
            </a:r>
            <a:endParaRPr lang="en-US" sz="1400" dirty="0"/>
          </a:p>
        </p:txBody>
      </p:sp>
      <p:sp>
        <p:nvSpPr>
          <p:cNvPr id="12" name="Text 10"/>
          <p:cNvSpPr/>
          <p:nvPr/>
        </p:nvSpPr>
        <p:spPr>
          <a:xfrm>
            <a:off x="5120640" y="3493008"/>
            <a:ext cx="6248095" cy="868680"/>
          </a:xfrm>
          <a:prstGeom prst="rect">
            <a:avLst/>
          </a:prstGeom>
          <a:noFill/>
          <a:ln/>
        </p:spPr>
        <p:txBody>
          <a:bodyPr wrap="square" lIns="0" tIns="0" rIns="0" bIns="0" rtlCol="0" anchor="ctr"/>
          <a:lstStyle/>
          <a:p>
            <a:pPr indent="0" marL="0">
              <a:buNone/>
            </a:pPr>
            <a:r>
              <a:rPr lang="en-US" sz="1200" dirty="0">
                <a:solidFill>
                  <a:srgbClr val="000000"/>
                </a:solidFill>
                <a:latin typeface="Yu Gothic" pitchFamily="34" charset="0"/>
                <a:ea typeface="Yu Gothic" pitchFamily="34" charset="-122"/>
                <a:cs typeface="Yu Gothic" pitchFamily="34" charset="-120"/>
              </a:rPr>
              <a:t>処置可能性・専門科・受入体制をAIが評価し、搬送先候補を優先順位付きでリストアップ</a:t>
            </a:r>
            <a:endParaRPr lang="en-US" sz="1200" dirty="0"/>
          </a:p>
        </p:txBody>
      </p:sp>
      <p:sp>
        <p:nvSpPr>
          <p:cNvPr id="13" name="Shape 11"/>
          <p:cNvSpPr/>
          <p:nvPr/>
        </p:nvSpPr>
        <p:spPr>
          <a:xfrm>
            <a:off x="548640" y="4608576"/>
            <a:ext cx="11094415" cy="1051560"/>
          </a:xfrm>
          <a:prstGeom prst="roundRect">
            <a:avLst>
              <a:gd name="adj" fmla="val 6957"/>
            </a:avLst>
          </a:prstGeom>
          <a:solidFill>
            <a:srgbClr val="F2F2F2"/>
          </a:solidFill>
          <a:ln w="9525">
            <a:solidFill>
              <a:srgbClr val="D9D9D9"/>
            </a:solidFill>
            <a:prstDash val="solid"/>
          </a:ln>
        </p:spPr>
      </p:sp>
      <p:sp>
        <p:nvSpPr>
          <p:cNvPr id="14" name="Text 12"/>
          <p:cNvSpPr/>
          <p:nvPr/>
        </p:nvSpPr>
        <p:spPr>
          <a:xfrm>
            <a:off x="777240" y="4608576"/>
            <a:ext cx="548640" cy="1051560"/>
          </a:xfrm>
          <a:prstGeom prst="rect">
            <a:avLst/>
          </a:prstGeom>
          <a:noFill/>
          <a:ln/>
        </p:spPr>
        <p:txBody>
          <a:bodyPr wrap="square" lIns="0" tIns="0" rIns="0" bIns="0" rtlCol="0" anchor="ctr"/>
          <a:lstStyle/>
          <a:p>
            <a:pPr algn="ctr" indent="0" marL="0">
              <a:buNone/>
            </a:pPr>
            <a:r>
              <a:rPr lang="en-US" sz="2400" b="1" dirty="0">
                <a:solidFill>
                  <a:srgbClr val="C00000"/>
                </a:solidFill>
                <a:latin typeface="Yu Gothic" pitchFamily="34" charset="0"/>
                <a:ea typeface="Yu Gothic" pitchFamily="34" charset="-122"/>
                <a:cs typeface="Yu Gothic" pitchFamily="34" charset="-120"/>
              </a:rPr>
              <a:t>③</a:t>
            </a:r>
            <a:endParaRPr lang="en-US" sz="2400" dirty="0"/>
          </a:p>
        </p:txBody>
      </p:sp>
      <p:sp>
        <p:nvSpPr>
          <p:cNvPr id="15" name="Text 13"/>
          <p:cNvSpPr/>
          <p:nvPr/>
        </p:nvSpPr>
        <p:spPr>
          <a:xfrm>
            <a:off x="1463040" y="4718304"/>
            <a:ext cx="3566160" cy="822960"/>
          </a:xfrm>
          <a:prstGeom prst="rect">
            <a:avLst/>
          </a:prstGeom>
          <a:noFill/>
          <a:ln/>
        </p:spPr>
        <p:txBody>
          <a:bodyPr wrap="square" lIns="0" tIns="0" rIns="0" bIns="0" rtlCol="0" anchor="ctr"/>
          <a:lstStyle/>
          <a:p>
            <a:pPr indent="0" marL="0">
              <a:buNone/>
            </a:pPr>
            <a:r>
              <a:rPr lang="en-US" sz="1400" b="1" dirty="0">
                <a:solidFill>
                  <a:srgbClr val="000000"/>
                </a:solidFill>
                <a:latin typeface="Yu Gothic" pitchFamily="34" charset="0"/>
                <a:ea typeface="Yu Gothic" pitchFamily="34" charset="-122"/>
                <a:cs typeface="Yu Gothic" pitchFamily="34" charset="-120"/>
              </a:rPr>
              <a:t>5Gネットワークスライシングによる高精細映像転送</a:t>
            </a:r>
            <a:endParaRPr lang="en-US" sz="1400" dirty="0"/>
          </a:p>
        </p:txBody>
      </p:sp>
      <p:sp>
        <p:nvSpPr>
          <p:cNvPr id="16" name="Text 14"/>
          <p:cNvSpPr/>
          <p:nvPr/>
        </p:nvSpPr>
        <p:spPr>
          <a:xfrm>
            <a:off x="5120640" y="4700016"/>
            <a:ext cx="6248095" cy="868680"/>
          </a:xfrm>
          <a:prstGeom prst="rect">
            <a:avLst/>
          </a:prstGeom>
          <a:noFill/>
          <a:ln/>
        </p:spPr>
        <p:txBody>
          <a:bodyPr wrap="square" lIns="0" tIns="0" rIns="0" bIns="0" rtlCol="0" anchor="ctr"/>
          <a:lstStyle/>
          <a:p>
            <a:pPr indent="0" marL="0">
              <a:buNone/>
            </a:pPr>
            <a:r>
              <a:rPr lang="en-US" sz="1200" dirty="0">
                <a:solidFill>
                  <a:srgbClr val="000000"/>
                </a:solidFill>
                <a:latin typeface="Yu Gothic" pitchFamily="34" charset="0"/>
                <a:ea typeface="Yu Gothic" pitchFamily="34" charset="-122"/>
                <a:cs typeface="Yu Gothic" pitchFamily="34" charset="-120"/>
              </a:rPr>
              <a:t>救急優先回線を確保し、救急車と病院間で高精細映像を安定転送。処置困難（転送理由52.1%）への対策に直結</a:t>
            </a:r>
            <a:endParaRPr lang="en-US" sz="1200" dirty="0"/>
          </a:p>
        </p:txBody>
      </p:sp>
      <p:sp>
        <p:nvSpPr>
          <p:cNvPr id="17" name="Text 15"/>
          <p:cNvSpPr/>
          <p:nvPr/>
        </p:nvSpPr>
        <p:spPr>
          <a:xfrm>
            <a:off x="548640" y="5833872"/>
            <a:ext cx="11094415" cy="457200"/>
          </a:xfrm>
          <a:prstGeom prst="rect">
            <a:avLst/>
          </a:prstGeom>
          <a:noFill/>
          <a:ln/>
        </p:spPr>
        <p:txBody>
          <a:bodyPr wrap="square" lIns="0" tIns="0" rIns="0" bIns="0" rtlCol="0" anchor="ctr"/>
          <a:lstStyle/>
          <a:p>
            <a:pPr indent="0" marL="0">
              <a:buNone/>
            </a:pPr>
            <a:r>
              <a:rPr lang="en-US" sz="1250" i="1" dirty="0">
                <a:solidFill>
                  <a:srgbClr val="595959"/>
                </a:solidFill>
                <a:latin typeface="Yu Gothic" pitchFamily="34" charset="0"/>
                <a:ea typeface="Yu Gothic" pitchFamily="34" charset="-122"/>
                <a:cs typeface="Yu Gothic" pitchFamily="34" charset="-120"/>
              </a:rPr>
              <a:t>ポイント：ゼロから新サービスを作るのではなく、既に51自治体・27医療機関規模で稼働するNSER mobileの上に、ドコモの通信・AI資産を掛け合わせる</a:t>
            </a:r>
            <a:endParaRPr lang="en-US" sz="1250" dirty="0"/>
          </a:p>
        </p:txBody>
      </p:sp>
      <p:sp>
        <p:nvSpPr>
          <p:cNvPr id="18" name="Text 16"/>
          <p:cNvSpPr/>
          <p:nvPr/>
        </p:nvSpPr>
        <p:spPr>
          <a:xfrm>
            <a:off x="11368735" y="6400800"/>
            <a:ext cx="457200" cy="320040"/>
          </a:xfrm>
          <a:prstGeom prst="rect">
            <a:avLst/>
          </a:prstGeom>
          <a:noFill/>
          <a:ln/>
        </p:spPr>
        <p:txBody>
          <a:bodyPr wrap="square" rtlCol="0" anchor="ctr"/>
          <a:lstStyle/>
          <a:p>
            <a:pPr algn="r" indent="0" marL="0">
              <a:buNone/>
            </a:pPr>
            <a:r>
              <a:rPr lang="en-US" sz="1000" dirty="0">
                <a:solidFill>
                  <a:srgbClr val="595959"/>
                </a:solidFill>
                <a:latin typeface="Yu Gothic" pitchFamily="34" charset="0"/>
                <a:ea typeface="Yu Gothic" pitchFamily="34" charset="-122"/>
                <a:cs typeface="Yu Gothic"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4415" cy="320040"/>
          </a:xfrm>
          <a:prstGeom prst="rect">
            <a:avLst/>
          </a:prstGeom>
          <a:noFill/>
          <a:ln/>
        </p:spPr>
        <p:txBody>
          <a:bodyPr wrap="square" rtlCol="0" anchor="ctr"/>
          <a:lstStyle/>
          <a:p>
            <a:pPr indent="0" marL="0">
              <a:buNone/>
            </a:pPr>
            <a:r>
              <a:rPr lang="en-US" sz="1300" b="1" dirty="0">
                <a:solidFill>
                  <a:srgbClr val="C00000"/>
                </a:solidFill>
                <a:latin typeface="Yu Gothic" pitchFamily="34" charset="0"/>
                <a:ea typeface="Yu Gothic" pitchFamily="34" charset="-122"/>
                <a:cs typeface="Yu Gothic" pitchFamily="34" charset="-120"/>
              </a:rPr>
              <a:t>(f) ドコモのアセット</a:t>
            </a:r>
            <a:endParaRPr lang="en-US" sz="1300" dirty="0"/>
          </a:p>
        </p:txBody>
      </p:sp>
      <p:sp>
        <p:nvSpPr>
          <p:cNvPr id="3" name="Text 1"/>
          <p:cNvSpPr/>
          <p:nvPr/>
        </p:nvSpPr>
        <p:spPr>
          <a:xfrm>
            <a:off x="548640" y="594360"/>
            <a:ext cx="11094415" cy="685800"/>
          </a:xfrm>
          <a:prstGeom prst="rect">
            <a:avLst/>
          </a:prstGeom>
          <a:noFill/>
          <a:ln/>
        </p:spPr>
        <p:txBody>
          <a:bodyPr wrap="square" rtlCol="0" anchor="ctr"/>
          <a:lstStyle/>
          <a:p>
            <a:pPr indent="0" marL="0">
              <a:buNone/>
            </a:pPr>
            <a:r>
              <a:rPr lang="en-US" sz="2800" b="1" dirty="0">
                <a:solidFill>
                  <a:srgbClr val="000000"/>
                </a:solidFill>
                <a:latin typeface="Yu Gothic" pitchFamily="34" charset="0"/>
                <a:ea typeface="Yu Gothic" pitchFamily="34" charset="-122"/>
                <a:cs typeface="Yu Gothic" pitchFamily="34" charset="-120"/>
              </a:rPr>
              <a:t>5つの資産</a:t>
            </a:r>
            <a:endParaRPr lang="en-US" sz="2800" dirty="0"/>
          </a:p>
        </p:txBody>
      </p:sp>
      <p:sp>
        <p:nvSpPr>
          <p:cNvPr id="4" name="Shape 2"/>
          <p:cNvSpPr/>
          <p:nvPr/>
        </p:nvSpPr>
        <p:spPr>
          <a:xfrm>
            <a:off x="548640" y="1691640"/>
            <a:ext cx="11094415" cy="731520"/>
          </a:xfrm>
          <a:prstGeom prst="roundRect">
            <a:avLst>
              <a:gd name="adj" fmla="val 10000"/>
            </a:avLst>
          </a:prstGeom>
          <a:solidFill>
            <a:srgbClr val="FFFFFF"/>
          </a:solidFill>
          <a:ln w="9525">
            <a:solidFill>
              <a:srgbClr val="D9D9D9"/>
            </a:solidFill>
            <a:prstDash val="solid"/>
          </a:ln>
        </p:spPr>
      </p:sp>
      <p:sp>
        <p:nvSpPr>
          <p:cNvPr id="5" name="Text 3"/>
          <p:cNvSpPr/>
          <p:nvPr/>
        </p:nvSpPr>
        <p:spPr>
          <a:xfrm>
            <a:off x="731520" y="1691640"/>
            <a:ext cx="548640" cy="731520"/>
          </a:xfrm>
          <a:prstGeom prst="rect">
            <a:avLst/>
          </a:prstGeom>
          <a:noFill/>
          <a:ln/>
        </p:spPr>
        <p:txBody>
          <a:bodyPr wrap="square" lIns="0" tIns="0" rIns="0" bIns="0" rtlCol="0" anchor="ctr"/>
          <a:lstStyle/>
          <a:p>
            <a:pPr algn="ctr" indent="0" marL="0">
              <a:buNone/>
            </a:pPr>
            <a:r>
              <a:rPr lang="en-US" sz="2000" b="1" dirty="0">
                <a:solidFill>
                  <a:srgbClr val="C00000"/>
                </a:solidFill>
                <a:latin typeface="Yu Gothic" pitchFamily="34" charset="0"/>
                <a:ea typeface="Yu Gothic" pitchFamily="34" charset="-122"/>
                <a:cs typeface="Yu Gothic" pitchFamily="34" charset="-120"/>
              </a:rPr>
              <a:t>①</a:t>
            </a:r>
            <a:endParaRPr lang="en-US" sz="2000" dirty="0"/>
          </a:p>
        </p:txBody>
      </p:sp>
      <p:sp>
        <p:nvSpPr>
          <p:cNvPr id="6" name="Text 4"/>
          <p:cNvSpPr/>
          <p:nvPr/>
        </p:nvSpPr>
        <p:spPr>
          <a:xfrm>
            <a:off x="1463040" y="1746504"/>
            <a:ext cx="3383280" cy="621792"/>
          </a:xfrm>
          <a:prstGeom prst="rect">
            <a:avLst/>
          </a:prstGeom>
          <a:noFill/>
          <a:ln/>
        </p:spPr>
        <p:txBody>
          <a:bodyPr wrap="square" lIns="0" tIns="0" rIns="0" bIns="0" rtlCol="0" anchor="ctr"/>
          <a:lstStyle/>
          <a:p>
            <a:pPr indent="0" marL="0">
              <a:buNone/>
            </a:pPr>
            <a:r>
              <a:rPr lang="en-US" sz="1350" b="1" dirty="0">
                <a:solidFill>
                  <a:srgbClr val="000000"/>
                </a:solidFill>
                <a:latin typeface="Yu Gothic" pitchFamily="34" charset="0"/>
                <a:ea typeface="Yu Gothic" pitchFamily="34" charset="-122"/>
                <a:cs typeface="Yu Gothic" pitchFamily="34" charset="-120"/>
              </a:rPr>
              <a:t>モバイル空間統計</a:t>
            </a:r>
            <a:endParaRPr lang="en-US" sz="1350" dirty="0"/>
          </a:p>
        </p:txBody>
      </p:sp>
      <p:sp>
        <p:nvSpPr>
          <p:cNvPr id="7" name="Text 5"/>
          <p:cNvSpPr/>
          <p:nvPr/>
        </p:nvSpPr>
        <p:spPr>
          <a:xfrm>
            <a:off x="4983480" y="1746504"/>
            <a:ext cx="6385255" cy="621792"/>
          </a:xfrm>
          <a:prstGeom prst="rect">
            <a:avLst/>
          </a:prstGeom>
          <a:noFill/>
          <a:ln/>
        </p:spPr>
        <p:txBody>
          <a:bodyPr wrap="square" lIns="0" tIns="0" rIns="0" bIns="0" rtlCol="0" anchor="ctr"/>
          <a:lstStyle/>
          <a:p>
            <a:pPr indent="0" marL="0">
              <a:buNone/>
            </a:pPr>
            <a:r>
              <a:rPr lang="en-US" sz="1150" dirty="0">
                <a:solidFill>
                  <a:srgbClr val="595959"/>
                </a:solidFill>
                <a:latin typeface="Yu Gothic" pitchFamily="34" charset="0"/>
                <a:ea typeface="Yu Gothic" pitchFamily="34" charset="-122"/>
                <a:cs typeface="Yu Gothic" pitchFamily="34" charset="-120"/>
              </a:rPr>
              <a:t>人流ビッグデータによる需要予測の基盤</a:t>
            </a:r>
            <a:endParaRPr lang="en-US" sz="1150" dirty="0"/>
          </a:p>
        </p:txBody>
      </p:sp>
      <p:sp>
        <p:nvSpPr>
          <p:cNvPr id="8" name="Shape 6"/>
          <p:cNvSpPr/>
          <p:nvPr/>
        </p:nvSpPr>
        <p:spPr>
          <a:xfrm>
            <a:off x="548640" y="2551176"/>
            <a:ext cx="11094415" cy="731520"/>
          </a:xfrm>
          <a:prstGeom prst="roundRect">
            <a:avLst>
              <a:gd name="adj" fmla="val 10000"/>
            </a:avLst>
          </a:prstGeom>
          <a:solidFill>
            <a:srgbClr val="FFFFFF"/>
          </a:solidFill>
          <a:ln w="9525">
            <a:solidFill>
              <a:srgbClr val="D9D9D9"/>
            </a:solidFill>
            <a:prstDash val="solid"/>
          </a:ln>
        </p:spPr>
      </p:sp>
      <p:sp>
        <p:nvSpPr>
          <p:cNvPr id="9" name="Text 7"/>
          <p:cNvSpPr/>
          <p:nvPr/>
        </p:nvSpPr>
        <p:spPr>
          <a:xfrm>
            <a:off x="731520" y="2551176"/>
            <a:ext cx="548640" cy="731520"/>
          </a:xfrm>
          <a:prstGeom prst="rect">
            <a:avLst/>
          </a:prstGeom>
          <a:noFill/>
          <a:ln/>
        </p:spPr>
        <p:txBody>
          <a:bodyPr wrap="square" lIns="0" tIns="0" rIns="0" bIns="0" rtlCol="0" anchor="ctr"/>
          <a:lstStyle/>
          <a:p>
            <a:pPr algn="ctr" indent="0" marL="0">
              <a:buNone/>
            </a:pPr>
            <a:r>
              <a:rPr lang="en-US" sz="2000" b="1" dirty="0">
                <a:solidFill>
                  <a:srgbClr val="C00000"/>
                </a:solidFill>
                <a:latin typeface="Yu Gothic" pitchFamily="34" charset="0"/>
                <a:ea typeface="Yu Gothic" pitchFamily="34" charset="-122"/>
                <a:cs typeface="Yu Gothic" pitchFamily="34" charset="-120"/>
              </a:rPr>
              <a:t>②</a:t>
            </a:r>
            <a:endParaRPr lang="en-US" sz="2000" dirty="0"/>
          </a:p>
        </p:txBody>
      </p:sp>
      <p:sp>
        <p:nvSpPr>
          <p:cNvPr id="10" name="Text 8"/>
          <p:cNvSpPr/>
          <p:nvPr/>
        </p:nvSpPr>
        <p:spPr>
          <a:xfrm>
            <a:off x="1463040" y="2606040"/>
            <a:ext cx="3383280" cy="621792"/>
          </a:xfrm>
          <a:prstGeom prst="rect">
            <a:avLst/>
          </a:prstGeom>
          <a:noFill/>
          <a:ln/>
        </p:spPr>
        <p:txBody>
          <a:bodyPr wrap="square" lIns="0" tIns="0" rIns="0" bIns="0" rtlCol="0" anchor="ctr"/>
          <a:lstStyle/>
          <a:p>
            <a:pPr indent="0" marL="0">
              <a:buNone/>
            </a:pPr>
            <a:r>
              <a:rPr lang="en-US" sz="1350" b="1" dirty="0">
                <a:solidFill>
                  <a:srgbClr val="000000"/>
                </a:solidFill>
                <a:latin typeface="Yu Gothic" pitchFamily="34" charset="0"/>
                <a:ea typeface="Yu Gothic" pitchFamily="34" charset="-122"/>
                <a:cs typeface="Yu Gothic" pitchFamily="34" charset="-120"/>
              </a:rPr>
              <a:t>救急需要AI予測技術</a:t>
            </a:r>
            <a:endParaRPr lang="en-US" sz="1350" dirty="0"/>
          </a:p>
        </p:txBody>
      </p:sp>
      <p:sp>
        <p:nvSpPr>
          <p:cNvPr id="11" name="Text 9"/>
          <p:cNvSpPr/>
          <p:nvPr/>
        </p:nvSpPr>
        <p:spPr>
          <a:xfrm>
            <a:off x="4983480" y="2606040"/>
            <a:ext cx="6385255" cy="621792"/>
          </a:xfrm>
          <a:prstGeom prst="rect">
            <a:avLst/>
          </a:prstGeom>
          <a:noFill/>
          <a:ln/>
        </p:spPr>
        <p:txBody>
          <a:bodyPr wrap="square" lIns="0" tIns="0" rIns="0" bIns="0" rtlCol="0" anchor="ctr"/>
          <a:lstStyle/>
          <a:p>
            <a:pPr indent="0" marL="0">
              <a:buNone/>
            </a:pPr>
            <a:r>
              <a:rPr lang="en-US" sz="1150" dirty="0">
                <a:solidFill>
                  <a:srgbClr val="595959"/>
                </a:solidFill>
                <a:latin typeface="Yu Gothic" pitchFamily="34" charset="0"/>
                <a:ea typeface="Yu Gothic" pitchFamily="34" charset="-122"/>
                <a:cs typeface="Yu Gothic" pitchFamily="34" charset="-120"/>
              </a:rPr>
              <a:t>気象・行動データを組み合わせた到着時間短縮への応用</a:t>
            </a:r>
            <a:endParaRPr lang="en-US" sz="1150" dirty="0"/>
          </a:p>
        </p:txBody>
      </p:sp>
      <p:sp>
        <p:nvSpPr>
          <p:cNvPr id="12" name="Shape 10"/>
          <p:cNvSpPr/>
          <p:nvPr/>
        </p:nvSpPr>
        <p:spPr>
          <a:xfrm>
            <a:off x="548640" y="3410712"/>
            <a:ext cx="11094415" cy="731520"/>
          </a:xfrm>
          <a:prstGeom prst="roundRect">
            <a:avLst>
              <a:gd name="adj" fmla="val 10000"/>
            </a:avLst>
          </a:prstGeom>
          <a:solidFill>
            <a:srgbClr val="FFFFFF"/>
          </a:solidFill>
          <a:ln w="9525">
            <a:solidFill>
              <a:srgbClr val="D9D9D9"/>
            </a:solidFill>
            <a:prstDash val="solid"/>
          </a:ln>
        </p:spPr>
      </p:sp>
      <p:sp>
        <p:nvSpPr>
          <p:cNvPr id="13" name="Text 11"/>
          <p:cNvSpPr/>
          <p:nvPr/>
        </p:nvSpPr>
        <p:spPr>
          <a:xfrm>
            <a:off x="731520" y="3410712"/>
            <a:ext cx="548640" cy="731520"/>
          </a:xfrm>
          <a:prstGeom prst="rect">
            <a:avLst/>
          </a:prstGeom>
          <a:noFill/>
          <a:ln/>
        </p:spPr>
        <p:txBody>
          <a:bodyPr wrap="square" lIns="0" tIns="0" rIns="0" bIns="0" rtlCol="0" anchor="ctr"/>
          <a:lstStyle/>
          <a:p>
            <a:pPr algn="ctr" indent="0" marL="0">
              <a:buNone/>
            </a:pPr>
            <a:r>
              <a:rPr lang="en-US" sz="2000" b="1" dirty="0">
                <a:solidFill>
                  <a:srgbClr val="C00000"/>
                </a:solidFill>
                <a:latin typeface="Yu Gothic" pitchFamily="34" charset="0"/>
                <a:ea typeface="Yu Gothic" pitchFamily="34" charset="-122"/>
                <a:cs typeface="Yu Gothic" pitchFamily="34" charset="-120"/>
              </a:rPr>
              <a:t>③</a:t>
            </a:r>
            <a:endParaRPr lang="en-US" sz="2000" dirty="0"/>
          </a:p>
        </p:txBody>
      </p:sp>
      <p:sp>
        <p:nvSpPr>
          <p:cNvPr id="14" name="Text 12"/>
          <p:cNvSpPr/>
          <p:nvPr/>
        </p:nvSpPr>
        <p:spPr>
          <a:xfrm>
            <a:off x="1463040" y="3465576"/>
            <a:ext cx="3383280" cy="621792"/>
          </a:xfrm>
          <a:prstGeom prst="rect">
            <a:avLst/>
          </a:prstGeom>
          <a:noFill/>
          <a:ln/>
        </p:spPr>
        <p:txBody>
          <a:bodyPr wrap="square" lIns="0" tIns="0" rIns="0" bIns="0" rtlCol="0" anchor="ctr"/>
          <a:lstStyle/>
          <a:p>
            <a:pPr indent="0" marL="0">
              <a:buNone/>
            </a:pPr>
            <a:r>
              <a:rPr lang="en-US" sz="1350" b="1" dirty="0">
                <a:solidFill>
                  <a:srgbClr val="000000"/>
                </a:solidFill>
                <a:latin typeface="Yu Gothic" pitchFamily="34" charset="0"/>
                <a:ea typeface="Yu Gothic" pitchFamily="34" charset="-122"/>
                <a:cs typeface="Yu Gothic" pitchFamily="34" charset="-120"/>
              </a:rPr>
              <a:t>搬送先病院選定AI技術</a:t>
            </a:r>
            <a:endParaRPr lang="en-US" sz="1350" dirty="0"/>
          </a:p>
        </p:txBody>
      </p:sp>
      <p:sp>
        <p:nvSpPr>
          <p:cNvPr id="15" name="Text 13"/>
          <p:cNvSpPr/>
          <p:nvPr/>
        </p:nvSpPr>
        <p:spPr>
          <a:xfrm>
            <a:off x="4983480" y="3465576"/>
            <a:ext cx="6385255" cy="621792"/>
          </a:xfrm>
          <a:prstGeom prst="rect">
            <a:avLst/>
          </a:prstGeom>
          <a:noFill/>
          <a:ln/>
        </p:spPr>
        <p:txBody>
          <a:bodyPr wrap="square" lIns="0" tIns="0" rIns="0" bIns="0" rtlCol="0" anchor="ctr"/>
          <a:lstStyle/>
          <a:p>
            <a:pPr indent="0" marL="0">
              <a:buNone/>
            </a:pPr>
            <a:r>
              <a:rPr lang="en-US" sz="1150" dirty="0">
                <a:solidFill>
                  <a:srgbClr val="595959"/>
                </a:solidFill>
                <a:latin typeface="Yu Gothic" pitchFamily="34" charset="0"/>
                <a:ea typeface="Yu Gothic" pitchFamily="34" charset="-122"/>
                <a:cs typeface="Yu Gothic" pitchFamily="34" charset="-120"/>
              </a:rPr>
              <a:t>大規模行動モデル（LAM）の救急応用（次ページで詳述）</a:t>
            </a:r>
            <a:endParaRPr lang="en-US" sz="1150" dirty="0"/>
          </a:p>
        </p:txBody>
      </p:sp>
      <p:sp>
        <p:nvSpPr>
          <p:cNvPr id="16" name="Shape 14"/>
          <p:cNvSpPr/>
          <p:nvPr/>
        </p:nvSpPr>
        <p:spPr>
          <a:xfrm>
            <a:off x="548640" y="4270248"/>
            <a:ext cx="11094415" cy="868680"/>
          </a:xfrm>
          <a:prstGeom prst="roundRect">
            <a:avLst>
              <a:gd name="adj" fmla="val 8421"/>
            </a:avLst>
          </a:prstGeom>
          <a:solidFill>
            <a:srgbClr val="FFFFFF"/>
          </a:solidFill>
          <a:ln w="9525">
            <a:solidFill>
              <a:srgbClr val="D9D9D9"/>
            </a:solidFill>
            <a:prstDash val="solid"/>
          </a:ln>
        </p:spPr>
      </p:sp>
      <p:sp>
        <p:nvSpPr>
          <p:cNvPr id="17" name="Text 15"/>
          <p:cNvSpPr/>
          <p:nvPr/>
        </p:nvSpPr>
        <p:spPr>
          <a:xfrm>
            <a:off x="731520" y="4270248"/>
            <a:ext cx="548640" cy="868680"/>
          </a:xfrm>
          <a:prstGeom prst="rect">
            <a:avLst/>
          </a:prstGeom>
          <a:noFill/>
          <a:ln/>
        </p:spPr>
        <p:txBody>
          <a:bodyPr wrap="square" lIns="0" tIns="0" rIns="0" bIns="0" rtlCol="0" anchor="ctr"/>
          <a:lstStyle/>
          <a:p>
            <a:pPr algn="ctr" indent="0" marL="0">
              <a:buNone/>
            </a:pPr>
            <a:r>
              <a:rPr lang="en-US" sz="2000" b="1" dirty="0">
                <a:solidFill>
                  <a:srgbClr val="C00000"/>
                </a:solidFill>
                <a:latin typeface="Yu Gothic" pitchFamily="34" charset="0"/>
                <a:ea typeface="Yu Gothic" pitchFamily="34" charset="-122"/>
                <a:cs typeface="Yu Gothic" pitchFamily="34" charset="-120"/>
              </a:rPr>
              <a:t>④</a:t>
            </a:r>
            <a:endParaRPr lang="en-US" sz="2000" dirty="0"/>
          </a:p>
        </p:txBody>
      </p:sp>
      <p:sp>
        <p:nvSpPr>
          <p:cNvPr id="18" name="Text 16"/>
          <p:cNvSpPr/>
          <p:nvPr/>
        </p:nvSpPr>
        <p:spPr>
          <a:xfrm>
            <a:off x="1463040" y="4325112"/>
            <a:ext cx="3383280" cy="758952"/>
          </a:xfrm>
          <a:prstGeom prst="rect">
            <a:avLst/>
          </a:prstGeom>
          <a:noFill/>
          <a:ln/>
        </p:spPr>
        <p:txBody>
          <a:bodyPr wrap="square" lIns="0" tIns="0" rIns="0" bIns="0" rtlCol="0" anchor="ctr"/>
          <a:lstStyle/>
          <a:p>
            <a:pPr indent="0" marL="0">
              <a:buNone/>
            </a:pPr>
            <a:r>
              <a:rPr lang="en-US" sz="1350" b="1" dirty="0">
                <a:solidFill>
                  <a:srgbClr val="000000"/>
                </a:solidFill>
                <a:latin typeface="Yu Gothic" pitchFamily="34" charset="0"/>
                <a:ea typeface="Yu Gothic" pitchFamily="34" charset="-122"/>
                <a:cs typeface="Yu Gothic" pitchFamily="34" charset="-120"/>
              </a:rPr>
              <a:t>高度な5G通信（ネットワークスライシング）</a:t>
            </a:r>
            <a:endParaRPr lang="en-US" sz="1350" dirty="0"/>
          </a:p>
        </p:txBody>
      </p:sp>
      <p:sp>
        <p:nvSpPr>
          <p:cNvPr id="19" name="Text 17"/>
          <p:cNvSpPr/>
          <p:nvPr/>
        </p:nvSpPr>
        <p:spPr>
          <a:xfrm>
            <a:off x="4983480" y="4325112"/>
            <a:ext cx="6385255" cy="758952"/>
          </a:xfrm>
          <a:prstGeom prst="rect">
            <a:avLst/>
          </a:prstGeom>
          <a:noFill/>
          <a:ln/>
        </p:spPr>
        <p:txBody>
          <a:bodyPr wrap="square" lIns="0" tIns="0" rIns="0" bIns="0" rtlCol="0" anchor="ctr"/>
          <a:lstStyle/>
          <a:p>
            <a:pPr indent="0" marL="0">
              <a:buNone/>
            </a:pPr>
            <a:r>
              <a:rPr lang="en-US" sz="1150" dirty="0">
                <a:solidFill>
                  <a:srgbClr val="595959"/>
                </a:solidFill>
                <a:latin typeface="Yu Gothic" pitchFamily="34" charset="0"/>
                <a:ea typeface="Yu Gothic" pitchFamily="34" charset="-122"/>
                <a:cs typeface="Yu Gothic" pitchFamily="34" charset="-120"/>
              </a:rPr>
              <a:t>優先回線制御による安定した高精細映像伝送　※他キャリアも技術的に保有し、単独では差別化力が限定的な点に留意</a:t>
            </a:r>
            <a:endParaRPr lang="en-US" sz="1150" dirty="0"/>
          </a:p>
        </p:txBody>
      </p:sp>
      <p:sp>
        <p:nvSpPr>
          <p:cNvPr id="20" name="Shape 18"/>
          <p:cNvSpPr/>
          <p:nvPr/>
        </p:nvSpPr>
        <p:spPr>
          <a:xfrm>
            <a:off x="548640" y="5266944"/>
            <a:ext cx="11094415" cy="868680"/>
          </a:xfrm>
          <a:prstGeom prst="roundRect">
            <a:avLst>
              <a:gd name="adj" fmla="val 8421"/>
            </a:avLst>
          </a:prstGeom>
          <a:solidFill>
            <a:srgbClr val="FFFFFF"/>
          </a:solidFill>
          <a:ln w="9525">
            <a:solidFill>
              <a:srgbClr val="D9D9D9"/>
            </a:solidFill>
            <a:prstDash val="solid"/>
          </a:ln>
        </p:spPr>
      </p:sp>
      <p:sp>
        <p:nvSpPr>
          <p:cNvPr id="21" name="Text 19"/>
          <p:cNvSpPr/>
          <p:nvPr/>
        </p:nvSpPr>
        <p:spPr>
          <a:xfrm>
            <a:off x="731520" y="5266944"/>
            <a:ext cx="548640" cy="868680"/>
          </a:xfrm>
          <a:prstGeom prst="rect">
            <a:avLst/>
          </a:prstGeom>
          <a:noFill/>
          <a:ln/>
        </p:spPr>
        <p:txBody>
          <a:bodyPr wrap="square" lIns="0" tIns="0" rIns="0" bIns="0" rtlCol="0" anchor="ctr"/>
          <a:lstStyle/>
          <a:p>
            <a:pPr algn="ctr" indent="0" marL="0">
              <a:buNone/>
            </a:pPr>
            <a:r>
              <a:rPr lang="en-US" sz="2000" b="1" dirty="0">
                <a:solidFill>
                  <a:srgbClr val="C00000"/>
                </a:solidFill>
                <a:latin typeface="Yu Gothic" pitchFamily="34" charset="0"/>
                <a:ea typeface="Yu Gothic" pitchFamily="34" charset="-122"/>
                <a:cs typeface="Yu Gothic" pitchFamily="34" charset="-120"/>
              </a:rPr>
              <a:t>⑤</a:t>
            </a:r>
            <a:endParaRPr lang="en-US" sz="2000" dirty="0"/>
          </a:p>
        </p:txBody>
      </p:sp>
      <p:sp>
        <p:nvSpPr>
          <p:cNvPr id="22" name="Text 20"/>
          <p:cNvSpPr/>
          <p:nvPr/>
        </p:nvSpPr>
        <p:spPr>
          <a:xfrm>
            <a:off x="1463040" y="5321808"/>
            <a:ext cx="3383280" cy="758952"/>
          </a:xfrm>
          <a:prstGeom prst="rect">
            <a:avLst/>
          </a:prstGeom>
          <a:noFill/>
          <a:ln/>
        </p:spPr>
        <p:txBody>
          <a:bodyPr wrap="square" lIns="0" tIns="0" rIns="0" bIns="0" rtlCol="0" anchor="ctr"/>
          <a:lstStyle/>
          <a:p>
            <a:pPr indent="0" marL="0">
              <a:buNone/>
            </a:pPr>
            <a:r>
              <a:rPr lang="en-US" sz="1350" b="1" dirty="0">
                <a:solidFill>
                  <a:srgbClr val="000000"/>
                </a:solidFill>
                <a:latin typeface="Yu Gothic" pitchFamily="34" charset="0"/>
                <a:ea typeface="Yu Gothic" pitchFamily="34" charset="-122"/>
                <a:cs typeface="Yu Gothic" pitchFamily="34" charset="-120"/>
              </a:rPr>
              <a:t>TXP Medicalとの関係性</a:t>
            </a:r>
            <a:endParaRPr lang="en-US" sz="1350" dirty="0"/>
          </a:p>
        </p:txBody>
      </p:sp>
      <p:sp>
        <p:nvSpPr>
          <p:cNvPr id="23" name="Text 21"/>
          <p:cNvSpPr/>
          <p:nvPr/>
        </p:nvSpPr>
        <p:spPr>
          <a:xfrm>
            <a:off x="4983480" y="5321808"/>
            <a:ext cx="6385255" cy="758952"/>
          </a:xfrm>
          <a:prstGeom prst="rect">
            <a:avLst/>
          </a:prstGeom>
          <a:noFill/>
          <a:ln/>
        </p:spPr>
        <p:txBody>
          <a:bodyPr wrap="square" lIns="0" tIns="0" rIns="0" bIns="0" rtlCol="0" anchor="ctr"/>
          <a:lstStyle/>
          <a:p>
            <a:pPr indent="0" marL="0">
              <a:buNone/>
            </a:pPr>
            <a:r>
              <a:rPr lang="en-US" sz="1150" dirty="0">
                <a:solidFill>
                  <a:srgbClr val="595959"/>
                </a:solidFill>
                <a:latin typeface="Yu Gothic" pitchFamily="34" charset="0"/>
                <a:ea typeface="Yu Gothic" pitchFamily="34" charset="-122"/>
                <a:cs typeface="Yu Gothic" pitchFamily="34" charset="-120"/>
              </a:rPr>
              <a:t>NTTコミュニケーションズが出資済み。ゼロからではなく、既存の資本関係を土台にできる</a:t>
            </a:r>
            <a:endParaRPr lang="en-US" sz="1150" dirty="0"/>
          </a:p>
        </p:txBody>
      </p:sp>
      <p:sp>
        <p:nvSpPr>
          <p:cNvPr id="24" name="Text 22"/>
          <p:cNvSpPr/>
          <p:nvPr/>
        </p:nvSpPr>
        <p:spPr>
          <a:xfrm>
            <a:off x="11368735" y="6400800"/>
            <a:ext cx="457200" cy="320040"/>
          </a:xfrm>
          <a:prstGeom prst="rect">
            <a:avLst/>
          </a:prstGeom>
          <a:noFill/>
          <a:ln/>
        </p:spPr>
        <p:txBody>
          <a:bodyPr wrap="square" rtlCol="0" anchor="ctr"/>
          <a:lstStyle/>
          <a:p>
            <a:pPr algn="r" indent="0" marL="0">
              <a:buNone/>
            </a:pPr>
            <a:r>
              <a:rPr lang="en-US" sz="1000" dirty="0">
                <a:solidFill>
                  <a:srgbClr val="595959"/>
                </a:solidFill>
                <a:latin typeface="Yu Gothic" pitchFamily="34" charset="0"/>
                <a:ea typeface="Yu Gothic" pitchFamily="34" charset="-122"/>
                <a:cs typeface="Yu Gothic"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4415" cy="320040"/>
          </a:xfrm>
          <a:prstGeom prst="rect">
            <a:avLst/>
          </a:prstGeom>
          <a:noFill/>
          <a:ln/>
        </p:spPr>
        <p:txBody>
          <a:bodyPr wrap="square" rtlCol="0" anchor="ctr"/>
          <a:lstStyle/>
          <a:p>
            <a:pPr indent="0" marL="0">
              <a:buNone/>
            </a:pPr>
            <a:r>
              <a:rPr lang="en-US" sz="1300" b="1" dirty="0">
                <a:solidFill>
                  <a:srgbClr val="C00000"/>
                </a:solidFill>
                <a:latin typeface="Yu Gothic" pitchFamily="34" charset="0"/>
                <a:ea typeface="Yu Gothic" pitchFamily="34" charset="-122"/>
                <a:cs typeface="Yu Gothic" pitchFamily="34" charset="-120"/>
              </a:rPr>
              <a:t>(f) アセット③ 詳細</a:t>
            </a:r>
            <a:endParaRPr lang="en-US" sz="1300" dirty="0"/>
          </a:p>
        </p:txBody>
      </p:sp>
      <p:sp>
        <p:nvSpPr>
          <p:cNvPr id="3" name="Text 1"/>
          <p:cNvSpPr/>
          <p:nvPr/>
        </p:nvSpPr>
        <p:spPr>
          <a:xfrm>
            <a:off x="548640" y="594360"/>
            <a:ext cx="11094415" cy="685800"/>
          </a:xfrm>
          <a:prstGeom prst="rect">
            <a:avLst/>
          </a:prstGeom>
          <a:noFill/>
          <a:ln/>
        </p:spPr>
        <p:txBody>
          <a:bodyPr wrap="square" rtlCol="0" anchor="ctr"/>
          <a:lstStyle/>
          <a:p>
            <a:pPr indent="0" marL="0">
              <a:buNone/>
            </a:pPr>
            <a:r>
              <a:rPr lang="en-US" sz="2800" b="1" dirty="0">
                <a:solidFill>
                  <a:srgbClr val="000000"/>
                </a:solidFill>
                <a:latin typeface="Yu Gothic" pitchFamily="34" charset="0"/>
                <a:ea typeface="Yu Gothic" pitchFamily="34" charset="-122"/>
                <a:cs typeface="Yu Gothic" pitchFamily="34" charset="-120"/>
              </a:rPr>
              <a:t>大規模行動モデル（LAM）の救急応用</a:t>
            </a:r>
            <a:endParaRPr lang="en-US" sz="2800" dirty="0"/>
          </a:p>
        </p:txBody>
      </p:sp>
      <p:sp>
        <p:nvSpPr>
          <p:cNvPr id="4" name="Shape 2"/>
          <p:cNvSpPr/>
          <p:nvPr/>
        </p:nvSpPr>
        <p:spPr>
          <a:xfrm>
            <a:off x="548640" y="1691640"/>
            <a:ext cx="11094415" cy="1417320"/>
          </a:xfrm>
          <a:prstGeom prst="roundRect">
            <a:avLst>
              <a:gd name="adj" fmla="val 5161"/>
            </a:avLst>
          </a:prstGeom>
          <a:solidFill>
            <a:srgbClr val="F2F2F2"/>
          </a:solidFill>
          <a:ln w="9525">
            <a:solidFill>
              <a:srgbClr val="D9D9D9"/>
            </a:solidFill>
            <a:prstDash val="solid"/>
          </a:ln>
          <a:effectLst>
            <a:outerShdw sx="100000" sy="100000" kx="0" ky="0" algn="bl" rotWithShape="0" blurRad="76200" dist="25400" dir="5400000">
              <a:srgbClr val="000000">
                <a:alpha val="12000"/>
              </a:srgbClr>
            </a:outerShdw>
          </a:effectLst>
        </p:spPr>
      </p:sp>
      <p:sp>
        <p:nvSpPr>
          <p:cNvPr id="5" name="Text 3"/>
          <p:cNvSpPr/>
          <p:nvPr/>
        </p:nvSpPr>
        <p:spPr>
          <a:xfrm>
            <a:off x="822960" y="1828800"/>
            <a:ext cx="10545775" cy="365760"/>
          </a:xfrm>
          <a:prstGeom prst="rect">
            <a:avLst/>
          </a:prstGeom>
          <a:noFill/>
          <a:ln/>
        </p:spPr>
        <p:txBody>
          <a:bodyPr wrap="square" lIns="0" tIns="0" rIns="0" bIns="0" rtlCol="0" anchor="ctr"/>
          <a:lstStyle/>
          <a:p>
            <a:pPr indent="0" marL="0">
              <a:buNone/>
            </a:pPr>
            <a:r>
              <a:rPr lang="en-US" sz="1500" b="1" dirty="0">
                <a:solidFill>
                  <a:srgbClr val="000000"/>
                </a:solidFill>
                <a:latin typeface="Yu Gothic" pitchFamily="34" charset="0"/>
                <a:ea typeface="Yu Gothic" pitchFamily="34" charset="-122"/>
                <a:cs typeface="Yu Gothic" pitchFamily="34" charset="-120"/>
              </a:rPr>
              <a:t>2025年11月12日、NTT・NTTドコモが共同で発表した技術</a:t>
            </a:r>
            <a:endParaRPr lang="en-US" sz="1500" dirty="0"/>
          </a:p>
        </p:txBody>
      </p:sp>
      <p:sp>
        <p:nvSpPr>
          <p:cNvPr id="6" name="Text 4"/>
          <p:cNvSpPr/>
          <p:nvPr/>
        </p:nvSpPr>
        <p:spPr>
          <a:xfrm>
            <a:off x="822960" y="2240280"/>
            <a:ext cx="10545775" cy="822960"/>
          </a:xfrm>
          <a:prstGeom prst="rect">
            <a:avLst/>
          </a:prstGeom>
          <a:noFill/>
          <a:ln/>
        </p:spPr>
        <p:txBody>
          <a:bodyPr wrap="square" lIns="0" tIns="0" rIns="0" bIns="0" rtlCol="0" anchor="t"/>
          <a:lstStyle/>
          <a:p>
            <a:pPr marL="342900" indent="-342900">
              <a:buSzPct val="100000"/>
              <a:buChar char="•"/>
            </a:pPr>
            <a:r>
              <a:rPr lang="en-US" sz="1300" dirty="0">
                <a:solidFill>
                  <a:srgbClr val="000000"/>
                </a:solidFill>
                <a:latin typeface="Yu Gothic" pitchFamily="34" charset="0"/>
                <a:ea typeface="Yu Gothic" pitchFamily="34" charset="-122"/>
                <a:cs typeface="Yu Gothic" pitchFamily="34" charset="-120"/>
              </a:rPr>
              <a:t>「1to1マーケティングを加速するAI技術『大規模行動モデル(LAM)』を確立」― ドコモのCX分析基盤の顧客接点データを学習し、テレマーケティングの受注率を最大2倍に向上させた実績</a:t>
            </a:r>
            <a:endParaRPr lang="en-US" sz="1300" dirty="0"/>
          </a:p>
        </p:txBody>
      </p:sp>
      <p:sp>
        <p:nvSpPr>
          <p:cNvPr id="7" name="Text 5"/>
          <p:cNvSpPr/>
          <p:nvPr/>
        </p:nvSpPr>
        <p:spPr>
          <a:xfrm>
            <a:off x="548640" y="3291840"/>
            <a:ext cx="11094415" cy="365760"/>
          </a:xfrm>
          <a:prstGeom prst="rect">
            <a:avLst/>
          </a:prstGeom>
          <a:noFill/>
          <a:ln/>
        </p:spPr>
        <p:txBody>
          <a:bodyPr wrap="square" lIns="0" tIns="0" rIns="0" bIns="0" rtlCol="0" anchor="ctr"/>
          <a:lstStyle/>
          <a:p>
            <a:pPr indent="0" marL="0">
              <a:buNone/>
            </a:pPr>
            <a:r>
              <a:rPr lang="en-US" sz="1500" b="1" dirty="0">
                <a:solidFill>
                  <a:srgbClr val="000000"/>
                </a:solidFill>
                <a:latin typeface="Yu Gothic" pitchFamily="34" charset="0"/>
                <a:ea typeface="Yu Gothic" pitchFamily="34" charset="-122"/>
                <a:cs typeface="Yu Gothic" pitchFamily="34" charset="-120"/>
              </a:rPr>
              <a:t>仕組み：LLMが「次の単語」を予測するように、LAMは「次の行動」を予測する</a:t>
            </a:r>
            <a:endParaRPr lang="en-US" sz="1500" dirty="0"/>
          </a:p>
        </p:txBody>
      </p:sp>
      <p:sp>
        <p:nvSpPr>
          <p:cNvPr id="8" name="Shape 6"/>
          <p:cNvSpPr/>
          <p:nvPr/>
        </p:nvSpPr>
        <p:spPr>
          <a:xfrm>
            <a:off x="548640" y="3703320"/>
            <a:ext cx="3515258" cy="1234440"/>
          </a:xfrm>
          <a:prstGeom prst="roundRect">
            <a:avLst>
              <a:gd name="adj" fmla="val 5926"/>
            </a:avLst>
          </a:prstGeom>
          <a:solidFill>
            <a:srgbClr val="FFFFFF"/>
          </a:solidFill>
          <a:ln w="9525">
            <a:solidFill>
              <a:srgbClr val="D9D9D9"/>
            </a:solidFill>
            <a:prstDash val="solid"/>
          </a:ln>
          <a:effectLst>
            <a:outerShdw sx="100000" sy="100000" kx="0" ky="0" algn="bl" rotWithShape="0" blurRad="76200" dist="25400" dir="5400000">
              <a:srgbClr val="000000">
                <a:alpha val="12000"/>
              </a:srgbClr>
            </a:outerShdw>
          </a:effectLst>
        </p:spPr>
      </p:sp>
      <p:sp>
        <p:nvSpPr>
          <p:cNvPr id="9" name="Text 7"/>
          <p:cNvSpPr/>
          <p:nvPr/>
        </p:nvSpPr>
        <p:spPr>
          <a:xfrm>
            <a:off x="731520" y="3822192"/>
            <a:ext cx="3149498" cy="320040"/>
          </a:xfrm>
          <a:prstGeom prst="rect">
            <a:avLst/>
          </a:prstGeom>
          <a:noFill/>
          <a:ln/>
        </p:spPr>
        <p:txBody>
          <a:bodyPr wrap="square" lIns="0" tIns="0" rIns="0" bIns="0" rtlCol="0" anchor="ctr"/>
          <a:lstStyle/>
          <a:p>
            <a:pPr indent="0" marL="0">
              <a:buNone/>
            </a:pPr>
            <a:r>
              <a:rPr lang="en-US" sz="1300" b="1" dirty="0">
                <a:solidFill>
                  <a:srgbClr val="C00000"/>
                </a:solidFill>
                <a:latin typeface="Yu Gothic" pitchFamily="34" charset="0"/>
                <a:ea typeface="Yu Gothic" pitchFamily="34" charset="-122"/>
                <a:cs typeface="Yu Gothic" pitchFamily="34" charset="-120"/>
              </a:rPr>
              <a:t>入力</a:t>
            </a:r>
            <a:endParaRPr lang="en-US" sz="1300" dirty="0"/>
          </a:p>
        </p:txBody>
      </p:sp>
      <p:sp>
        <p:nvSpPr>
          <p:cNvPr id="10" name="Text 8"/>
          <p:cNvSpPr/>
          <p:nvPr/>
        </p:nvSpPr>
        <p:spPr>
          <a:xfrm>
            <a:off x="731520" y="4114800"/>
            <a:ext cx="3149498" cy="777240"/>
          </a:xfrm>
          <a:prstGeom prst="rect">
            <a:avLst/>
          </a:prstGeom>
          <a:noFill/>
          <a:ln/>
        </p:spPr>
        <p:txBody>
          <a:bodyPr wrap="square" lIns="0" tIns="0" rIns="0" bIns="0" rtlCol="0" anchor="ctr"/>
          <a:lstStyle/>
          <a:p>
            <a:pPr indent="0" marL="0">
              <a:buNone/>
            </a:pPr>
            <a:r>
              <a:rPr lang="en-US" sz="1100" dirty="0">
                <a:solidFill>
                  <a:srgbClr val="000000"/>
                </a:solidFill>
                <a:latin typeface="Yu Gothic" pitchFamily="34" charset="0"/>
                <a:ea typeface="Yu Gothic" pitchFamily="34" charset="-122"/>
                <a:cs typeface="Yu Gothic" pitchFamily="34" charset="-120"/>
              </a:rPr>
              <a:t>4W1H（誰が/いつ/どこで/何を/どうした）形式に統一された時系列の行動データ</a:t>
            </a:r>
            <a:endParaRPr lang="en-US" sz="1100" dirty="0"/>
          </a:p>
        </p:txBody>
      </p:sp>
      <p:sp>
        <p:nvSpPr>
          <p:cNvPr id="11" name="Shape 9"/>
          <p:cNvSpPr/>
          <p:nvPr/>
        </p:nvSpPr>
        <p:spPr>
          <a:xfrm>
            <a:off x="4338218" y="3703320"/>
            <a:ext cx="3515258" cy="1234440"/>
          </a:xfrm>
          <a:prstGeom prst="roundRect">
            <a:avLst>
              <a:gd name="adj" fmla="val 5926"/>
            </a:avLst>
          </a:prstGeom>
          <a:solidFill>
            <a:srgbClr val="FFFFFF"/>
          </a:solidFill>
          <a:ln w="9525">
            <a:solidFill>
              <a:srgbClr val="D9D9D9"/>
            </a:solidFill>
            <a:prstDash val="solid"/>
          </a:ln>
          <a:effectLst>
            <a:outerShdw sx="100000" sy="100000" kx="0" ky="0" algn="bl" rotWithShape="0" blurRad="76200" dist="25400" dir="5400000">
              <a:srgbClr val="000000">
                <a:alpha val="12000"/>
              </a:srgbClr>
            </a:outerShdw>
          </a:effectLst>
        </p:spPr>
      </p:sp>
      <p:sp>
        <p:nvSpPr>
          <p:cNvPr id="12" name="Text 10"/>
          <p:cNvSpPr/>
          <p:nvPr/>
        </p:nvSpPr>
        <p:spPr>
          <a:xfrm>
            <a:off x="4521098" y="3822192"/>
            <a:ext cx="3149498" cy="320040"/>
          </a:xfrm>
          <a:prstGeom prst="rect">
            <a:avLst/>
          </a:prstGeom>
          <a:noFill/>
          <a:ln/>
        </p:spPr>
        <p:txBody>
          <a:bodyPr wrap="square" lIns="0" tIns="0" rIns="0" bIns="0" rtlCol="0" anchor="ctr"/>
          <a:lstStyle/>
          <a:p>
            <a:pPr indent="0" marL="0">
              <a:buNone/>
            </a:pPr>
            <a:r>
              <a:rPr lang="en-US" sz="1300" b="1" dirty="0">
                <a:solidFill>
                  <a:srgbClr val="C00000"/>
                </a:solidFill>
                <a:latin typeface="Yu Gothic" pitchFamily="34" charset="0"/>
                <a:ea typeface="Yu Gothic" pitchFamily="34" charset="-122"/>
                <a:cs typeface="Yu Gothic" pitchFamily="34" charset="-120"/>
              </a:rPr>
              <a:t>学習</a:t>
            </a:r>
            <a:endParaRPr lang="en-US" sz="1300" dirty="0"/>
          </a:p>
        </p:txBody>
      </p:sp>
      <p:sp>
        <p:nvSpPr>
          <p:cNvPr id="13" name="Text 11"/>
          <p:cNvSpPr/>
          <p:nvPr/>
        </p:nvSpPr>
        <p:spPr>
          <a:xfrm>
            <a:off x="4521098" y="4114800"/>
            <a:ext cx="3149498" cy="777240"/>
          </a:xfrm>
          <a:prstGeom prst="rect">
            <a:avLst/>
          </a:prstGeom>
          <a:noFill/>
          <a:ln/>
        </p:spPr>
        <p:txBody>
          <a:bodyPr wrap="square" lIns="0" tIns="0" rIns="0" bIns="0" rtlCol="0" anchor="ctr"/>
          <a:lstStyle/>
          <a:p>
            <a:pPr indent="0" marL="0">
              <a:buNone/>
            </a:pPr>
            <a:r>
              <a:rPr lang="en-US" sz="1100" dirty="0">
                <a:solidFill>
                  <a:srgbClr val="000000"/>
                </a:solidFill>
                <a:latin typeface="Yu Gothic" pitchFamily="34" charset="0"/>
                <a:ea typeface="Yu Gothic" pitchFamily="34" charset="-122"/>
                <a:cs typeface="Yu Gothic" pitchFamily="34" charset="-120"/>
              </a:rPr>
              <a:t>Transformerベースのアーキテクチャで、行動どうしの関係性を自己学習（LLMと同じ構造）</a:t>
            </a:r>
            <a:endParaRPr lang="en-US" sz="1100" dirty="0"/>
          </a:p>
        </p:txBody>
      </p:sp>
      <p:sp>
        <p:nvSpPr>
          <p:cNvPr id="14" name="Shape 12"/>
          <p:cNvSpPr/>
          <p:nvPr/>
        </p:nvSpPr>
        <p:spPr>
          <a:xfrm>
            <a:off x="8127797" y="3703320"/>
            <a:ext cx="3515258" cy="1234440"/>
          </a:xfrm>
          <a:prstGeom prst="roundRect">
            <a:avLst>
              <a:gd name="adj" fmla="val 5926"/>
            </a:avLst>
          </a:prstGeom>
          <a:solidFill>
            <a:srgbClr val="FFFFFF"/>
          </a:solidFill>
          <a:ln w="9525">
            <a:solidFill>
              <a:srgbClr val="D9D9D9"/>
            </a:solidFill>
            <a:prstDash val="solid"/>
          </a:ln>
          <a:effectLst>
            <a:outerShdw sx="100000" sy="100000" kx="0" ky="0" algn="bl" rotWithShape="0" blurRad="76200" dist="25400" dir="5400000">
              <a:srgbClr val="000000">
                <a:alpha val="12000"/>
              </a:srgbClr>
            </a:outerShdw>
          </a:effectLst>
        </p:spPr>
      </p:sp>
      <p:sp>
        <p:nvSpPr>
          <p:cNvPr id="15" name="Text 13"/>
          <p:cNvSpPr/>
          <p:nvPr/>
        </p:nvSpPr>
        <p:spPr>
          <a:xfrm>
            <a:off x="8310677" y="3822192"/>
            <a:ext cx="3149498" cy="320040"/>
          </a:xfrm>
          <a:prstGeom prst="rect">
            <a:avLst/>
          </a:prstGeom>
          <a:noFill/>
          <a:ln/>
        </p:spPr>
        <p:txBody>
          <a:bodyPr wrap="square" lIns="0" tIns="0" rIns="0" bIns="0" rtlCol="0" anchor="ctr"/>
          <a:lstStyle/>
          <a:p>
            <a:pPr indent="0" marL="0">
              <a:buNone/>
            </a:pPr>
            <a:r>
              <a:rPr lang="en-US" sz="1300" b="1" dirty="0">
                <a:solidFill>
                  <a:srgbClr val="C00000"/>
                </a:solidFill>
                <a:latin typeface="Yu Gothic" pitchFamily="34" charset="0"/>
                <a:ea typeface="Yu Gothic" pitchFamily="34" charset="-122"/>
                <a:cs typeface="Yu Gothic" pitchFamily="34" charset="-120"/>
              </a:rPr>
              <a:t>出力</a:t>
            </a:r>
            <a:endParaRPr lang="en-US" sz="1300" dirty="0"/>
          </a:p>
        </p:txBody>
      </p:sp>
      <p:sp>
        <p:nvSpPr>
          <p:cNvPr id="16" name="Text 14"/>
          <p:cNvSpPr/>
          <p:nvPr/>
        </p:nvSpPr>
        <p:spPr>
          <a:xfrm>
            <a:off x="8310677" y="4114800"/>
            <a:ext cx="3149498" cy="777240"/>
          </a:xfrm>
          <a:prstGeom prst="rect">
            <a:avLst/>
          </a:prstGeom>
          <a:noFill/>
          <a:ln/>
        </p:spPr>
        <p:txBody>
          <a:bodyPr wrap="square" lIns="0" tIns="0" rIns="0" bIns="0" rtlCol="0" anchor="ctr"/>
          <a:lstStyle/>
          <a:p>
            <a:pPr indent="0" marL="0">
              <a:buNone/>
            </a:pPr>
            <a:r>
              <a:rPr lang="en-US" sz="1100" dirty="0">
                <a:solidFill>
                  <a:srgbClr val="000000"/>
                </a:solidFill>
                <a:latin typeface="Yu Gothic" pitchFamily="34" charset="0"/>
                <a:ea typeface="Yu Gothic" pitchFamily="34" charset="-122"/>
                <a:cs typeface="Yu Gothic" pitchFamily="34" charset="-120"/>
              </a:rPr>
              <a:t>次に起こる行動を高精度に予測（マーケティングでは「購買」、救急では「搬送先病院決定」）</a:t>
            </a:r>
            <a:endParaRPr lang="en-US" sz="1100" dirty="0"/>
          </a:p>
        </p:txBody>
      </p:sp>
      <p:sp>
        <p:nvSpPr>
          <p:cNvPr id="17" name="Shape 15"/>
          <p:cNvSpPr/>
          <p:nvPr/>
        </p:nvSpPr>
        <p:spPr>
          <a:xfrm>
            <a:off x="548640" y="5120640"/>
            <a:ext cx="11094415" cy="960120"/>
          </a:xfrm>
          <a:prstGeom prst="roundRect">
            <a:avLst>
              <a:gd name="adj" fmla="val 7619"/>
            </a:avLst>
          </a:prstGeom>
          <a:solidFill>
            <a:srgbClr val="F2F2F2"/>
          </a:solidFill>
          <a:ln w="9525">
            <a:solidFill>
              <a:srgbClr val="D9D9D9"/>
            </a:solidFill>
            <a:prstDash val="solid"/>
          </a:ln>
          <a:effectLst>
            <a:outerShdw sx="100000" sy="100000" kx="0" ky="0" algn="bl" rotWithShape="0" blurRad="76200" dist="25400" dir="5400000">
              <a:srgbClr val="000000">
                <a:alpha val="12000"/>
              </a:srgbClr>
            </a:outerShdw>
          </a:effectLst>
        </p:spPr>
      </p:sp>
      <p:sp>
        <p:nvSpPr>
          <p:cNvPr id="18" name="Text 16"/>
          <p:cNvSpPr/>
          <p:nvPr/>
        </p:nvSpPr>
        <p:spPr>
          <a:xfrm>
            <a:off x="822960" y="5230368"/>
            <a:ext cx="10545775" cy="731520"/>
          </a:xfrm>
          <a:prstGeom prst="rect">
            <a:avLst/>
          </a:prstGeom>
          <a:noFill/>
          <a:ln/>
        </p:spPr>
        <p:txBody>
          <a:bodyPr wrap="square" lIns="0" tIns="0" rIns="0" bIns="0" rtlCol="0" anchor="ctr"/>
          <a:lstStyle/>
          <a:p>
            <a:pPr indent="0" marL="0">
              <a:buNone/>
            </a:pPr>
            <a:r>
              <a:rPr lang="en-US" sz="1300" b="1" dirty="0">
                <a:solidFill>
                  <a:srgbClr val="000000"/>
                </a:solidFill>
                <a:latin typeface="Yu Gothic" pitchFamily="34" charset="0"/>
                <a:ea typeface="Yu Gothic" pitchFamily="34" charset="-122"/>
                <a:cs typeface="Yu Gothic" pitchFamily="34" charset="-120"/>
              </a:rPr>
              <a:t>救急への転用仮説：救急隊員の「行動履歴」× 消防庁が保有する「搬送先病院の履歴」を学習させ、現在の救急隊員の行動から次の行動＝搬送先病院の決定を予測する</a:t>
            </a:r>
            <a:endParaRPr lang="en-US" sz="1300" dirty="0"/>
          </a:p>
        </p:txBody>
      </p:sp>
      <p:sp>
        <p:nvSpPr>
          <p:cNvPr id="19" name="Text 17"/>
          <p:cNvSpPr/>
          <p:nvPr/>
        </p:nvSpPr>
        <p:spPr>
          <a:xfrm>
            <a:off x="548640" y="6355080"/>
            <a:ext cx="10545775" cy="365760"/>
          </a:xfrm>
          <a:prstGeom prst="rect">
            <a:avLst/>
          </a:prstGeom>
          <a:noFill/>
          <a:ln/>
        </p:spPr>
        <p:txBody>
          <a:bodyPr wrap="square"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出典：NTTニュースリリース「1to1マーケティングを加速するAI技術『大規模行動モデル(LAM)』を確立」（2025年11月12日）</a:t>
            </a:r>
            <a:endParaRPr lang="en-US" sz="900" dirty="0"/>
          </a:p>
        </p:txBody>
      </p:sp>
      <p:sp>
        <p:nvSpPr>
          <p:cNvPr id="20" name="Text 18"/>
          <p:cNvSpPr/>
          <p:nvPr/>
        </p:nvSpPr>
        <p:spPr>
          <a:xfrm>
            <a:off x="11368735" y="6400800"/>
            <a:ext cx="457200" cy="320040"/>
          </a:xfrm>
          <a:prstGeom prst="rect">
            <a:avLst/>
          </a:prstGeom>
          <a:noFill/>
          <a:ln/>
        </p:spPr>
        <p:txBody>
          <a:bodyPr wrap="square" rtlCol="0" anchor="ctr"/>
          <a:lstStyle/>
          <a:p>
            <a:pPr algn="r" indent="0" marL="0">
              <a:buNone/>
            </a:pPr>
            <a:r>
              <a:rPr lang="en-US" sz="1000" dirty="0">
                <a:solidFill>
                  <a:srgbClr val="595959"/>
                </a:solidFill>
                <a:latin typeface="Yu Gothic" pitchFamily="34" charset="0"/>
                <a:ea typeface="Yu Gothic" pitchFamily="34" charset="-122"/>
                <a:cs typeface="Yu Gothic"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4415" cy="320040"/>
          </a:xfrm>
          <a:prstGeom prst="rect">
            <a:avLst/>
          </a:prstGeom>
          <a:noFill/>
          <a:ln/>
        </p:spPr>
        <p:txBody>
          <a:bodyPr wrap="square" rtlCol="0" anchor="ctr"/>
          <a:lstStyle/>
          <a:p>
            <a:pPr indent="0" marL="0">
              <a:buNone/>
            </a:pPr>
            <a:r>
              <a:rPr lang="en-US" sz="1300" b="1" dirty="0">
                <a:solidFill>
                  <a:srgbClr val="C00000"/>
                </a:solidFill>
                <a:latin typeface="Yu Gothic" pitchFamily="34" charset="0"/>
                <a:ea typeface="Yu Gothic" pitchFamily="34" charset="-122"/>
                <a:cs typeface="Yu Gothic" pitchFamily="34" charset="-120"/>
              </a:rPr>
              <a:t>3C ①</a:t>
            </a:r>
            <a:endParaRPr lang="en-US" sz="1300" dirty="0"/>
          </a:p>
        </p:txBody>
      </p:sp>
      <p:sp>
        <p:nvSpPr>
          <p:cNvPr id="3" name="Text 1"/>
          <p:cNvSpPr/>
          <p:nvPr/>
        </p:nvSpPr>
        <p:spPr>
          <a:xfrm>
            <a:off x="548640" y="594360"/>
            <a:ext cx="11094415" cy="685800"/>
          </a:xfrm>
          <a:prstGeom prst="rect">
            <a:avLst/>
          </a:prstGeom>
          <a:noFill/>
          <a:ln/>
        </p:spPr>
        <p:txBody>
          <a:bodyPr wrap="square" rtlCol="0" anchor="ctr"/>
          <a:lstStyle/>
          <a:p>
            <a:pPr indent="0" marL="0">
              <a:buNone/>
            </a:pPr>
            <a:r>
              <a:rPr lang="en-US" sz="2800" b="1" dirty="0">
                <a:solidFill>
                  <a:srgbClr val="000000"/>
                </a:solidFill>
                <a:latin typeface="Yu Gothic" pitchFamily="34" charset="0"/>
                <a:ea typeface="Yu Gothic" pitchFamily="34" charset="-122"/>
                <a:cs typeface="Yu Gothic" pitchFamily="34" charset="-120"/>
              </a:rPr>
              <a:t>競合・既存プレイヤー分析</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377440"/>
                <a:gridCol w="6126480"/>
                <a:gridCol w="2103120"/>
              </a:tblGrid>
              <a:tr h="960120">
                <a:tc>
                  <a:txBody>
                    <a:bodyPr/>
                    <a:lstStyle/>
                    <a:p>
                      <a:pPr indent="0" marL="0">
                        <a:buNone/>
                      </a:pPr>
                      <a:r>
                        <a:rPr lang="en-US" sz="1300" b="1" dirty="0">
                          <a:solidFill>
                            <a:srgbClr val="FFFFFF"/>
                          </a:solidFill>
                          <a:latin typeface="Yu Gothic" pitchFamily="34" charset="0"/>
                          <a:ea typeface="Yu Gothic" pitchFamily="34" charset="-122"/>
                          <a:cs typeface="Yu Gothic" pitchFamily="34" charset="-120"/>
                        </a:rPr>
                        <a:t>プレイヤー</a:t>
                      </a:r>
                      <a:endParaRPr lang="en-US" sz="1300" dirty="0">
                        <a:latin typeface="Yu Gothic" charset="0"/>
                        <a:ea typeface="Yu Gothic" charset="0"/>
                        <a:cs typeface="Yu Gothic" charset="0"/>
                      </a:endParaRPr>
                    </a:p>
                  </a:txBody>
                  <a:tcPr marL="91440" marR="91440" marT="45720" marB="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300" b="1" dirty="0">
                          <a:solidFill>
                            <a:srgbClr val="FFFFFF"/>
                          </a:solidFill>
                          <a:latin typeface="Yu Gothic" pitchFamily="34" charset="0"/>
                          <a:ea typeface="Yu Gothic" pitchFamily="34" charset="-122"/>
                          <a:cs typeface="Yu Gothic" pitchFamily="34" charset="-120"/>
                        </a:rPr>
                        <a:t>概要</a:t>
                      </a:r>
                      <a:endParaRPr lang="en-US" sz="1300" dirty="0">
                        <a:latin typeface="Yu Gothic" charset="0"/>
                        <a:ea typeface="Yu Gothic" charset="0"/>
                        <a:cs typeface="Yu Gothic" charset="0"/>
                      </a:endParaRPr>
                    </a:p>
                  </a:txBody>
                  <a:tcPr marL="91440" marR="91440" marT="45720" marB="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c>
                  <a:txBody>
                    <a:bodyPr/>
                    <a:lstStyle/>
                    <a:p>
                      <a:pPr indent="0" marL="0">
                        <a:buNone/>
                      </a:pPr>
                      <a:r>
                        <a:rPr lang="en-US" sz="1300" b="1" dirty="0">
                          <a:solidFill>
                            <a:srgbClr val="FFFFFF"/>
                          </a:solidFill>
                          <a:latin typeface="Yu Gothic" pitchFamily="34" charset="0"/>
                          <a:ea typeface="Yu Gothic" pitchFamily="34" charset="-122"/>
                          <a:cs typeface="Yu Gothic" pitchFamily="34" charset="-120"/>
                        </a:rPr>
                        <a:t>状況</a:t>
                      </a:r>
                      <a:endParaRPr lang="en-US" sz="1300" dirty="0">
                        <a:latin typeface="Yu Gothic" charset="0"/>
                        <a:ea typeface="Yu Gothic" charset="0"/>
                        <a:cs typeface="Yu Gothic" charset="0"/>
                      </a:endParaRPr>
                    </a:p>
                  </a:txBody>
                  <a:tcPr marL="91440" marR="91440" marT="45720" marB="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00"/>
                    </a:solidFill>
                  </a:tcPr>
                </a:tc>
              </a:tr>
              <a:tr h="960120">
                <a:tc>
                  <a:txBody>
                    <a:bodyPr/>
                    <a:lstStyle/>
                    <a:p>
                      <a:pPr indent="0" marL="0">
                        <a:buNone/>
                      </a:pPr>
                      <a:r>
                        <a:rPr lang="en-US" sz="1200" b="1" dirty="0">
                          <a:solidFill>
                            <a:srgbClr val="000000"/>
                          </a:solidFill>
                          <a:latin typeface="Yu Gothic" pitchFamily="34" charset="0"/>
                          <a:ea typeface="Yu Gothic" pitchFamily="34" charset="-122"/>
                          <a:cs typeface="Yu Gothic" pitchFamily="34" charset="-120"/>
                        </a:rPr>
                        <a:t>TXP Medical</a:t>
                      </a:r>
                      <a:endParaRPr lang="en-US" sz="1200" dirty="0">
                        <a:latin typeface="Yu Gothic" charset="0"/>
                        <a:ea typeface="Yu Gothic" charset="0"/>
                        <a:cs typeface="Yu Gothic" charset="0"/>
                      </a:endParaRPr>
                    </a:p>
                    <a:p>
                      <a:pPr indent="0" marL="0">
                        <a:buNone/>
                      </a:pPr>
                      <a:r>
                        <a:rPr lang="en-US" sz="1200" b="1" dirty="0">
                          <a:solidFill>
                            <a:srgbClr val="000000"/>
                          </a:solidFill>
                          <a:latin typeface="Yu Gothic" pitchFamily="34" charset="0"/>
                          <a:ea typeface="Yu Gothic" pitchFamily="34" charset="-122"/>
                          <a:cs typeface="Yu Gothic" pitchFamily="34" charset="-120"/>
                        </a:rPr>
                        <a:t>「NSER mobile」</a:t>
                      </a:r>
                      <a:endParaRPr lang="en-US" sz="1200" dirty="0">
                        <a:latin typeface="Yu Gothic" charset="0"/>
                        <a:ea typeface="Yu Gothic" charset="0"/>
                        <a:cs typeface="Yu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00000"/>
                          </a:solidFill>
                          <a:latin typeface="Yu Gothic" pitchFamily="34" charset="0"/>
                          <a:ea typeface="Yu Gothic" pitchFamily="34" charset="-122"/>
                          <a:cs typeface="Yu Gothic" pitchFamily="34" charset="-120"/>
                        </a:rPr>
                        <a:t>全国51自治体（うち11本格運用）。音声AI構造化、情報共有・可視化が中心。NTT Comが出資済み</a:t>
                      </a:r>
                      <a:endParaRPr lang="en-US" sz="1150" dirty="0">
                        <a:latin typeface="Yu Gothic" charset="0"/>
                        <a:ea typeface="Yu Gothic" charset="0"/>
                        <a:cs typeface="Yu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C00000"/>
                          </a:solidFill>
                          <a:latin typeface="Yu Gothic" pitchFamily="34" charset="0"/>
                          <a:ea typeface="Yu Gothic" pitchFamily="34" charset="-122"/>
                          <a:cs typeface="Yu Gothic" pitchFamily="34" charset="-120"/>
                        </a:rPr>
                        <a:t>受入照会時間 -22%</a:t>
                      </a:r>
                      <a:endParaRPr lang="en-US" sz="1150" dirty="0">
                        <a:latin typeface="Yu Gothic" charset="0"/>
                        <a:ea typeface="Yu Gothic" charset="0"/>
                        <a:cs typeface="Yu Gothic" charset="0"/>
                      </a:endParaRPr>
                    </a:p>
                    <a:p>
                      <a:pPr indent="0" marL="0">
                        <a:buNone/>
                      </a:pPr>
                      <a:r>
                        <a:rPr lang="en-US" sz="1150" dirty="0">
                          <a:solidFill>
                            <a:srgbClr val="C00000"/>
                          </a:solidFill>
                          <a:latin typeface="Yu Gothic" pitchFamily="34" charset="0"/>
                          <a:ea typeface="Yu Gothic" pitchFamily="34" charset="-122"/>
                          <a:cs typeface="Yu Gothic" pitchFamily="34" charset="-120"/>
                        </a:rPr>
                        <a:t>現場滞在時間 -10%</a:t>
                      </a:r>
                      <a:endParaRPr lang="en-US" sz="1150" dirty="0">
                        <a:latin typeface="Yu Gothic" charset="0"/>
                        <a:ea typeface="Yu Gothic" charset="0"/>
                        <a:cs typeface="Yu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960120">
                <a:tc>
                  <a:txBody>
                    <a:bodyPr/>
                    <a:lstStyle/>
                    <a:p>
                      <a:pPr indent="0" marL="0">
                        <a:buNone/>
                      </a:pPr>
                      <a:r>
                        <a:rPr lang="en-US" sz="1200" b="1" dirty="0">
                          <a:solidFill>
                            <a:srgbClr val="000000"/>
                          </a:solidFill>
                          <a:latin typeface="Yu Gothic" pitchFamily="34" charset="0"/>
                          <a:ea typeface="Yu Gothic" pitchFamily="34" charset="-122"/>
                          <a:cs typeface="Yu Gothic" pitchFamily="34" charset="-120"/>
                        </a:rPr>
                        <a:t>Smart119</a:t>
                      </a:r>
                      <a:endParaRPr lang="en-US" sz="1200" dirty="0">
                        <a:latin typeface="Yu Gothic" charset="0"/>
                        <a:ea typeface="Yu Gothic" charset="0"/>
                        <a:cs typeface="Yu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00000"/>
                          </a:solidFill>
                          <a:latin typeface="Yu Gothic" pitchFamily="34" charset="0"/>
                          <a:ea typeface="Yu Gothic" pitchFamily="34" charset="-122"/>
                          <a:cs typeface="Yu Gothic" pitchFamily="34" charset="-120"/>
                        </a:rPr>
                        <a:t>OCR・バイタル自動取得。川崎市等で実証、到着時間を最大3分14秒短縮の実証結果</a:t>
                      </a:r>
                      <a:endParaRPr lang="en-US" sz="1150" dirty="0">
                        <a:latin typeface="Yu Gothic" charset="0"/>
                        <a:ea typeface="Yu Gothic" charset="0"/>
                        <a:cs typeface="Yu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C00000"/>
                          </a:solidFill>
                          <a:latin typeface="Yu Gothic" pitchFamily="34" charset="0"/>
                          <a:ea typeface="Yu Gothic" pitchFamily="34" charset="-122"/>
                          <a:cs typeface="Yu Gothic" pitchFamily="34" charset="-120"/>
                        </a:rPr>
                        <a:t>実証段階</a:t>
                      </a:r>
                      <a:endParaRPr lang="en-US" sz="1150" dirty="0">
                        <a:latin typeface="Yu Gothic" charset="0"/>
                        <a:ea typeface="Yu Gothic" charset="0"/>
                        <a:cs typeface="Yu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960120">
                <a:tc>
                  <a:txBody>
                    <a:bodyPr/>
                    <a:lstStyle/>
                    <a:p>
                      <a:pPr indent="0" marL="0">
                        <a:buNone/>
                      </a:pPr>
                      <a:r>
                        <a:rPr lang="en-US" sz="1200" b="1" dirty="0">
                          <a:solidFill>
                            <a:srgbClr val="000000"/>
                          </a:solidFill>
                          <a:latin typeface="Yu Gothic" pitchFamily="34" charset="0"/>
                          <a:ea typeface="Yu Gothic" pitchFamily="34" charset="-122"/>
                          <a:cs typeface="Yu Gothic" pitchFamily="34" charset="-120"/>
                        </a:rPr>
                        <a:t>消防庁</a:t>
                      </a:r>
                      <a:endParaRPr lang="en-US" sz="1200" dirty="0">
                        <a:latin typeface="Yu Gothic" charset="0"/>
                        <a:ea typeface="Yu Gothic" charset="0"/>
                        <a:cs typeface="Yu Gothic" charset="0"/>
                      </a:endParaRPr>
                    </a:p>
                    <a:p>
                      <a:pPr indent="0" marL="0">
                        <a:buNone/>
                      </a:pPr>
                      <a:r>
                        <a:rPr lang="en-US" sz="1200" b="1" dirty="0">
                          <a:solidFill>
                            <a:srgbClr val="000000"/>
                          </a:solidFill>
                          <a:latin typeface="Yu Gothic" pitchFamily="34" charset="0"/>
                          <a:ea typeface="Yu Gothic" pitchFamily="34" charset="-122"/>
                          <a:cs typeface="Yu Gothic" pitchFamily="34" charset="-120"/>
                        </a:rPr>
                        <a:t>AI救急隊運用最適化</a:t>
                      </a:r>
                      <a:endParaRPr lang="en-US" sz="1200" dirty="0">
                        <a:latin typeface="Yu Gothic" charset="0"/>
                        <a:ea typeface="Yu Gothic" charset="0"/>
                        <a:cs typeface="Yu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00000"/>
                          </a:solidFill>
                          <a:latin typeface="Yu Gothic" pitchFamily="34" charset="0"/>
                          <a:ea typeface="Yu Gothic" pitchFamily="34" charset="-122"/>
                          <a:cs typeface="Yu Gothic" pitchFamily="34" charset="-120"/>
                        </a:rPr>
                        <a:t>北九州市・奈良県・京都市・藤沢市で実証（令和7年）。到着時間短縮に特化し、搬送先選定は対象外</a:t>
                      </a:r>
                      <a:endParaRPr lang="en-US" sz="1150" dirty="0">
                        <a:latin typeface="Yu Gothic" charset="0"/>
                        <a:ea typeface="Yu Gothic" charset="0"/>
                        <a:cs typeface="Yu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C00000"/>
                          </a:solidFill>
                          <a:latin typeface="Yu Gothic" pitchFamily="34" charset="0"/>
                          <a:ea typeface="Yu Gothic" pitchFamily="34" charset="-122"/>
                          <a:cs typeface="Yu Gothic" pitchFamily="34" charset="-120"/>
                        </a:rPr>
                        <a:t>実証研究段階</a:t>
                      </a:r>
                      <a:endParaRPr lang="en-US" sz="1150" dirty="0">
                        <a:latin typeface="Yu Gothic" charset="0"/>
                        <a:ea typeface="Yu Gothic" charset="0"/>
                        <a:cs typeface="Yu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960120">
                <a:tc>
                  <a:txBody>
                    <a:bodyPr/>
                    <a:lstStyle/>
                    <a:p>
                      <a:pPr indent="0" marL="0">
                        <a:buNone/>
                      </a:pPr>
                      <a:r>
                        <a:rPr lang="en-US" sz="1200" b="1" dirty="0">
                          <a:solidFill>
                            <a:srgbClr val="000000"/>
                          </a:solidFill>
                          <a:latin typeface="Yu Gothic" pitchFamily="34" charset="0"/>
                          <a:ea typeface="Yu Gothic" pitchFamily="34" charset="-122"/>
                          <a:cs typeface="Yu Gothic" pitchFamily="34" charset="-120"/>
                        </a:rPr>
                        <a:t>NTT（2018年研究）</a:t>
                      </a:r>
                      <a:endParaRPr lang="en-US" sz="1200" dirty="0">
                        <a:latin typeface="Yu Gothic" charset="0"/>
                        <a:ea typeface="Yu Gothic" charset="0"/>
                        <a:cs typeface="Yu Gothic" charset="0"/>
                      </a:endParaRPr>
                    </a:p>
                    <a:p>
                      <a:pPr indent="0" marL="0">
                        <a:buNone/>
                      </a:pPr>
                      <a:r>
                        <a:rPr lang="en-US" sz="1200" b="1" dirty="0">
                          <a:solidFill>
                            <a:srgbClr val="000000"/>
                          </a:solidFill>
                          <a:latin typeface="Yu Gothic" pitchFamily="34" charset="0"/>
                          <a:ea typeface="Yu Gothic" pitchFamily="34" charset="-122"/>
                          <a:cs typeface="Yu Gothic" pitchFamily="34" charset="-120"/>
                        </a:rPr>
                        <a:t>名古屋市・仙台市</a:t>
                      </a:r>
                      <a:endParaRPr lang="en-US" sz="1200" dirty="0">
                        <a:latin typeface="Yu Gothic" charset="0"/>
                        <a:ea typeface="Yu Gothic" charset="0"/>
                        <a:cs typeface="Yu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000000"/>
                          </a:solidFill>
                          <a:latin typeface="Yu Gothic" pitchFamily="34" charset="0"/>
                          <a:ea typeface="Yu Gothic" pitchFamily="34" charset="-122"/>
                          <a:cs typeface="Yu Gothic" pitchFamily="34" charset="-120"/>
                        </a:rPr>
                        <a:t>搬送先病院の受入可能性をランキング学習で推定。過去事例の半数以上で的中も、その後の全国展開は限定的</a:t>
                      </a:r>
                      <a:endParaRPr lang="en-US" sz="1150" dirty="0">
                        <a:latin typeface="Yu Gothic" charset="0"/>
                        <a:ea typeface="Yu Gothic" charset="0"/>
                        <a:cs typeface="Yu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C00000"/>
                          </a:solidFill>
                          <a:latin typeface="Yu Gothic" pitchFamily="34" charset="0"/>
                          <a:ea typeface="Yu Gothic" pitchFamily="34" charset="-122"/>
                          <a:cs typeface="Yu Gothic" pitchFamily="34" charset="-120"/>
                        </a:rPr>
                        <a:t>研究止まり</a:t>
                      </a:r>
                      <a:endParaRPr lang="en-US" sz="1150" dirty="0">
                        <a:latin typeface="Yu Gothic" charset="0"/>
                        <a:ea typeface="Yu Gothic" charset="0"/>
                        <a:cs typeface="Yu Gothic"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5" name="Shape 2"/>
          <p:cNvSpPr/>
          <p:nvPr/>
        </p:nvSpPr>
        <p:spPr>
          <a:xfrm>
            <a:off x="548640" y="5760720"/>
            <a:ext cx="11094415" cy="594360"/>
          </a:xfrm>
          <a:prstGeom prst="roundRect">
            <a:avLst>
              <a:gd name="adj" fmla="val 12308"/>
            </a:avLst>
          </a:prstGeom>
          <a:solidFill>
            <a:srgbClr val="F2F2F2"/>
          </a:solidFill>
          <a:ln w="9525">
            <a:solidFill>
              <a:srgbClr val="D9D9D9"/>
            </a:solidFill>
            <a:prstDash val="solid"/>
          </a:ln>
        </p:spPr>
      </p:sp>
      <p:sp>
        <p:nvSpPr>
          <p:cNvPr id="6" name="Text 3"/>
          <p:cNvSpPr/>
          <p:nvPr/>
        </p:nvSpPr>
        <p:spPr>
          <a:xfrm>
            <a:off x="777240" y="5760720"/>
            <a:ext cx="10637215" cy="594360"/>
          </a:xfrm>
          <a:prstGeom prst="rect">
            <a:avLst/>
          </a:prstGeom>
          <a:noFill/>
          <a:ln/>
        </p:spPr>
        <p:txBody>
          <a:bodyPr wrap="square" lIns="0" tIns="0" rIns="0" bIns="0" rtlCol="0" anchor="ctr"/>
          <a:lstStyle/>
          <a:p>
            <a:pPr indent="0" marL="0">
              <a:buNone/>
            </a:pPr>
            <a:r>
              <a:rPr lang="en-US" sz="1300" b="1" dirty="0">
                <a:solidFill>
                  <a:srgbClr val="000000"/>
                </a:solidFill>
                <a:latin typeface="Yu Gothic" pitchFamily="34" charset="0"/>
                <a:ea typeface="Yu Gothic" pitchFamily="34" charset="-122"/>
                <a:cs typeface="Yu Gothic" pitchFamily="34" charset="-120"/>
              </a:rPr>
              <a:t>示唆：情報共有・可視化レイヤーは埋まりつつある。ドコモが取るべきは「予測AI」×「通信インフラ」レイヤーでの上乗せ</a:t>
            </a:r>
            <a:endParaRPr lang="en-US" sz="1300" dirty="0"/>
          </a:p>
        </p:txBody>
      </p:sp>
      <p:sp>
        <p:nvSpPr>
          <p:cNvPr id="7" name="Text 4"/>
          <p:cNvSpPr/>
          <p:nvPr/>
        </p:nvSpPr>
        <p:spPr>
          <a:xfrm>
            <a:off x="11368735" y="6400800"/>
            <a:ext cx="457200" cy="320040"/>
          </a:xfrm>
          <a:prstGeom prst="rect">
            <a:avLst/>
          </a:prstGeom>
          <a:noFill/>
          <a:ln/>
        </p:spPr>
        <p:txBody>
          <a:bodyPr wrap="square" rtlCol="0" anchor="ctr"/>
          <a:lstStyle/>
          <a:p>
            <a:pPr algn="r" indent="0" marL="0">
              <a:buNone/>
            </a:pPr>
            <a:r>
              <a:rPr lang="en-US" sz="1000" dirty="0">
                <a:solidFill>
                  <a:srgbClr val="595959"/>
                </a:solidFill>
                <a:latin typeface="Yu Gothic" pitchFamily="34" charset="0"/>
                <a:ea typeface="Yu Gothic" pitchFamily="34" charset="-122"/>
                <a:cs typeface="Yu Gothic"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4415" cy="320040"/>
          </a:xfrm>
          <a:prstGeom prst="rect">
            <a:avLst/>
          </a:prstGeom>
          <a:noFill/>
          <a:ln/>
        </p:spPr>
        <p:txBody>
          <a:bodyPr wrap="square" rtlCol="0" anchor="ctr"/>
          <a:lstStyle/>
          <a:p>
            <a:pPr indent="0" marL="0">
              <a:buNone/>
            </a:pPr>
            <a:r>
              <a:rPr lang="en-US" sz="1300" b="1" dirty="0">
                <a:solidFill>
                  <a:srgbClr val="C00000"/>
                </a:solidFill>
                <a:latin typeface="Yu Gothic" pitchFamily="34" charset="0"/>
                <a:ea typeface="Yu Gothic" pitchFamily="34" charset="-122"/>
                <a:cs typeface="Yu Gothic" pitchFamily="34" charset="-120"/>
              </a:rPr>
              <a:t>3C ②</a:t>
            </a:r>
            <a:endParaRPr lang="en-US" sz="1300" dirty="0"/>
          </a:p>
        </p:txBody>
      </p:sp>
      <p:sp>
        <p:nvSpPr>
          <p:cNvPr id="3" name="Text 1"/>
          <p:cNvSpPr/>
          <p:nvPr/>
        </p:nvSpPr>
        <p:spPr>
          <a:xfrm>
            <a:off x="548640" y="594360"/>
            <a:ext cx="11094415" cy="685800"/>
          </a:xfrm>
          <a:prstGeom prst="rect">
            <a:avLst/>
          </a:prstGeom>
          <a:noFill/>
          <a:ln/>
        </p:spPr>
        <p:txBody>
          <a:bodyPr wrap="square" rtlCol="0" anchor="ctr"/>
          <a:lstStyle/>
          <a:p>
            <a:pPr indent="0" marL="0">
              <a:buNone/>
            </a:pPr>
            <a:r>
              <a:rPr lang="en-US" sz="2800" b="1" dirty="0">
                <a:solidFill>
                  <a:srgbClr val="000000"/>
                </a:solidFill>
                <a:latin typeface="Yu Gothic" pitchFamily="34" charset="0"/>
                <a:ea typeface="Yu Gothic" pitchFamily="34" charset="-122"/>
                <a:cs typeface="Yu Gothic" pitchFamily="34" charset="-120"/>
              </a:rPr>
              <a:t>3C分析</a:t>
            </a:r>
            <a:endParaRPr lang="en-US" sz="2800" dirty="0"/>
          </a:p>
        </p:txBody>
      </p:sp>
      <p:sp>
        <p:nvSpPr>
          <p:cNvPr id="4" name="Shape 2"/>
          <p:cNvSpPr/>
          <p:nvPr/>
        </p:nvSpPr>
        <p:spPr>
          <a:xfrm>
            <a:off x="548640" y="1691640"/>
            <a:ext cx="3515258" cy="3931920"/>
          </a:xfrm>
          <a:prstGeom prst="roundRect">
            <a:avLst>
              <a:gd name="adj" fmla="val 2081"/>
            </a:avLst>
          </a:prstGeom>
          <a:solidFill>
            <a:srgbClr val="FFFFFF"/>
          </a:solidFill>
          <a:ln w="9525">
            <a:solidFill>
              <a:srgbClr val="D9D9D9"/>
            </a:solidFill>
            <a:prstDash val="solid"/>
          </a:ln>
          <a:effectLst>
            <a:outerShdw sx="100000" sy="100000" kx="0" ky="0" algn="bl" rotWithShape="0" blurRad="76200" dist="25400" dir="5400000">
              <a:srgbClr val="000000">
                <a:alpha val="12000"/>
              </a:srgbClr>
            </a:outerShdw>
          </a:effectLst>
        </p:spPr>
      </p:sp>
      <p:sp>
        <p:nvSpPr>
          <p:cNvPr id="5" name="Text 3"/>
          <p:cNvSpPr/>
          <p:nvPr/>
        </p:nvSpPr>
        <p:spPr>
          <a:xfrm>
            <a:off x="777240" y="1874520"/>
            <a:ext cx="3058058" cy="365760"/>
          </a:xfrm>
          <a:prstGeom prst="rect">
            <a:avLst/>
          </a:prstGeom>
          <a:noFill/>
          <a:ln/>
        </p:spPr>
        <p:txBody>
          <a:bodyPr wrap="square" lIns="0" tIns="0" rIns="0" bIns="0" rtlCol="0" anchor="ctr"/>
          <a:lstStyle/>
          <a:p>
            <a:pPr indent="0" marL="0">
              <a:buNone/>
            </a:pPr>
            <a:r>
              <a:rPr lang="en-US" sz="1700" b="1" dirty="0">
                <a:solidFill>
                  <a:srgbClr val="C00000"/>
                </a:solidFill>
                <a:latin typeface="Yu Gothic" pitchFamily="34" charset="0"/>
                <a:ea typeface="Yu Gothic" pitchFamily="34" charset="-122"/>
                <a:cs typeface="Yu Gothic" pitchFamily="34" charset="-120"/>
              </a:rPr>
              <a:t>Customer</a:t>
            </a:r>
            <a:endParaRPr lang="en-US" sz="1700" dirty="0"/>
          </a:p>
        </p:txBody>
      </p:sp>
      <p:sp>
        <p:nvSpPr>
          <p:cNvPr id="6" name="Text 4"/>
          <p:cNvSpPr/>
          <p:nvPr/>
        </p:nvSpPr>
        <p:spPr>
          <a:xfrm>
            <a:off x="777240" y="2240280"/>
            <a:ext cx="3058058" cy="320040"/>
          </a:xfrm>
          <a:prstGeom prst="rect">
            <a:avLst/>
          </a:prstGeom>
          <a:noFill/>
          <a:ln/>
        </p:spPr>
        <p:txBody>
          <a:bodyPr wrap="square" lIns="0" tIns="0" rIns="0" bIns="0" rtlCol="0" anchor="ctr"/>
          <a:lstStyle/>
          <a:p>
            <a:pPr indent="0" marL="0">
              <a:buNone/>
            </a:pPr>
            <a:r>
              <a:rPr lang="en-US" sz="1200" dirty="0">
                <a:solidFill>
                  <a:srgbClr val="595959"/>
                </a:solidFill>
                <a:latin typeface="Yu Gothic" pitchFamily="34" charset="0"/>
                <a:ea typeface="Yu Gothic" pitchFamily="34" charset="-122"/>
                <a:cs typeface="Yu Gothic" pitchFamily="34" charset="-120"/>
              </a:rPr>
              <a:t>顧客・市場</a:t>
            </a:r>
            <a:endParaRPr lang="en-US" sz="1200" dirty="0"/>
          </a:p>
        </p:txBody>
      </p:sp>
      <p:sp>
        <p:nvSpPr>
          <p:cNvPr id="7" name="Text 5"/>
          <p:cNvSpPr/>
          <p:nvPr/>
        </p:nvSpPr>
        <p:spPr>
          <a:xfrm>
            <a:off x="777240" y="2651760"/>
            <a:ext cx="3058058" cy="283464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000000"/>
                </a:solidFill>
                <a:latin typeface="Yu Gothic" pitchFamily="34" charset="0"/>
                <a:ea typeface="Yu Gothic" pitchFamily="34" charset="-122"/>
                <a:cs typeface="Yu Gothic" pitchFamily="34" charset="-120"/>
              </a:rPr>
              <a:t>顧客（払う人）：消防本部／自治体／厚労省</a:t>
            </a:r>
            <a:endParaRPr lang="en-US" sz="1250" dirty="0"/>
          </a:p>
          <a:p>
            <a:pPr marL="342900" indent="-342900">
              <a:spcAft>
                <a:spcPts val="1000"/>
              </a:spcAft>
              <a:buSzPct val="100000"/>
              <a:buChar char="•"/>
            </a:pPr>
            <a:r>
              <a:rPr lang="en-US" sz="1250" dirty="0">
                <a:solidFill>
                  <a:srgbClr val="000000"/>
                </a:solidFill>
                <a:latin typeface="Yu Gothic" pitchFamily="34" charset="0"/>
                <a:ea typeface="Yu Gothic" pitchFamily="34" charset="-122"/>
                <a:cs typeface="Yu Gothic" pitchFamily="34" charset="-120"/>
              </a:rPr>
              <a:t>ユーザー（困っている人）：患者</a:t>
            </a:r>
            <a:endParaRPr lang="en-US" sz="1250" dirty="0"/>
          </a:p>
          <a:p>
            <a:pPr marL="342900" indent="-342900">
              <a:spcAft>
                <a:spcPts val="1000"/>
              </a:spcAft>
              <a:buSzPct val="100000"/>
              <a:buChar char="•"/>
            </a:pPr>
            <a:r>
              <a:rPr lang="en-US" sz="1250" dirty="0">
                <a:solidFill>
                  <a:srgbClr val="000000"/>
                </a:solidFill>
                <a:latin typeface="Yu Gothic" pitchFamily="34" charset="0"/>
                <a:ea typeface="Yu Gothic" pitchFamily="34" charset="-122"/>
                <a:cs typeface="Yu Gothic" pitchFamily="34" charset="-120"/>
              </a:rPr>
              <a:t>顧客とユーザーが分離した市場構造</a:t>
            </a:r>
            <a:endParaRPr lang="en-US" sz="1250" dirty="0"/>
          </a:p>
        </p:txBody>
      </p:sp>
      <p:sp>
        <p:nvSpPr>
          <p:cNvPr id="8" name="Shape 6"/>
          <p:cNvSpPr/>
          <p:nvPr/>
        </p:nvSpPr>
        <p:spPr>
          <a:xfrm>
            <a:off x="4338218" y="1691640"/>
            <a:ext cx="3515258" cy="3931920"/>
          </a:xfrm>
          <a:prstGeom prst="roundRect">
            <a:avLst>
              <a:gd name="adj" fmla="val 2081"/>
            </a:avLst>
          </a:prstGeom>
          <a:solidFill>
            <a:srgbClr val="FFFFFF"/>
          </a:solidFill>
          <a:ln w="9525">
            <a:solidFill>
              <a:srgbClr val="D9D9D9"/>
            </a:solidFill>
            <a:prstDash val="solid"/>
          </a:ln>
          <a:effectLst>
            <a:outerShdw sx="100000" sy="100000" kx="0" ky="0" algn="bl" rotWithShape="0" blurRad="76200" dist="25400" dir="5400000">
              <a:srgbClr val="000000">
                <a:alpha val="12000"/>
              </a:srgbClr>
            </a:outerShdw>
          </a:effectLst>
        </p:spPr>
      </p:sp>
      <p:sp>
        <p:nvSpPr>
          <p:cNvPr id="9" name="Text 7"/>
          <p:cNvSpPr/>
          <p:nvPr/>
        </p:nvSpPr>
        <p:spPr>
          <a:xfrm>
            <a:off x="4566818" y="1874520"/>
            <a:ext cx="3058058" cy="365760"/>
          </a:xfrm>
          <a:prstGeom prst="rect">
            <a:avLst/>
          </a:prstGeom>
          <a:noFill/>
          <a:ln/>
        </p:spPr>
        <p:txBody>
          <a:bodyPr wrap="square" lIns="0" tIns="0" rIns="0" bIns="0" rtlCol="0" anchor="ctr"/>
          <a:lstStyle/>
          <a:p>
            <a:pPr indent="0" marL="0">
              <a:buNone/>
            </a:pPr>
            <a:r>
              <a:rPr lang="en-US" sz="1700" b="1" dirty="0">
                <a:solidFill>
                  <a:srgbClr val="C00000"/>
                </a:solidFill>
                <a:latin typeface="Yu Gothic" pitchFamily="34" charset="0"/>
                <a:ea typeface="Yu Gothic" pitchFamily="34" charset="-122"/>
                <a:cs typeface="Yu Gothic" pitchFamily="34" charset="-120"/>
              </a:rPr>
              <a:t>Competitor</a:t>
            </a:r>
            <a:endParaRPr lang="en-US" sz="1700" dirty="0"/>
          </a:p>
        </p:txBody>
      </p:sp>
      <p:sp>
        <p:nvSpPr>
          <p:cNvPr id="10" name="Text 8"/>
          <p:cNvSpPr/>
          <p:nvPr/>
        </p:nvSpPr>
        <p:spPr>
          <a:xfrm>
            <a:off x="4566818" y="2240280"/>
            <a:ext cx="3058058" cy="320040"/>
          </a:xfrm>
          <a:prstGeom prst="rect">
            <a:avLst/>
          </a:prstGeom>
          <a:noFill/>
          <a:ln/>
        </p:spPr>
        <p:txBody>
          <a:bodyPr wrap="square" lIns="0" tIns="0" rIns="0" bIns="0" rtlCol="0" anchor="ctr"/>
          <a:lstStyle/>
          <a:p>
            <a:pPr indent="0" marL="0">
              <a:buNone/>
            </a:pPr>
            <a:r>
              <a:rPr lang="en-US" sz="1200" dirty="0">
                <a:solidFill>
                  <a:srgbClr val="595959"/>
                </a:solidFill>
                <a:latin typeface="Yu Gothic" pitchFamily="34" charset="0"/>
                <a:ea typeface="Yu Gothic" pitchFamily="34" charset="-122"/>
                <a:cs typeface="Yu Gothic" pitchFamily="34" charset="-120"/>
              </a:rPr>
              <a:t>競合</a:t>
            </a:r>
            <a:endParaRPr lang="en-US" sz="1200" dirty="0"/>
          </a:p>
        </p:txBody>
      </p:sp>
      <p:sp>
        <p:nvSpPr>
          <p:cNvPr id="11" name="Text 9"/>
          <p:cNvSpPr/>
          <p:nvPr/>
        </p:nvSpPr>
        <p:spPr>
          <a:xfrm>
            <a:off x="4566818" y="2651760"/>
            <a:ext cx="3058058" cy="283464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000000"/>
                </a:solidFill>
                <a:latin typeface="Yu Gothic" pitchFamily="34" charset="0"/>
                <a:ea typeface="Yu Gothic" pitchFamily="34" charset="-122"/>
                <a:cs typeface="Yu Gothic" pitchFamily="34" charset="-120"/>
              </a:rPr>
              <a:t>TXP Medical（NSER mobile）：資金力24.6億円、51自治体で実績</a:t>
            </a:r>
            <a:endParaRPr lang="en-US" sz="1250" dirty="0"/>
          </a:p>
          <a:p>
            <a:pPr marL="342900" indent="-342900">
              <a:spcAft>
                <a:spcPts val="1000"/>
              </a:spcAft>
              <a:buSzPct val="100000"/>
              <a:buChar char="•"/>
            </a:pPr>
            <a:r>
              <a:rPr lang="en-US" sz="1250" dirty="0">
                <a:solidFill>
                  <a:srgbClr val="000000"/>
                </a:solidFill>
                <a:latin typeface="Yu Gothic" pitchFamily="34" charset="0"/>
                <a:ea typeface="Yu Gothic" pitchFamily="34" charset="-122"/>
                <a:cs typeface="Yu Gothic" pitchFamily="34" charset="-120"/>
              </a:rPr>
              <a:t>Smart119・消防庁直轄AI実証</a:t>
            </a:r>
            <a:endParaRPr lang="en-US" sz="1250" dirty="0"/>
          </a:p>
          <a:p>
            <a:pPr marL="342900" indent="-342900">
              <a:spcAft>
                <a:spcPts val="1000"/>
              </a:spcAft>
              <a:buSzPct val="100000"/>
              <a:buChar char="•"/>
            </a:pPr>
            <a:r>
              <a:rPr lang="en-US" sz="1250" dirty="0">
                <a:solidFill>
                  <a:srgbClr val="000000"/>
                </a:solidFill>
                <a:latin typeface="Yu Gothic" pitchFamily="34" charset="0"/>
                <a:ea typeface="Yu Gothic" pitchFamily="34" charset="-122"/>
                <a:cs typeface="Yu Gothic" pitchFamily="34" charset="-120"/>
              </a:rPr>
              <a:t>情報共有レイヤーは競合が先行</a:t>
            </a:r>
            <a:endParaRPr lang="en-US" sz="1250" dirty="0"/>
          </a:p>
        </p:txBody>
      </p:sp>
      <p:sp>
        <p:nvSpPr>
          <p:cNvPr id="12" name="Shape 10"/>
          <p:cNvSpPr/>
          <p:nvPr/>
        </p:nvSpPr>
        <p:spPr>
          <a:xfrm>
            <a:off x="8127797" y="1691640"/>
            <a:ext cx="3515258" cy="3931920"/>
          </a:xfrm>
          <a:prstGeom prst="roundRect">
            <a:avLst>
              <a:gd name="adj" fmla="val 2081"/>
            </a:avLst>
          </a:prstGeom>
          <a:solidFill>
            <a:srgbClr val="F2F2F2"/>
          </a:solidFill>
          <a:ln w="9525">
            <a:solidFill>
              <a:srgbClr val="D9D9D9"/>
            </a:solidFill>
            <a:prstDash val="solid"/>
          </a:ln>
          <a:effectLst>
            <a:outerShdw sx="100000" sy="100000" kx="0" ky="0" algn="bl" rotWithShape="0" blurRad="76200" dist="25400" dir="5400000">
              <a:srgbClr val="000000">
                <a:alpha val="12000"/>
              </a:srgbClr>
            </a:outerShdw>
          </a:effectLst>
        </p:spPr>
      </p:sp>
      <p:sp>
        <p:nvSpPr>
          <p:cNvPr id="13" name="Text 11"/>
          <p:cNvSpPr/>
          <p:nvPr/>
        </p:nvSpPr>
        <p:spPr>
          <a:xfrm>
            <a:off x="8356397" y="1874520"/>
            <a:ext cx="3058058" cy="365760"/>
          </a:xfrm>
          <a:prstGeom prst="rect">
            <a:avLst/>
          </a:prstGeom>
          <a:noFill/>
          <a:ln/>
        </p:spPr>
        <p:txBody>
          <a:bodyPr wrap="square" lIns="0" tIns="0" rIns="0" bIns="0" rtlCol="0" anchor="ctr"/>
          <a:lstStyle/>
          <a:p>
            <a:pPr indent="0" marL="0">
              <a:buNone/>
            </a:pPr>
            <a:r>
              <a:rPr lang="en-US" sz="1700" b="1" dirty="0">
                <a:solidFill>
                  <a:srgbClr val="C00000"/>
                </a:solidFill>
                <a:latin typeface="Yu Gothic" pitchFamily="34" charset="0"/>
                <a:ea typeface="Yu Gothic" pitchFamily="34" charset="-122"/>
                <a:cs typeface="Yu Gothic" pitchFamily="34" charset="-120"/>
              </a:rPr>
              <a:t>Company</a:t>
            </a:r>
            <a:endParaRPr lang="en-US" sz="1700" dirty="0"/>
          </a:p>
        </p:txBody>
      </p:sp>
      <p:sp>
        <p:nvSpPr>
          <p:cNvPr id="14" name="Text 12"/>
          <p:cNvSpPr/>
          <p:nvPr/>
        </p:nvSpPr>
        <p:spPr>
          <a:xfrm>
            <a:off x="8356397" y="2240280"/>
            <a:ext cx="3058058" cy="320040"/>
          </a:xfrm>
          <a:prstGeom prst="rect">
            <a:avLst/>
          </a:prstGeom>
          <a:noFill/>
          <a:ln/>
        </p:spPr>
        <p:txBody>
          <a:bodyPr wrap="square" lIns="0" tIns="0" rIns="0" bIns="0" rtlCol="0" anchor="ctr"/>
          <a:lstStyle/>
          <a:p>
            <a:pPr indent="0" marL="0">
              <a:buNone/>
            </a:pPr>
            <a:r>
              <a:rPr lang="en-US" sz="1200" dirty="0">
                <a:solidFill>
                  <a:srgbClr val="595959"/>
                </a:solidFill>
                <a:latin typeface="Yu Gothic" pitchFamily="34" charset="0"/>
                <a:ea typeface="Yu Gothic" pitchFamily="34" charset="-122"/>
                <a:cs typeface="Yu Gothic" pitchFamily="34" charset="-120"/>
              </a:rPr>
              <a:t>自社</a:t>
            </a:r>
            <a:endParaRPr lang="en-US" sz="1200" dirty="0"/>
          </a:p>
        </p:txBody>
      </p:sp>
      <p:sp>
        <p:nvSpPr>
          <p:cNvPr id="15" name="Text 13"/>
          <p:cNvSpPr/>
          <p:nvPr/>
        </p:nvSpPr>
        <p:spPr>
          <a:xfrm>
            <a:off x="8356397" y="2651760"/>
            <a:ext cx="3058058" cy="283464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000000"/>
                </a:solidFill>
                <a:latin typeface="Yu Gothic" pitchFamily="34" charset="0"/>
                <a:ea typeface="Yu Gothic" pitchFamily="34" charset="-122"/>
                <a:cs typeface="Yu Gothic" pitchFamily="34" charset="-120"/>
              </a:rPr>
              <a:t>全国規模の通信網と5G</a:t>
            </a:r>
            <a:endParaRPr lang="en-US" sz="1250" dirty="0"/>
          </a:p>
          <a:p>
            <a:pPr marL="342900" indent="-342900">
              <a:spcAft>
                <a:spcPts val="1000"/>
              </a:spcAft>
              <a:buSzPct val="100000"/>
              <a:buChar char="•"/>
            </a:pPr>
            <a:r>
              <a:rPr lang="en-US" sz="1250" dirty="0">
                <a:solidFill>
                  <a:srgbClr val="000000"/>
                </a:solidFill>
                <a:latin typeface="Yu Gothic" pitchFamily="34" charset="0"/>
                <a:ea typeface="Yu Gothic" pitchFamily="34" charset="-122"/>
                <a:cs typeface="Yu Gothic" pitchFamily="34" charset="-120"/>
              </a:rPr>
              <a:t>モバイル空間統計・LAM技術</a:t>
            </a:r>
            <a:endParaRPr lang="en-US" sz="1250" dirty="0"/>
          </a:p>
          <a:p>
            <a:pPr marL="342900" indent="-342900">
              <a:spcAft>
                <a:spcPts val="1000"/>
              </a:spcAft>
              <a:buSzPct val="100000"/>
              <a:buChar char="•"/>
            </a:pPr>
            <a:r>
              <a:rPr lang="en-US" sz="1250" dirty="0">
                <a:solidFill>
                  <a:srgbClr val="000000"/>
                </a:solidFill>
                <a:latin typeface="Yu Gothic" pitchFamily="34" charset="0"/>
                <a:ea typeface="Yu Gothic" pitchFamily="34" charset="-122"/>
                <a:cs typeface="Yu Gothic" pitchFamily="34" charset="-120"/>
              </a:rPr>
              <a:t>NTT Com×TXP Medicalの資本関係という土台</a:t>
            </a:r>
            <a:endParaRPr lang="en-US" sz="1250" dirty="0"/>
          </a:p>
        </p:txBody>
      </p:sp>
      <p:sp>
        <p:nvSpPr>
          <p:cNvPr id="16" name="Text 14"/>
          <p:cNvSpPr/>
          <p:nvPr/>
        </p:nvSpPr>
        <p:spPr>
          <a:xfrm>
            <a:off x="11368735" y="6400800"/>
            <a:ext cx="457200" cy="320040"/>
          </a:xfrm>
          <a:prstGeom prst="rect">
            <a:avLst/>
          </a:prstGeom>
          <a:noFill/>
          <a:ln/>
        </p:spPr>
        <p:txBody>
          <a:bodyPr wrap="square" rtlCol="0" anchor="ctr"/>
          <a:lstStyle/>
          <a:p>
            <a:pPr algn="r" indent="0" marL="0">
              <a:buNone/>
            </a:pPr>
            <a:r>
              <a:rPr lang="en-US" sz="1000" dirty="0">
                <a:solidFill>
                  <a:srgbClr val="595959"/>
                </a:solidFill>
                <a:latin typeface="Yu Gothic" pitchFamily="34" charset="0"/>
                <a:ea typeface="Yu Gothic" pitchFamily="34" charset="-122"/>
                <a:cs typeface="Yu Gothic"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4415" cy="320040"/>
          </a:xfrm>
          <a:prstGeom prst="rect">
            <a:avLst/>
          </a:prstGeom>
          <a:noFill/>
          <a:ln/>
        </p:spPr>
        <p:txBody>
          <a:bodyPr wrap="square" rtlCol="0" anchor="ctr"/>
          <a:lstStyle/>
          <a:p>
            <a:pPr indent="0" marL="0">
              <a:buNone/>
            </a:pPr>
            <a:r>
              <a:rPr lang="en-US" sz="1300" b="1" dirty="0">
                <a:solidFill>
                  <a:srgbClr val="C00000"/>
                </a:solidFill>
                <a:latin typeface="Yu Gothic" pitchFamily="34" charset="0"/>
                <a:ea typeface="Yu Gothic" pitchFamily="34" charset="-122"/>
                <a:cs typeface="Yu Gothic" pitchFamily="34" charset="-120"/>
              </a:rPr>
              <a:t>3C/4P</a:t>
            </a:r>
            <a:endParaRPr lang="en-US" sz="1300" dirty="0"/>
          </a:p>
        </p:txBody>
      </p:sp>
      <p:sp>
        <p:nvSpPr>
          <p:cNvPr id="3" name="Text 1"/>
          <p:cNvSpPr/>
          <p:nvPr/>
        </p:nvSpPr>
        <p:spPr>
          <a:xfrm>
            <a:off x="548640" y="594360"/>
            <a:ext cx="11094415" cy="685800"/>
          </a:xfrm>
          <a:prstGeom prst="rect">
            <a:avLst/>
          </a:prstGeom>
          <a:noFill/>
          <a:ln/>
        </p:spPr>
        <p:txBody>
          <a:bodyPr wrap="square" rtlCol="0" anchor="ctr"/>
          <a:lstStyle/>
          <a:p>
            <a:pPr indent="0" marL="0">
              <a:buNone/>
            </a:pPr>
            <a:r>
              <a:rPr lang="en-US" sz="2800" b="1" dirty="0">
                <a:solidFill>
                  <a:srgbClr val="000000"/>
                </a:solidFill>
                <a:latin typeface="Yu Gothic" pitchFamily="34" charset="0"/>
                <a:ea typeface="Yu Gothic" pitchFamily="34" charset="-122"/>
                <a:cs typeface="Yu Gothic" pitchFamily="34" charset="-120"/>
              </a:rPr>
              <a:t>4P分析 ― TXP Medical連携による優位性</a:t>
            </a:r>
            <a:endParaRPr lang="en-US" sz="2800" dirty="0"/>
          </a:p>
        </p:txBody>
      </p:sp>
      <p:sp>
        <p:nvSpPr>
          <p:cNvPr id="4" name="Shape 2"/>
          <p:cNvSpPr/>
          <p:nvPr/>
        </p:nvSpPr>
        <p:spPr>
          <a:xfrm>
            <a:off x="548640" y="1691640"/>
            <a:ext cx="5364328" cy="1783080"/>
          </a:xfrm>
          <a:prstGeom prst="roundRect">
            <a:avLst>
              <a:gd name="adj" fmla="val 4103"/>
            </a:avLst>
          </a:prstGeom>
          <a:solidFill>
            <a:srgbClr val="F2F2F2"/>
          </a:solidFill>
          <a:ln w="9525">
            <a:solidFill>
              <a:srgbClr val="D9D9D9"/>
            </a:solidFill>
            <a:prstDash val="solid"/>
          </a:ln>
          <a:effectLst>
            <a:outerShdw sx="100000" sy="100000" kx="0" ky="0" algn="bl" rotWithShape="0" blurRad="76200" dist="25400" dir="5400000">
              <a:srgbClr val="000000">
                <a:alpha val="12000"/>
              </a:srgbClr>
            </a:outerShdw>
          </a:effectLst>
        </p:spPr>
      </p:sp>
      <p:sp>
        <p:nvSpPr>
          <p:cNvPr id="5" name="Text 3"/>
          <p:cNvSpPr/>
          <p:nvPr/>
        </p:nvSpPr>
        <p:spPr>
          <a:xfrm>
            <a:off x="822960" y="1856232"/>
            <a:ext cx="4815688" cy="411480"/>
          </a:xfrm>
          <a:prstGeom prst="rect">
            <a:avLst/>
          </a:prstGeom>
          <a:noFill/>
          <a:ln/>
        </p:spPr>
        <p:txBody>
          <a:bodyPr wrap="square" lIns="0" tIns="0" rIns="0" bIns="0" rtlCol="0" anchor="ctr"/>
          <a:lstStyle/>
          <a:p>
            <a:pPr indent="0" marL="0">
              <a:buNone/>
            </a:pPr>
            <a:r>
              <a:rPr lang="en-US" sz="1800" b="1" dirty="0">
                <a:solidFill>
                  <a:srgbClr val="C00000"/>
                </a:solidFill>
                <a:latin typeface="Yu Gothic" pitchFamily="34" charset="0"/>
                <a:ea typeface="Yu Gothic" pitchFamily="34" charset="-122"/>
                <a:cs typeface="Yu Gothic" pitchFamily="34" charset="-120"/>
              </a:rPr>
              <a:t>Product</a:t>
            </a:r>
            <a:endParaRPr lang="en-US" sz="1800" dirty="0"/>
          </a:p>
        </p:txBody>
      </p:sp>
      <p:sp>
        <p:nvSpPr>
          <p:cNvPr id="6" name="Text 4"/>
          <p:cNvSpPr/>
          <p:nvPr/>
        </p:nvSpPr>
        <p:spPr>
          <a:xfrm>
            <a:off x="822960" y="2313432"/>
            <a:ext cx="4815688" cy="1005840"/>
          </a:xfrm>
          <a:prstGeom prst="rect">
            <a:avLst/>
          </a:prstGeom>
          <a:noFill/>
          <a:ln/>
        </p:spPr>
        <p:txBody>
          <a:bodyPr wrap="square" lIns="0" tIns="0" rIns="0" bIns="0" rtlCol="0" anchor="ctr"/>
          <a:lstStyle/>
          <a:p>
            <a:pPr indent="0" marL="0">
              <a:buNone/>
            </a:pPr>
            <a:r>
              <a:rPr lang="en-US" sz="1350" dirty="0">
                <a:solidFill>
                  <a:srgbClr val="000000"/>
                </a:solidFill>
                <a:latin typeface="Yu Gothic" pitchFamily="34" charset="0"/>
                <a:ea typeface="Yu Gothic" pitchFamily="34" charset="-122"/>
                <a:cs typeface="Yu Gothic" pitchFamily="34" charset="-120"/>
              </a:rPr>
              <a:t>音声AI一次予測・搬送先優先度AI・5G高精細映像を追加。ゼロ開発ではなく既存プロダクト（NSER mobile）を強化</a:t>
            </a:r>
            <a:endParaRPr lang="en-US" sz="1350" dirty="0"/>
          </a:p>
        </p:txBody>
      </p:sp>
      <p:sp>
        <p:nvSpPr>
          <p:cNvPr id="7" name="Shape 5"/>
          <p:cNvSpPr/>
          <p:nvPr/>
        </p:nvSpPr>
        <p:spPr>
          <a:xfrm>
            <a:off x="6278728" y="1691640"/>
            <a:ext cx="5364328" cy="1783080"/>
          </a:xfrm>
          <a:prstGeom prst="roundRect">
            <a:avLst>
              <a:gd name="adj" fmla="val 4103"/>
            </a:avLst>
          </a:prstGeom>
          <a:solidFill>
            <a:srgbClr val="F2F2F2"/>
          </a:solidFill>
          <a:ln w="9525">
            <a:solidFill>
              <a:srgbClr val="D9D9D9"/>
            </a:solidFill>
            <a:prstDash val="solid"/>
          </a:ln>
          <a:effectLst>
            <a:outerShdw sx="100000" sy="100000" kx="0" ky="0" algn="bl" rotWithShape="0" blurRad="76200" dist="25400" dir="5400000">
              <a:srgbClr val="000000">
                <a:alpha val="12000"/>
              </a:srgbClr>
            </a:outerShdw>
          </a:effectLst>
        </p:spPr>
      </p:sp>
      <p:sp>
        <p:nvSpPr>
          <p:cNvPr id="8" name="Text 6"/>
          <p:cNvSpPr/>
          <p:nvPr/>
        </p:nvSpPr>
        <p:spPr>
          <a:xfrm>
            <a:off x="6553048" y="1856232"/>
            <a:ext cx="4815688" cy="411480"/>
          </a:xfrm>
          <a:prstGeom prst="rect">
            <a:avLst/>
          </a:prstGeom>
          <a:noFill/>
          <a:ln/>
        </p:spPr>
        <p:txBody>
          <a:bodyPr wrap="square" lIns="0" tIns="0" rIns="0" bIns="0" rtlCol="0" anchor="ctr"/>
          <a:lstStyle/>
          <a:p>
            <a:pPr indent="0" marL="0">
              <a:buNone/>
            </a:pPr>
            <a:r>
              <a:rPr lang="en-US" sz="1800" b="1" dirty="0">
                <a:solidFill>
                  <a:srgbClr val="C00000"/>
                </a:solidFill>
                <a:latin typeface="Yu Gothic" pitchFamily="34" charset="0"/>
                <a:ea typeface="Yu Gothic" pitchFamily="34" charset="-122"/>
                <a:cs typeface="Yu Gothic" pitchFamily="34" charset="-120"/>
              </a:rPr>
              <a:t>Price</a:t>
            </a:r>
            <a:endParaRPr lang="en-US" sz="1800" dirty="0"/>
          </a:p>
        </p:txBody>
      </p:sp>
      <p:sp>
        <p:nvSpPr>
          <p:cNvPr id="9" name="Text 7"/>
          <p:cNvSpPr/>
          <p:nvPr/>
        </p:nvSpPr>
        <p:spPr>
          <a:xfrm>
            <a:off x="6553048" y="2313432"/>
            <a:ext cx="4815688" cy="1005840"/>
          </a:xfrm>
          <a:prstGeom prst="rect">
            <a:avLst/>
          </a:prstGeom>
          <a:noFill/>
          <a:ln/>
        </p:spPr>
        <p:txBody>
          <a:bodyPr wrap="square" lIns="0" tIns="0" rIns="0" bIns="0" rtlCol="0" anchor="ctr"/>
          <a:lstStyle/>
          <a:p>
            <a:pPr indent="0" marL="0">
              <a:buNone/>
            </a:pPr>
            <a:r>
              <a:rPr lang="en-US" sz="1350" dirty="0">
                <a:solidFill>
                  <a:srgbClr val="000000"/>
                </a:solidFill>
                <a:latin typeface="Yu Gothic" pitchFamily="34" charset="0"/>
                <a:ea typeface="Yu Gothic" pitchFamily="34" charset="-122"/>
                <a:cs typeface="Yu Gothic" pitchFamily="34" charset="-120"/>
              </a:rPr>
              <a:t>ドコモの既存通信アセットを活用するため、新規開発より低コストで提供可能</a:t>
            </a:r>
            <a:endParaRPr lang="en-US" sz="1350" dirty="0"/>
          </a:p>
        </p:txBody>
      </p:sp>
      <p:sp>
        <p:nvSpPr>
          <p:cNvPr id="10" name="Shape 8"/>
          <p:cNvSpPr/>
          <p:nvPr/>
        </p:nvSpPr>
        <p:spPr>
          <a:xfrm>
            <a:off x="548640" y="3749040"/>
            <a:ext cx="5364328" cy="1783080"/>
          </a:xfrm>
          <a:prstGeom prst="roundRect">
            <a:avLst>
              <a:gd name="adj" fmla="val 4103"/>
            </a:avLst>
          </a:prstGeom>
          <a:solidFill>
            <a:srgbClr val="F2F2F2"/>
          </a:solidFill>
          <a:ln w="9525">
            <a:solidFill>
              <a:srgbClr val="D9D9D9"/>
            </a:solidFill>
            <a:prstDash val="solid"/>
          </a:ln>
          <a:effectLst>
            <a:outerShdw sx="100000" sy="100000" kx="0" ky="0" algn="bl" rotWithShape="0" blurRad="76200" dist="25400" dir="5400000">
              <a:srgbClr val="000000">
                <a:alpha val="12000"/>
              </a:srgbClr>
            </a:outerShdw>
          </a:effectLst>
        </p:spPr>
      </p:sp>
      <p:sp>
        <p:nvSpPr>
          <p:cNvPr id="11" name="Text 9"/>
          <p:cNvSpPr/>
          <p:nvPr/>
        </p:nvSpPr>
        <p:spPr>
          <a:xfrm>
            <a:off x="822960" y="3913632"/>
            <a:ext cx="4815688" cy="411480"/>
          </a:xfrm>
          <a:prstGeom prst="rect">
            <a:avLst/>
          </a:prstGeom>
          <a:noFill/>
          <a:ln/>
        </p:spPr>
        <p:txBody>
          <a:bodyPr wrap="square" lIns="0" tIns="0" rIns="0" bIns="0" rtlCol="0" anchor="ctr"/>
          <a:lstStyle/>
          <a:p>
            <a:pPr indent="0" marL="0">
              <a:buNone/>
            </a:pPr>
            <a:r>
              <a:rPr lang="en-US" sz="1800" b="1" dirty="0">
                <a:solidFill>
                  <a:srgbClr val="C00000"/>
                </a:solidFill>
                <a:latin typeface="Yu Gothic" pitchFamily="34" charset="0"/>
                <a:ea typeface="Yu Gothic" pitchFamily="34" charset="-122"/>
                <a:cs typeface="Yu Gothic" pitchFamily="34" charset="-120"/>
              </a:rPr>
              <a:t>Place</a:t>
            </a:r>
            <a:endParaRPr lang="en-US" sz="1800" dirty="0"/>
          </a:p>
        </p:txBody>
      </p:sp>
      <p:sp>
        <p:nvSpPr>
          <p:cNvPr id="12" name="Text 10"/>
          <p:cNvSpPr/>
          <p:nvPr/>
        </p:nvSpPr>
        <p:spPr>
          <a:xfrm>
            <a:off x="822960" y="4370832"/>
            <a:ext cx="4815688" cy="1005840"/>
          </a:xfrm>
          <a:prstGeom prst="rect">
            <a:avLst/>
          </a:prstGeom>
          <a:noFill/>
          <a:ln/>
        </p:spPr>
        <p:txBody>
          <a:bodyPr wrap="square" lIns="0" tIns="0" rIns="0" bIns="0" rtlCol="0" anchor="ctr"/>
          <a:lstStyle/>
          <a:p>
            <a:pPr indent="0" marL="0">
              <a:buNone/>
            </a:pPr>
            <a:r>
              <a:rPr lang="en-US" sz="1350" dirty="0">
                <a:solidFill>
                  <a:srgbClr val="000000"/>
                </a:solidFill>
                <a:latin typeface="Yu Gothic" pitchFamily="34" charset="0"/>
                <a:ea typeface="Yu Gothic" pitchFamily="34" charset="-122"/>
                <a:cs typeface="Yu Gothic" pitchFamily="34" charset="-120"/>
              </a:rPr>
              <a:t>TXP Medicalが持つ病院・自治体との既存契約関係を、そのまま販売経路として活用</a:t>
            </a:r>
            <a:endParaRPr lang="en-US" sz="1350" dirty="0"/>
          </a:p>
        </p:txBody>
      </p:sp>
      <p:sp>
        <p:nvSpPr>
          <p:cNvPr id="13" name="Shape 11"/>
          <p:cNvSpPr/>
          <p:nvPr/>
        </p:nvSpPr>
        <p:spPr>
          <a:xfrm>
            <a:off x="6278728" y="3749040"/>
            <a:ext cx="5364328" cy="1783080"/>
          </a:xfrm>
          <a:prstGeom prst="roundRect">
            <a:avLst>
              <a:gd name="adj" fmla="val 4103"/>
            </a:avLst>
          </a:prstGeom>
          <a:solidFill>
            <a:srgbClr val="F2F2F2"/>
          </a:solidFill>
          <a:ln w="9525">
            <a:solidFill>
              <a:srgbClr val="D9D9D9"/>
            </a:solidFill>
            <a:prstDash val="solid"/>
          </a:ln>
          <a:effectLst>
            <a:outerShdw sx="100000" sy="100000" kx="0" ky="0" algn="bl" rotWithShape="0" blurRad="76200" dist="25400" dir="5400000">
              <a:srgbClr val="000000">
                <a:alpha val="12000"/>
              </a:srgbClr>
            </a:outerShdw>
          </a:effectLst>
        </p:spPr>
      </p:sp>
      <p:sp>
        <p:nvSpPr>
          <p:cNvPr id="14" name="Text 12"/>
          <p:cNvSpPr/>
          <p:nvPr/>
        </p:nvSpPr>
        <p:spPr>
          <a:xfrm>
            <a:off x="6553048" y="3913632"/>
            <a:ext cx="4815688" cy="411480"/>
          </a:xfrm>
          <a:prstGeom prst="rect">
            <a:avLst/>
          </a:prstGeom>
          <a:noFill/>
          <a:ln/>
        </p:spPr>
        <p:txBody>
          <a:bodyPr wrap="square" lIns="0" tIns="0" rIns="0" bIns="0" rtlCol="0" anchor="ctr"/>
          <a:lstStyle/>
          <a:p>
            <a:pPr indent="0" marL="0">
              <a:buNone/>
            </a:pPr>
            <a:r>
              <a:rPr lang="en-US" sz="1800" b="1" dirty="0">
                <a:solidFill>
                  <a:srgbClr val="C00000"/>
                </a:solidFill>
                <a:latin typeface="Yu Gothic" pitchFamily="34" charset="0"/>
                <a:ea typeface="Yu Gothic" pitchFamily="34" charset="-122"/>
                <a:cs typeface="Yu Gothic" pitchFamily="34" charset="-120"/>
              </a:rPr>
              <a:t>Promotion</a:t>
            </a:r>
            <a:endParaRPr lang="en-US" sz="1800" dirty="0"/>
          </a:p>
        </p:txBody>
      </p:sp>
      <p:sp>
        <p:nvSpPr>
          <p:cNvPr id="15" name="Text 13"/>
          <p:cNvSpPr/>
          <p:nvPr/>
        </p:nvSpPr>
        <p:spPr>
          <a:xfrm>
            <a:off x="6553048" y="4370832"/>
            <a:ext cx="4815688" cy="1005840"/>
          </a:xfrm>
          <a:prstGeom prst="rect">
            <a:avLst/>
          </a:prstGeom>
          <a:noFill/>
          <a:ln/>
        </p:spPr>
        <p:txBody>
          <a:bodyPr wrap="square" lIns="0" tIns="0" rIns="0" bIns="0" rtlCol="0" anchor="ctr"/>
          <a:lstStyle/>
          <a:p>
            <a:pPr indent="0" marL="0">
              <a:buNone/>
            </a:pPr>
            <a:r>
              <a:rPr lang="en-US" sz="1350" dirty="0">
                <a:solidFill>
                  <a:srgbClr val="000000"/>
                </a:solidFill>
                <a:latin typeface="Yu Gothic" pitchFamily="34" charset="0"/>
                <a:ea typeface="Yu Gothic" pitchFamily="34" charset="-122"/>
                <a:cs typeface="Yu Gothic" pitchFamily="34" charset="-120"/>
              </a:rPr>
              <a:t>ドコモの知名度 × TXP Medicalの導入実績（51自治体）を掛け合わせて訴求</a:t>
            </a:r>
            <a:endParaRPr lang="en-US" sz="1350" dirty="0"/>
          </a:p>
        </p:txBody>
      </p:sp>
      <p:sp>
        <p:nvSpPr>
          <p:cNvPr id="16" name="Text 14"/>
          <p:cNvSpPr/>
          <p:nvPr/>
        </p:nvSpPr>
        <p:spPr>
          <a:xfrm>
            <a:off x="548640" y="5897880"/>
            <a:ext cx="10545775" cy="365760"/>
          </a:xfrm>
          <a:prstGeom prst="rect">
            <a:avLst/>
          </a:prstGeom>
          <a:noFill/>
          <a:ln/>
        </p:spPr>
        <p:txBody>
          <a:bodyPr wrap="square" lIns="0" tIns="0" rIns="0" bIns="0" rtlCol="0" anchor="ctr"/>
          <a:lstStyle/>
          <a:p>
            <a:pPr indent="0" marL="0">
              <a:buNone/>
            </a:pPr>
            <a:r>
              <a:rPr lang="en-US" sz="1200" i="1" dirty="0">
                <a:solidFill>
                  <a:srgbClr val="595959"/>
                </a:solidFill>
                <a:latin typeface="Yu Gothic" pitchFamily="34" charset="0"/>
                <a:ea typeface="Yu Gothic" pitchFamily="34" charset="-122"/>
                <a:cs typeface="Yu Gothic" pitchFamily="34" charset="-120"/>
              </a:rPr>
              <a:t>① Product ～ ④ Promotion のいずれも、TXP Medicalとの連携によって「ゼロからのスタート」ではなく「既存アセットの強化」として設計できる</a:t>
            </a:r>
            <a:endParaRPr lang="en-US" sz="1200" dirty="0"/>
          </a:p>
        </p:txBody>
      </p:sp>
      <p:sp>
        <p:nvSpPr>
          <p:cNvPr id="17" name="Text 15"/>
          <p:cNvSpPr/>
          <p:nvPr/>
        </p:nvSpPr>
        <p:spPr>
          <a:xfrm>
            <a:off x="11368735" y="6400800"/>
            <a:ext cx="457200" cy="320040"/>
          </a:xfrm>
          <a:prstGeom prst="rect">
            <a:avLst/>
          </a:prstGeom>
          <a:noFill/>
          <a:ln/>
        </p:spPr>
        <p:txBody>
          <a:bodyPr wrap="square" rtlCol="0" anchor="ctr"/>
          <a:lstStyle/>
          <a:p>
            <a:pPr algn="r" indent="0" marL="0">
              <a:buNone/>
            </a:pPr>
            <a:r>
              <a:rPr lang="en-US" sz="1000" dirty="0">
                <a:solidFill>
                  <a:srgbClr val="595959"/>
                </a:solidFill>
                <a:latin typeface="Yu Gothic" pitchFamily="34" charset="0"/>
                <a:ea typeface="Yu Gothic" pitchFamily="34" charset="-122"/>
                <a:cs typeface="Yu Gothic"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4415" cy="320040"/>
          </a:xfrm>
          <a:prstGeom prst="rect">
            <a:avLst/>
          </a:prstGeom>
          <a:noFill/>
          <a:ln/>
        </p:spPr>
        <p:txBody>
          <a:bodyPr wrap="square" rtlCol="0" anchor="ctr"/>
          <a:lstStyle/>
          <a:p>
            <a:pPr indent="0" marL="0">
              <a:buNone/>
            </a:pPr>
            <a:r>
              <a:rPr lang="en-US" sz="1300" b="1" dirty="0">
                <a:solidFill>
                  <a:srgbClr val="C00000"/>
                </a:solidFill>
                <a:latin typeface="Yu Gothic" pitchFamily="34" charset="0"/>
                <a:ea typeface="Yu Gothic" pitchFamily="34" charset="-122"/>
                <a:cs typeface="Yu Gothic" pitchFamily="34" charset="-120"/>
              </a:rPr>
              <a:t>まとめ</a:t>
            </a:r>
            <a:endParaRPr lang="en-US" sz="1300" dirty="0"/>
          </a:p>
        </p:txBody>
      </p:sp>
      <p:sp>
        <p:nvSpPr>
          <p:cNvPr id="3" name="Text 1"/>
          <p:cNvSpPr/>
          <p:nvPr/>
        </p:nvSpPr>
        <p:spPr>
          <a:xfrm>
            <a:off x="548640" y="594360"/>
            <a:ext cx="11094415" cy="685800"/>
          </a:xfrm>
          <a:prstGeom prst="rect">
            <a:avLst/>
          </a:prstGeom>
          <a:noFill/>
          <a:ln/>
        </p:spPr>
        <p:txBody>
          <a:bodyPr wrap="square" rtlCol="0" anchor="ctr"/>
          <a:lstStyle/>
          <a:p>
            <a:pPr indent="0" marL="0">
              <a:buNone/>
            </a:pPr>
            <a:r>
              <a:rPr lang="en-US" sz="2800" b="1" dirty="0">
                <a:solidFill>
                  <a:srgbClr val="000000"/>
                </a:solidFill>
                <a:latin typeface="Yu Gothic" pitchFamily="34" charset="0"/>
                <a:ea typeface="Yu Gothic" pitchFamily="34" charset="-122"/>
                <a:cs typeface="Yu Gothic" pitchFamily="34" charset="-120"/>
              </a:rPr>
              <a:t>残された機会とネクストアクション</a:t>
            </a:r>
            <a:endParaRPr lang="en-US" sz="2800" dirty="0"/>
          </a:p>
        </p:txBody>
      </p:sp>
      <p:sp>
        <p:nvSpPr>
          <p:cNvPr id="4" name="Shape 2"/>
          <p:cNvSpPr/>
          <p:nvPr/>
        </p:nvSpPr>
        <p:spPr>
          <a:xfrm>
            <a:off x="548640" y="1691640"/>
            <a:ext cx="11094415" cy="1188720"/>
          </a:xfrm>
          <a:prstGeom prst="roundRect">
            <a:avLst>
              <a:gd name="adj" fmla="val 6154"/>
            </a:avLst>
          </a:prstGeom>
          <a:solidFill>
            <a:srgbClr val="F2F2F2"/>
          </a:solidFill>
          <a:ln w="9525">
            <a:solidFill>
              <a:srgbClr val="D9D9D9"/>
            </a:solidFill>
            <a:prstDash val="solid"/>
          </a:ln>
          <a:effectLst>
            <a:outerShdw sx="100000" sy="100000" kx="0" ky="0" algn="bl" rotWithShape="0" blurRad="76200" dist="25400" dir="5400000">
              <a:srgbClr val="000000">
                <a:alpha val="12000"/>
              </a:srgbClr>
            </a:outerShdw>
          </a:effectLst>
        </p:spPr>
      </p:sp>
      <p:sp>
        <p:nvSpPr>
          <p:cNvPr id="5" name="Text 3"/>
          <p:cNvSpPr/>
          <p:nvPr/>
        </p:nvSpPr>
        <p:spPr>
          <a:xfrm>
            <a:off x="822960" y="1828800"/>
            <a:ext cx="10545775" cy="320040"/>
          </a:xfrm>
          <a:prstGeom prst="rect">
            <a:avLst/>
          </a:prstGeom>
          <a:noFill/>
          <a:ln/>
        </p:spPr>
        <p:txBody>
          <a:bodyPr wrap="square" lIns="0" tIns="0" rIns="0" bIns="0" rtlCol="0" anchor="ctr"/>
          <a:lstStyle/>
          <a:p>
            <a:pPr indent="0" marL="0">
              <a:buNone/>
            </a:pPr>
            <a:r>
              <a:rPr lang="en-US" sz="1500" b="1" dirty="0">
                <a:solidFill>
                  <a:srgbClr val="000000"/>
                </a:solidFill>
                <a:latin typeface="Yu Gothic" pitchFamily="34" charset="0"/>
                <a:ea typeface="Yu Gothic" pitchFamily="34" charset="-122"/>
                <a:cs typeface="Yu Gothic" pitchFamily="34" charset="-120"/>
              </a:rPr>
              <a:t>残された機会</a:t>
            </a:r>
            <a:endParaRPr lang="en-US" sz="1500" dirty="0"/>
          </a:p>
        </p:txBody>
      </p:sp>
      <p:sp>
        <p:nvSpPr>
          <p:cNvPr id="6" name="Text 4"/>
          <p:cNvSpPr/>
          <p:nvPr/>
        </p:nvSpPr>
        <p:spPr>
          <a:xfrm>
            <a:off x="822960" y="2148840"/>
            <a:ext cx="10545775" cy="640080"/>
          </a:xfrm>
          <a:prstGeom prst="rect">
            <a:avLst/>
          </a:prstGeom>
          <a:noFill/>
          <a:ln/>
        </p:spPr>
        <p:txBody>
          <a:bodyPr wrap="square" lIns="0" tIns="0" rIns="0" bIns="0" rtlCol="0" anchor="ctr"/>
          <a:lstStyle/>
          <a:p>
            <a:pPr indent="0" marL="0">
              <a:buNone/>
            </a:pPr>
            <a:r>
              <a:rPr lang="en-US" sz="1350" dirty="0">
                <a:solidFill>
                  <a:srgbClr val="000000"/>
                </a:solidFill>
                <a:latin typeface="Yu Gothic" pitchFamily="34" charset="0"/>
                <a:ea typeface="Yu Gothic" pitchFamily="34" charset="-122"/>
                <a:cs typeface="Yu Gothic" pitchFamily="34" charset="-120"/>
              </a:rPr>
              <a:t>転送理由の52.1%を占める「処置困難」に対し、AIによる病院選定精度の向上と5G高精細映像によって、搬送前に処置可否を確定させる仕組みは、まだ全国的には存在しない</a:t>
            </a:r>
            <a:endParaRPr lang="en-US" sz="1350" dirty="0"/>
          </a:p>
        </p:txBody>
      </p:sp>
      <p:sp>
        <p:nvSpPr>
          <p:cNvPr id="7" name="Text 5"/>
          <p:cNvSpPr/>
          <p:nvPr/>
        </p:nvSpPr>
        <p:spPr>
          <a:xfrm>
            <a:off x="548640" y="3063240"/>
            <a:ext cx="11094415" cy="365760"/>
          </a:xfrm>
          <a:prstGeom prst="rect">
            <a:avLst/>
          </a:prstGeom>
          <a:noFill/>
          <a:ln/>
        </p:spPr>
        <p:txBody>
          <a:bodyPr wrap="square" lIns="0" tIns="0" rIns="0" bIns="0" rtlCol="0" anchor="ctr"/>
          <a:lstStyle/>
          <a:p>
            <a:pPr indent="0" marL="0">
              <a:buNone/>
            </a:pPr>
            <a:r>
              <a:rPr lang="en-US" sz="1600" b="1" dirty="0">
                <a:solidFill>
                  <a:srgbClr val="000000"/>
                </a:solidFill>
                <a:latin typeface="Yu Gothic" pitchFamily="34" charset="0"/>
                <a:ea typeface="Yu Gothic" pitchFamily="34" charset="-122"/>
                <a:cs typeface="Yu Gothic" pitchFamily="34" charset="-120"/>
              </a:rPr>
              <a:t>ネクストアクション</a:t>
            </a:r>
            <a:endParaRPr lang="en-US" sz="1600" dirty="0"/>
          </a:p>
        </p:txBody>
      </p:sp>
      <p:sp>
        <p:nvSpPr>
          <p:cNvPr id="8" name="Text 6"/>
          <p:cNvSpPr/>
          <p:nvPr/>
        </p:nvSpPr>
        <p:spPr>
          <a:xfrm>
            <a:off x="548640" y="3520440"/>
            <a:ext cx="11094415" cy="2377440"/>
          </a:xfrm>
          <a:prstGeom prst="rect">
            <a:avLst/>
          </a:prstGeom>
          <a:noFill/>
          <a:ln/>
        </p:spPr>
        <p:txBody>
          <a:bodyPr wrap="square" lIns="0" tIns="0" rIns="0" bIns="0" rtlCol="0" anchor="t"/>
          <a:lstStyle/>
          <a:p>
            <a:pPr marL="342900" indent="-342900">
              <a:spcAft>
                <a:spcPts val="1600"/>
              </a:spcAft>
              <a:buSzPct val="100000"/>
              <a:buChar char="•"/>
            </a:pPr>
            <a:r>
              <a:rPr lang="en-US" sz="1450" dirty="0">
                <a:solidFill>
                  <a:srgbClr val="000000"/>
                </a:solidFill>
                <a:latin typeface="Yu Gothic" pitchFamily="34" charset="0"/>
                <a:ea typeface="Yu Gothic" pitchFamily="34" charset="-122"/>
                <a:cs typeface="Yu Gothic" pitchFamily="34" charset="-120"/>
              </a:rPr>
              <a:t>TXP Medical社との具体的な連携スキームを検討する（資本提携の対象範囲を、RWD事業からEMS領域へ拡張できるか）</a:t>
            </a:r>
            <a:endParaRPr lang="en-US" sz="1450" dirty="0"/>
          </a:p>
          <a:p>
            <a:pPr marL="342900" indent="-342900">
              <a:spcAft>
                <a:spcPts val="1600"/>
              </a:spcAft>
              <a:buSzPct val="100000"/>
              <a:buChar char="•"/>
            </a:pPr>
            <a:r>
              <a:rPr lang="en-US" sz="1450" dirty="0">
                <a:solidFill>
                  <a:srgbClr val="000000"/>
                </a:solidFill>
                <a:latin typeface="Yu Gothic" pitchFamily="34" charset="0"/>
                <a:ea typeface="Yu Gothic" pitchFamily="34" charset="-122"/>
                <a:cs typeface="Yu Gothic" pitchFamily="34" charset="-120"/>
              </a:rPr>
              <a:t>消防庁・厚生労働省の一次データへアクセスし、転送削減効果の精緻な試算を行う</a:t>
            </a:r>
            <a:endParaRPr lang="en-US" sz="1450" dirty="0"/>
          </a:p>
          <a:p>
            <a:pPr marL="342900" indent="-342900">
              <a:spcAft>
                <a:spcPts val="1600"/>
              </a:spcAft>
              <a:buSzPct val="100000"/>
              <a:buChar char="•"/>
            </a:pPr>
            <a:r>
              <a:rPr lang="en-US" sz="1450" dirty="0">
                <a:solidFill>
                  <a:srgbClr val="000000"/>
                </a:solidFill>
                <a:latin typeface="Yu Gothic" pitchFamily="34" charset="0"/>
                <a:ea typeface="Yu Gothic" pitchFamily="34" charset="-122"/>
                <a:cs typeface="Yu Gothic" pitchFamily="34" charset="-120"/>
              </a:rPr>
              <a:t>VSL（統計的生命価値）を用いた社会的便益の金額換算を精緻化する</a:t>
            </a:r>
            <a:endParaRPr lang="en-US" sz="1450" dirty="0"/>
          </a:p>
          <a:p>
            <a:pPr marL="342900" indent="-342900">
              <a:spcAft>
                <a:spcPts val="1600"/>
              </a:spcAft>
              <a:buSzPct val="100000"/>
              <a:buChar char="•"/>
            </a:pPr>
            <a:r>
              <a:rPr lang="en-US" sz="1450" dirty="0">
                <a:solidFill>
                  <a:srgbClr val="000000"/>
                </a:solidFill>
                <a:latin typeface="Yu Gothic" pitchFamily="34" charset="0"/>
                <a:ea typeface="Yu Gothic" pitchFamily="34" charset="-122"/>
                <a:cs typeface="Yu Gothic" pitchFamily="34" charset="-120"/>
              </a:rPr>
              <a:t>PoC対象となる自治体・消防本部を選定する</a:t>
            </a:r>
            <a:endParaRPr lang="en-US" sz="1450" dirty="0"/>
          </a:p>
        </p:txBody>
      </p:sp>
      <p:sp>
        <p:nvSpPr>
          <p:cNvPr id="9" name="Text 7"/>
          <p:cNvSpPr/>
          <p:nvPr/>
        </p:nvSpPr>
        <p:spPr>
          <a:xfrm>
            <a:off x="11368735" y="6400800"/>
            <a:ext cx="457200" cy="320040"/>
          </a:xfrm>
          <a:prstGeom prst="rect">
            <a:avLst/>
          </a:prstGeom>
          <a:noFill/>
          <a:ln/>
        </p:spPr>
        <p:txBody>
          <a:bodyPr wrap="square" rtlCol="0" anchor="ctr"/>
          <a:lstStyle/>
          <a:p>
            <a:pPr algn="r" indent="0" marL="0">
              <a:buNone/>
            </a:pPr>
            <a:r>
              <a:rPr lang="en-US" sz="1000" dirty="0">
                <a:solidFill>
                  <a:srgbClr val="595959"/>
                </a:solidFill>
                <a:latin typeface="Yu Gothic" pitchFamily="34" charset="0"/>
                <a:ea typeface="Yu Gothic" pitchFamily="34" charset="-122"/>
                <a:cs typeface="Yu Gothic"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94415" cy="320040"/>
          </a:xfrm>
          <a:prstGeom prst="rect">
            <a:avLst/>
          </a:prstGeom>
          <a:noFill/>
          <a:ln/>
        </p:spPr>
        <p:txBody>
          <a:bodyPr wrap="square" rtlCol="0" anchor="ctr"/>
          <a:lstStyle/>
          <a:p>
            <a:pPr indent="0" marL="0">
              <a:buNone/>
            </a:pPr>
            <a:r>
              <a:rPr lang="en-US" sz="1300" b="1" dirty="0">
                <a:solidFill>
                  <a:srgbClr val="C00000"/>
                </a:solidFill>
                <a:latin typeface="Yu Gothic" pitchFamily="34" charset="0"/>
                <a:ea typeface="Yu Gothic" pitchFamily="34" charset="-122"/>
                <a:cs typeface="Yu Gothic" pitchFamily="34" charset="-120"/>
              </a:rPr>
              <a:t>APPENDIX</a:t>
            </a:r>
            <a:endParaRPr lang="en-US" sz="1300" dirty="0"/>
          </a:p>
        </p:txBody>
      </p:sp>
      <p:sp>
        <p:nvSpPr>
          <p:cNvPr id="3" name="Text 1"/>
          <p:cNvSpPr/>
          <p:nvPr/>
        </p:nvSpPr>
        <p:spPr>
          <a:xfrm>
            <a:off x="548640" y="594360"/>
            <a:ext cx="11094415" cy="685800"/>
          </a:xfrm>
          <a:prstGeom prst="rect">
            <a:avLst/>
          </a:prstGeom>
          <a:noFill/>
          <a:ln/>
        </p:spPr>
        <p:txBody>
          <a:bodyPr wrap="square" rtlCol="0" anchor="ctr"/>
          <a:lstStyle/>
          <a:p>
            <a:pPr indent="0" marL="0">
              <a:buNone/>
            </a:pPr>
            <a:r>
              <a:rPr lang="en-US" sz="2800" b="1" dirty="0">
                <a:solidFill>
                  <a:srgbClr val="000000"/>
                </a:solidFill>
                <a:latin typeface="Yu Gothic" pitchFamily="34" charset="0"/>
                <a:ea typeface="Yu Gothic" pitchFamily="34" charset="-122"/>
                <a:cs typeface="Yu Gothic" pitchFamily="34" charset="-120"/>
              </a:rPr>
              <a:t>出典一覧</a:t>
            </a:r>
            <a:endParaRPr lang="en-US" sz="2800" dirty="0"/>
          </a:p>
        </p:txBody>
      </p:sp>
      <p:sp>
        <p:nvSpPr>
          <p:cNvPr id="4" name="Text 2"/>
          <p:cNvSpPr/>
          <p:nvPr/>
        </p:nvSpPr>
        <p:spPr>
          <a:xfrm>
            <a:off x="548640" y="1737360"/>
            <a:ext cx="11094415" cy="457200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000000"/>
                </a:solidFill>
                <a:latin typeface="Yu Gothic" pitchFamily="34" charset="0"/>
                <a:ea typeface="Yu Gothic" pitchFamily="34" charset="-122"/>
                <a:cs typeface="Yu Gothic" pitchFamily="34" charset="-120"/>
              </a:rPr>
              <a:t>総務省消防庁「令和7年版 消防白書」第2章第5節「救急体制」https://www.fdma.go.jp/publication/hakusho/r7/69377.html</a:t>
            </a:r>
            <a:endParaRPr lang="en-US" sz="1250" dirty="0"/>
          </a:p>
          <a:p>
            <a:pPr marL="342900" indent="-342900">
              <a:spcAft>
                <a:spcPts val="1000"/>
              </a:spcAft>
              <a:buSzPct val="100000"/>
              <a:buChar char="•"/>
            </a:pPr>
            <a:r>
              <a:rPr lang="en-US" sz="1250" dirty="0">
                <a:solidFill>
                  <a:srgbClr val="000000"/>
                </a:solidFill>
                <a:latin typeface="Yu Gothic" pitchFamily="34" charset="0"/>
                <a:ea typeface="Yu Gothic" pitchFamily="34" charset="-122"/>
                <a:cs typeface="Yu Gothic" pitchFamily="34" charset="-120"/>
              </a:rPr>
              <a:t>総務省消防庁「令和7年版 消防白書」特集7「消防分野におけるDX・新技術の活用の推進」</a:t>
            </a:r>
            <a:endParaRPr lang="en-US" sz="1250" dirty="0"/>
          </a:p>
          <a:p>
            <a:pPr marL="342900" indent="-342900">
              <a:spcAft>
                <a:spcPts val="1000"/>
              </a:spcAft>
              <a:buSzPct val="100000"/>
              <a:buChar char="•"/>
            </a:pPr>
            <a:r>
              <a:rPr lang="en-US" sz="1250" dirty="0">
                <a:solidFill>
                  <a:srgbClr val="000000"/>
                </a:solidFill>
                <a:latin typeface="Yu Gothic" pitchFamily="34" charset="0"/>
                <a:ea typeface="Yu Gothic" pitchFamily="34" charset="-122"/>
                <a:cs typeface="Yu Gothic" pitchFamily="34" charset="-120"/>
              </a:rPr>
              <a:t>総務省消防庁「令和5年版 救急・救助の現況」P56（救急自動車による転送件数）</a:t>
            </a:r>
            <a:endParaRPr lang="en-US" sz="1250" dirty="0"/>
          </a:p>
          <a:p>
            <a:pPr marL="342900" indent="-342900">
              <a:spcAft>
                <a:spcPts val="1000"/>
              </a:spcAft>
              <a:buSzPct val="100000"/>
              <a:buChar char="•"/>
            </a:pPr>
            <a:r>
              <a:rPr lang="en-US" sz="1250" dirty="0">
                <a:solidFill>
                  <a:srgbClr val="000000"/>
                </a:solidFill>
                <a:latin typeface="Yu Gothic" pitchFamily="34" charset="0"/>
                <a:ea typeface="Yu Gothic" pitchFamily="34" charset="-122"/>
                <a:cs typeface="Yu Gothic" pitchFamily="34" charset="-120"/>
              </a:rPr>
              <a:t>総務省消防庁「救急搬送困難事案に係る状況調査について」</a:t>
            </a:r>
            <a:endParaRPr lang="en-US" sz="1250" dirty="0"/>
          </a:p>
          <a:p>
            <a:pPr marL="342900" indent="-342900">
              <a:spcAft>
                <a:spcPts val="1000"/>
              </a:spcAft>
              <a:buSzPct val="100000"/>
              <a:buChar char="•"/>
            </a:pPr>
            <a:r>
              <a:rPr lang="en-US" sz="1250" dirty="0">
                <a:solidFill>
                  <a:srgbClr val="000000"/>
                </a:solidFill>
                <a:latin typeface="Yu Gothic" pitchFamily="34" charset="0"/>
                <a:ea typeface="Yu Gothic" pitchFamily="34" charset="-122"/>
                <a:cs typeface="Yu Gothic" pitchFamily="34" charset="-120"/>
              </a:rPr>
              <a:t>厚生労働省 医政局地域医療計画課「救急医療情報連携プラットフォームについて」</a:t>
            </a:r>
            <a:endParaRPr lang="en-US" sz="1250" dirty="0"/>
          </a:p>
          <a:p>
            <a:pPr marL="342900" indent="-342900">
              <a:spcAft>
                <a:spcPts val="1000"/>
              </a:spcAft>
              <a:buSzPct val="100000"/>
              <a:buChar char="•"/>
            </a:pPr>
            <a:r>
              <a:rPr lang="en-US" sz="1250" dirty="0">
                <a:solidFill>
                  <a:srgbClr val="000000"/>
                </a:solidFill>
                <a:latin typeface="Yu Gothic" pitchFamily="34" charset="0"/>
                <a:ea typeface="Yu Gothic" pitchFamily="34" charset="-122"/>
                <a:cs typeface="Yu Gothic" pitchFamily="34" charset="-120"/>
              </a:rPr>
              <a:t>TXP Medical株式会社 プレスリリース各種（NSER mobile導入実績・仙台市/神戸市本格稼働）</a:t>
            </a:r>
            <a:endParaRPr lang="en-US" sz="1250" dirty="0"/>
          </a:p>
          <a:p>
            <a:pPr marL="342900" indent="-342900">
              <a:spcAft>
                <a:spcPts val="1000"/>
              </a:spcAft>
              <a:buSzPct val="100000"/>
              <a:buChar char="•"/>
            </a:pPr>
            <a:r>
              <a:rPr lang="en-US" sz="1250" dirty="0">
                <a:solidFill>
                  <a:srgbClr val="000000"/>
                </a:solidFill>
                <a:latin typeface="Yu Gothic" pitchFamily="34" charset="0"/>
                <a:ea typeface="Yu Gothic" pitchFamily="34" charset="-122"/>
                <a:cs typeface="Yu Gothic" pitchFamily="34" charset="-120"/>
              </a:rPr>
              <a:t>NTTコミュニケーションズ「NTT ComとTXP Medicalの資本業務提携について」（2024年10月23日）</a:t>
            </a:r>
            <a:endParaRPr lang="en-US" sz="1250" dirty="0"/>
          </a:p>
          <a:p>
            <a:pPr marL="342900" indent="-342900">
              <a:spcAft>
                <a:spcPts val="1000"/>
              </a:spcAft>
              <a:buSzPct val="100000"/>
              <a:buChar char="•"/>
            </a:pPr>
            <a:r>
              <a:rPr lang="en-US" sz="1250" dirty="0">
                <a:solidFill>
                  <a:srgbClr val="000000"/>
                </a:solidFill>
                <a:latin typeface="Yu Gothic" pitchFamily="34" charset="0"/>
                <a:ea typeface="Yu Gothic" pitchFamily="34" charset="-122"/>
                <a:cs typeface="Yu Gothic" pitchFamily="34" charset="-120"/>
              </a:rPr>
              <a:t>NTTニュースリリース「1to1マーケティングを加速するAI技術『大規模行動モデル(LAM)』を確立」（2025年11月12日）</a:t>
            </a:r>
            <a:endParaRPr lang="en-US" sz="1250" dirty="0"/>
          </a:p>
          <a:p>
            <a:pPr marL="342900" indent="-342900">
              <a:spcAft>
                <a:spcPts val="1000"/>
              </a:spcAft>
              <a:buSzPct val="100000"/>
              <a:buChar char="•"/>
            </a:pPr>
            <a:r>
              <a:rPr lang="en-US" sz="1250" dirty="0">
                <a:solidFill>
                  <a:srgbClr val="000000"/>
                </a:solidFill>
                <a:latin typeface="Yu Gothic" pitchFamily="34" charset="0"/>
                <a:ea typeface="Yu Gothic" pitchFamily="34" charset="-122"/>
                <a:cs typeface="Yu Gothic" pitchFamily="34" charset="-120"/>
              </a:rPr>
              <a:t>内閣府 統計的生命価値（VSL）推計、国土交通省 公共事業評価における採用値</a:t>
            </a:r>
            <a:endParaRPr lang="en-US" sz="1250" dirty="0"/>
          </a:p>
        </p:txBody>
      </p:sp>
      <p:sp>
        <p:nvSpPr>
          <p:cNvPr id="5" name="Text 3"/>
          <p:cNvSpPr/>
          <p:nvPr/>
        </p:nvSpPr>
        <p:spPr>
          <a:xfrm>
            <a:off x="11368735" y="6400800"/>
            <a:ext cx="457200" cy="320040"/>
          </a:xfrm>
          <a:prstGeom prst="rect">
            <a:avLst/>
          </a:prstGeom>
          <a:noFill/>
          <a:ln/>
        </p:spPr>
        <p:txBody>
          <a:bodyPr wrap="square" rtlCol="0" anchor="ctr"/>
          <a:lstStyle/>
          <a:p>
            <a:pPr algn="r" indent="0" marL="0">
              <a:buNone/>
            </a:pPr>
            <a:r>
              <a:rPr lang="en-US" sz="1000" dirty="0">
                <a:solidFill>
                  <a:srgbClr val="595959"/>
                </a:solidFill>
                <a:latin typeface="Yu Gothic" pitchFamily="34" charset="0"/>
                <a:ea typeface="Yu Gothic" pitchFamily="34" charset="-122"/>
                <a:cs typeface="Yu Gothic" pitchFamily="34" charset="-120"/>
              </a:rPr>
              <a:t>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2026-08-06T00:03:08Z</dcterms:created>
  <dcterms:modified xsi:type="dcterms:W3CDTF">2026-08-06T00:03:08Z</dcterms:modified>
</cp:coreProperties>
</file>