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731520" y="1874520"/>
            <a:ext cx="10698480" cy="548640"/>
          </a:xfrm>
          <a:prstGeom prst="rect">
            <a:avLst/>
          </a:prstGeom>
          <a:noFill/>
          <a:ln/>
        </p:spPr>
        <p:txBody>
          <a:bodyPr wrap="square" lIns="0" tIns="0" rIns="0" bIns="0" rtlCol="0" anchor="ctr"/>
          <a:lstStyle/>
          <a:p>
            <a:pPr algn="l" indent="0" marL="0">
              <a:buNone/>
            </a:pPr>
            <a:r>
              <a:rPr lang="en-US" sz="2400" dirty="0">
                <a:solidFill>
                  <a:srgbClr val="CADCFC"/>
                </a:solidFill>
                <a:latin typeface="Cambria" pitchFamily="34" charset="0"/>
                <a:ea typeface="Cambria" pitchFamily="34" charset="-122"/>
                <a:cs typeface="Cambria" pitchFamily="34" charset="-120"/>
              </a:rPr>
              <a:t>主要共通ポイントサービスの</a:t>
            </a:r>
            <a:endParaRPr lang="en-US" sz="2400" dirty="0"/>
          </a:p>
        </p:txBody>
      </p:sp>
      <p:sp>
        <p:nvSpPr>
          <p:cNvPr id="3" name="Text 1"/>
          <p:cNvSpPr/>
          <p:nvPr/>
        </p:nvSpPr>
        <p:spPr>
          <a:xfrm>
            <a:off x="731520" y="2331720"/>
            <a:ext cx="1069848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会員属性の偏り 比較調査</a:t>
            </a:r>
            <a:endParaRPr lang="en-US" sz="4000" dirty="0"/>
          </a:p>
        </p:txBody>
      </p:sp>
      <p:sp>
        <p:nvSpPr>
          <p:cNvPr id="4" name="Text 2"/>
          <p:cNvSpPr/>
          <p:nvPr/>
        </p:nvSpPr>
        <p:spPr>
          <a:xfrm>
            <a:off x="731520" y="3246120"/>
            <a:ext cx="10698480" cy="457200"/>
          </a:xfrm>
          <a:prstGeom prst="rect">
            <a:avLst/>
          </a:prstGeom>
          <a:noFill/>
          <a:ln/>
        </p:spPr>
        <p:txBody>
          <a:bodyPr wrap="square" lIns="0" tIns="0" rIns="0" bIns="0" rtlCol="0" anchor="ctr"/>
          <a:lstStyle/>
          <a:p>
            <a:pPr algn="l" indent="0" marL="0">
              <a:buNone/>
            </a:pPr>
            <a:r>
              <a:rPr lang="en-US" sz="1600" i="1" dirty="0">
                <a:solidFill>
                  <a:srgbClr val="CADCFC"/>
                </a:solidFill>
                <a:latin typeface="Calibri" pitchFamily="34" charset="0"/>
                <a:ea typeface="Calibri" pitchFamily="34" charset="-122"/>
                <a:cs typeface="Calibri" pitchFamily="34" charset="-120"/>
              </a:rPr>
              <a:t>dポイント新事業提案 ― 業界横断ファクトチェック</a:t>
            </a:r>
            <a:endParaRPr lang="en-US" sz="1600" dirty="0"/>
          </a:p>
        </p:txBody>
      </p:sp>
      <p:sp>
        <p:nvSpPr>
          <p:cNvPr id="5" name="Shape 3"/>
          <p:cNvSpPr/>
          <p:nvPr/>
        </p:nvSpPr>
        <p:spPr>
          <a:xfrm>
            <a:off x="731520" y="3977640"/>
            <a:ext cx="2743200" cy="0"/>
          </a:xfrm>
          <a:prstGeom prst="line">
            <a:avLst/>
          </a:prstGeom>
          <a:noFill/>
          <a:ln w="12700">
            <a:solidFill>
              <a:srgbClr val="CADCFC"/>
            </a:solidFill>
            <a:prstDash val="solid"/>
          </a:ln>
        </p:spPr>
      </p:sp>
      <p:sp>
        <p:nvSpPr>
          <p:cNvPr id="6" name="Text 4"/>
          <p:cNvSpPr/>
          <p:nvPr/>
        </p:nvSpPr>
        <p:spPr>
          <a:xfrm>
            <a:off x="731520" y="4160520"/>
            <a:ext cx="10058400" cy="365760"/>
          </a:xfrm>
          <a:prstGeom prst="rect">
            <a:avLst/>
          </a:prstGeom>
          <a:noFill/>
          <a:ln/>
        </p:spPr>
        <p:txBody>
          <a:bodyPr wrap="square" lIns="0" tIns="0" rIns="0" bIns="0" rtlCol="0" anchor="ctr"/>
          <a:lstStyle/>
          <a:p>
            <a:pPr algn="l" indent="0" marL="0">
              <a:buNone/>
            </a:pPr>
            <a:r>
              <a:rPr lang="en-US" sz="1200" dirty="0">
                <a:solidFill>
                  <a:srgbClr val="8FA3D9"/>
                </a:solidFill>
                <a:latin typeface="Calibri" pitchFamily="34" charset="0"/>
                <a:ea typeface="Calibri" pitchFamily="34" charset="-122"/>
                <a:cs typeface="Calibri" pitchFamily="34" charset="-120"/>
              </a:rPr>
              <a:t>dポイント / Pontaポイント / PayPayポイント / Vポイント(旧Tポイント) / 楽天ポイント</a:t>
            </a:r>
            <a:endParaRPr lang="en-US" sz="1200" dirty="0"/>
          </a:p>
        </p:txBody>
      </p:sp>
      <p:sp>
        <p:nvSpPr>
          <p:cNvPr id="7" name="Text 5"/>
          <p:cNvSpPr/>
          <p:nvPr/>
        </p:nvSpPr>
        <p:spPr>
          <a:xfrm>
            <a:off x="731520" y="6217920"/>
            <a:ext cx="3657600" cy="365760"/>
          </a:xfrm>
          <a:prstGeom prst="rect">
            <a:avLst/>
          </a:prstGeom>
          <a:noFill/>
          <a:ln/>
        </p:spPr>
        <p:txBody>
          <a:bodyPr wrap="square" lIns="0" tIns="0" rIns="0" bIns="0" rtlCol="0" anchor="ctr"/>
          <a:lstStyle/>
          <a:p>
            <a:pPr algn="l" indent="0" marL="0">
              <a:buNone/>
            </a:pPr>
            <a:r>
              <a:rPr lang="en-US" sz="1100" dirty="0">
                <a:solidFill>
                  <a:srgbClr val="6B7FB0"/>
                </a:solidFill>
                <a:latin typeface="Calibri" pitchFamily="34" charset="0"/>
                <a:ea typeface="Calibri" pitchFamily="34" charset="-122"/>
                <a:cs typeface="Calibri" pitchFamily="34" charset="-120"/>
              </a:rPr>
              <a:t>2026.07.27 作成</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B"/>
        </a:solidFill>
      </p:bgPr>
    </p:bg>
    <p:spTree>
      <p:nvGrpSpPr>
        <p:cNvPr id="1" name=""/>
        <p:cNvGrpSpPr/>
        <p:nvPr/>
      </p:nvGrpSpPr>
      <p:grpSpPr>
        <a:xfrm>
          <a:off x="0" y="0"/>
          <a:ext cx="0" cy="0"/>
          <a:chOff x="0" y="0"/>
          <a:chExt cx="0" cy="0"/>
        </a:xfrm>
      </p:grpSpPr>
      <p:sp>
        <p:nvSpPr>
          <p:cNvPr id="2" name="Text 0"/>
          <p:cNvSpPr/>
          <p:nvPr/>
        </p:nvSpPr>
        <p:spPr>
          <a:xfrm>
            <a:off x="457200" y="365760"/>
            <a:ext cx="11247120" cy="50292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主要ポイントサービスの会員属性比較</a:t>
            </a:r>
            <a:endParaRPr lang="en-US" sz="2600" dirty="0"/>
          </a:p>
        </p:txBody>
      </p:sp>
      <p:sp>
        <p:nvSpPr>
          <p:cNvPr id="3" name="Text 1"/>
          <p:cNvSpPr/>
          <p:nvPr/>
        </p:nvSpPr>
        <p:spPr>
          <a:xfrm>
            <a:off x="457200" y="841248"/>
            <a:ext cx="11247120" cy="320040"/>
          </a:xfrm>
          <a:prstGeom prst="rect">
            <a:avLst/>
          </a:prstGeom>
          <a:noFill/>
          <a:ln/>
        </p:spPr>
        <p:txBody>
          <a:bodyPr wrap="square" lIns="0" tIns="0" rIns="0" bIns="0" rtlCol="0" anchor="ctr"/>
          <a:lstStyle/>
          <a:p>
            <a:pPr indent="0" marL="0">
              <a:buNone/>
            </a:pPr>
            <a:r>
              <a:rPr lang="en-US" sz="1250" i="1" dirty="0">
                <a:solidFill>
                  <a:srgbClr val="5A6B8C"/>
                </a:solidFill>
                <a:latin typeface="Calibri" pitchFamily="34" charset="0"/>
                <a:ea typeface="Calibri" pitchFamily="34" charset="-122"/>
                <a:cs typeface="Calibri" pitchFamily="34" charset="-120"/>
              </a:rPr>
              <a:t>登録会員数の広さと、実際の「メイン利用者」属性の偏りは別軸で現れる</a:t>
            </a:r>
            <a:endParaRPr lang="en-US" sz="12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11247120" cy="914400"/>
        </p:xfrm>
        <a:graphic>
          <a:graphicData uri="http://schemas.openxmlformats.org/drawingml/2006/table">
            <a:tbl>
              <a:tblPr/>
              <a:tblGrid>
                <a:gridCol w="1828800"/>
                <a:gridCol w="1280160"/>
                <a:gridCol w="6035040"/>
                <a:gridCol w="822960"/>
                <a:gridCol w="1280160"/>
              </a:tblGrid>
              <a:tr h="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ポイント名 / 母体</a:t>
                      </a:r>
                      <a:endParaRPr lang="en-US" sz="11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会員規模</a:t>
                      </a:r>
                      <a:endParaRPr lang="en-US" sz="11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確認された偏り(属性)</a:t>
                      </a:r>
                      <a:endParaRPr lang="en-US" sz="11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確度</a:t>
                      </a:r>
                      <a:endParaRPr lang="en-US" sz="11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出典</a:t>
                      </a:r>
                      <a:endParaRPr lang="en-US" sz="11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1E2761"/>
                    </a:solidFill>
                  </a:tcPr>
                </a:tc>
              </a:tr>
              <a:tr h="0">
                <a:tc>
                  <a:txBody>
                    <a:bodyPr/>
                    <a:lstStyle/>
                    <a:p>
                      <a:pPr algn="l" indent="0" marL="0">
                        <a:buNone/>
                      </a:pPr>
                      <a:r>
                        <a:rPr lang="en-US" sz="1050" b="1" dirty="0">
                          <a:solidFill>
                            <a:srgbClr val="1B1B2F"/>
                          </a:solidFill>
                          <a:latin typeface="Calibri" pitchFamily="34" charset="0"/>
                          <a:ea typeface="Calibri" pitchFamily="34" charset="-122"/>
                          <a:cs typeface="Calibri" pitchFamily="34" charset="-120"/>
                        </a:rPr>
                        <a:t>dポイント</a:t>
                      </a:r>
                      <a:endParaRPr lang="en-US" sz="1050" dirty="0">
                        <a:latin typeface="Calibri" charset="0"/>
                        <a:ea typeface="Calibri" charset="0"/>
                        <a:cs typeface="Calibri" charset="0"/>
                      </a:endParaRPr>
                    </a:p>
                    <a:p>
                      <a:pPr algn="l" indent="0" marL="0">
                        <a:buNone/>
                      </a:pPr>
                      <a:r>
                        <a:rPr lang="en-US" sz="1050" b="1" dirty="0">
                          <a:solidFill>
                            <a:srgbClr val="1B1B2F"/>
                          </a:solidFill>
                          <a:latin typeface="Calibri" pitchFamily="34" charset="0"/>
                          <a:ea typeface="Calibri" pitchFamily="34" charset="-122"/>
                          <a:cs typeface="Calibri" pitchFamily="34" charset="-120"/>
                        </a:rPr>
                        <a:t>NTTドコモ</a:t>
                      </a:r>
                      <a:endParaRPr lang="en-US" sz="10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B1B2F"/>
                          </a:solidFill>
                          <a:latin typeface="Calibri" pitchFamily="34" charset="0"/>
                          <a:ea typeface="Calibri" pitchFamily="34" charset="-122"/>
                          <a:cs typeface="Calibri" pitchFamily="34" charset="-120"/>
                        </a:rPr>
                        <a:t>1億人超</a:t>
                      </a:r>
                      <a:endParaRPr lang="en-US" sz="1050" dirty="0">
                        <a:latin typeface="Calibri" charset="0"/>
                        <a:ea typeface="Calibri" charset="0"/>
                        <a:cs typeface="Calibri" charset="0"/>
                      </a:endParaRPr>
                    </a:p>
                    <a:p>
                      <a:pPr algn="l" indent="0" marL="0">
                        <a:buNone/>
                      </a:pPr>
                      <a:r>
                        <a:rPr lang="en-US" sz="1050" dirty="0">
                          <a:solidFill>
                            <a:srgbClr val="1B1B2F"/>
                          </a:solidFill>
                          <a:latin typeface="Calibri" pitchFamily="34" charset="0"/>
                          <a:ea typeface="Calibri" pitchFamily="34" charset="-122"/>
                          <a:cs typeface="Calibri" pitchFamily="34" charset="-120"/>
                        </a:rPr>
                        <a:t>(2024/3)</a:t>
                      </a:r>
                      <a:endParaRPr lang="en-US" sz="10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B1B2F"/>
                          </a:solidFill>
                          <a:latin typeface="Calibri" pitchFamily="34" charset="0"/>
                          <a:ea typeface="Calibri" pitchFamily="34" charset="-122"/>
                          <a:cs typeface="Calibri" pitchFamily="34" charset="-120"/>
                        </a:rPr>
                        <a:t>登録は幅広いが、メイン利用者はドコモ回線契約者に相関。担当者自身も非ドコモ・若年層の獲得を課題視</a:t>
                      </a:r>
                      <a:endParaRPr lang="en-US" sz="10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rPr>
                        <a:t>高</a:t>
                      </a:r>
                      <a:endParaRPr lang="en-US" sz="1200" dirty="0"/>
                    </a:p>
                  </a:txBody>
                  <a:tcPr marL="91440" marR="91440" marT="45720" marB="45720">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c>
                  <a:txBody>
                    <a:bodyPr/>
                    <a:lstStyle/>
                    <a:p>
                      <a:pPr algn="l" indent="0" marL="0">
                        <a:buNone/>
                      </a:pPr>
                      <a:r>
                        <a:rPr lang="en-US" sz="950" dirty="0">
                          <a:solidFill>
                            <a:srgbClr val="5A6B8C"/>
                          </a:solidFill>
                          <a:latin typeface="Calibri" pitchFamily="34" charset="0"/>
                          <a:ea typeface="Calibri" pitchFamily="34" charset="-122"/>
                          <a:cs typeface="Calibri" pitchFamily="34" charset="-120"/>
                        </a:rPr>
                        <a:t>[1][2][3]</a:t>
                      </a:r>
                      <a:endParaRPr lang="en-US" sz="9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r>
              <a:tr h="0">
                <a:tc>
                  <a:txBody>
                    <a:bodyPr/>
                    <a:lstStyle/>
                    <a:p>
                      <a:pPr algn="l" indent="0" marL="0">
                        <a:buNone/>
                      </a:pPr>
                      <a:r>
                        <a:rPr lang="en-US" sz="1050" b="1" dirty="0">
                          <a:solidFill>
                            <a:srgbClr val="1B1B2F"/>
                          </a:solidFill>
                          <a:latin typeface="Calibri" pitchFamily="34" charset="0"/>
                          <a:ea typeface="Calibri" pitchFamily="34" charset="-122"/>
                          <a:cs typeface="Calibri" pitchFamily="34" charset="-120"/>
                        </a:rPr>
                        <a:t>Pontaポイント</a:t>
                      </a:r>
                      <a:endParaRPr lang="en-US" sz="1050" dirty="0">
                        <a:latin typeface="Calibri" charset="0"/>
                        <a:ea typeface="Calibri" charset="0"/>
                        <a:cs typeface="Calibri" charset="0"/>
                      </a:endParaRPr>
                    </a:p>
                    <a:p>
                      <a:pPr algn="l" indent="0" marL="0">
                        <a:buNone/>
                      </a:pPr>
                      <a:r>
                        <a:rPr lang="en-US" sz="1050" b="1" dirty="0">
                          <a:solidFill>
                            <a:srgbClr val="1B1B2F"/>
                          </a:solidFill>
                          <a:latin typeface="Calibri" pitchFamily="34" charset="0"/>
                          <a:ea typeface="Calibri" pitchFamily="34" charset="-122"/>
                          <a:cs typeface="Calibri" pitchFamily="34" charset="-120"/>
                        </a:rPr>
                        <a:t>au / ロイヤリティ</a:t>
                      </a:r>
                      <a:endParaRPr lang="en-US" sz="1050" dirty="0">
                        <a:latin typeface="Calibri" charset="0"/>
                        <a:ea typeface="Calibri" charset="0"/>
                        <a:cs typeface="Calibri" charset="0"/>
                      </a:endParaRPr>
                    </a:p>
                    <a:p>
                      <a:pPr algn="l" indent="0" marL="0">
                        <a:buNone/>
                      </a:pPr>
                      <a:r>
                        <a:rPr lang="en-US" sz="1050" b="1" dirty="0">
                          <a:solidFill>
                            <a:srgbClr val="1B1B2F"/>
                          </a:solidFill>
                          <a:latin typeface="Calibri" pitchFamily="34" charset="0"/>
                          <a:ea typeface="Calibri" pitchFamily="34" charset="-122"/>
                          <a:cs typeface="Calibri" pitchFamily="34" charset="-120"/>
                        </a:rPr>
                        <a:t>マーケティング</a:t>
                      </a:r>
                      <a:endParaRPr lang="en-US" sz="10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EDF1FA"/>
                    </a:solidFill>
                  </a:tcPr>
                </a:tc>
                <a:tc>
                  <a:txBody>
                    <a:bodyPr/>
                    <a:lstStyle/>
                    <a:p>
                      <a:pPr algn="l" indent="0" marL="0">
                        <a:buNone/>
                      </a:pPr>
                      <a:r>
                        <a:rPr lang="en-US" sz="1050" dirty="0">
                          <a:solidFill>
                            <a:srgbClr val="1B1B2F"/>
                          </a:solidFill>
                          <a:latin typeface="Calibri" pitchFamily="34" charset="0"/>
                          <a:ea typeface="Calibri" pitchFamily="34" charset="-122"/>
                          <a:cs typeface="Calibri" pitchFamily="34" charset="-120"/>
                        </a:rPr>
                        <a:t>1.24億人</a:t>
                      </a:r>
                      <a:endParaRPr lang="en-US" sz="10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EDF1FA"/>
                    </a:solidFill>
                  </a:tcPr>
                </a:tc>
                <a:tc>
                  <a:txBody>
                    <a:bodyPr/>
                    <a:lstStyle/>
                    <a:p>
                      <a:pPr algn="l" indent="0" marL="0">
                        <a:buNone/>
                      </a:pPr>
                      <a:r>
                        <a:rPr lang="en-US" sz="1050" dirty="0">
                          <a:solidFill>
                            <a:srgbClr val="1B1B2F"/>
                          </a:solidFill>
                          <a:latin typeface="Calibri" pitchFamily="34" charset="0"/>
                          <a:ea typeface="Calibri" pitchFamily="34" charset="-122"/>
                          <a:cs typeface="Calibri" pitchFamily="34" charset="-120"/>
                        </a:rPr>
                        <a:t>登録上は男女ほぼ半々・全年代型だが、実利用は30〜40代男性に集中。60代以上は利用率2割強に低下</a:t>
                      </a:r>
                      <a:endParaRPr lang="en-US" sz="10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EDF1FA"/>
                    </a:solidFill>
                  </a:tcPr>
                </a:tc>
                <a:tc>
                  <a:txBody>
                    <a:bodyPr/>
                    <a:lstStyle/>
                    <a:p>
                      <a:pPr indent="0" marL="0">
                        <a:buNone/>
                      </a:pPr>
                      <a:r>
                        <a:rPr lang="en-US" sz="1200" dirty="0">
                          <a:solidFill>
                            <a:srgbClr val="000000"/>
                          </a:solidFill>
                        </a:rPr>
                        <a:t>中</a:t>
                      </a:r>
                      <a:endParaRPr lang="en-US" sz="1200" dirty="0"/>
                    </a:p>
                  </a:txBody>
                  <a:tcPr marL="91440" marR="91440" marT="45720" marB="45720">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EDF1FA"/>
                    </a:solidFill>
                  </a:tcPr>
                </a:tc>
                <a:tc>
                  <a:txBody>
                    <a:bodyPr/>
                    <a:lstStyle/>
                    <a:p>
                      <a:pPr algn="l" indent="0" marL="0">
                        <a:buNone/>
                      </a:pPr>
                      <a:r>
                        <a:rPr lang="en-US" sz="950" dirty="0">
                          <a:solidFill>
                            <a:srgbClr val="5A6B8C"/>
                          </a:solidFill>
                          <a:latin typeface="Calibri" pitchFamily="34" charset="0"/>
                          <a:ea typeface="Calibri" pitchFamily="34" charset="-122"/>
                          <a:cs typeface="Calibri" pitchFamily="34" charset="-120"/>
                        </a:rPr>
                        <a:t>[4][5]</a:t>
                      </a:r>
                      <a:endParaRPr lang="en-US" sz="9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EDF1FA"/>
                    </a:solidFill>
                  </a:tcPr>
                </a:tc>
              </a:tr>
              <a:tr h="0">
                <a:tc>
                  <a:txBody>
                    <a:bodyPr/>
                    <a:lstStyle/>
                    <a:p>
                      <a:pPr algn="l" indent="0" marL="0">
                        <a:buNone/>
                      </a:pPr>
                      <a:r>
                        <a:rPr lang="en-US" sz="1050" b="1" dirty="0">
                          <a:solidFill>
                            <a:srgbClr val="1B1B2F"/>
                          </a:solidFill>
                          <a:latin typeface="Calibri" pitchFamily="34" charset="0"/>
                          <a:ea typeface="Calibri" pitchFamily="34" charset="-122"/>
                          <a:cs typeface="Calibri" pitchFamily="34" charset="-120"/>
                        </a:rPr>
                        <a:t>PayPayポイント</a:t>
                      </a:r>
                      <a:endParaRPr lang="en-US" sz="1050" dirty="0">
                        <a:latin typeface="Calibri" charset="0"/>
                        <a:ea typeface="Calibri" charset="0"/>
                        <a:cs typeface="Calibri" charset="0"/>
                      </a:endParaRPr>
                    </a:p>
                    <a:p>
                      <a:pPr algn="l" indent="0" marL="0">
                        <a:buNone/>
                      </a:pPr>
                      <a:r>
                        <a:rPr lang="en-US" sz="1050" b="1" dirty="0">
                          <a:solidFill>
                            <a:srgbClr val="1B1B2F"/>
                          </a:solidFill>
                          <a:latin typeface="Calibri" pitchFamily="34" charset="0"/>
                          <a:ea typeface="Calibri" pitchFamily="34" charset="-122"/>
                          <a:cs typeface="Calibri" pitchFamily="34" charset="-120"/>
                        </a:rPr>
                        <a:t>ソフトバンク / PayPay</a:t>
                      </a:r>
                      <a:endParaRPr lang="en-US" sz="10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B1B2F"/>
                          </a:solidFill>
                          <a:latin typeface="Calibri" pitchFamily="34" charset="0"/>
                          <a:ea typeface="Calibri" pitchFamily="34" charset="-122"/>
                          <a:cs typeface="Calibri" pitchFamily="34" charset="-120"/>
                        </a:rPr>
                        <a:t>非公開</a:t>
                      </a:r>
                      <a:endParaRPr lang="en-US" sz="1050" dirty="0">
                        <a:latin typeface="Calibri" charset="0"/>
                        <a:ea typeface="Calibri" charset="0"/>
                        <a:cs typeface="Calibri" charset="0"/>
                      </a:endParaRPr>
                    </a:p>
                    <a:p>
                      <a:pPr algn="l" indent="0" marL="0">
                        <a:buNone/>
                      </a:pPr>
                      <a:r>
                        <a:rPr lang="en-US" sz="1050" dirty="0">
                          <a:solidFill>
                            <a:srgbClr val="1B1B2F"/>
                          </a:solidFill>
                          <a:latin typeface="Calibri" pitchFamily="34" charset="0"/>
                          <a:ea typeface="Calibri" pitchFamily="34" charset="-122"/>
                          <a:cs typeface="Calibri" pitchFamily="34" charset="-120"/>
                        </a:rPr>
                        <a:t>(推計困難)</a:t>
                      </a:r>
                      <a:endParaRPr lang="en-US" sz="10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B1B2F"/>
                          </a:solidFill>
                          <a:latin typeface="Calibri" pitchFamily="34" charset="0"/>
                          <a:ea typeface="Calibri" pitchFamily="34" charset="-122"/>
                          <a:cs typeface="Calibri" pitchFamily="34" charset="-120"/>
                        </a:rPr>
                        <a:t>20代男性・50代以上女性に強い。10〜30代の若年層で高需要。ソフトバンク/Y!mobileユーザーとの相関</a:t>
                      </a:r>
                      <a:endParaRPr lang="en-US" sz="10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rPr>
                        <a:t>中</a:t>
                      </a:r>
                      <a:endParaRPr lang="en-US" sz="1200" dirty="0"/>
                    </a:p>
                  </a:txBody>
                  <a:tcPr marL="91440" marR="91440" marT="45720" marB="45720">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c>
                  <a:txBody>
                    <a:bodyPr/>
                    <a:lstStyle/>
                    <a:p>
                      <a:pPr algn="l" indent="0" marL="0">
                        <a:buNone/>
                      </a:pPr>
                      <a:r>
                        <a:rPr lang="en-US" sz="950" dirty="0">
                          <a:solidFill>
                            <a:srgbClr val="5A6B8C"/>
                          </a:solidFill>
                          <a:latin typeface="Calibri" pitchFamily="34" charset="0"/>
                          <a:ea typeface="Calibri" pitchFamily="34" charset="-122"/>
                          <a:cs typeface="Calibri" pitchFamily="34" charset="-120"/>
                        </a:rPr>
                        <a:t>[6][7]</a:t>
                      </a:r>
                      <a:endParaRPr lang="en-US" sz="9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r>
              <a:tr h="0">
                <a:tc>
                  <a:txBody>
                    <a:bodyPr/>
                    <a:lstStyle/>
                    <a:p>
                      <a:pPr algn="l" indent="0" marL="0">
                        <a:buNone/>
                      </a:pPr>
                      <a:r>
                        <a:rPr lang="en-US" sz="1050" b="1" dirty="0">
                          <a:solidFill>
                            <a:srgbClr val="1B1B2F"/>
                          </a:solidFill>
                          <a:latin typeface="Calibri" pitchFamily="34" charset="0"/>
                          <a:ea typeface="Calibri" pitchFamily="34" charset="-122"/>
                          <a:cs typeface="Calibri" pitchFamily="34" charset="-120"/>
                        </a:rPr>
                        <a:t>Vポイント(旧Tポイント)</a:t>
                      </a:r>
                      <a:endParaRPr lang="en-US" sz="1050" dirty="0">
                        <a:latin typeface="Calibri" charset="0"/>
                        <a:ea typeface="Calibri" charset="0"/>
                        <a:cs typeface="Calibri" charset="0"/>
                      </a:endParaRPr>
                    </a:p>
                    <a:p>
                      <a:pPr algn="l" indent="0" marL="0">
                        <a:buNone/>
                      </a:pPr>
                      <a:r>
                        <a:rPr lang="en-US" sz="1050" b="1" dirty="0">
                          <a:solidFill>
                            <a:srgbClr val="1B1B2F"/>
                          </a:solidFill>
                          <a:latin typeface="Calibri" pitchFamily="34" charset="0"/>
                          <a:ea typeface="Calibri" pitchFamily="34" charset="-122"/>
                          <a:cs typeface="Calibri" pitchFamily="34" charset="-120"/>
                        </a:rPr>
                        <a:t>CCC / 三井住友</a:t>
                      </a:r>
                      <a:endParaRPr lang="en-US" sz="10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EDF1FA"/>
                    </a:solidFill>
                  </a:tcPr>
                </a:tc>
                <a:tc>
                  <a:txBody>
                    <a:bodyPr/>
                    <a:lstStyle/>
                    <a:p>
                      <a:pPr algn="l" indent="0" marL="0">
                        <a:buNone/>
                      </a:pPr>
                      <a:r>
                        <a:rPr lang="en-US" sz="1050" dirty="0">
                          <a:solidFill>
                            <a:srgbClr val="1B1B2F"/>
                          </a:solidFill>
                          <a:latin typeface="Calibri" pitchFamily="34" charset="0"/>
                          <a:ea typeface="Calibri" pitchFamily="34" charset="-122"/>
                          <a:cs typeface="Calibri" pitchFamily="34" charset="-120"/>
                        </a:rPr>
                        <a:t>8,600万人</a:t>
                      </a:r>
                      <a:endParaRPr lang="en-US" sz="1050" dirty="0">
                        <a:latin typeface="Calibri" charset="0"/>
                        <a:ea typeface="Calibri" charset="0"/>
                        <a:cs typeface="Calibri" charset="0"/>
                      </a:endParaRPr>
                    </a:p>
                    <a:p>
                      <a:pPr algn="l" indent="0" marL="0">
                        <a:buNone/>
                      </a:pPr>
                      <a:r>
                        <a:rPr lang="en-US" sz="1050" dirty="0">
                          <a:solidFill>
                            <a:srgbClr val="1B1B2F"/>
                          </a:solidFill>
                          <a:latin typeface="Calibri" pitchFamily="34" charset="0"/>
                          <a:ea typeface="Calibri" pitchFamily="34" charset="-122"/>
                          <a:cs typeface="Calibri" pitchFamily="34" charset="-120"/>
                        </a:rPr>
                        <a:t>(統合後)</a:t>
                      </a:r>
                      <a:endParaRPr lang="en-US" sz="10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EDF1FA"/>
                    </a:solidFill>
                  </a:tcPr>
                </a:tc>
                <a:tc>
                  <a:txBody>
                    <a:bodyPr/>
                    <a:lstStyle/>
                    <a:p>
                      <a:pPr algn="l" indent="0" marL="0">
                        <a:buNone/>
                      </a:pPr>
                      <a:r>
                        <a:rPr lang="en-US" sz="1050" dirty="0">
                          <a:solidFill>
                            <a:srgbClr val="1B1B2F"/>
                          </a:solidFill>
                          <a:latin typeface="Calibri" pitchFamily="34" charset="0"/>
                          <a:ea typeface="Calibri" pitchFamily="34" charset="-122"/>
                          <a:cs typeface="Calibri" pitchFamily="34" charset="-120"/>
                        </a:rPr>
                        <a:t>旧Tポイント時代、若年層ほど会員率が高い(20代82.4% vs 70代32.9%)。統合後は金融連携層へ拡大中</a:t>
                      </a:r>
                      <a:endParaRPr lang="en-US" sz="10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EDF1FA"/>
                    </a:solidFill>
                  </a:tcPr>
                </a:tc>
                <a:tc>
                  <a:txBody>
                    <a:bodyPr/>
                    <a:lstStyle/>
                    <a:p>
                      <a:pPr indent="0" marL="0">
                        <a:buNone/>
                      </a:pPr>
                      <a:r>
                        <a:rPr lang="en-US" sz="1200" dirty="0">
                          <a:solidFill>
                            <a:srgbClr val="000000"/>
                          </a:solidFill>
                        </a:rPr>
                        <a:t>中</a:t>
                      </a:r>
                      <a:endParaRPr lang="en-US" sz="1200" dirty="0"/>
                    </a:p>
                  </a:txBody>
                  <a:tcPr marL="91440" marR="91440" marT="45720" marB="45720">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EDF1FA"/>
                    </a:solidFill>
                  </a:tcPr>
                </a:tc>
                <a:tc>
                  <a:txBody>
                    <a:bodyPr/>
                    <a:lstStyle/>
                    <a:p>
                      <a:pPr algn="l" indent="0" marL="0">
                        <a:buNone/>
                      </a:pPr>
                      <a:r>
                        <a:rPr lang="en-US" sz="950" dirty="0">
                          <a:solidFill>
                            <a:srgbClr val="5A6B8C"/>
                          </a:solidFill>
                          <a:latin typeface="Calibri" pitchFamily="34" charset="0"/>
                          <a:ea typeface="Calibri" pitchFamily="34" charset="-122"/>
                          <a:cs typeface="Calibri" pitchFamily="34" charset="-120"/>
                        </a:rPr>
                        <a:t>[8][9]</a:t>
                      </a:r>
                      <a:endParaRPr lang="en-US" sz="9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EDF1FA"/>
                    </a:solidFill>
                  </a:tcPr>
                </a:tc>
              </a:tr>
              <a:tr h="0">
                <a:tc>
                  <a:txBody>
                    <a:bodyPr/>
                    <a:lstStyle/>
                    <a:p>
                      <a:pPr algn="l" indent="0" marL="0">
                        <a:buNone/>
                      </a:pPr>
                      <a:r>
                        <a:rPr lang="en-US" sz="1050" b="1" dirty="0">
                          <a:solidFill>
                            <a:srgbClr val="1B1B2F"/>
                          </a:solidFill>
                          <a:latin typeface="Calibri" pitchFamily="34" charset="0"/>
                          <a:ea typeface="Calibri" pitchFamily="34" charset="-122"/>
                          <a:cs typeface="Calibri" pitchFamily="34" charset="-120"/>
                        </a:rPr>
                        <a:t>楽天ポイント</a:t>
                      </a:r>
                      <a:endParaRPr lang="en-US" sz="1050" dirty="0">
                        <a:latin typeface="Calibri" charset="0"/>
                        <a:ea typeface="Calibri" charset="0"/>
                        <a:cs typeface="Calibri" charset="0"/>
                      </a:endParaRPr>
                    </a:p>
                    <a:p>
                      <a:pPr algn="l" indent="0" marL="0">
                        <a:buNone/>
                      </a:pPr>
                      <a:r>
                        <a:rPr lang="en-US" sz="1050" b="1" dirty="0">
                          <a:solidFill>
                            <a:srgbClr val="1B1B2F"/>
                          </a:solidFill>
                          <a:latin typeface="Calibri" pitchFamily="34" charset="0"/>
                          <a:ea typeface="Calibri" pitchFamily="34" charset="-122"/>
                          <a:cs typeface="Calibri" pitchFamily="34" charset="-120"/>
                        </a:rPr>
                        <a:t>楽天市場</a:t>
                      </a:r>
                      <a:endParaRPr lang="en-US" sz="10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B1B2F"/>
                          </a:solidFill>
                          <a:latin typeface="Calibri" pitchFamily="34" charset="0"/>
                          <a:ea typeface="Calibri" pitchFamily="34" charset="-122"/>
                          <a:cs typeface="Calibri" pitchFamily="34" charset="-120"/>
                        </a:rPr>
                        <a:t>非公開</a:t>
                      </a:r>
                      <a:endParaRPr lang="en-US" sz="1050" dirty="0">
                        <a:latin typeface="Calibri" charset="0"/>
                        <a:ea typeface="Calibri" charset="0"/>
                        <a:cs typeface="Calibri" charset="0"/>
                      </a:endParaRPr>
                    </a:p>
                    <a:p>
                      <a:pPr algn="l" indent="0" marL="0">
                        <a:buNone/>
                      </a:pPr>
                      <a:r>
                        <a:rPr lang="en-US" sz="1050" dirty="0">
                          <a:solidFill>
                            <a:srgbClr val="1B1B2F"/>
                          </a:solidFill>
                          <a:latin typeface="Calibri" pitchFamily="34" charset="0"/>
                          <a:ea typeface="Calibri" pitchFamily="34" charset="-122"/>
                          <a:cs typeface="Calibri" pitchFamily="34" charset="-120"/>
                        </a:rPr>
                        <a:t>(推計困難)</a:t>
                      </a:r>
                      <a:endParaRPr lang="en-US" sz="10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B1B2F"/>
                          </a:solidFill>
                          <a:latin typeface="Calibri" pitchFamily="34" charset="0"/>
                          <a:ea typeface="Calibri" pitchFamily="34" charset="-122"/>
                          <a:cs typeface="Calibri" pitchFamily="34" charset="-120"/>
                        </a:rPr>
                        <a:t>全年代型で最多利用という調査もあるが、女性の利用率が男性より高め。10代はPayPay経済圏が優勢</a:t>
                      </a:r>
                      <a:endParaRPr lang="en-US" sz="10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rPr>
                        <a:t>中</a:t>
                      </a:r>
                      <a:endParaRPr lang="en-US" sz="1200" dirty="0"/>
                    </a:p>
                  </a:txBody>
                  <a:tcPr marL="91440" marR="91440" marT="45720" marB="45720">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c>
                  <a:txBody>
                    <a:bodyPr/>
                    <a:lstStyle/>
                    <a:p>
                      <a:pPr algn="l" indent="0" marL="0">
                        <a:buNone/>
                      </a:pPr>
                      <a:r>
                        <a:rPr lang="en-US" sz="950" dirty="0">
                          <a:solidFill>
                            <a:srgbClr val="5A6B8C"/>
                          </a:solidFill>
                          <a:latin typeface="Calibri" pitchFamily="34" charset="0"/>
                          <a:ea typeface="Calibri" pitchFamily="34" charset="-122"/>
                          <a:cs typeface="Calibri" pitchFamily="34" charset="-120"/>
                        </a:rPr>
                        <a:t>[10][11]</a:t>
                      </a:r>
                      <a:endParaRPr lang="en-US" sz="9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r>
            </a:tbl>
          </a:graphicData>
        </a:graphic>
      </p:graphicFrame>
      <p:sp>
        <p:nvSpPr>
          <p:cNvPr id="5" name="Text 2"/>
          <p:cNvSpPr/>
          <p:nvPr/>
        </p:nvSpPr>
        <p:spPr>
          <a:xfrm>
            <a:off x="457200" y="6446520"/>
            <a:ext cx="11247120" cy="292608"/>
          </a:xfrm>
          <a:prstGeom prst="rect">
            <a:avLst/>
          </a:prstGeom>
          <a:noFill/>
          <a:ln/>
        </p:spPr>
        <p:txBody>
          <a:bodyPr wrap="square" lIns="0" tIns="0" rIns="0" bIns="0" rtlCol="0" anchor="ctr"/>
          <a:lstStyle/>
          <a:p>
            <a:pPr indent="0" marL="0">
              <a:buNone/>
            </a:pPr>
            <a:r>
              <a:rPr lang="en-US" sz="950" i="1" dirty="0">
                <a:solidFill>
                  <a:srgbClr val="5A6B8C"/>
                </a:solidFill>
                <a:latin typeface="Calibri" pitchFamily="34" charset="0"/>
                <a:ea typeface="Calibri" pitchFamily="34" charset="-122"/>
                <a:cs typeface="Calibri" pitchFamily="34" charset="-120"/>
              </a:rPr>
              <a:t>確度: 高＝複数の独立した情報源(公式データ・企業コメントを含む)で整合 　中＝報道・調査会社データで概ね裏付け(単一/やや古い情報源を含む場合あり)</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B"/>
        </a:solidFill>
      </p:bgPr>
    </p:bg>
    <p:spTree>
      <p:nvGrpSpPr>
        <p:cNvPr id="1" name=""/>
        <p:cNvGrpSpPr/>
        <p:nvPr/>
      </p:nvGrpSpPr>
      <p:grpSpPr>
        <a:xfrm>
          <a:off x="0" y="0"/>
          <a:ext cx="0" cy="0"/>
          <a:chOff x="0" y="0"/>
          <a:chExt cx="0" cy="0"/>
        </a:xfrm>
      </p:grpSpPr>
      <p:sp>
        <p:nvSpPr>
          <p:cNvPr id="2" name="Text 0"/>
          <p:cNvSpPr/>
          <p:nvPr/>
        </p:nvSpPr>
        <p:spPr>
          <a:xfrm>
            <a:off x="457200" y="365760"/>
            <a:ext cx="11247120" cy="50292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高齢者のポイント利用実態</a:t>
            </a:r>
            <a:endParaRPr lang="en-US" sz="2600" dirty="0"/>
          </a:p>
        </p:txBody>
      </p:sp>
      <p:sp>
        <p:nvSpPr>
          <p:cNvPr id="3" name="Text 1"/>
          <p:cNvSpPr/>
          <p:nvPr/>
        </p:nvSpPr>
        <p:spPr>
          <a:xfrm>
            <a:off x="457200" y="841248"/>
            <a:ext cx="11247120" cy="320040"/>
          </a:xfrm>
          <a:prstGeom prst="rect">
            <a:avLst/>
          </a:prstGeom>
          <a:noFill/>
          <a:ln/>
        </p:spPr>
        <p:txBody>
          <a:bodyPr wrap="square" lIns="0" tIns="0" rIns="0" bIns="0" rtlCol="0" anchor="ctr"/>
          <a:lstStyle/>
          <a:p>
            <a:pPr indent="0" marL="0">
              <a:buNone/>
            </a:pPr>
            <a:r>
              <a:rPr lang="en-US" sz="1250" i="1" dirty="0">
                <a:solidFill>
                  <a:srgbClr val="5A6B8C"/>
                </a:solidFill>
                <a:latin typeface="Calibri" pitchFamily="34" charset="0"/>
                <a:ea typeface="Calibri" pitchFamily="34" charset="-122"/>
                <a:cs typeface="Calibri" pitchFamily="34" charset="-120"/>
              </a:rPr>
              <a:t>ポイント自体は活発に利用されているが、実践度は「デジタル・金融リテラシー」と相関する</a:t>
            </a:r>
            <a:endParaRPr lang="en-US" sz="1250" dirty="0"/>
          </a:p>
        </p:txBody>
      </p:sp>
      <p:sp>
        <p:nvSpPr>
          <p:cNvPr id="4" name="Shape 2"/>
          <p:cNvSpPr/>
          <p:nvPr/>
        </p:nvSpPr>
        <p:spPr>
          <a:xfrm>
            <a:off x="457200" y="1371600"/>
            <a:ext cx="2606040" cy="1783080"/>
          </a:xfrm>
          <a:prstGeom prst="roundRect">
            <a:avLst>
              <a:gd name="adj" fmla="val 3077"/>
            </a:avLst>
          </a:prstGeom>
          <a:solidFill>
            <a:srgbClr val="1E2761"/>
          </a:solidFill>
          <a:ln w="9525">
            <a:solidFill>
              <a:srgbClr val="1E2761"/>
            </a:solidFill>
            <a:prstDash val="solid"/>
          </a:ln>
        </p:spPr>
      </p:sp>
      <p:sp>
        <p:nvSpPr>
          <p:cNvPr id="5" name="Text 3"/>
          <p:cNvSpPr/>
          <p:nvPr/>
        </p:nvSpPr>
        <p:spPr>
          <a:xfrm>
            <a:off x="566928" y="1508760"/>
            <a:ext cx="2386584" cy="59436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44.3%</a:t>
            </a:r>
            <a:endParaRPr lang="en-US" sz="3400" dirty="0"/>
          </a:p>
        </p:txBody>
      </p:sp>
      <p:sp>
        <p:nvSpPr>
          <p:cNvPr id="6" name="Text 4"/>
          <p:cNvSpPr/>
          <p:nvPr/>
        </p:nvSpPr>
        <p:spPr>
          <a:xfrm>
            <a:off x="566928" y="2148840"/>
            <a:ext cx="2386584" cy="685800"/>
          </a:xfrm>
          <a:prstGeom prst="rect">
            <a:avLst/>
          </a:prstGeom>
          <a:noFill/>
          <a:ln/>
        </p:spPr>
        <p:txBody>
          <a:bodyPr wrap="square" lIns="0" tIns="0" rIns="0" bIns="0" rtlCol="0" anchor="t"/>
          <a:lstStyle/>
          <a:p>
            <a:pPr algn="l" indent="0" marL="0">
              <a:buNone/>
            </a:pPr>
            <a:r>
              <a:rPr lang="en-US" sz="1100" dirty="0">
                <a:solidFill>
                  <a:srgbClr val="CADCFC"/>
                </a:solidFill>
                <a:latin typeface="Calibri" pitchFamily="34" charset="0"/>
                <a:ea typeface="Calibri" pitchFamily="34" charset="-122"/>
                <a:cs typeface="Calibri" pitchFamily="34" charset="-120"/>
              </a:rPr>
              <a:t>貯め方の最多回答は</a:t>
            </a:r>
            <a:endParaRPr lang="en-US" sz="1100" dirty="0"/>
          </a:p>
          <a:p>
            <a:pPr algn="l" indent="0" marL="0">
              <a:buNone/>
            </a:pPr>
            <a:r>
              <a:rPr lang="en-US" sz="1100" dirty="0">
                <a:solidFill>
                  <a:srgbClr val="CADCFC"/>
                </a:solidFill>
                <a:latin typeface="Calibri" pitchFamily="34" charset="0"/>
                <a:ea typeface="Calibri" pitchFamily="34" charset="-122"/>
                <a:cs typeface="Calibri" pitchFamily="34" charset="-120"/>
              </a:rPr>
              <a:t>「店頭でポイントカードを提示」</a:t>
            </a:r>
            <a:endParaRPr lang="en-US" sz="1100" dirty="0"/>
          </a:p>
        </p:txBody>
      </p:sp>
      <p:sp>
        <p:nvSpPr>
          <p:cNvPr id="7" name="Text 5"/>
          <p:cNvSpPr/>
          <p:nvPr/>
        </p:nvSpPr>
        <p:spPr>
          <a:xfrm>
            <a:off x="566928" y="2862072"/>
            <a:ext cx="2386584" cy="228600"/>
          </a:xfrm>
          <a:prstGeom prst="rect">
            <a:avLst/>
          </a:prstGeom>
          <a:noFill/>
          <a:ln/>
        </p:spPr>
        <p:txBody>
          <a:bodyPr wrap="square" lIns="0" tIns="0" rIns="0" bIns="0" rtlCol="0" anchor="ctr"/>
          <a:lstStyle/>
          <a:p>
            <a:pPr algn="l" indent="0" marL="0">
              <a:buNone/>
            </a:pPr>
            <a:r>
              <a:rPr lang="en-US" sz="900" dirty="0">
                <a:solidFill>
                  <a:srgbClr val="8FA3D9"/>
                </a:solidFill>
                <a:latin typeface="Calibri" pitchFamily="34" charset="0"/>
                <a:ea typeface="Calibri" pitchFamily="34" charset="-122"/>
                <a:cs typeface="Calibri" pitchFamily="34" charset="-120"/>
              </a:rPr>
              <a:t>[12]</a:t>
            </a:r>
            <a:endParaRPr lang="en-US" sz="900" dirty="0"/>
          </a:p>
        </p:txBody>
      </p:sp>
      <p:sp>
        <p:nvSpPr>
          <p:cNvPr id="8" name="Shape 6"/>
          <p:cNvSpPr/>
          <p:nvPr/>
        </p:nvSpPr>
        <p:spPr>
          <a:xfrm>
            <a:off x="3337560" y="1371600"/>
            <a:ext cx="2606040" cy="1783080"/>
          </a:xfrm>
          <a:prstGeom prst="roundRect">
            <a:avLst>
              <a:gd name="adj" fmla="val 3077"/>
            </a:avLst>
          </a:prstGeom>
          <a:solidFill>
            <a:srgbClr val="FFFFFF"/>
          </a:solidFill>
          <a:ln w="9525">
            <a:solidFill>
              <a:srgbClr val="D7DEEE"/>
            </a:solidFill>
            <a:prstDash val="solid"/>
          </a:ln>
        </p:spPr>
      </p:sp>
      <p:sp>
        <p:nvSpPr>
          <p:cNvPr id="9" name="Text 7"/>
          <p:cNvSpPr/>
          <p:nvPr/>
        </p:nvSpPr>
        <p:spPr>
          <a:xfrm>
            <a:off x="3447288" y="1508760"/>
            <a:ext cx="2386584" cy="594360"/>
          </a:xfrm>
          <a:prstGeom prst="rect">
            <a:avLst/>
          </a:prstGeom>
          <a:noFill/>
          <a:ln/>
        </p:spPr>
        <p:txBody>
          <a:bodyPr wrap="square" lIns="0" tIns="0" rIns="0" bIns="0" rtlCol="0" anchor="ctr"/>
          <a:lstStyle/>
          <a:p>
            <a:pPr algn="l" indent="0" marL="0">
              <a:buNone/>
            </a:pPr>
            <a:r>
              <a:rPr lang="en-US" sz="3400" b="1" dirty="0">
                <a:solidFill>
                  <a:srgbClr val="1E2761"/>
                </a:solidFill>
                <a:latin typeface="Cambria" pitchFamily="34" charset="0"/>
                <a:ea typeface="Cambria" pitchFamily="34" charset="-122"/>
                <a:cs typeface="Cambria" pitchFamily="34" charset="-120"/>
              </a:rPr>
              <a:t>56.7%</a:t>
            </a:r>
            <a:endParaRPr lang="en-US" sz="3400" dirty="0"/>
          </a:p>
        </p:txBody>
      </p:sp>
      <p:sp>
        <p:nvSpPr>
          <p:cNvPr id="10" name="Text 8"/>
          <p:cNvSpPr/>
          <p:nvPr/>
        </p:nvSpPr>
        <p:spPr>
          <a:xfrm>
            <a:off x="3447288" y="2148840"/>
            <a:ext cx="2386584" cy="685800"/>
          </a:xfrm>
          <a:prstGeom prst="rect">
            <a:avLst/>
          </a:prstGeom>
          <a:noFill/>
          <a:ln/>
        </p:spPr>
        <p:txBody>
          <a:bodyPr wrap="square" lIns="0" tIns="0" rIns="0" bIns="0" rtlCol="0" anchor="t"/>
          <a:lstStyle/>
          <a:p>
            <a:pPr algn="l" indent="0" marL="0">
              <a:buNone/>
            </a:pPr>
            <a:r>
              <a:rPr lang="en-US" sz="1100" dirty="0">
                <a:solidFill>
                  <a:srgbClr val="1B1B2F"/>
                </a:solidFill>
                <a:latin typeface="Calibri" pitchFamily="34" charset="0"/>
                <a:ea typeface="Calibri" pitchFamily="34" charset="-122"/>
                <a:cs typeface="Calibri" pitchFamily="34" charset="-120"/>
              </a:rPr>
              <a:t>日常的に「ポイ活」を実践</a:t>
            </a:r>
            <a:endParaRPr lang="en-US" sz="1100" dirty="0"/>
          </a:p>
          <a:p>
            <a:pPr algn="l" indent="0" marL="0">
              <a:buNone/>
            </a:pPr>
            <a:r>
              <a:rPr lang="en-US" sz="1100" dirty="0">
                <a:solidFill>
                  <a:srgbClr val="1B1B2F"/>
                </a:solidFill>
                <a:latin typeface="Calibri" pitchFamily="34" charset="0"/>
                <a:ea typeface="Calibri" pitchFamily="34" charset="-122"/>
                <a:cs typeface="Calibri" pitchFamily="34" charset="-120"/>
              </a:rPr>
              <a:t>(50〜79歳)</a:t>
            </a:r>
            <a:endParaRPr lang="en-US" sz="1100" dirty="0"/>
          </a:p>
        </p:txBody>
      </p:sp>
      <p:sp>
        <p:nvSpPr>
          <p:cNvPr id="11" name="Text 9"/>
          <p:cNvSpPr/>
          <p:nvPr/>
        </p:nvSpPr>
        <p:spPr>
          <a:xfrm>
            <a:off x="3447288" y="2862072"/>
            <a:ext cx="2386584" cy="22860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[12][13]</a:t>
            </a:r>
            <a:endParaRPr lang="en-US" sz="900" dirty="0"/>
          </a:p>
        </p:txBody>
      </p:sp>
      <p:sp>
        <p:nvSpPr>
          <p:cNvPr id="12" name="Shape 10"/>
          <p:cNvSpPr/>
          <p:nvPr/>
        </p:nvSpPr>
        <p:spPr>
          <a:xfrm>
            <a:off x="6217920" y="1371600"/>
            <a:ext cx="2606040" cy="1783080"/>
          </a:xfrm>
          <a:prstGeom prst="roundRect">
            <a:avLst>
              <a:gd name="adj" fmla="val 3077"/>
            </a:avLst>
          </a:prstGeom>
          <a:solidFill>
            <a:srgbClr val="FFFFFF"/>
          </a:solidFill>
          <a:ln w="9525">
            <a:solidFill>
              <a:srgbClr val="D7DEEE"/>
            </a:solidFill>
            <a:prstDash val="solid"/>
          </a:ln>
        </p:spPr>
      </p:sp>
      <p:sp>
        <p:nvSpPr>
          <p:cNvPr id="13" name="Text 11"/>
          <p:cNvSpPr/>
          <p:nvPr/>
        </p:nvSpPr>
        <p:spPr>
          <a:xfrm>
            <a:off x="6327648" y="1508760"/>
            <a:ext cx="2386584" cy="594360"/>
          </a:xfrm>
          <a:prstGeom prst="rect">
            <a:avLst/>
          </a:prstGeom>
          <a:noFill/>
          <a:ln/>
        </p:spPr>
        <p:txBody>
          <a:bodyPr wrap="square" lIns="0" tIns="0" rIns="0" bIns="0" rtlCol="0" anchor="ctr"/>
          <a:lstStyle/>
          <a:p>
            <a:pPr algn="l" indent="0" marL="0">
              <a:buNone/>
            </a:pPr>
            <a:r>
              <a:rPr lang="en-US" sz="3400" b="1" dirty="0">
                <a:solidFill>
                  <a:srgbClr val="1E2761"/>
                </a:solidFill>
                <a:latin typeface="Cambria" pitchFamily="34" charset="0"/>
                <a:ea typeface="Cambria" pitchFamily="34" charset="-122"/>
                <a:cs typeface="Cambria" pitchFamily="34" charset="-120"/>
              </a:rPr>
              <a:t>73.7%</a:t>
            </a:r>
            <a:endParaRPr lang="en-US" sz="3400" dirty="0"/>
          </a:p>
        </p:txBody>
      </p:sp>
      <p:sp>
        <p:nvSpPr>
          <p:cNvPr id="14" name="Text 12"/>
          <p:cNvSpPr/>
          <p:nvPr/>
        </p:nvSpPr>
        <p:spPr>
          <a:xfrm>
            <a:off x="6327648" y="2148840"/>
            <a:ext cx="2386584" cy="685800"/>
          </a:xfrm>
          <a:prstGeom prst="rect">
            <a:avLst/>
          </a:prstGeom>
          <a:noFill/>
          <a:ln/>
        </p:spPr>
        <p:txBody>
          <a:bodyPr wrap="square" lIns="0" tIns="0" rIns="0" bIns="0" rtlCol="0" anchor="t"/>
          <a:lstStyle/>
          <a:p>
            <a:pPr algn="l" indent="0" marL="0">
              <a:buNone/>
            </a:pPr>
            <a:r>
              <a:rPr lang="en-US" sz="1100" dirty="0">
                <a:solidFill>
                  <a:srgbClr val="1B1B2F"/>
                </a:solidFill>
                <a:latin typeface="Calibri" pitchFamily="34" charset="0"/>
                <a:ea typeface="Calibri" pitchFamily="34" charset="-122"/>
                <a:cs typeface="Calibri" pitchFamily="34" charset="-120"/>
              </a:rPr>
              <a:t>直近1ヶ月でキャッシュレス</a:t>
            </a:r>
            <a:endParaRPr lang="en-US" sz="1100" dirty="0"/>
          </a:p>
          <a:p>
            <a:pPr algn="l" indent="0" marL="0">
              <a:buNone/>
            </a:pPr>
            <a:r>
              <a:rPr lang="en-US" sz="1100" dirty="0">
                <a:solidFill>
                  <a:srgbClr val="1B1B2F"/>
                </a:solidFill>
                <a:latin typeface="Calibri" pitchFamily="34" charset="0"/>
                <a:ea typeface="Calibri" pitchFamily="34" charset="-122"/>
                <a:cs typeface="Calibri" pitchFamily="34" charset="-120"/>
              </a:rPr>
              <a:t>決済を利用(60歳以上)</a:t>
            </a:r>
            <a:endParaRPr lang="en-US" sz="1100" dirty="0"/>
          </a:p>
        </p:txBody>
      </p:sp>
      <p:sp>
        <p:nvSpPr>
          <p:cNvPr id="15" name="Text 13"/>
          <p:cNvSpPr/>
          <p:nvPr/>
        </p:nvSpPr>
        <p:spPr>
          <a:xfrm>
            <a:off x="6327648" y="2862072"/>
            <a:ext cx="2386584" cy="22860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[14]</a:t>
            </a:r>
            <a:endParaRPr lang="en-US" sz="900" dirty="0"/>
          </a:p>
        </p:txBody>
      </p:sp>
      <p:sp>
        <p:nvSpPr>
          <p:cNvPr id="16" name="Shape 14"/>
          <p:cNvSpPr/>
          <p:nvPr/>
        </p:nvSpPr>
        <p:spPr>
          <a:xfrm>
            <a:off x="9098280" y="1371600"/>
            <a:ext cx="2606040" cy="1783080"/>
          </a:xfrm>
          <a:prstGeom prst="roundRect">
            <a:avLst>
              <a:gd name="adj" fmla="val 3077"/>
            </a:avLst>
          </a:prstGeom>
          <a:solidFill>
            <a:srgbClr val="FFFFFF"/>
          </a:solidFill>
          <a:ln w="9525">
            <a:solidFill>
              <a:srgbClr val="D7DEEE"/>
            </a:solidFill>
            <a:prstDash val="solid"/>
          </a:ln>
        </p:spPr>
      </p:sp>
      <p:sp>
        <p:nvSpPr>
          <p:cNvPr id="17" name="Text 15"/>
          <p:cNvSpPr/>
          <p:nvPr/>
        </p:nvSpPr>
        <p:spPr>
          <a:xfrm>
            <a:off x="9208008" y="1508760"/>
            <a:ext cx="2386584" cy="594360"/>
          </a:xfrm>
          <a:prstGeom prst="rect">
            <a:avLst/>
          </a:prstGeom>
          <a:noFill/>
          <a:ln/>
        </p:spPr>
        <p:txBody>
          <a:bodyPr wrap="square" lIns="0" tIns="0" rIns="0" bIns="0" rtlCol="0" anchor="ctr"/>
          <a:lstStyle/>
          <a:p>
            <a:pPr algn="l" indent="0" marL="0">
              <a:buNone/>
            </a:pPr>
            <a:r>
              <a:rPr lang="en-US" sz="3400" b="1" dirty="0">
                <a:solidFill>
                  <a:srgbClr val="1E2761"/>
                </a:solidFill>
                <a:latin typeface="Cambria" pitchFamily="34" charset="0"/>
                <a:ea typeface="Cambria" pitchFamily="34" charset="-122"/>
                <a:cs typeface="Cambria" pitchFamily="34" charset="-120"/>
              </a:rPr>
              <a:t>2割以下</a:t>
            </a:r>
            <a:endParaRPr lang="en-US" sz="3400" dirty="0"/>
          </a:p>
        </p:txBody>
      </p:sp>
      <p:sp>
        <p:nvSpPr>
          <p:cNvPr id="18" name="Text 16"/>
          <p:cNvSpPr/>
          <p:nvPr/>
        </p:nvSpPr>
        <p:spPr>
          <a:xfrm>
            <a:off x="9208008" y="2148840"/>
            <a:ext cx="2386584" cy="685800"/>
          </a:xfrm>
          <a:prstGeom prst="rect">
            <a:avLst/>
          </a:prstGeom>
          <a:noFill/>
          <a:ln/>
        </p:spPr>
        <p:txBody>
          <a:bodyPr wrap="square" lIns="0" tIns="0" rIns="0" bIns="0" rtlCol="0" anchor="t"/>
          <a:lstStyle/>
          <a:p>
            <a:pPr algn="l" indent="0" marL="0">
              <a:buNone/>
            </a:pPr>
            <a:r>
              <a:rPr lang="en-US" sz="1100" dirty="0">
                <a:solidFill>
                  <a:srgbClr val="1B1B2F"/>
                </a:solidFill>
                <a:latin typeface="Calibri" pitchFamily="34" charset="0"/>
                <a:ea typeface="Calibri" pitchFamily="34" charset="-122"/>
                <a:cs typeface="Calibri" pitchFamily="34" charset="-120"/>
              </a:rPr>
              <a:t>スマホ決済の利用経験</a:t>
            </a:r>
            <a:endParaRPr lang="en-US" sz="1100" dirty="0"/>
          </a:p>
          <a:p>
            <a:pPr algn="l" indent="0" marL="0">
              <a:buNone/>
            </a:pPr>
            <a:r>
              <a:rPr lang="en-US" sz="1100" dirty="0">
                <a:solidFill>
                  <a:srgbClr val="1B1B2F"/>
                </a:solidFill>
                <a:latin typeface="Calibri" pitchFamily="34" charset="0"/>
                <a:ea typeface="Calibri" pitchFamily="34" charset="-122"/>
                <a:cs typeface="Calibri" pitchFamily="34" charset="-120"/>
              </a:rPr>
              <a:t>(シニア女性)</a:t>
            </a:r>
            <a:endParaRPr lang="en-US" sz="1100" dirty="0"/>
          </a:p>
        </p:txBody>
      </p:sp>
      <p:sp>
        <p:nvSpPr>
          <p:cNvPr id="19" name="Text 17"/>
          <p:cNvSpPr/>
          <p:nvPr/>
        </p:nvSpPr>
        <p:spPr>
          <a:xfrm>
            <a:off x="9208008" y="2862072"/>
            <a:ext cx="2386584" cy="22860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[14]</a:t>
            </a:r>
            <a:endParaRPr lang="en-US" sz="900" dirty="0"/>
          </a:p>
        </p:txBody>
      </p:sp>
      <p:sp>
        <p:nvSpPr>
          <p:cNvPr id="20" name="Shape 18"/>
          <p:cNvSpPr/>
          <p:nvPr/>
        </p:nvSpPr>
        <p:spPr>
          <a:xfrm>
            <a:off x="457200" y="3429000"/>
            <a:ext cx="11247120" cy="2971800"/>
          </a:xfrm>
          <a:prstGeom prst="roundRect">
            <a:avLst>
              <a:gd name="adj" fmla="val 1846"/>
            </a:avLst>
          </a:prstGeom>
          <a:solidFill>
            <a:srgbClr val="FFFFFF"/>
          </a:solidFill>
          <a:ln w="9525">
            <a:solidFill>
              <a:srgbClr val="D7DEEE"/>
            </a:solidFill>
            <a:prstDash val="solid"/>
          </a:ln>
        </p:spPr>
      </p:sp>
      <p:sp>
        <p:nvSpPr>
          <p:cNvPr id="21" name="Text 19"/>
          <p:cNvSpPr/>
          <p:nvPr/>
        </p:nvSpPr>
        <p:spPr>
          <a:xfrm>
            <a:off x="731520" y="3639312"/>
            <a:ext cx="10698480" cy="2606040"/>
          </a:xfrm>
          <a:prstGeom prst="rect">
            <a:avLst/>
          </a:prstGeom>
          <a:noFill/>
          <a:ln/>
        </p:spPr>
        <p:txBody>
          <a:bodyPr wrap="square" lIns="0" tIns="0" rIns="0" bIns="0" rtlCol="0" anchor="t"/>
          <a:lstStyle/>
          <a:p>
            <a:pPr indent="0" marL="0">
              <a:spcAft>
                <a:spcPts val="1000"/>
              </a:spcAft>
              <a:buNone/>
            </a:pPr>
            <a:r>
              <a:rPr lang="en-US" sz="1250" b="1" dirty="0">
                <a:solidFill>
                  <a:srgbClr val="1E2761"/>
                </a:solidFill>
                <a:latin typeface="Calibri" pitchFamily="34" charset="0"/>
                <a:ea typeface="Calibri" pitchFamily="34" charset="-122"/>
                <a:cs typeface="Calibri" pitchFamily="34" charset="-120"/>
              </a:rPr>
              <a:t>補足データ</a:t>
            </a:r>
            <a:endParaRPr lang="en-US" sz="1250" dirty="0"/>
          </a:p>
          <a:p>
            <a:pPr marL="342900" indent="-342900">
              <a:spcAft>
                <a:spcPts val="1000"/>
              </a:spcAft>
              <a:buSzPct val="100000"/>
              <a:buChar char="•"/>
            </a:pPr>
            <a:r>
              <a:rPr lang="en-US" sz="1250" dirty="0">
                <a:solidFill>
                  <a:srgbClr val="1B1B2F"/>
                </a:solidFill>
                <a:latin typeface="Calibri" pitchFamily="34" charset="0"/>
                <a:ea typeface="Calibri" pitchFamily="34" charset="-122"/>
                <a:cs typeface="Calibri" pitchFamily="34" charset="-120"/>
              </a:rPr>
              <a:t>QRコード決済は60代前半で急伸(1年で7〜8pt上昇)する一方、70代は約3割にとどまり伸びも鈍化。年代が上がるほどスマホ経由のポイント活用は失速する [15]</a:t>
            </a:r>
            <a:endParaRPr lang="en-US" sz="1250" dirty="0"/>
          </a:p>
          <a:p>
            <a:pPr marL="342900" indent="-342900">
              <a:spcAft>
                <a:spcPts val="1000"/>
              </a:spcAft>
              <a:buSzPct val="100000"/>
              <a:buChar char="•"/>
            </a:pPr>
            <a:r>
              <a:rPr lang="en-US" sz="1250" dirty="0">
                <a:solidFill>
                  <a:srgbClr val="1B1B2F"/>
                </a:solidFill>
                <a:latin typeface="Calibri" pitchFamily="34" charset="0"/>
                <a:ea typeface="Calibri" pitchFamily="34" charset="-122"/>
                <a:cs typeface="Calibri" pitchFamily="34" charset="-120"/>
              </a:rPr>
              <a:t>ポイ活を実践しているシニアは平均4.24個のアプリを使用(非実践者は3.43個)。ネットバンキング利用率も高く、ポイ活の実践度はデジタル・金融リテラシーの高さと明確に相関する [12]</a:t>
            </a:r>
            <a:endParaRPr lang="en-US" sz="1250" dirty="0"/>
          </a:p>
          <a:p>
            <a:pPr marL="342900" indent="-342900">
              <a:spcAft>
                <a:spcPts val="1000"/>
              </a:spcAft>
              <a:buSzPct val="100000"/>
              <a:buChar char="•"/>
            </a:pPr>
            <a:r>
              <a:rPr lang="en-US" sz="1250" dirty="0">
                <a:solidFill>
                  <a:srgbClr val="1B1B2F"/>
                </a:solidFill>
                <a:latin typeface="Calibri" pitchFamily="34" charset="0"/>
                <a:ea typeface="Calibri" pitchFamily="34" charset="-122"/>
                <a:cs typeface="Calibri" pitchFamily="34" charset="-120"/>
              </a:rPr>
              <a:t>男女差もあり、女性62.4%に対し男性50.9%とポイ活実践率に差がある [12]</a:t>
            </a:r>
            <a:endParaRPr lang="en-US" sz="1250" dirty="0"/>
          </a:p>
          <a:p>
            <a:pPr indent="0" marL="0">
              <a:buNone/>
            </a:pPr>
            <a:r>
              <a:rPr lang="en-US" sz="1150" i="1" dirty="0">
                <a:solidFill>
                  <a:srgbClr val="5A6B8C"/>
                </a:solidFill>
                <a:latin typeface="Calibri" pitchFamily="34" charset="0"/>
                <a:ea typeface="Calibri" pitchFamily="34" charset="-122"/>
                <a:cs typeface="Calibri" pitchFamily="34" charset="-120"/>
              </a:rPr>
              <a:t>示唆: 「高齢者はポイントを使うか否か」ではなく、シニア内部でも「デジタルリテラシーが高い層」に利用・行動データが偏る。dポイントの偏り論(④)は年齢だけでなく年齢×リテラシーの2軸で語れる</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B"/>
        </a:solidFill>
      </p:bgPr>
    </p:bg>
    <p:spTree>
      <p:nvGrpSpPr>
        <p:cNvPr id="1" name=""/>
        <p:cNvGrpSpPr/>
        <p:nvPr/>
      </p:nvGrpSpPr>
      <p:grpSpPr>
        <a:xfrm>
          <a:off x="0" y="0"/>
          <a:ext cx="0" cy="0"/>
          <a:chOff x="0" y="0"/>
          <a:chExt cx="0" cy="0"/>
        </a:xfrm>
      </p:grpSpPr>
      <p:sp>
        <p:nvSpPr>
          <p:cNvPr id="2" name="Text 0"/>
          <p:cNvSpPr/>
          <p:nvPr/>
        </p:nvSpPr>
        <p:spPr>
          <a:xfrm>
            <a:off x="457200" y="365760"/>
            <a:ext cx="11247120" cy="50292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スーパー・ドラッグストア:独自ポイント vs 共通ポイント</a:t>
            </a:r>
            <a:endParaRPr lang="en-US" sz="2400" dirty="0"/>
          </a:p>
        </p:txBody>
      </p:sp>
      <p:sp>
        <p:nvSpPr>
          <p:cNvPr id="3" name="Text 1"/>
          <p:cNvSpPr/>
          <p:nvPr/>
        </p:nvSpPr>
        <p:spPr>
          <a:xfrm>
            <a:off x="457200" y="841248"/>
            <a:ext cx="11247120" cy="320040"/>
          </a:xfrm>
          <a:prstGeom prst="rect">
            <a:avLst/>
          </a:prstGeom>
          <a:noFill/>
          <a:ln/>
        </p:spPr>
        <p:txBody>
          <a:bodyPr wrap="square" lIns="0" tIns="0" rIns="0" bIns="0" rtlCol="0" anchor="ctr"/>
          <a:lstStyle/>
          <a:p>
            <a:pPr indent="0" marL="0">
              <a:buNone/>
            </a:pPr>
            <a:r>
              <a:rPr lang="en-US" sz="1250" i="1" dirty="0">
                <a:solidFill>
                  <a:srgbClr val="5A6B8C"/>
                </a:solidFill>
                <a:latin typeface="Calibri" pitchFamily="34" charset="0"/>
                <a:ea typeface="Calibri" pitchFamily="34" charset="-122"/>
                <a:cs typeface="Calibri" pitchFamily="34" charset="-120"/>
              </a:rPr>
              <a:t>最も高頻度な「日用品購買」の場面ほど、行動データは店舗独自ポイントに分散している</a:t>
            </a:r>
            <a:endParaRPr lang="en-US" sz="1250" dirty="0"/>
          </a:p>
        </p:txBody>
      </p:sp>
      <p:sp>
        <p:nvSpPr>
          <p:cNvPr id="4" name="Shape 2"/>
          <p:cNvSpPr/>
          <p:nvPr/>
        </p:nvSpPr>
        <p:spPr>
          <a:xfrm>
            <a:off x="457200" y="1371600"/>
            <a:ext cx="2606040" cy="1783080"/>
          </a:xfrm>
          <a:prstGeom prst="roundRect">
            <a:avLst>
              <a:gd name="adj" fmla="val 3077"/>
            </a:avLst>
          </a:prstGeom>
          <a:solidFill>
            <a:srgbClr val="FFFFFF"/>
          </a:solidFill>
          <a:ln w="9525">
            <a:solidFill>
              <a:srgbClr val="D7DEEE"/>
            </a:solidFill>
            <a:prstDash val="solid"/>
          </a:ln>
        </p:spPr>
      </p:sp>
      <p:sp>
        <p:nvSpPr>
          <p:cNvPr id="5" name="Text 3"/>
          <p:cNvSpPr/>
          <p:nvPr/>
        </p:nvSpPr>
        <p:spPr>
          <a:xfrm>
            <a:off x="566928" y="1508760"/>
            <a:ext cx="2386584" cy="594360"/>
          </a:xfrm>
          <a:prstGeom prst="rect">
            <a:avLst/>
          </a:prstGeom>
          <a:noFill/>
          <a:ln/>
        </p:spPr>
        <p:txBody>
          <a:bodyPr wrap="square" lIns="0" tIns="0" rIns="0" bIns="0" rtlCol="0" anchor="ctr"/>
          <a:lstStyle/>
          <a:p>
            <a:pPr algn="l" indent="0" marL="0">
              <a:buNone/>
            </a:pPr>
            <a:r>
              <a:rPr lang="en-US" sz="3000" b="1" dirty="0">
                <a:solidFill>
                  <a:srgbClr val="1E2761"/>
                </a:solidFill>
                <a:latin typeface="Cambria" pitchFamily="34" charset="0"/>
                <a:ea typeface="Cambria" pitchFamily="34" charset="-122"/>
                <a:cs typeface="Cambria" pitchFamily="34" charset="-120"/>
              </a:rPr>
              <a:t>60%台</a:t>
            </a:r>
            <a:endParaRPr lang="en-US" sz="3000" dirty="0"/>
          </a:p>
        </p:txBody>
      </p:sp>
      <p:sp>
        <p:nvSpPr>
          <p:cNvPr id="6" name="Text 4"/>
          <p:cNvSpPr/>
          <p:nvPr/>
        </p:nvSpPr>
        <p:spPr>
          <a:xfrm>
            <a:off x="566928" y="2148840"/>
            <a:ext cx="2386584" cy="685800"/>
          </a:xfrm>
          <a:prstGeom prst="rect">
            <a:avLst/>
          </a:prstGeom>
          <a:noFill/>
          <a:ln/>
        </p:spPr>
        <p:txBody>
          <a:bodyPr wrap="square" lIns="0" tIns="0" rIns="0" bIns="0" rtlCol="0" anchor="t"/>
          <a:lstStyle/>
          <a:p>
            <a:pPr algn="l" indent="0" marL="0">
              <a:buNone/>
            </a:pPr>
            <a:r>
              <a:rPr lang="en-US" sz="1100" dirty="0">
                <a:solidFill>
                  <a:srgbClr val="1B1B2F"/>
                </a:solidFill>
                <a:latin typeface="Calibri" pitchFamily="34" charset="0"/>
                <a:ea typeface="Calibri" pitchFamily="34" charset="-122"/>
                <a:cs typeface="Calibri" pitchFamily="34" charset="-120"/>
              </a:rPr>
              <a:t>直近1年でスーパー・ドラッグ</a:t>
            </a:r>
            <a:endParaRPr lang="en-US" sz="1100" dirty="0"/>
          </a:p>
          <a:p>
            <a:pPr algn="l" indent="0" marL="0">
              <a:buNone/>
            </a:pPr>
            <a:r>
              <a:rPr lang="en-US" sz="1100" dirty="0">
                <a:solidFill>
                  <a:srgbClr val="1B1B2F"/>
                </a:solidFill>
                <a:latin typeface="Calibri" pitchFamily="34" charset="0"/>
                <a:ea typeface="Calibri" pitchFamily="34" charset="-122"/>
                <a:cs typeface="Calibri" pitchFamily="34" charset="-120"/>
              </a:rPr>
              <a:t>ストアでポイント利用(業種別最高水準)</a:t>
            </a:r>
            <a:endParaRPr lang="en-US" sz="1100" dirty="0"/>
          </a:p>
        </p:txBody>
      </p:sp>
      <p:sp>
        <p:nvSpPr>
          <p:cNvPr id="7" name="Text 5"/>
          <p:cNvSpPr/>
          <p:nvPr/>
        </p:nvSpPr>
        <p:spPr>
          <a:xfrm>
            <a:off x="566928" y="2862072"/>
            <a:ext cx="2386584" cy="22860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[16]</a:t>
            </a:r>
            <a:endParaRPr lang="en-US" sz="900" dirty="0"/>
          </a:p>
        </p:txBody>
      </p:sp>
      <p:sp>
        <p:nvSpPr>
          <p:cNvPr id="8" name="Shape 6"/>
          <p:cNvSpPr/>
          <p:nvPr/>
        </p:nvSpPr>
        <p:spPr>
          <a:xfrm>
            <a:off x="3337560" y="1371600"/>
            <a:ext cx="2606040" cy="1783080"/>
          </a:xfrm>
          <a:prstGeom prst="roundRect">
            <a:avLst>
              <a:gd name="adj" fmla="val 3077"/>
            </a:avLst>
          </a:prstGeom>
          <a:solidFill>
            <a:srgbClr val="FFFFFF"/>
          </a:solidFill>
          <a:ln w="9525">
            <a:solidFill>
              <a:srgbClr val="D7DEEE"/>
            </a:solidFill>
            <a:prstDash val="solid"/>
          </a:ln>
        </p:spPr>
      </p:sp>
      <p:sp>
        <p:nvSpPr>
          <p:cNvPr id="9" name="Text 7"/>
          <p:cNvSpPr/>
          <p:nvPr/>
        </p:nvSpPr>
        <p:spPr>
          <a:xfrm>
            <a:off x="3447288" y="1508760"/>
            <a:ext cx="2386584" cy="594360"/>
          </a:xfrm>
          <a:prstGeom prst="rect">
            <a:avLst/>
          </a:prstGeom>
          <a:noFill/>
          <a:ln/>
        </p:spPr>
        <p:txBody>
          <a:bodyPr wrap="square" lIns="0" tIns="0" rIns="0" bIns="0" rtlCol="0" anchor="ctr"/>
          <a:lstStyle/>
          <a:p>
            <a:pPr algn="l" indent="0" marL="0">
              <a:buNone/>
            </a:pPr>
            <a:r>
              <a:rPr lang="en-US" sz="3000" b="1" dirty="0">
                <a:solidFill>
                  <a:srgbClr val="1E2761"/>
                </a:solidFill>
                <a:latin typeface="Cambria" pitchFamily="34" charset="0"/>
                <a:ea typeface="Cambria" pitchFamily="34" charset="-122"/>
                <a:cs typeface="Cambria" pitchFamily="34" charset="-120"/>
              </a:rPr>
              <a:t>86.7%</a:t>
            </a:r>
            <a:endParaRPr lang="en-US" sz="3000" dirty="0"/>
          </a:p>
        </p:txBody>
      </p:sp>
      <p:sp>
        <p:nvSpPr>
          <p:cNvPr id="10" name="Text 8"/>
          <p:cNvSpPr/>
          <p:nvPr/>
        </p:nvSpPr>
        <p:spPr>
          <a:xfrm>
            <a:off x="3447288" y="2148840"/>
            <a:ext cx="2386584" cy="685800"/>
          </a:xfrm>
          <a:prstGeom prst="rect">
            <a:avLst/>
          </a:prstGeom>
          <a:noFill/>
          <a:ln/>
        </p:spPr>
        <p:txBody>
          <a:bodyPr wrap="square" lIns="0" tIns="0" rIns="0" bIns="0" rtlCol="0" anchor="t"/>
          <a:lstStyle/>
          <a:p>
            <a:pPr algn="l" indent="0" marL="0">
              <a:buNone/>
            </a:pPr>
            <a:r>
              <a:rPr lang="en-US" sz="1100" dirty="0">
                <a:solidFill>
                  <a:srgbClr val="1B1B2F"/>
                </a:solidFill>
                <a:latin typeface="Calibri" pitchFamily="34" charset="0"/>
                <a:ea typeface="Calibri" pitchFamily="34" charset="-122"/>
                <a:cs typeface="Calibri" pitchFamily="34" charset="-120"/>
              </a:rPr>
              <a:t>スーパーのポイントカード</a:t>
            </a:r>
            <a:endParaRPr lang="en-US" sz="1100" dirty="0"/>
          </a:p>
          <a:p>
            <a:pPr algn="l" indent="0" marL="0">
              <a:buNone/>
            </a:pPr>
            <a:r>
              <a:rPr lang="en-US" sz="1100" dirty="0">
                <a:solidFill>
                  <a:srgbClr val="1B1B2F"/>
                </a:solidFill>
                <a:latin typeface="Calibri" pitchFamily="34" charset="0"/>
                <a:ea typeface="Calibri" pitchFamily="34" charset="-122"/>
                <a:cs typeface="Calibri" pitchFamily="34" charset="-120"/>
              </a:rPr>
              <a:t>導入率(2023年、年々上昇)</a:t>
            </a:r>
            <a:endParaRPr lang="en-US" sz="1100" dirty="0"/>
          </a:p>
        </p:txBody>
      </p:sp>
      <p:sp>
        <p:nvSpPr>
          <p:cNvPr id="11" name="Text 9"/>
          <p:cNvSpPr/>
          <p:nvPr/>
        </p:nvSpPr>
        <p:spPr>
          <a:xfrm>
            <a:off x="3447288" y="2862072"/>
            <a:ext cx="2386584" cy="22860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[17]</a:t>
            </a:r>
            <a:endParaRPr lang="en-US" sz="900" dirty="0"/>
          </a:p>
        </p:txBody>
      </p:sp>
      <p:sp>
        <p:nvSpPr>
          <p:cNvPr id="12" name="Shape 10"/>
          <p:cNvSpPr/>
          <p:nvPr/>
        </p:nvSpPr>
        <p:spPr>
          <a:xfrm>
            <a:off x="6217920" y="1371600"/>
            <a:ext cx="2606040" cy="1783080"/>
          </a:xfrm>
          <a:prstGeom prst="roundRect">
            <a:avLst>
              <a:gd name="adj" fmla="val 3077"/>
            </a:avLst>
          </a:prstGeom>
          <a:solidFill>
            <a:srgbClr val="FFFFFF"/>
          </a:solidFill>
          <a:ln w="9525">
            <a:solidFill>
              <a:srgbClr val="D7DEEE"/>
            </a:solidFill>
            <a:prstDash val="solid"/>
          </a:ln>
        </p:spPr>
      </p:sp>
      <p:sp>
        <p:nvSpPr>
          <p:cNvPr id="13" name="Text 11"/>
          <p:cNvSpPr/>
          <p:nvPr/>
        </p:nvSpPr>
        <p:spPr>
          <a:xfrm>
            <a:off x="6327648" y="1508760"/>
            <a:ext cx="2386584" cy="594360"/>
          </a:xfrm>
          <a:prstGeom prst="rect">
            <a:avLst/>
          </a:prstGeom>
          <a:noFill/>
          <a:ln/>
        </p:spPr>
        <p:txBody>
          <a:bodyPr wrap="square" lIns="0" tIns="0" rIns="0" bIns="0" rtlCol="0" anchor="ctr"/>
          <a:lstStyle/>
          <a:p>
            <a:pPr algn="l" indent="0" marL="0">
              <a:buNone/>
            </a:pPr>
            <a:r>
              <a:rPr lang="en-US" sz="3000" b="1" dirty="0">
                <a:solidFill>
                  <a:srgbClr val="1E2761"/>
                </a:solidFill>
                <a:latin typeface="Cambria" pitchFamily="34" charset="0"/>
                <a:ea typeface="Cambria" pitchFamily="34" charset="-122"/>
                <a:cs typeface="Cambria" pitchFamily="34" charset="-120"/>
              </a:rPr>
              <a:t>64.4%</a:t>
            </a:r>
            <a:endParaRPr lang="en-US" sz="3000" dirty="0"/>
          </a:p>
        </p:txBody>
      </p:sp>
      <p:sp>
        <p:nvSpPr>
          <p:cNvPr id="14" name="Text 12"/>
          <p:cNvSpPr/>
          <p:nvPr/>
        </p:nvSpPr>
        <p:spPr>
          <a:xfrm>
            <a:off x="6327648" y="2148840"/>
            <a:ext cx="2386584" cy="685800"/>
          </a:xfrm>
          <a:prstGeom prst="rect">
            <a:avLst/>
          </a:prstGeom>
          <a:noFill/>
          <a:ln/>
        </p:spPr>
        <p:txBody>
          <a:bodyPr wrap="square" lIns="0" tIns="0" rIns="0" bIns="0" rtlCol="0" anchor="t"/>
          <a:lstStyle/>
          <a:p>
            <a:pPr algn="l" indent="0" marL="0">
              <a:buNone/>
            </a:pPr>
            <a:r>
              <a:rPr lang="en-US" sz="1100" dirty="0">
                <a:solidFill>
                  <a:srgbClr val="1B1B2F"/>
                </a:solidFill>
                <a:latin typeface="Calibri" pitchFamily="34" charset="0"/>
                <a:ea typeface="Calibri" pitchFamily="34" charset="-122"/>
                <a:cs typeface="Calibri" pitchFamily="34" charset="-120"/>
              </a:rPr>
              <a:t>導入カードのうち</a:t>
            </a:r>
            <a:endParaRPr lang="en-US" sz="1100" dirty="0"/>
          </a:p>
          <a:p>
            <a:pPr algn="l" indent="0" marL="0">
              <a:buNone/>
            </a:pPr>
            <a:r>
              <a:rPr lang="en-US" sz="1100" dirty="0">
                <a:solidFill>
                  <a:srgbClr val="1B1B2F"/>
                </a:solidFill>
                <a:latin typeface="Calibri" pitchFamily="34" charset="0"/>
                <a:ea typeface="Calibri" pitchFamily="34" charset="-122"/>
                <a:cs typeface="Calibri" pitchFamily="34" charset="-120"/>
              </a:rPr>
              <a:t>「自社独自ポイント」が最多</a:t>
            </a:r>
            <a:endParaRPr lang="en-US" sz="1100" dirty="0"/>
          </a:p>
        </p:txBody>
      </p:sp>
      <p:sp>
        <p:nvSpPr>
          <p:cNvPr id="15" name="Text 13"/>
          <p:cNvSpPr/>
          <p:nvPr/>
        </p:nvSpPr>
        <p:spPr>
          <a:xfrm>
            <a:off x="6327648" y="2862072"/>
            <a:ext cx="2386584" cy="22860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[17]</a:t>
            </a:r>
            <a:endParaRPr lang="en-US" sz="900" dirty="0"/>
          </a:p>
        </p:txBody>
      </p:sp>
      <p:sp>
        <p:nvSpPr>
          <p:cNvPr id="16" name="Shape 14"/>
          <p:cNvSpPr/>
          <p:nvPr/>
        </p:nvSpPr>
        <p:spPr>
          <a:xfrm>
            <a:off x="9098280" y="1371600"/>
            <a:ext cx="2606040" cy="1783080"/>
          </a:xfrm>
          <a:prstGeom prst="roundRect">
            <a:avLst>
              <a:gd name="adj" fmla="val 3077"/>
            </a:avLst>
          </a:prstGeom>
          <a:solidFill>
            <a:srgbClr val="1E2761"/>
          </a:solidFill>
          <a:ln w="9525">
            <a:solidFill>
              <a:srgbClr val="1E2761"/>
            </a:solidFill>
            <a:prstDash val="solid"/>
          </a:ln>
        </p:spPr>
      </p:sp>
      <p:sp>
        <p:nvSpPr>
          <p:cNvPr id="17" name="Text 15"/>
          <p:cNvSpPr/>
          <p:nvPr/>
        </p:nvSpPr>
        <p:spPr>
          <a:xfrm>
            <a:off x="9208008" y="1508760"/>
            <a:ext cx="2386584" cy="594360"/>
          </a:xfrm>
          <a:prstGeom prst="rect">
            <a:avLst/>
          </a:prstGeom>
          <a:noFill/>
          <a:ln/>
        </p:spPr>
        <p:txBody>
          <a:bodyPr wrap="square" lIns="0" tIns="0" rIns="0" bIns="0" rtlCol="0" anchor="ctr"/>
          <a:lstStyle/>
          <a:p>
            <a:pPr algn="l" indent="0" marL="0">
              <a:buNone/>
            </a:pPr>
            <a:r>
              <a:rPr lang="en-US" sz="3000" b="1" dirty="0">
                <a:solidFill>
                  <a:srgbClr val="FFFFFF"/>
                </a:solidFill>
                <a:latin typeface="Cambria" pitchFamily="34" charset="0"/>
                <a:ea typeface="Cambria" pitchFamily="34" charset="-122"/>
                <a:cs typeface="Cambria" pitchFamily="34" charset="-120"/>
              </a:rPr>
              <a:t>73.7%</a:t>
            </a:r>
            <a:endParaRPr lang="en-US" sz="3000" dirty="0"/>
          </a:p>
        </p:txBody>
      </p:sp>
      <p:sp>
        <p:nvSpPr>
          <p:cNvPr id="18" name="Text 16"/>
          <p:cNvSpPr/>
          <p:nvPr/>
        </p:nvSpPr>
        <p:spPr>
          <a:xfrm>
            <a:off x="9208008" y="2148840"/>
            <a:ext cx="2386584" cy="685800"/>
          </a:xfrm>
          <a:prstGeom prst="rect">
            <a:avLst/>
          </a:prstGeom>
          <a:noFill/>
          <a:ln/>
        </p:spPr>
        <p:txBody>
          <a:bodyPr wrap="square" lIns="0" tIns="0" rIns="0" bIns="0" rtlCol="0" anchor="t"/>
          <a:lstStyle/>
          <a:p>
            <a:pPr algn="l" indent="0" marL="0">
              <a:buNone/>
            </a:pPr>
            <a:r>
              <a:rPr lang="en-US" sz="1100" dirty="0">
                <a:solidFill>
                  <a:srgbClr val="CADCFC"/>
                </a:solidFill>
                <a:latin typeface="Calibri" pitchFamily="34" charset="0"/>
                <a:ea typeface="Calibri" pitchFamily="34" charset="-122"/>
                <a:cs typeface="Calibri" pitchFamily="34" charset="-120"/>
              </a:rPr>
              <a:t>女性の「ドラッグストア独自</a:t>
            </a:r>
            <a:endParaRPr lang="en-US" sz="1100" dirty="0"/>
          </a:p>
          <a:p>
            <a:pPr algn="l" indent="0" marL="0">
              <a:buNone/>
            </a:pPr>
            <a:r>
              <a:rPr lang="en-US" sz="1100" dirty="0">
                <a:solidFill>
                  <a:srgbClr val="CADCFC"/>
                </a:solidFill>
                <a:latin typeface="Calibri" pitchFamily="34" charset="0"/>
                <a:ea typeface="Calibri" pitchFamily="34" charset="-122"/>
                <a:cs typeface="Calibri" pitchFamily="34" charset="-120"/>
              </a:rPr>
              <a:t>カード」利用率(共通ポイント超)</a:t>
            </a:r>
            <a:endParaRPr lang="en-US" sz="1100" dirty="0"/>
          </a:p>
        </p:txBody>
      </p:sp>
      <p:sp>
        <p:nvSpPr>
          <p:cNvPr id="19" name="Text 17"/>
          <p:cNvSpPr/>
          <p:nvPr/>
        </p:nvSpPr>
        <p:spPr>
          <a:xfrm>
            <a:off x="9208008" y="2862072"/>
            <a:ext cx="2386584" cy="228600"/>
          </a:xfrm>
          <a:prstGeom prst="rect">
            <a:avLst/>
          </a:prstGeom>
          <a:noFill/>
          <a:ln/>
        </p:spPr>
        <p:txBody>
          <a:bodyPr wrap="square" lIns="0" tIns="0" rIns="0" bIns="0" rtlCol="0" anchor="ctr"/>
          <a:lstStyle/>
          <a:p>
            <a:pPr algn="l" indent="0" marL="0">
              <a:buNone/>
            </a:pPr>
            <a:r>
              <a:rPr lang="en-US" sz="900" dirty="0">
                <a:solidFill>
                  <a:srgbClr val="8FA3D9"/>
                </a:solidFill>
                <a:latin typeface="Calibri" pitchFamily="34" charset="0"/>
                <a:ea typeface="Calibri" pitchFamily="34" charset="-122"/>
                <a:cs typeface="Calibri" pitchFamily="34" charset="-120"/>
              </a:rPr>
              <a:t>[18]</a:t>
            </a:r>
            <a:endParaRPr lang="en-US" sz="900" dirty="0"/>
          </a:p>
        </p:txBody>
      </p:sp>
      <p:sp>
        <p:nvSpPr>
          <p:cNvPr id="20" name="Shape 18"/>
          <p:cNvSpPr/>
          <p:nvPr/>
        </p:nvSpPr>
        <p:spPr>
          <a:xfrm>
            <a:off x="457200" y="3429000"/>
            <a:ext cx="11247120" cy="2971800"/>
          </a:xfrm>
          <a:prstGeom prst="roundRect">
            <a:avLst>
              <a:gd name="adj" fmla="val 1846"/>
            </a:avLst>
          </a:prstGeom>
          <a:solidFill>
            <a:srgbClr val="FFFFFF"/>
          </a:solidFill>
          <a:ln w="9525">
            <a:solidFill>
              <a:srgbClr val="D7DEEE"/>
            </a:solidFill>
            <a:prstDash val="solid"/>
          </a:ln>
        </p:spPr>
      </p:sp>
      <p:sp>
        <p:nvSpPr>
          <p:cNvPr id="21" name="Text 19"/>
          <p:cNvSpPr/>
          <p:nvPr/>
        </p:nvSpPr>
        <p:spPr>
          <a:xfrm>
            <a:off x="731520" y="3639312"/>
            <a:ext cx="10698480" cy="2606040"/>
          </a:xfrm>
          <a:prstGeom prst="rect">
            <a:avLst/>
          </a:prstGeom>
          <a:noFill/>
          <a:ln/>
        </p:spPr>
        <p:txBody>
          <a:bodyPr wrap="square" lIns="0" tIns="0" rIns="0" bIns="0" rtlCol="0" anchor="t"/>
          <a:lstStyle/>
          <a:p>
            <a:pPr indent="0" marL="0">
              <a:spcAft>
                <a:spcPts val="1000"/>
              </a:spcAft>
              <a:buNone/>
            </a:pPr>
            <a:r>
              <a:rPr lang="en-US" sz="1250" b="1" dirty="0">
                <a:solidFill>
                  <a:srgbClr val="1E2761"/>
                </a:solidFill>
                <a:latin typeface="Calibri" pitchFamily="34" charset="0"/>
                <a:ea typeface="Calibri" pitchFamily="34" charset="-122"/>
                <a:cs typeface="Calibri" pitchFamily="34" charset="-120"/>
              </a:rPr>
              <a:t>補足データ</a:t>
            </a:r>
            <a:endParaRPr lang="en-US" sz="1250" dirty="0"/>
          </a:p>
          <a:p>
            <a:pPr marL="342900" indent="-342900">
              <a:spcAft>
                <a:spcPts val="1000"/>
              </a:spcAft>
              <a:buSzPct val="100000"/>
              <a:buChar char="•"/>
            </a:pPr>
            <a:r>
              <a:rPr lang="en-US" sz="1250" dirty="0">
                <a:solidFill>
                  <a:srgbClr val="1B1B2F"/>
                </a:solidFill>
                <a:latin typeface="Calibri" pitchFamily="34" charset="0"/>
                <a:ea typeface="Calibri" pitchFamily="34" charset="-122"/>
                <a:cs typeface="Calibri" pitchFamily="34" charset="-120"/>
              </a:rPr>
              <a:t>利用しているポイントカードの種類は「共通ポイントサービスカード」64.6%が僅差の1位。ただし「ドラッグストアのカード」56.1%、「家電量販店のカード」54.4%、「スーパーのカード」52.8%と、業態独自カードもほぼ同水準で並ぶ [18]</a:t>
            </a:r>
            <a:endParaRPr lang="en-US" sz="1250" dirty="0"/>
          </a:p>
          <a:p>
            <a:pPr marL="342900" indent="-342900">
              <a:spcAft>
                <a:spcPts val="1000"/>
              </a:spcAft>
              <a:buSzPct val="100000"/>
              <a:buChar char="•"/>
            </a:pPr>
            <a:r>
              <a:rPr lang="en-US" sz="1250" dirty="0">
                <a:solidFill>
                  <a:srgbClr val="1B1B2F"/>
                </a:solidFill>
                <a:latin typeface="Calibri" pitchFamily="34" charset="0"/>
                <a:ea typeface="Calibri" pitchFamily="34" charset="-122"/>
                <a:cs typeface="Calibri" pitchFamily="34" charset="-120"/>
              </a:rPr>
              <a:t>男女差が最も大きいのは「ドラッグストアのカード」で28.9pt差(女性73.7% vs 男性44.8%)。日用品購買を担うことが多い女性ほど独自ポイントへの依存度が高い [18]</a:t>
            </a:r>
            <a:endParaRPr lang="en-US" sz="1250" dirty="0"/>
          </a:p>
          <a:p>
            <a:pPr indent="0" marL="0">
              <a:buNone/>
            </a:pPr>
            <a:r>
              <a:rPr lang="en-US" sz="1150" i="1" dirty="0">
                <a:solidFill>
                  <a:srgbClr val="5A6B8C"/>
                </a:solidFill>
                <a:latin typeface="Calibri" pitchFamily="34" charset="0"/>
                <a:ea typeface="Calibri" pitchFamily="34" charset="-122"/>
                <a:cs typeface="Calibri" pitchFamily="34" charset="-120"/>
              </a:rPr>
              <a:t>示唆: 高頻度で発生する日用品購買という「最も濃い行動データが生まれる場面」自体が、共通ポイントではなく店舗独自ポイント(イオンWAON、マツキヨ独自カード等)に分散している。SyncMeの精度向上には「非ドコモユーザーの獲得」に加え、「独自ポイント経済圏(特に日用品カテゴリ)との連携・データ取得」も鍵になる</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11247120" cy="50292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引用元・算定根拠</a:t>
            </a:r>
            <a:endParaRPr lang="en-US" sz="2600" dirty="0"/>
          </a:p>
        </p:txBody>
      </p:sp>
      <p:sp>
        <p:nvSpPr>
          <p:cNvPr id="3" name="Text 1"/>
          <p:cNvSpPr/>
          <p:nvPr/>
        </p:nvSpPr>
        <p:spPr>
          <a:xfrm>
            <a:off x="457200" y="1005840"/>
            <a:ext cx="5440680" cy="3794760"/>
          </a:xfrm>
          <a:prstGeom prst="rect">
            <a:avLst/>
          </a:prstGeom>
          <a:noFill/>
          <a:ln/>
        </p:spPr>
        <p:txBody>
          <a:bodyPr wrap="square" lIns="0" tIns="0" rIns="0" bIns="0" rtlCol="0" anchor="t"/>
          <a:lstStyle/>
          <a:p>
            <a:pPr indent="0" marL="0">
              <a:spcAft>
                <a:spcPts val="600"/>
              </a:spcAft>
              <a:buNone/>
            </a:pPr>
            <a:r>
              <a:rPr lang="en-US" sz="950" dirty="0">
                <a:solidFill>
                  <a:srgbClr val="1B1B2F"/>
                </a:solidFill>
                <a:latin typeface="Calibri" pitchFamily="34" charset="0"/>
                <a:ea typeface="Calibri" pitchFamily="34" charset="-122"/>
                <a:cs typeface="Calibri" pitchFamily="34" charset="-120"/>
              </a:rPr>
              <a:t>[1] MMD研究所ほか「通信会社と利用ポイントに関する調査」 ― キャリア別メイン利用ポイントの相関</a:t>
            </a:r>
            <a:endParaRPr lang="en-US" sz="950" dirty="0"/>
          </a:p>
          <a:p>
            <a:pPr indent="0" marL="0">
              <a:spcAft>
                <a:spcPts val="600"/>
              </a:spcAft>
              <a:buNone/>
            </a:pPr>
            <a:r>
              <a:rPr lang="en-US" sz="950" dirty="0">
                <a:solidFill>
                  <a:srgbClr val="1B1B2F"/>
                </a:solidFill>
                <a:latin typeface="Calibri" pitchFamily="34" charset="0"/>
                <a:ea typeface="Calibri" pitchFamily="34" charset="-122"/>
                <a:cs typeface="Calibri" pitchFamily="34" charset="-120"/>
              </a:rPr>
              <a:t>[2] NTTドコモ モバイル社会研究所 シニア調査(70代スマホ所有率など)</a:t>
            </a:r>
            <a:endParaRPr lang="en-US" sz="950" dirty="0"/>
          </a:p>
          <a:p>
            <a:pPr indent="0" marL="0">
              <a:spcAft>
                <a:spcPts val="600"/>
              </a:spcAft>
              <a:buNone/>
            </a:pPr>
            <a:r>
              <a:rPr lang="en-US" sz="950" dirty="0">
                <a:solidFill>
                  <a:srgbClr val="1B1B2F"/>
                </a:solidFill>
                <a:latin typeface="Calibri" pitchFamily="34" charset="0"/>
                <a:ea typeface="Calibri" pitchFamily="34" charset="-122"/>
                <a:cs typeface="Calibri" pitchFamily="34" charset="-120"/>
              </a:rPr>
              <a:t>[3] ITmedia ビジネスオンライン「『ドコモ経済圏』に取り込め ―会員数1億人超え、dポイントクラブがLINE連携で目指すLTV最大化戦略」(2025年12月)</a:t>
            </a:r>
            <a:endParaRPr lang="en-US" sz="950" dirty="0"/>
          </a:p>
          <a:p>
            <a:pPr indent="0" marL="0">
              <a:spcAft>
                <a:spcPts val="600"/>
              </a:spcAft>
              <a:buNone/>
            </a:pPr>
            <a:r>
              <a:rPr lang="en-US" sz="950" dirty="0">
                <a:solidFill>
                  <a:srgbClr val="1B1B2F"/>
                </a:solidFill>
                <a:latin typeface="Calibri" pitchFamily="34" charset="0"/>
                <a:ea typeface="Calibri" pitchFamily="34" charset="-122"/>
                <a:cs typeface="Calibri" pitchFamily="34" charset="-120"/>
              </a:rPr>
              <a:t>[4] 株式会社ロイヤリティ マーケティング公式データ(paymentnavi「Ponta 15年の歩みから見るポイントが生み出す価値と決済の変化」)</a:t>
            </a:r>
            <a:endParaRPr lang="en-US" sz="950" dirty="0"/>
          </a:p>
          <a:p>
            <a:pPr indent="0" marL="0">
              <a:spcAft>
                <a:spcPts val="600"/>
              </a:spcAft>
              <a:buNone/>
            </a:pPr>
            <a:r>
              <a:rPr lang="en-US" sz="950" dirty="0">
                <a:solidFill>
                  <a:srgbClr val="1B1B2F"/>
                </a:solidFill>
                <a:latin typeface="Calibri" pitchFamily="34" charset="0"/>
                <a:ea typeface="Calibri" pitchFamily="34" charset="-122"/>
                <a:cs typeface="Calibri" pitchFamily="34" charset="-120"/>
              </a:rPr>
              <a:t>[5] MMD研究所ほか 年代別ポイント利用実態調査</a:t>
            </a:r>
            <a:endParaRPr lang="en-US" sz="950" dirty="0"/>
          </a:p>
          <a:p>
            <a:pPr indent="0" marL="0">
              <a:spcAft>
                <a:spcPts val="600"/>
              </a:spcAft>
              <a:buNone/>
            </a:pPr>
            <a:r>
              <a:rPr lang="en-US" sz="950" dirty="0">
                <a:solidFill>
                  <a:srgbClr val="1B1B2F"/>
                </a:solidFill>
                <a:latin typeface="Calibri" pitchFamily="34" charset="0"/>
                <a:ea typeface="Calibri" pitchFamily="34" charset="-122"/>
                <a:cs typeface="Calibri" pitchFamily="34" charset="-120"/>
              </a:rPr>
              <a:t>[6] SBペイメントサービス「実店舗でのキャッシュレス決済の利用実態調査結果」(2024年11月)</a:t>
            </a:r>
            <a:endParaRPr lang="en-US" sz="950" dirty="0"/>
          </a:p>
          <a:p>
            <a:pPr indent="0" marL="0">
              <a:spcAft>
                <a:spcPts val="600"/>
              </a:spcAft>
              <a:buNone/>
            </a:pPr>
            <a:r>
              <a:rPr lang="en-US" sz="950" dirty="0">
                <a:solidFill>
                  <a:srgbClr val="1B1B2F"/>
                </a:solidFill>
                <a:latin typeface="Calibri" pitchFamily="34" charset="0"/>
                <a:ea typeface="Calibri" pitchFamily="34" charset="-122"/>
                <a:cs typeface="Calibri" pitchFamily="34" charset="-120"/>
              </a:rPr>
              <a:t>[7] マナミナ(バリューズ)/アイリッジ調査「スマホ決済利用率」</a:t>
            </a:r>
            <a:endParaRPr lang="en-US" sz="950" dirty="0"/>
          </a:p>
          <a:p>
            <a:pPr indent="0" marL="0">
              <a:spcAft>
                <a:spcPts val="600"/>
              </a:spcAft>
              <a:buNone/>
            </a:pPr>
            <a:r>
              <a:rPr lang="en-US" sz="950" dirty="0">
                <a:solidFill>
                  <a:srgbClr val="1B1B2F"/>
                </a:solidFill>
                <a:latin typeface="Calibri" pitchFamily="34" charset="0"/>
                <a:ea typeface="Calibri" pitchFamily="34" charset="-122"/>
                <a:cs typeface="Calibri" pitchFamily="34" charset="-120"/>
              </a:rPr>
              <a:t>[8] Vポイントマーケティング(旧CCC)プレスリリース「Tカードの年間利用会員数が日本総人口の50%突破」(2017年)</a:t>
            </a:r>
            <a:endParaRPr lang="en-US" sz="950" dirty="0"/>
          </a:p>
          <a:p>
            <a:pPr indent="0" marL="0">
              <a:spcAft>
                <a:spcPts val="600"/>
              </a:spcAft>
              <a:buNone/>
            </a:pPr>
            <a:r>
              <a:rPr lang="en-US" sz="950" dirty="0">
                <a:solidFill>
                  <a:srgbClr val="1B1B2F"/>
                </a:solidFill>
                <a:latin typeface="Calibri" pitchFamily="34" charset="0"/>
                <a:ea typeface="Calibri" pitchFamily="34" charset="-122"/>
                <a:cs typeface="Calibri" pitchFamily="34" charset="-120"/>
              </a:rPr>
              <a:t>[9] paymentnavi「SMBCグループ共通ポイント『Vポイント』、若年層獲得や日常利用促進で成果」</a:t>
            </a:r>
            <a:endParaRPr lang="en-US" sz="950" dirty="0"/>
          </a:p>
        </p:txBody>
      </p:sp>
      <p:sp>
        <p:nvSpPr>
          <p:cNvPr id="4" name="Text 2"/>
          <p:cNvSpPr/>
          <p:nvPr/>
        </p:nvSpPr>
        <p:spPr>
          <a:xfrm>
            <a:off x="6263640" y="1005840"/>
            <a:ext cx="5440680" cy="3794760"/>
          </a:xfrm>
          <a:prstGeom prst="rect">
            <a:avLst/>
          </a:prstGeom>
          <a:noFill/>
          <a:ln/>
        </p:spPr>
        <p:txBody>
          <a:bodyPr wrap="square" lIns="0" tIns="0" rIns="0" bIns="0" rtlCol="0" anchor="t"/>
          <a:lstStyle/>
          <a:p>
            <a:pPr indent="0" marL="0">
              <a:spcAft>
                <a:spcPts val="600"/>
              </a:spcAft>
              <a:buNone/>
            </a:pPr>
            <a:r>
              <a:rPr lang="en-US" sz="950" dirty="0">
                <a:solidFill>
                  <a:srgbClr val="1B1B2F"/>
                </a:solidFill>
                <a:latin typeface="Calibri" pitchFamily="34" charset="0"/>
                <a:ea typeface="Calibri" pitchFamily="34" charset="-122"/>
                <a:cs typeface="Calibri" pitchFamily="34" charset="-120"/>
              </a:rPr>
              <a:t>[10] ITmedia ビジネスオンライン「日常で最も多く利用するポイントは『楽天ポイント』幅広い世代で最多」(2021年10月)</a:t>
            </a:r>
            <a:endParaRPr lang="en-US" sz="950" dirty="0"/>
          </a:p>
          <a:p>
            <a:pPr indent="0" marL="0">
              <a:spcAft>
                <a:spcPts val="600"/>
              </a:spcAft>
              <a:buNone/>
            </a:pPr>
            <a:r>
              <a:rPr lang="en-US" sz="950" dirty="0">
                <a:solidFill>
                  <a:srgbClr val="1B1B2F"/>
                </a:solidFill>
                <a:latin typeface="Calibri" pitchFamily="34" charset="0"/>
                <a:ea typeface="Calibri" pitchFamily="34" charset="-122"/>
                <a:cs typeface="Calibri" pitchFamily="34" charset="-120"/>
              </a:rPr>
              <a:t>[11] MMD研究所「ポイント経済圏のサービス利用に関する調査」(2025年7月)</a:t>
            </a:r>
            <a:endParaRPr lang="en-US" sz="950" dirty="0"/>
          </a:p>
          <a:p>
            <a:pPr indent="0" marL="0">
              <a:spcAft>
                <a:spcPts val="600"/>
              </a:spcAft>
              <a:buNone/>
            </a:pPr>
            <a:r>
              <a:rPr lang="en-US" sz="950" dirty="0">
                <a:solidFill>
                  <a:srgbClr val="1B1B2F"/>
                </a:solidFill>
                <a:latin typeface="Calibri" pitchFamily="34" charset="0"/>
                <a:ea typeface="Calibri" pitchFamily="34" charset="-122"/>
                <a:cs typeface="Calibri" pitchFamily="34" charset="-120"/>
              </a:rPr>
              <a:t>[12] 第一生命経済研究所「シニアのポイ活事情 ―キャッシュレス化が後押しするシニアのポイントサービス利用―」鄭美沙(Life Design Report 2025.7、50〜79歳2,400人調査)</a:t>
            </a:r>
            <a:endParaRPr lang="en-US" sz="950" dirty="0"/>
          </a:p>
          <a:p>
            <a:pPr indent="0" marL="0">
              <a:spcAft>
                <a:spcPts val="600"/>
              </a:spcAft>
              <a:buNone/>
            </a:pPr>
            <a:r>
              <a:rPr lang="en-US" sz="950" dirty="0">
                <a:solidFill>
                  <a:srgbClr val="1B1B2F"/>
                </a:solidFill>
                <a:latin typeface="Calibri" pitchFamily="34" charset="0"/>
                <a:ea typeface="Calibri" pitchFamily="34" charset="-122"/>
                <a:cs typeface="Calibri" pitchFamily="34" charset="-120"/>
              </a:rPr>
              <a:t>[13] マイナビニュース「『ポイ活』を行っているシニアは6割弱 ―ポイ活アプリ、ネットバンキングの利用状況は?」(2025年7月10日)</a:t>
            </a:r>
            <a:endParaRPr lang="en-US" sz="950" dirty="0"/>
          </a:p>
          <a:p>
            <a:pPr indent="0" marL="0">
              <a:spcAft>
                <a:spcPts val="600"/>
              </a:spcAft>
              <a:buNone/>
            </a:pPr>
            <a:r>
              <a:rPr lang="en-US" sz="950" dirty="0">
                <a:solidFill>
                  <a:srgbClr val="1B1B2F"/>
                </a:solidFill>
                <a:latin typeface="Calibri" pitchFamily="34" charset="0"/>
                <a:ea typeface="Calibri" pitchFamily="34" charset="-122"/>
                <a:cs typeface="Calibri" pitchFamily="34" charset="-120"/>
              </a:rPr>
              <a:t>[14] 株式会社ハルメク「シニア女性に聞いた『キャッシュレス決済』に関する実態調査」</a:t>
            </a:r>
            <a:endParaRPr lang="en-US" sz="950" dirty="0"/>
          </a:p>
          <a:p>
            <a:pPr indent="0" marL="0">
              <a:spcAft>
                <a:spcPts val="600"/>
              </a:spcAft>
              <a:buNone/>
            </a:pPr>
            <a:r>
              <a:rPr lang="en-US" sz="950" dirty="0">
                <a:solidFill>
                  <a:srgbClr val="1B1B2F"/>
                </a:solidFill>
                <a:latin typeface="Calibri" pitchFamily="34" charset="0"/>
                <a:ea typeface="Calibri" pitchFamily="34" charset="-122"/>
                <a:cs typeface="Calibri" pitchFamily="34" charset="-120"/>
              </a:rPr>
              <a:t>[15] NTTドコモ モバイル社会研究所「【シニア】QRコード決済利用率 60代が1年で7ポイント上昇し半数を超える」(2024年5月30日)</a:t>
            </a:r>
            <a:endParaRPr lang="en-US" sz="950" dirty="0"/>
          </a:p>
          <a:p>
            <a:pPr indent="0" marL="0">
              <a:spcAft>
                <a:spcPts val="600"/>
              </a:spcAft>
              <a:buNone/>
            </a:pPr>
            <a:r>
              <a:rPr lang="en-US" sz="950" dirty="0">
                <a:solidFill>
                  <a:srgbClr val="1B1B2F"/>
                </a:solidFill>
                <a:latin typeface="Calibri" pitchFamily="34" charset="0"/>
                <a:ea typeface="Calibri" pitchFamily="34" charset="-122"/>
                <a:cs typeface="Calibri" pitchFamily="34" charset="-120"/>
              </a:rPr>
              <a:t>[16] マイボイスコム株式会社「ポイントサービスに関するアンケート調査」(直近1年間の利用店舗・業種別)</a:t>
            </a:r>
            <a:endParaRPr lang="en-US" sz="950" dirty="0"/>
          </a:p>
          <a:p>
            <a:pPr indent="0" marL="0">
              <a:spcAft>
                <a:spcPts val="600"/>
              </a:spcAft>
              <a:buNone/>
            </a:pPr>
            <a:r>
              <a:rPr lang="en-US" sz="950" dirty="0">
                <a:solidFill>
                  <a:srgbClr val="1B1B2F"/>
                </a:solidFill>
                <a:latin typeface="Calibri" pitchFamily="34" charset="0"/>
                <a:ea typeface="Calibri" pitchFamily="34" charset="-122"/>
                <a:cs typeface="Calibri" pitchFamily="34" charset="-120"/>
              </a:rPr>
              <a:t>[17] 一般社団法人全国スーパーマーケット協会・一般社団法人日本スーパーマーケット協会「2023年 スーパーマーケット年次統計調査 報告書」(2023年10月)</a:t>
            </a:r>
            <a:endParaRPr lang="en-US" sz="950" dirty="0"/>
          </a:p>
          <a:p>
            <a:pPr indent="0" marL="0">
              <a:spcAft>
                <a:spcPts val="600"/>
              </a:spcAft>
              <a:buNone/>
            </a:pPr>
            <a:r>
              <a:rPr lang="en-US" sz="950" dirty="0">
                <a:solidFill>
                  <a:srgbClr val="1B1B2F"/>
                </a:solidFill>
                <a:latin typeface="Calibri" pitchFamily="34" charset="0"/>
                <a:ea typeface="Calibri" pitchFamily="34" charset="-122"/>
                <a:cs typeface="Calibri" pitchFamily="34" charset="-120"/>
              </a:rPr>
              <a:t>[18] 株式会社プラネット「意識調査 Fromプラネット Vol.75 ―ポイントカードに関する意識調査―」</a:t>
            </a:r>
            <a:endParaRPr lang="en-US" sz="950" dirty="0"/>
          </a:p>
        </p:txBody>
      </p:sp>
      <p:sp>
        <p:nvSpPr>
          <p:cNvPr id="5" name="Shape 3"/>
          <p:cNvSpPr/>
          <p:nvPr/>
        </p:nvSpPr>
        <p:spPr>
          <a:xfrm>
            <a:off x="457200" y="4983480"/>
            <a:ext cx="11247120" cy="1417320"/>
          </a:xfrm>
          <a:prstGeom prst="roundRect">
            <a:avLst>
              <a:gd name="adj" fmla="val 5161"/>
            </a:avLst>
          </a:prstGeom>
          <a:solidFill>
            <a:srgbClr val="F4F6FB"/>
          </a:solidFill>
          <a:ln w="9525">
            <a:solidFill>
              <a:srgbClr val="D7DEEE"/>
            </a:solidFill>
            <a:prstDash val="solid"/>
          </a:ln>
        </p:spPr>
      </p:sp>
      <p:sp>
        <p:nvSpPr>
          <p:cNvPr id="6" name="Text 4"/>
          <p:cNvSpPr/>
          <p:nvPr/>
        </p:nvSpPr>
        <p:spPr>
          <a:xfrm>
            <a:off x="685800" y="5120640"/>
            <a:ext cx="10789920" cy="1188720"/>
          </a:xfrm>
          <a:prstGeom prst="rect">
            <a:avLst/>
          </a:prstGeom>
          <a:noFill/>
          <a:ln/>
        </p:spPr>
        <p:txBody>
          <a:bodyPr wrap="square" lIns="0" tIns="0" rIns="0" bIns="0" rtlCol="0" anchor="t"/>
          <a:lstStyle/>
          <a:p>
            <a:pPr indent="0" marL="0">
              <a:buNone/>
            </a:pPr>
            <a:r>
              <a:rPr lang="en-US" sz="1150" b="1" dirty="0">
                <a:solidFill>
                  <a:srgbClr val="1E2761"/>
                </a:solidFill>
                <a:latin typeface="Calibri" pitchFamily="34" charset="0"/>
                <a:ea typeface="Calibri" pitchFamily="34" charset="-122"/>
                <a:cs typeface="Calibri" pitchFamily="34" charset="-120"/>
              </a:rPr>
              <a:t>算定根拠(確度の付け方)　</a:t>
            </a:r>
            <a:endParaRPr lang="en-US" sz="1150" dirty="0"/>
          </a:p>
          <a:p>
            <a:pPr indent="0" marL="0">
              <a:buNone/>
            </a:pPr>
            <a:r>
              <a:rPr lang="en-US" sz="1000" dirty="0">
                <a:solidFill>
                  <a:srgbClr val="1B1B2F"/>
                </a:solidFill>
                <a:latin typeface="Calibri" pitchFamily="34" charset="0"/>
                <a:ea typeface="Calibri" pitchFamily="34" charset="-122"/>
                <a:cs typeface="Calibri" pitchFamily="34" charset="-120"/>
              </a:rPr>
              <a:t>各社は年齢・性別の詳細な会員構成を公式には開示していないため、本資料は複数の公開報道・調査会社レポートの整合性から推定した二次情報の統合である。「高」は公式データ・企業担当者コメントを含む複数の独立ソースが一致した項目、「中」は報道・調査会社データのみ、または単一/やや古い情報源に基づく項目を指す。</a:t>
            </a:r>
            <a:endParaRPr lang="en-US" sz="1150" dirty="0"/>
          </a:p>
          <a:p>
            <a:pPr indent="0" marL="0">
              <a:buNone/>
            </a:pPr>
            <a:r>
              <a:rPr lang="en-US" sz="950" i="1" dirty="0">
                <a:solidFill>
                  <a:srgbClr val="5A6B8C"/>
                </a:solidFill>
                <a:latin typeface="Calibri" pitchFamily="34" charset="0"/>
                <a:ea typeface="Calibri" pitchFamily="34" charset="-122"/>
                <a:cs typeface="Calibri" pitchFamily="34" charset="-120"/>
              </a:rPr>
              <a:t>注: 「dポイント会員の約2人に1人が非ドコモユーザー」という数値は単一のSEO記事のみで確認され、公式IR等で未確認のため本表には採用していない。</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731520" y="685800"/>
            <a:ext cx="5486400" cy="502920"/>
          </a:xfrm>
          <a:prstGeom prst="rect">
            <a:avLst/>
          </a:prstGeom>
          <a:noFill/>
          <a:ln/>
        </p:spPr>
        <p:txBody>
          <a:bodyPr wrap="square" lIns="0" tIns="0" rIns="0" bIns="0" rtlCol="0" anchor="ctr"/>
          <a:lstStyle/>
          <a:p>
            <a:pPr indent="0" marL="0">
              <a:buNone/>
            </a:pPr>
            <a:r>
              <a:rPr lang="en-US" sz="2200" b="1" dirty="0">
                <a:solidFill>
                  <a:srgbClr val="CADCFC"/>
                </a:solidFill>
                <a:latin typeface="Cambria" pitchFamily="34" charset="0"/>
                <a:ea typeface="Cambria" pitchFamily="34" charset="-122"/>
                <a:cs typeface="Cambria" pitchFamily="34" charset="-120"/>
              </a:rPr>
              <a:t>結論</a:t>
            </a:r>
            <a:endParaRPr lang="en-US" sz="2200" dirty="0"/>
          </a:p>
        </p:txBody>
      </p:sp>
      <p:sp>
        <p:nvSpPr>
          <p:cNvPr id="3" name="Text 1"/>
          <p:cNvSpPr/>
          <p:nvPr/>
        </p:nvSpPr>
        <p:spPr>
          <a:xfrm>
            <a:off x="731520" y="1143000"/>
            <a:ext cx="10515600" cy="1371600"/>
          </a:xfrm>
          <a:prstGeom prst="rect">
            <a:avLst/>
          </a:prstGeom>
          <a:noFill/>
          <a:ln/>
        </p:spPr>
        <p:txBody>
          <a:bodyPr wrap="square" lIns="0" tIns="0" rIns="0" bIns="0" rtlCol="0" anchor="ctr"/>
          <a:lstStyle/>
          <a:p>
            <a:pPr indent="0" marL="0">
              <a:lnSpc>
                <a:spcPct val="115000"/>
              </a:lnSpc>
              <a:buNone/>
            </a:pPr>
            <a:r>
              <a:rPr lang="en-US" sz="3000" b="1" dirty="0">
                <a:solidFill>
                  <a:srgbClr val="FFFFFF"/>
                </a:solidFill>
                <a:latin typeface="Cambria" pitchFamily="34" charset="0"/>
                <a:ea typeface="Cambria" pitchFamily="34" charset="-122"/>
                <a:cs typeface="Cambria" pitchFamily="34" charset="-120"/>
              </a:rPr>
              <a:t>「登録の広さ」と「利用の偏り」は別軸</a:t>
            </a:r>
            <a:endParaRPr lang="en-US" sz="3000" dirty="0"/>
          </a:p>
          <a:p>
            <a:pPr indent="0" marL="0">
              <a:lnSpc>
                <a:spcPct val="115000"/>
              </a:lnSpc>
              <a:buNone/>
            </a:pPr>
            <a:r>
              <a:rPr lang="en-US" sz="3000" b="1" dirty="0">
                <a:solidFill>
                  <a:srgbClr val="FFFFFF"/>
                </a:solidFill>
                <a:latin typeface="Cambria" pitchFamily="34" charset="0"/>
                <a:ea typeface="Cambria" pitchFamily="34" charset="-122"/>
                <a:cs typeface="Cambria" pitchFamily="34" charset="-120"/>
              </a:rPr>
              <a:t>業界共通の構造的課題</a:t>
            </a:r>
            <a:endParaRPr lang="en-US" sz="3000" dirty="0"/>
          </a:p>
        </p:txBody>
      </p:sp>
      <p:sp>
        <p:nvSpPr>
          <p:cNvPr id="4" name="Shape 2"/>
          <p:cNvSpPr/>
          <p:nvPr/>
        </p:nvSpPr>
        <p:spPr>
          <a:xfrm>
            <a:off x="731520" y="2935224"/>
            <a:ext cx="292608" cy="292608"/>
          </a:xfrm>
          <a:prstGeom prst="ellipse">
            <a:avLst/>
          </a:prstGeom>
          <a:solidFill>
            <a:srgbClr val="334A8C"/>
          </a:solidFill>
          <a:ln/>
        </p:spPr>
      </p:sp>
      <p:sp>
        <p:nvSpPr>
          <p:cNvPr id="5" name="Text 3"/>
          <p:cNvSpPr/>
          <p:nvPr/>
        </p:nvSpPr>
        <p:spPr>
          <a:xfrm>
            <a:off x="731520" y="293522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234440" y="2880360"/>
            <a:ext cx="10058400" cy="685800"/>
          </a:xfrm>
          <a:prstGeom prst="rect">
            <a:avLst/>
          </a:prstGeom>
          <a:noFill/>
          <a:ln/>
        </p:spPr>
        <p:txBody>
          <a:bodyPr wrap="square" lIns="0" tIns="0" rIns="0" bIns="0" rtlCol="0" anchor="t"/>
          <a:lstStyle/>
          <a:p>
            <a:pPr indent="0" marL="0">
              <a:buNone/>
            </a:pPr>
            <a:r>
              <a:rPr lang="en-US" sz="1450" dirty="0">
                <a:solidFill>
                  <a:srgbClr val="CADCFC"/>
                </a:solidFill>
                <a:latin typeface="Calibri" pitchFamily="34" charset="0"/>
                <a:ea typeface="Calibri" pitchFamily="34" charset="-122"/>
                <a:cs typeface="Calibri" pitchFamily="34" charset="-120"/>
              </a:rPr>
              <a:t>各ポイントサービスは、母体企業(通信キャリア/EC/旧CCC提携先)の顧客基盤に応じた属性の偏りを構造的に抱える</a:t>
            </a:r>
            <a:endParaRPr lang="en-US" sz="1450" dirty="0"/>
          </a:p>
        </p:txBody>
      </p:sp>
      <p:sp>
        <p:nvSpPr>
          <p:cNvPr id="7" name="Shape 5"/>
          <p:cNvSpPr/>
          <p:nvPr/>
        </p:nvSpPr>
        <p:spPr>
          <a:xfrm>
            <a:off x="731520" y="3776472"/>
            <a:ext cx="292608" cy="292608"/>
          </a:xfrm>
          <a:prstGeom prst="ellipse">
            <a:avLst/>
          </a:prstGeom>
          <a:solidFill>
            <a:srgbClr val="334A8C"/>
          </a:solidFill>
          <a:ln/>
        </p:spPr>
      </p:sp>
      <p:sp>
        <p:nvSpPr>
          <p:cNvPr id="8" name="Text 6"/>
          <p:cNvSpPr/>
          <p:nvPr/>
        </p:nvSpPr>
        <p:spPr>
          <a:xfrm>
            <a:off x="731520" y="377647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9" name="Text 7"/>
          <p:cNvSpPr/>
          <p:nvPr/>
        </p:nvSpPr>
        <p:spPr>
          <a:xfrm>
            <a:off x="1234440" y="3721608"/>
            <a:ext cx="10058400" cy="685800"/>
          </a:xfrm>
          <a:prstGeom prst="rect">
            <a:avLst/>
          </a:prstGeom>
          <a:noFill/>
          <a:ln/>
        </p:spPr>
        <p:txBody>
          <a:bodyPr wrap="square" lIns="0" tIns="0" rIns="0" bIns="0" rtlCol="0" anchor="t"/>
          <a:lstStyle/>
          <a:p>
            <a:pPr indent="0" marL="0">
              <a:buNone/>
            </a:pPr>
            <a:r>
              <a:rPr lang="en-US" sz="1450" dirty="0">
                <a:solidFill>
                  <a:srgbClr val="CADCFC"/>
                </a:solidFill>
                <a:latin typeface="Calibri" pitchFamily="34" charset="0"/>
                <a:ea typeface="Calibri" pitchFamily="34" charset="-122"/>
                <a:cs typeface="Calibri" pitchFamily="34" charset="-120"/>
              </a:rPr>
              <a:t>特にPontaポイントはdポイントと同型の「登録は幅広いが、メイン利用は特定層に集中」という構造が確認できた</a:t>
            </a:r>
            <a:endParaRPr lang="en-US" sz="1450" dirty="0"/>
          </a:p>
        </p:txBody>
      </p:sp>
      <p:sp>
        <p:nvSpPr>
          <p:cNvPr id="10" name="Shape 8"/>
          <p:cNvSpPr/>
          <p:nvPr/>
        </p:nvSpPr>
        <p:spPr>
          <a:xfrm>
            <a:off x="731520" y="4617720"/>
            <a:ext cx="292608" cy="292608"/>
          </a:xfrm>
          <a:prstGeom prst="ellipse">
            <a:avLst/>
          </a:prstGeom>
          <a:solidFill>
            <a:srgbClr val="334A8C"/>
          </a:solidFill>
          <a:ln/>
        </p:spPr>
      </p:sp>
      <p:sp>
        <p:nvSpPr>
          <p:cNvPr id="11" name="Text 9"/>
          <p:cNvSpPr/>
          <p:nvPr/>
        </p:nvSpPr>
        <p:spPr>
          <a:xfrm>
            <a:off x="731520" y="461772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2" name="Text 10"/>
          <p:cNvSpPr/>
          <p:nvPr/>
        </p:nvSpPr>
        <p:spPr>
          <a:xfrm>
            <a:off x="1234440" y="4562856"/>
            <a:ext cx="10058400" cy="685800"/>
          </a:xfrm>
          <a:prstGeom prst="rect">
            <a:avLst/>
          </a:prstGeom>
          <a:noFill/>
          <a:ln/>
        </p:spPr>
        <p:txBody>
          <a:bodyPr wrap="square" lIns="0" tIns="0" rIns="0" bIns="0" rtlCol="0" anchor="t"/>
          <a:lstStyle/>
          <a:p>
            <a:pPr indent="0" marL="0">
              <a:buNone/>
            </a:pPr>
            <a:r>
              <a:rPr lang="en-US" sz="1450" dirty="0">
                <a:solidFill>
                  <a:srgbClr val="CADCFC"/>
                </a:solidFill>
                <a:latin typeface="Calibri" pitchFamily="34" charset="0"/>
                <a:ea typeface="Calibri" pitchFamily="34" charset="-122"/>
                <a:cs typeface="Calibri" pitchFamily="34" charset="-120"/>
              </a:rPr>
              <a:t>→ dポイント固有の弱点ではなく、業界全体がキャリア基盤に紐づく偏りを抱えている</a:t>
            </a:r>
            <a:endParaRPr lang="en-US" sz="1450" dirty="0"/>
          </a:p>
        </p:txBody>
      </p:sp>
      <p:sp>
        <p:nvSpPr>
          <p:cNvPr id="13" name="Shape 11"/>
          <p:cNvSpPr/>
          <p:nvPr/>
        </p:nvSpPr>
        <p:spPr>
          <a:xfrm>
            <a:off x="731520" y="5458968"/>
            <a:ext cx="292608" cy="292608"/>
          </a:xfrm>
          <a:prstGeom prst="ellipse">
            <a:avLst/>
          </a:prstGeom>
          <a:solidFill>
            <a:srgbClr val="3AA0FF"/>
          </a:solidFill>
          <a:ln/>
        </p:spPr>
      </p:sp>
      <p:sp>
        <p:nvSpPr>
          <p:cNvPr id="14" name="Text 12"/>
          <p:cNvSpPr/>
          <p:nvPr/>
        </p:nvSpPr>
        <p:spPr>
          <a:xfrm>
            <a:off x="731520" y="5458968"/>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5" name="Text 13"/>
          <p:cNvSpPr/>
          <p:nvPr/>
        </p:nvSpPr>
        <p:spPr>
          <a:xfrm>
            <a:off x="1234440" y="5404104"/>
            <a:ext cx="10058400" cy="685800"/>
          </a:xfrm>
          <a:prstGeom prst="rect">
            <a:avLst/>
          </a:prstGeom>
          <a:noFill/>
          <a:ln/>
        </p:spPr>
        <p:txBody>
          <a:bodyPr wrap="square" lIns="0" tIns="0" rIns="0" bIns="0" rtlCol="0" anchor="t"/>
          <a:lstStyle/>
          <a:p>
            <a:pPr indent="0" marL="0">
              <a:buNone/>
            </a:pPr>
            <a:r>
              <a:rPr lang="en-US" sz="1450" b="1" dirty="0">
                <a:solidFill>
                  <a:srgbClr val="FFFFFF"/>
                </a:solidFill>
                <a:latin typeface="Calibri" pitchFamily="34" charset="0"/>
                <a:ea typeface="Calibri" pitchFamily="34" charset="-122"/>
                <a:cs typeface="Calibri" pitchFamily="34" charset="-120"/>
              </a:rPr>
              <a:t>この偏りを最初に解消する企業が、生成AI時代の行動データ資産で優位に立てる</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2026-07-27T23:11:48Z</dcterms:created>
  <dcterms:modified xsi:type="dcterms:W3CDTF">2026-07-27T23:11:48Z</dcterms:modified>
</cp:coreProperties>
</file>