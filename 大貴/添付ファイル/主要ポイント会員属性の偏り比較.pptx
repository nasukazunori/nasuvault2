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874520"/>
            <a:ext cx="10698480" cy="548640"/>
          </a:xfrm>
          <a:prstGeom prst="rect">
            <a:avLst/>
          </a:prstGeom>
          <a:noFill/>
          <a:ln/>
        </p:spPr>
        <p:txBody>
          <a:bodyPr wrap="square" lIns="0" tIns="0" rIns="0" bIns="0" rtlCol="0" anchor="ctr"/>
          <a:lstStyle/>
          <a:p>
            <a:pPr algn="l" indent="0" marL="0">
              <a:buNone/>
            </a:pPr>
            <a:r>
              <a:rPr lang="en-US" sz="2400" dirty="0">
                <a:solidFill>
                  <a:srgbClr val="CADCFC"/>
                </a:solidFill>
                <a:latin typeface="Cambria" pitchFamily="34" charset="0"/>
                <a:ea typeface="Cambria" pitchFamily="34" charset="-122"/>
                <a:cs typeface="Cambria" pitchFamily="34" charset="-120"/>
              </a:rPr>
              <a:t>主要共通ポイントサービスの</a:t>
            </a:r>
            <a:endParaRPr lang="en-US" sz="2400" dirty="0"/>
          </a:p>
        </p:txBody>
      </p:sp>
      <p:sp>
        <p:nvSpPr>
          <p:cNvPr id="3" name="Text 1"/>
          <p:cNvSpPr/>
          <p:nvPr/>
        </p:nvSpPr>
        <p:spPr>
          <a:xfrm>
            <a:off x="731520" y="2331720"/>
            <a:ext cx="1069848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会員属性の偏り 比較調査</a:t>
            </a:r>
            <a:endParaRPr lang="en-US" sz="4000" dirty="0"/>
          </a:p>
        </p:txBody>
      </p:sp>
      <p:sp>
        <p:nvSpPr>
          <p:cNvPr id="4" name="Text 2"/>
          <p:cNvSpPr/>
          <p:nvPr/>
        </p:nvSpPr>
        <p:spPr>
          <a:xfrm>
            <a:off x="731520" y="3246120"/>
            <a:ext cx="10698480" cy="457200"/>
          </a:xfrm>
          <a:prstGeom prst="rect">
            <a:avLst/>
          </a:prstGeom>
          <a:noFill/>
          <a:ln/>
        </p:spPr>
        <p:txBody>
          <a:bodyPr wrap="square" lIns="0" tIns="0" rIns="0" bIns="0" rtlCol="0" anchor="ctr"/>
          <a:lstStyle/>
          <a:p>
            <a:pPr algn="l" indent="0" marL="0">
              <a:buNone/>
            </a:pPr>
            <a:r>
              <a:rPr lang="en-US" sz="1600" i="1" dirty="0">
                <a:solidFill>
                  <a:srgbClr val="CADCFC"/>
                </a:solidFill>
                <a:latin typeface="Calibri" pitchFamily="34" charset="0"/>
                <a:ea typeface="Calibri" pitchFamily="34" charset="-122"/>
                <a:cs typeface="Calibri" pitchFamily="34" charset="-120"/>
              </a:rPr>
              <a:t>dポイント新事業提案 ― 業界横断ファクトチェック</a:t>
            </a:r>
            <a:endParaRPr lang="en-US" sz="1600" dirty="0"/>
          </a:p>
        </p:txBody>
      </p:sp>
      <p:sp>
        <p:nvSpPr>
          <p:cNvPr id="5" name="Shape 3"/>
          <p:cNvSpPr/>
          <p:nvPr/>
        </p:nvSpPr>
        <p:spPr>
          <a:xfrm>
            <a:off x="731520" y="3977640"/>
            <a:ext cx="2743200" cy="0"/>
          </a:xfrm>
          <a:prstGeom prst="line">
            <a:avLst/>
          </a:prstGeom>
          <a:noFill/>
          <a:ln w="12700">
            <a:solidFill>
              <a:srgbClr val="CADCFC"/>
            </a:solidFill>
            <a:prstDash val="solid"/>
          </a:ln>
        </p:spPr>
      </p:sp>
      <p:sp>
        <p:nvSpPr>
          <p:cNvPr id="6" name="Text 4"/>
          <p:cNvSpPr/>
          <p:nvPr/>
        </p:nvSpPr>
        <p:spPr>
          <a:xfrm>
            <a:off x="731520" y="4160520"/>
            <a:ext cx="10058400" cy="365760"/>
          </a:xfrm>
          <a:prstGeom prst="rect">
            <a:avLst/>
          </a:prstGeom>
          <a:noFill/>
          <a:ln/>
        </p:spPr>
        <p:txBody>
          <a:bodyPr wrap="square" lIns="0" tIns="0" rIns="0" bIns="0" rtlCol="0" anchor="ctr"/>
          <a:lstStyle/>
          <a:p>
            <a:pPr algn="l" indent="0" marL="0">
              <a:buNone/>
            </a:pPr>
            <a:r>
              <a:rPr lang="en-US" sz="1200" dirty="0">
                <a:solidFill>
                  <a:srgbClr val="8FA3D9"/>
                </a:solidFill>
                <a:latin typeface="Calibri" pitchFamily="34" charset="0"/>
                <a:ea typeface="Calibri" pitchFamily="34" charset="-122"/>
                <a:cs typeface="Calibri" pitchFamily="34" charset="-120"/>
              </a:rPr>
              <a:t>dポイント / Pontaポイント / PayPayポイント / Vポイント(旧Tポイント) / 楽天ポイント</a:t>
            </a:r>
            <a:endParaRPr lang="en-US" sz="1200" dirty="0"/>
          </a:p>
        </p:txBody>
      </p:sp>
      <p:sp>
        <p:nvSpPr>
          <p:cNvPr id="7" name="Text 5"/>
          <p:cNvSpPr/>
          <p:nvPr/>
        </p:nvSpPr>
        <p:spPr>
          <a:xfrm>
            <a:off x="731520" y="6217920"/>
            <a:ext cx="3657600" cy="365760"/>
          </a:xfrm>
          <a:prstGeom prst="rect">
            <a:avLst/>
          </a:prstGeom>
          <a:noFill/>
          <a:ln/>
        </p:spPr>
        <p:txBody>
          <a:bodyPr wrap="square" lIns="0" tIns="0" rIns="0" bIns="0" rtlCol="0" anchor="ctr"/>
          <a:lstStyle/>
          <a:p>
            <a:pPr algn="l" indent="0" marL="0">
              <a:buNone/>
            </a:pPr>
            <a:r>
              <a:rPr lang="en-US" sz="1100" dirty="0">
                <a:solidFill>
                  <a:srgbClr val="6B7FB0"/>
                </a:solidFill>
                <a:latin typeface="Calibri" pitchFamily="34" charset="0"/>
                <a:ea typeface="Calibri" pitchFamily="34" charset="-122"/>
                <a:cs typeface="Calibri" pitchFamily="34" charset="-120"/>
              </a:rPr>
              <a:t>2026.07.27 作成</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主要ポイントサービスの会員属性比較</a:t>
            </a:r>
            <a:endParaRPr lang="en-US" sz="26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250" i="1" dirty="0">
                <a:solidFill>
                  <a:srgbClr val="5A6B8C"/>
                </a:solidFill>
                <a:latin typeface="Calibri" pitchFamily="34" charset="0"/>
                <a:ea typeface="Calibri" pitchFamily="34" charset="-122"/>
                <a:cs typeface="Calibri" pitchFamily="34" charset="-120"/>
              </a:rPr>
              <a:t>登録会員数の広さと、実際の「メイン利用者」属性の偏りは別軸で現れる</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1828800"/>
                <a:gridCol w="1280160"/>
                <a:gridCol w="6035040"/>
                <a:gridCol w="822960"/>
                <a:gridCol w="128016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ポイント名 / 母体</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会員規模</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確認された偏り(属性)</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確度</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出典</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B1B2F"/>
                          </a:solidFill>
                          <a:latin typeface="Calibri" pitchFamily="34" charset="0"/>
                          <a:ea typeface="Calibri" pitchFamily="34" charset="-122"/>
                          <a:cs typeface="Calibri" pitchFamily="34" charset="-120"/>
                        </a:rPr>
                        <a:t>dポイント</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NTTドコモ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1億人超</a:t>
                      </a:r>
                      <a:endParaRPr lang="en-US" sz="1050" dirty="0">
                        <a:latin typeface="Calibri" charset="0"/>
                        <a:ea typeface="Calibri" charset="0"/>
                        <a:cs typeface="Calibri" charset="0"/>
                      </a:endParaRPr>
                    </a:p>
                    <a:p>
                      <a:pPr algn="l" indent="0" marL="0">
                        <a:buNone/>
                      </a:pPr>
                      <a:r>
                        <a:rPr lang="en-US" sz="1050" dirty="0">
                          <a:solidFill>
                            <a:srgbClr val="1B1B2F"/>
                          </a:solidFill>
                          <a:latin typeface="Calibri" pitchFamily="34" charset="0"/>
                          <a:ea typeface="Calibri" pitchFamily="34" charset="-122"/>
                          <a:cs typeface="Calibri" pitchFamily="34" charset="-120"/>
                        </a:rPr>
                        <a:t>(2024/3)</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登録は幅広いが、メイン利用者はドコモ回線契約者に相関。担当者自身も非ドコモ・若年層の獲得を課題視</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高</a:t>
                      </a:r>
                      <a:endParaRPr lang="en-US" sz="1200" dirty="0"/>
                    </a:p>
                  </a:txBody>
                  <a:tcPr marL="91440" marR="91440" marT="45720" marB="45720">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6B8C"/>
                          </a:solidFill>
                          <a:latin typeface="Calibri" pitchFamily="34" charset="0"/>
                          <a:ea typeface="Calibri" pitchFamily="34" charset="-122"/>
                          <a:cs typeface="Calibri" pitchFamily="34" charset="-120"/>
                        </a:rPr>
                        <a:t>[1][2][3]</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B1B2F"/>
                          </a:solidFill>
                          <a:latin typeface="Calibri" pitchFamily="34" charset="0"/>
                          <a:ea typeface="Calibri" pitchFamily="34" charset="-122"/>
                          <a:cs typeface="Calibri" pitchFamily="34" charset="-120"/>
                        </a:rPr>
                        <a:t>Pontaポイント</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au / ロイヤリティ</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マーケティング</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1.24億人</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登録上は男女ほぼ半々・全年代型だが、実利用は30〜40代男性に集中。60代以上は利用率2割強に低下</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indent="0" marL="0">
                        <a:buNone/>
                      </a:pPr>
                      <a:r>
                        <a:rPr lang="en-US" sz="1200" dirty="0">
                          <a:solidFill>
                            <a:srgbClr val="000000"/>
                          </a:solidFill>
                        </a:rPr>
                        <a:t>中</a:t>
                      </a:r>
                      <a:endParaRPr lang="en-US" sz="1200" dirty="0"/>
                    </a:p>
                  </a:txBody>
                  <a:tcPr marL="91440" marR="91440" marT="45720" marB="45720">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950" dirty="0">
                          <a:solidFill>
                            <a:srgbClr val="5A6B8C"/>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r>
              <a:tr h="0">
                <a:tc>
                  <a:txBody>
                    <a:bodyPr/>
                    <a:lstStyle/>
                    <a:p>
                      <a:pPr algn="l" indent="0" marL="0">
                        <a:buNone/>
                      </a:pPr>
                      <a:r>
                        <a:rPr lang="en-US" sz="1050" b="1" dirty="0">
                          <a:solidFill>
                            <a:srgbClr val="1B1B2F"/>
                          </a:solidFill>
                          <a:latin typeface="Calibri" pitchFamily="34" charset="0"/>
                          <a:ea typeface="Calibri" pitchFamily="34" charset="-122"/>
                          <a:cs typeface="Calibri" pitchFamily="34" charset="-120"/>
                        </a:rPr>
                        <a:t>PayPayポイント</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ソフトバンク / PayPay</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非公開</a:t>
                      </a:r>
                      <a:endParaRPr lang="en-US" sz="1050" dirty="0">
                        <a:latin typeface="Calibri" charset="0"/>
                        <a:ea typeface="Calibri" charset="0"/>
                        <a:cs typeface="Calibri" charset="0"/>
                      </a:endParaRPr>
                    </a:p>
                    <a:p>
                      <a:pPr algn="l" indent="0" marL="0">
                        <a:buNone/>
                      </a:pPr>
                      <a:r>
                        <a:rPr lang="en-US" sz="1050" dirty="0">
                          <a:solidFill>
                            <a:srgbClr val="1B1B2F"/>
                          </a:solidFill>
                          <a:latin typeface="Calibri" pitchFamily="34" charset="0"/>
                          <a:ea typeface="Calibri" pitchFamily="34" charset="-122"/>
                          <a:cs typeface="Calibri" pitchFamily="34" charset="-120"/>
                        </a:rPr>
                        <a:t>(推計困難)</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20代男性・50代以上女性に強い。10〜30代の若年層で高需要。ソフトバンク/Y!mobileユーザーとの相関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中</a:t>
                      </a:r>
                      <a:endParaRPr lang="en-US" sz="1200" dirty="0"/>
                    </a:p>
                  </a:txBody>
                  <a:tcPr marL="91440" marR="91440" marT="45720" marB="45720">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6B8C"/>
                          </a:solidFill>
                          <a:latin typeface="Calibri" pitchFamily="34" charset="0"/>
                          <a:ea typeface="Calibri" pitchFamily="34" charset="-122"/>
                          <a:cs typeface="Calibri" pitchFamily="34" charset="-120"/>
                        </a:rPr>
                        <a:t>[6][7]</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B1B2F"/>
                          </a:solidFill>
                          <a:latin typeface="Calibri" pitchFamily="34" charset="0"/>
                          <a:ea typeface="Calibri" pitchFamily="34" charset="-122"/>
                          <a:cs typeface="Calibri" pitchFamily="34" charset="-120"/>
                        </a:rPr>
                        <a:t>Vポイント(旧Tポイント)</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CCC / 三井住友</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8,600万人</a:t>
                      </a:r>
                      <a:endParaRPr lang="en-US" sz="1050" dirty="0">
                        <a:latin typeface="Calibri" charset="0"/>
                        <a:ea typeface="Calibri" charset="0"/>
                        <a:cs typeface="Calibri" charset="0"/>
                      </a:endParaRPr>
                    </a:p>
                    <a:p>
                      <a:pPr algn="l" indent="0" marL="0">
                        <a:buNone/>
                      </a:pPr>
                      <a:r>
                        <a:rPr lang="en-US" sz="1050" dirty="0">
                          <a:solidFill>
                            <a:srgbClr val="1B1B2F"/>
                          </a:solidFill>
                          <a:latin typeface="Calibri" pitchFamily="34" charset="0"/>
                          <a:ea typeface="Calibri" pitchFamily="34" charset="-122"/>
                          <a:cs typeface="Calibri" pitchFamily="34" charset="-120"/>
                        </a:rPr>
                        <a:t>(統合後)</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旧Tポイント時代、若年層ほど会員率が高い(20代82.4% vs 70代32.9%)。統合後は金融連携層へ拡大中</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indent="0" marL="0">
                        <a:buNone/>
                      </a:pPr>
                      <a:r>
                        <a:rPr lang="en-US" sz="1200" dirty="0">
                          <a:solidFill>
                            <a:srgbClr val="000000"/>
                          </a:solidFill>
                        </a:rPr>
                        <a:t>中</a:t>
                      </a:r>
                      <a:endParaRPr lang="en-US" sz="1200" dirty="0"/>
                    </a:p>
                  </a:txBody>
                  <a:tcPr marL="91440" marR="91440" marT="45720" marB="45720">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algn="l" indent="0" marL="0">
                        <a:buNone/>
                      </a:pPr>
                      <a:r>
                        <a:rPr lang="en-US" sz="950" dirty="0">
                          <a:solidFill>
                            <a:srgbClr val="5A6B8C"/>
                          </a:solidFill>
                          <a:latin typeface="Calibri" pitchFamily="34" charset="0"/>
                          <a:ea typeface="Calibri" pitchFamily="34" charset="-122"/>
                          <a:cs typeface="Calibri" pitchFamily="34" charset="-120"/>
                        </a:rPr>
                        <a:t>[8][9]</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r>
              <a:tr h="0">
                <a:tc>
                  <a:txBody>
                    <a:bodyPr/>
                    <a:lstStyle/>
                    <a:p>
                      <a:pPr algn="l" indent="0" marL="0">
                        <a:buNone/>
                      </a:pPr>
                      <a:r>
                        <a:rPr lang="en-US" sz="1050" b="1" dirty="0">
                          <a:solidFill>
                            <a:srgbClr val="1B1B2F"/>
                          </a:solidFill>
                          <a:latin typeface="Calibri" pitchFamily="34" charset="0"/>
                          <a:ea typeface="Calibri" pitchFamily="34" charset="-122"/>
                          <a:cs typeface="Calibri" pitchFamily="34" charset="-120"/>
                        </a:rPr>
                        <a:t>楽天ポイント</a:t>
                      </a:r>
                      <a:endParaRPr lang="en-US" sz="1050" dirty="0">
                        <a:latin typeface="Calibri" charset="0"/>
                        <a:ea typeface="Calibri" charset="0"/>
                        <a:cs typeface="Calibri" charset="0"/>
                      </a:endParaRPr>
                    </a:p>
                    <a:p>
                      <a:pPr algn="l" indent="0" marL="0">
                        <a:buNone/>
                      </a:pPr>
                      <a:r>
                        <a:rPr lang="en-US" sz="1050" b="1" dirty="0">
                          <a:solidFill>
                            <a:srgbClr val="1B1B2F"/>
                          </a:solidFill>
                          <a:latin typeface="Calibri" pitchFamily="34" charset="0"/>
                          <a:ea typeface="Calibri" pitchFamily="34" charset="-122"/>
                          <a:cs typeface="Calibri" pitchFamily="34" charset="-120"/>
                        </a:rPr>
                        <a:t>楽天市場</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非公開</a:t>
                      </a:r>
                      <a:endParaRPr lang="en-US" sz="1050" dirty="0">
                        <a:latin typeface="Calibri" charset="0"/>
                        <a:ea typeface="Calibri" charset="0"/>
                        <a:cs typeface="Calibri" charset="0"/>
                      </a:endParaRPr>
                    </a:p>
                    <a:p>
                      <a:pPr algn="l" indent="0" marL="0">
                        <a:buNone/>
                      </a:pPr>
                      <a:r>
                        <a:rPr lang="en-US" sz="1050" dirty="0">
                          <a:solidFill>
                            <a:srgbClr val="1B1B2F"/>
                          </a:solidFill>
                          <a:latin typeface="Calibri" pitchFamily="34" charset="0"/>
                          <a:ea typeface="Calibri" pitchFamily="34" charset="-122"/>
                          <a:cs typeface="Calibri" pitchFamily="34" charset="-120"/>
                        </a:rPr>
                        <a:t>(推計困難)</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1B2F"/>
                          </a:solidFill>
                          <a:latin typeface="Calibri" pitchFamily="34" charset="0"/>
                          <a:ea typeface="Calibri" pitchFamily="34" charset="-122"/>
                          <a:cs typeface="Calibri" pitchFamily="34" charset="-120"/>
                        </a:rPr>
                        <a:t>全年代型で最多利用という調査もあるが、女性の利用率が男性より高め。10代はPayPay経済圏が優勢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中</a:t>
                      </a:r>
                      <a:endParaRPr lang="en-US" sz="1200" dirty="0"/>
                    </a:p>
                  </a:txBody>
                  <a:tcPr marL="91440" marR="91440" marT="45720" marB="45720">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6B8C"/>
                          </a:solidFill>
                          <a:latin typeface="Calibri" pitchFamily="34" charset="0"/>
                          <a:ea typeface="Calibri" pitchFamily="34" charset="-122"/>
                          <a:cs typeface="Calibri" pitchFamily="34" charset="-120"/>
                        </a:rPr>
                        <a:t>[10][11]</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11247120" cy="292608"/>
          </a:xfrm>
          <a:prstGeom prst="rect">
            <a:avLst/>
          </a:prstGeom>
          <a:noFill/>
          <a:ln/>
        </p:spPr>
        <p:txBody>
          <a:bodyPr wrap="square" lIns="0" tIns="0" rIns="0" bIns="0" rtlCol="0" anchor="ctr"/>
          <a:lstStyle/>
          <a:p>
            <a:pPr indent="0" marL="0">
              <a:buNone/>
            </a:pPr>
            <a:r>
              <a:rPr lang="en-US" sz="950" i="1" dirty="0">
                <a:solidFill>
                  <a:srgbClr val="5A6B8C"/>
                </a:solidFill>
                <a:latin typeface="Calibri" pitchFamily="34" charset="0"/>
                <a:ea typeface="Calibri" pitchFamily="34" charset="-122"/>
                <a:cs typeface="Calibri" pitchFamily="34" charset="-120"/>
              </a:rPr>
              <a:t>確度: 高＝複数の独立した情報源(公式データ・企業コメントを含む)で整合 　中＝報道・調査会社データで概ね裏付け(単一/やや古い情報源を含む場合あり)</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高齢者のポイント利用実態</a:t>
            </a:r>
            <a:endParaRPr lang="en-US" sz="26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250" i="1" dirty="0">
                <a:solidFill>
                  <a:srgbClr val="5A6B8C"/>
                </a:solidFill>
                <a:latin typeface="Calibri" pitchFamily="34" charset="0"/>
                <a:ea typeface="Calibri" pitchFamily="34" charset="-122"/>
                <a:cs typeface="Calibri" pitchFamily="34" charset="-120"/>
              </a:rPr>
              <a:t>ポイント自体は活発に利用されているが、実践度は「デジタル・金融リテラシー」と相関する</a:t>
            </a:r>
            <a:endParaRPr lang="en-US" sz="1250" dirty="0"/>
          </a:p>
        </p:txBody>
      </p:sp>
      <p:sp>
        <p:nvSpPr>
          <p:cNvPr id="4" name="Shape 2"/>
          <p:cNvSpPr/>
          <p:nvPr/>
        </p:nvSpPr>
        <p:spPr>
          <a:xfrm>
            <a:off x="457200" y="1371600"/>
            <a:ext cx="2606040" cy="1783080"/>
          </a:xfrm>
          <a:prstGeom prst="roundRect">
            <a:avLst>
              <a:gd name="adj" fmla="val 3077"/>
            </a:avLst>
          </a:prstGeom>
          <a:solidFill>
            <a:srgbClr val="1E2761"/>
          </a:solidFill>
          <a:ln w="9525">
            <a:solidFill>
              <a:srgbClr val="1E2761"/>
            </a:solidFill>
            <a:prstDash val="solid"/>
          </a:ln>
        </p:spPr>
      </p:sp>
      <p:sp>
        <p:nvSpPr>
          <p:cNvPr id="5" name="Text 3"/>
          <p:cNvSpPr/>
          <p:nvPr/>
        </p:nvSpPr>
        <p:spPr>
          <a:xfrm>
            <a:off x="566928" y="1508760"/>
            <a:ext cx="2386584" cy="5943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44.3%</a:t>
            </a:r>
            <a:endParaRPr lang="en-US" sz="3400" dirty="0"/>
          </a:p>
        </p:txBody>
      </p:sp>
      <p:sp>
        <p:nvSpPr>
          <p:cNvPr id="6" name="Text 4"/>
          <p:cNvSpPr/>
          <p:nvPr/>
        </p:nvSpPr>
        <p:spPr>
          <a:xfrm>
            <a:off x="566928" y="2148840"/>
            <a:ext cx="2386584" cy="685800"/>
          </a:xfrm>
          <a:prstGeom prst="rect">
            <a:avLst/>
          </a:prstGeom>
          <a:noFill/>
          <a:ln/>
        </p:spPr>
        <p:txBody>
          <a:bodyPr wrap="square" lIns="0" tIns="0" rIns="0" bIns="0" rtlCol="0" anchor="t"/>
          <a:lstStyle/>
          <a:p>
            <a:pPr algn="l" indent="0" marL="0">
              <a:buNone/>
            </a:pPr>
            <a:r>
              <a:rPr lang="en-US" sz="1100" dirty="0">
                <a:solidFill>
                  <a:srgbClr val="CADCFC"/>
                </a:solidFill>
                <a:latin typeface="Calibri" pitchFamily="34" charset="0"/>
                <a:ea typeface="Calibri" pitchFamily="34" charset="-122"/>
                <a:cs typeface="Calibri" pitchFamily="34" charset="-120"/>
              </a:rPr>
              <a:t>貯め方の最多回答は</a:t>
            </a:r>
            <a:endParaRPr lang="en-US" sz="1100" dirty="0"/>
          </a:p>
          <a:p>
            <a:pPr algn="l" indent="0" marL="0">
              <a:buNone/>
            </a:pPr>
            <a:r>
              <a:rPr lang="en-US" sz="1100" dirty="0">
                <a:solidFill>
                  <a:srgbClr val="CADCFC"/>
                </a:solidFill>
                <a:latin typeface="Calibri" pitchFamily="34" charset="0"/>
                <a:ea typeface="Calibri" pitchFamily="34" charset="-122"/>
                <a:cs typeface="Calibri" pitchFamily="34" charset="-120"/>
              </a:rPr>
              <a:t>「店頭でポイントカードを提示」</a:t>
            </a:r>
            <a:endParaRPr lang="en-US" sz="1100" dirty="0"/>
          </a:p>
        </p:txBody>
      </p:sp>
      <p:sp>
        <p:nvSpPr>
          <p:cNvPr id="7" name="Text 5"/>
          <p:cNvSpPr/>
          <p:nvPr/>
        </p:nvSpPr>
        <p:spPr>
          <a:xfrm>
            <a:off x="566928" y="2862072"/>
            <a:ext cx="2386584" cy="228600"/>
          </a:xfrm>
          <a:prstGeom prst="rect">
            <a:avLst/>
          </a:prstGeom>
          <a:noFill/>
          <a:ln/>
        </p:spPr>
        <p:txBody>
          <a:bodyPr wrap="square" lIns="0" tIns="0" rIns="0" bIns="0" rtlCol="0" anchor="ctr"/>
          <a:lstStyle/>
          <a:p>
            <a:pPr algn="l" indent="0" marL="0">
              <a:buNone/>
            </a:pPr>
            <a:r>
              <a:rPr lang="en-US" sz="900" dirty="0">
                <a:solidFill>
                  <a:srgbClr val="8FA3D9"/>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sp>
      <p:sp>
        <p:nvSpPr>
          <p:cNvPr id="9" name="Text 7"/>
          <p:cNvSpPr/>
          <p:nvPr/>
        </p:nvSpPr>
        <p:spPr>
          <a:xfrm>
            <a:off x="3447288" y="1508760"/>
            <a:ext cx="2386584" cy="5943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56.7%</a:t>
            </a:r>
            <a:endParaRPr lang="en-US" sz="3400" dirty="0"/>
          </a:p>
        </p:txBody>
      </p:sp>
      <p:sp>
        <p:nvSpPr>
          <p:cNvPr id="10" name="Text 8"/>
          <p:cNvSpPr/>
          <p:nvPr/>
        </p:nvSpPr>
        <p:spPr>
          <a:xfrm>
            <a:off x="344728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日常的に「ポイ活」を実践</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(50〜79歳)</a:t>
            </a:r>
            <a:endParaRPr lang="en-US" sz="1100" dirty="0"/>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[12][13]</a:t>
            </a:r>
            <a:endParaRPr lang="en-US" sz="900" dirty="0"/>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sp>
      <p:sp>
        <p:nvSpPr>
          <p:cNvPr id="13" name="Text 11"/>
          <p:cNvSpPr/>
          <p:nvPr/>
        </p:nvSpPr>
        <p:spPr>
          <a:xfrm>
            <a:off x="6327648" y="1508760"/>
            <a:ext cx="2386584" cy="5943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73.7%</a:t>
            </a:r>
            <a:endParaRPr lang="en-US" sz="3400" dirty="0"/>
          </a:p>
        </p:txBody>
      </p:sp>
      <p:sp>
        <p:nvSpPr>
          <p:cNvPr id="14" name="Text 12"/>
          <p:cNvSpPr/>
          <p:nvPr/>
        </p:nvSpPr>
        <p:spPr>
          <a:xfrm>
            <a:off x="632764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直近1ヶ月でキャッシュレス</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決済を利用(60歳以上)</a:t>
            </a:r>
            <a:endParaRPr lang="en-US" sz="1100" dirty="0"/>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[14]</a:t>
            </a:r>
            <a:endParaRPr lang="en-US" sz="900" dirty="0"/>
          </a:p>
        </p:txBody>
      </p:sp>
      <p:sp>
        <p:nvSpPr>
          <p:cNvPr id="16" name="Shape 14"/>
          <p:cNvSpPr/>
          <p:nvPr/>
        </p:nvSpPr>
        <p:spPr>
          <a:xfrm>
            <a:off x="9098280" y="1371600"/>
            <a:ext cx="2606040" cy="1783080"/>
          </a:xfrm>
          <a:prstGeom prst="roundRect">
            <a:avLst>
              <a:gd name="adj" fmla="val 3077"/>
            </a:avLst>
          </a:prstGeom>
          <a:solidFill>
            <a:srgbClr val="FFFFFF"/>
          </a:solidFill>
          <a:ln w="9525">
            <a:solidFill>
              <a:srgbClr val="D7DEEE"/>
            </a:solidFill>
            <a:prstDash val="solid"/>
          </a:ln>
        </p:spPr>
      </p:sp>
      <p:sp>
        <p:nvSpPr>
          <p:cNvPr id="17" name="Text 15"/>
          <p:cNvSpPr/>
          <p:nvPr/>
        </p:nvSpPr>
        <p:spPr>
          <a:xfrm>
            <a:off x="9208008" y="1508760"/>
            <a:ext cx="2386584" cy="5943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2割以下</a:t>
            </a:r>
            <a:endParaRPr lang="en-US" sz="3400" dirty="0"/>
          </a:p>
        </p:txBody>
      </p:sp>
      <p:sp>
        <p:nvSpPr>
          <p:cNvPr id="18" name="Text 16"/>
          <p:cNvSpPr/>
          <p:nvPr/>
        </p:nvSpPr>
        <p:spPr>
          <a:xfrm>
            <a:off x="920800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スマホ決済の利用経験</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(シニア女性)</a:t>
            </a:r>
            <a:endParaRPr lang="en-US" sz="1100" dirty="0"/>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[14]</a:t>
            </a:r>
            <a:endParaRPr lang="en-US" sz="900" dirty="0"/>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sp>
      <p:sp>
        <p:nvSpPr>
          <p:cNvPr id="21" name="Text 19"/>
          <p:cNvSpPr/>
          <p:nvPr/>
        </p:nvSpPr>
        <p:spPr>
          <a:xfrm>
            <a:off x="731520" y="3639312"/>
            <a:ext cx="10698480" cy="2606040"/>
          </a:xfrm>
          <a:prstGeom prst="rect">
            <a:avLst/>
          </a:prstGeom>
          <a:noFill/>
          <a:ln/>
        </p:spPr>
        <p:txBody>
          <a:bodyPr wrap="square" lIns="0" tIns="0" rIns="0" bIns="0" rtlCol="0" anchor="t"/>
          <a:lstStyle/>
          <a:p>
            <a:pPr indent="0" marL="0">
              <a:spcAft>
                <a:spcPts val="1000"/>
              </a:spcAft>
              <a:buNone/>
            </a:pPr>
            <a:r>
              <a:rPr lang="en-US" sz="1250" b="1" dirty="0">
                <a:solidFill>
                  <a:srgbClr val="1E2761"/>
                </a:solidFill>
                <a:latin typeface="Calibri" pitchFamily="34" charset="0"/>
                <a:ea typeface="Calibri" pitchFamily="34" charset="-122"/>
                <a:cs typeface="Calibri" pitchFamily="34" charset="-120"/>
              </a:rPr>
              <a:t>補足データ</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QRコード決済は60代前半で急伸(1年で7〜8pt上昇)する一方、70代は約3割にとどまり伸びも鈍化。年代が上がるほどスマホ経由のポイント活用は失速する [15]</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ポイ活を実践しているシニアは平均4.24個のアプリを使用(非実践者は3.43個)。ネットバンキング利用率も高く、ポイ活の実践度はデジタル・金融リテラシーの高さと明確に相関する [12]</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男女差もあり、女性62.4%に対し男性50.9%とポイ活実践率に差がある [12]</a:t>
            </a:r>
            <a:endParaRPr lang="en-US" sz="1250" dirty="0"/>
          </a:p>
          <a:p>
            <a:pPr indent="0" marL="0">
              <a:buNone/>
            </a:pPr>
            <a:r>
              <a:rPr lang="en-US" sz="1150" i="1" dirty="0">
                <a:solidFill>
                  <a:srgbClr val="5A6B8C"/>
                </a:solidFill>
                <a:latin typeface="Calibri" pitchFamily="34" charset="0"/>
                <a:ea typeface="Calibri" pitchFamily="34" charset="-122"/>
                <a:cs typeface="Calibri" pitchFamily="34" charset="-120"/>
              </a:rPr>
              <a:t>示唆: 「高齢者はポイントを使うか否か」ではなく、シニア内部でも「デジタルリテラシーが高い層」に利用・行動データが偏る。dポイントの偏り論(④)は年齢だけでなく年齢×リテラシーの2軸で語れる</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スーパー・ドラッグストア:独自ポイント vs 共通ポイント</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250" i="1" dirty="0">
                <a:solidFill>
                  <a:srgbClr val="5A6B8C"/>
                </a:solidFill>
                <a:latin typeface="Calibri" pitchFamily="34" charset="0"/>
                <a:ea typeface="Calibri" pitchFamily="34" charset="-122"/>
                <a:cs typeface="Calibri" pitchFamily="34" charset="-120"/>
              </a:rPr>
              <a:t>最も高頻度な「日用品購買」の場面ほど、行動データは店舗独自ポイントに分散している</a:t>
            </a:r>
            <a:endParaRPr lang="en-US" sz="1250" dirty="0"/>
          </a:p>
        </p:txBody>
      </p:sp>
      <p:sp>
        <p:nvSpPr>
          <p:cNvPr id="4" name="Shape 2"/>
          <p:cNvSpPr/>
          <p:nvPr/>
        </p:nvSpPr>
        <p:spPr>
          <a:xfrm>
            <a:off x="457200" y="1371600"/>
            <a:ext cx="2606040" cy="1783080"/>
          </a:xfrm>
          <a:prstGeom prst="roundRect">
            <a:avLst>
              <a:gd name="adj" fmla="val 3077"/>
            </a:avLst>
          </a:prstGeom>
          <a:solidFill>
            <a:srgbClr val="FFFFFF"/>
          </a:solidFill>
          <a:ln w="9525">
            <a:solidFill>
              <a:srgbClr val="D7DEEE"/>
            </a:solidFill>
            <a:prstDash val="solid"/>
          </a:ln>
        </p:spPr>
      </p:sp>
      <p:sp>
        <p:nvSpPr>
          <p:cNvPr id="5" name="Text 3"/>
          <p:cNvSpPr/>
          <p:nvPr/>
        </p:nvSpPr>
        <p:spPr>
          <a:xfrm>
            <a:off x="566928" y="1508760"/>
            <a:ext cx="2386584" cy="5943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60%台</a:t>
            </a:r>
            <a:endParaRPr lang="en-US" sz="3000" dirty="0"/>
          </a:p>
        </p:txBody>
      </p:sp>
      <p:sp>
        <p:nvSpPr>
          <p:cNvPr id="6" name="Text 4"/>
          <p:cNvSpPr/>
          <p:nvPr/>
        </p:nvSpPr>
        <p:spPr>
          <a:xfrm>
            <a:off x="56692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直近1年でスーパー・ドラッグ</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ストアでポイント利用(業種別最高水準)</a:t>
            </a:r>
            <a:endParaRPr lang="en-US" sz="1100" dirty="0"/>
          </a:p>
        </p:txBody>
      </p:sp>
      <p:sp>
        <p:nvSpPr>
          <p:cNvPr id="7" name="Text 5"/>
          <p:cNvSpPr/>
          <p:nvPr/>
        </p:nvSpPr>
        <p:spPr>
          <a:xfrm>
            <a:off x="56692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sp>
      <p:sp>
        <p:nvSpPr>
          <p:cNvPr id="9" name="Text 7"/>
          <p:cNvSpPr/>
          <p:nvPr/>
        </p:nvSpPr>
        <p:spPr>
          <a:xfrm>
            <a:off x="3447288" y="1508760"/>
            <a:ext cx="2386584" cy="5943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86.7%</a:t>
            </a:r>
            <a:endParaRPr lang="en-US" sz="3000" dirty="0"/>
          </a:p>
        </p:txBody>
      </p:sp>
      <p:sp>
        <p:nvSpPr>
          <p:cNvPr id="10" name="Text 8"/>
          <p:cNvSpPr/>
          <p:nvPr/>
        </p:nvSpPr>
        <p:spPr>
          <a:xfrm>
            <a:off x="344728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スーパーのポイントカード</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導入率(2023年、年々上昇)</a:t>
            </a:r>
            <a:endParaRPr lang="en-US" sz="1100" dirty="0"/>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[17]</a:t>
            </a:r>
            <a:endParaRPr lang="en-US" sz="900" dirty="0"/>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sp>
      <p:sp>
        <p:nvSpPr>
          <p:cNvPr id="13" name="Text 11"/>
          <p:cNvSpPr/>
          <p:nvPr/>
        </p:nvSpPr>
        <p:spPr>
          <a:xfrm>
            <a:off x="6327648" y="1508760"/>
            <a:ext cx="2386584" cy="5943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64.4%</a:t>
            </a:r>
            <a:endParaRPr lang="en-US" sz="3000" dirty="0"/>
          </a:p>
        </p:txBody>
      </p:sp>
      <p:sp>
        <p:nvSpPr>
          <p:cNvPr id="14" name="Text 12"/>
          <p:cNvSpPr/>
          <p:nvPr/>
        </p:nvSpPr>
        <p:spPr>
          <a:xfrm>
            <a:off x="6327648" y="2148840"/>
            <a:ext cx="2386584" cy="68580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導入カードのうち</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「自社独自ポイント」が最多</a:t>
            </a:r>
            <a:endParaRPr lang="en-US" sz="1100" dirty="0"/>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[17]</a:t>
            </a:r>
            <a:endParaRPr lang="en-US" sz="900" dirty="0"/>
          </a:p>
        </p:txBody>
      </p:sp>
      <p:sp>
        <p:nvSpPr>
          <p:cNvPr id="16" name="Shape 14"/>
          <p:cNvSpPr/>
          <p:nvPr/>
        </p:nvSpPr>
        <p:spPr>
          <a:xfrm>
            <a:off x="9098280" y="1371600"/>
            <a:ext cx="2606040" cy="1783080"/>
          </a:xfrm>
          <a:prstGeom prst="roundRect">
            <a:avLst>
              <a:gd name="adj" fmla="val 3077"/>
            </a:avLst>
          </a:prstGeom>
          <a:solidFill>
            <a:srgbClr val="1E2761"/>
          </a:solidFill>
          <a:ln w="9525">
            <a:solidFill>
              <a:srgbClr val="1E2761"/>
            </a:solidFill>
            <a:prstDash val="solid"/>
          </a:ln>
        </p:spPr>
      </p:sp>
      <p:sp>
        <p:nvSpPr>
          <p:cNvPr id="17" name="Text 15"/>
          <p:cNvSpPr/>
          <p:nvPr/>
        </p:nvSpPr>
        <p:spPr>
          <a:xfrm>
            <a:off x="9208008" y="1508760"/>
            <a:ext cx="2386584"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73.7%</a:t>
            </a:r>
            <a:endParaRPr lang="en-US" sz="3000" dirty="0"/>
          </a:p>
        </p:txBody>
      </p:sp>
      <p:sp>
        <p:nvSpPr>
          <p:cNvPr id="18" name="Text 16"/>
          <p:cNvSpPr/>
          <p:nvPr/>
        </p:nvSpPr>
        <p:spPr>
          <a:xfrm>
            <a:off x="9208008" y="2148840"/>
            <a:ext cx="2386584" cy="685800"/>
          </a:xfrm>
          <a:prstGeom prst="rect">
            <a:avLst/>
          </a:prstGeom>
          <a:noFill/>
          <a:ln/>
        </p:spPr>
        <p:txBody>
          <a:bodyPr wrap="square" lIns="0" tIns="0" rIns="0" bIns="0" rtlCol="0" anchor="t"/>
          <a:lstStyle/>
          <a:p>
            <a:pPr algn="l" indent="0" marL="0">
              <a:buNone/>
            </a:pPr>
            <a:r>
              <a:rPr lang="en-US" sz="1100" dirty="0">
                <a:solidFill>
                  <a:srgbClr val="CADCFC"/>
                </a:solidFill>
                <a:latin typeface="Calibri" pitchFamily="34" charset="0"/>
                <a:ea typeface="Calibri" pitchFamily="34" charset="-122"/>
                <a:cs typeface="Calibri" pitchFamily="34" charset="-120"/>
              </a:rPr>
              <a:t>女性の「ドラッグストア独自</a:t>
            </a:r>
            <a:endParaRPr lang="en-US" sz="1100" dirty="0"/>
          </a:p>
          <a:p>
            <a:pPr algn="l" indent="0" marL="0">
              <a:buNone/>
            </a:pPr>
            <a:r>
              <a:rPr lang="en-US" sz="1100" dirty="0">
                <a:solidFill>
                  <a:srgbClr val="CADCFC"/>
                </a:solidFill>
                <a:latin typeface="Calibri" pitchFamily="34" charset="0"/>
                <a:ea typeface="Calibri" pitchFamily="34" charset="-122"/>
                <a:cs typeface="Calibri" pitchFamily="34" charset="-120"/>
              </a:rPr>
              <a:t>カード」利用率(共通ポイント超)</a:t>
            </a:r>
            <a:endParaRPr lang="en-US" sz="1100" dirty="0"/>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algn="l" indent="0" marL="0">
              <a:buNone/>
            </a:pPr>
            <a:r>
              <a:rPr lang="en-US" sz="900" dirty="0">
                <a:solidFill>
                  <a:srgbClr val="8FA3D9"/>
                </a:solidFill>
                <a:latin typeface="Calibri" pitchFamily="34" charset="0"/>
                <a:ea typeface="Calibri" pitchFamily="34" charset="-122"/>
                <a:cs typeface="Calibri" pitchFamily="34" charset="-120"/>
              </a:rPr>
              <a:t>[18]</a:t>
            </a:r>
            <a:endParaRPr lang="en-US" sz="900" dirty="0"/>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sp>
      <p:sp>
        <p:nvSpPr>
          <p:cNvPr id="21" name="Text 19"/>
          <p:cNvSpPr/>
          <p:nvPr/>
        </p:nvSpPr>
        <p:spPr>
          <a:xfrm>
            <a:off x="731520" y="3639312"/>
            <a:ext cx="10698480" cy="2606040"/>
          </a:xfrm>
          <a:prstGeom prst="rect">
            <a:avLst/>
          </a:prstGeom>
          <a:noFill/>
          <a:ln/>
        </p:spPr>
        <p:txBody>
          <a:bodyPr wrap="square" lIns="0" tIns="0" rIns="0" bIns="0" rtlCol="0" anchor="t"/>
          <a:lstStyle/>
          <a:p>
            <a:pPr indent="0" marL="0">
              <a:spcAft>
                <a:spcPts val="1000"/>
              </a:spcAft>
              <a:buNone/>
            </a:pPr>
            <a:r>
              <a:rPr lang="en-US" sz="1250" b="1" dirty="0">
                <a:solidFill>
                  <a:srgbClr val="1E2761"/>
                </a:solidFill>
                <a:latin typeface="Calibri" pitchFamily="34" charset="0"/>
                <a:ea typeface="Calibri" pitchFamily="34" charset="-122"/>
                <a:cs typeface="Calibri" pitchFamily="34" charset="-120"/>
              </a:rPr>
              <a:t>補足データ</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利用しているポイントカードの種類は「共通ポイントサービスカード」64.6%が僅差の1位。ただし「ドラッグストアのカード」56.1%、「家電量販店のカード」54.4%、「スーパーのカード」52.8%と、業態独自カードもほぼ同水準で並ぶ [18]</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男女差が最も大きいのは「ドラッグストアのカード」で28.9pt差(女性73.7% vs 男性44.8%)。日用品購買を担うことが多い女性ほど独自ポイントへの依存度が高い [18]</a:t>
            </a:r>
            <a:endParaRPr lang="en-US" sz="1250" dirty="0"/>
          </a:p>
          <a:p>
            <a:pPr indent="0" marL="0">
              <a:buNone/>
            </a:pPr>
            <a:r>
              <a:rPr lang="en-US" sz="1150" i="1" dirty="0">
                <a:solidFill>
                  <a:srgbClr val="5A6B8C"/>
                </a:solidFill>
                <a:latin typeface="Calibri" pitchFamily="34" charset="0"/>
                <a:ea typeface="Calibri" pitchFamily="34" charset="-122"/>
                <a:cs typeface="Calibri" pitchFamily="34" charset="-120"/>
              </a:rPr>
              <a:t>示唆: 高頻度で発生する日用品購買という「最も濃い行動データが生まれる場面」自体が、共通ポイントではなく店舗独自ポイント(イオンWAON、マツキヨ独自カード等)に分散している。SyncMeの精度向上には「非ドコモユーザーの獲得」に加え、「独自ポイント経済圏(特に日用品カテゴリ)との連携・データ取得」も鍵になる</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独自ポイントの経済合理性 ―流行る理由とコスト構造</a:t>
            </a:r>
            <a:endParaRPr lang="en-US" sz="2300" dirty="0"/>
          </a:p>
        </p:txBody>
      </p:sp>
      <p:sp>
        <p:nvSpPr>
          <p:cNvPr id="3" name="Text 1"/>
          <p:cNvSpPr/>
          <p:nvPr/>
        </p:nvSpPr>
        <p:spPr>
          <a:xfrm>
            <a:off x="457200" y="105156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なぜ独自ポイントが流行るのか</a:t>
            </a:r>
            <a:endParaRPr lang="en-US" sz="1300" dirty="0"/>
          </a:p>
        </p:txBody>
      </p:sp>
      <p:sp>
        <p:nvSpPr>
          <p:cNvPr id="4" name="Shape 2"/>
          <p:cNvSpPr/>
          <p:nvPr/>
        </p:nvSpPr>
        <p:spPr>
          <a:xfrm>
            <a:off x="457200" y="1490472"/>
            <a:ext cx="274320" cy="274320"/>
          </a:xfrm>
          <a:prstGeom prst="ellipse">
            <a:avLst/>
          </a:prstGeom>
          <a:solidFill>
            <a:srgbClr val="334A8C"/>
          </a:solidFill>
          <a:ln/>
        </p:spPr>
      </p:sp>
      <p:sp>
        <p:nvSpPr>
          <p:cNvPr id="5" name="Text 3"/>
          <p:cNvSpPr/>
          <p:nvPr/>
        </p:nvSpPr>
        <p:spPr>
          <a:xfrm>
            <a:off x="457200" y="14904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868680" y="1408176"/>
            <a:ext cx="5074920" cy="1051560"/>
          </a:xfrm>
          <a:prstGeom prst="rect">
            <a:avLst/>
          </a:prstGeom>
          <a:noFill/>
          <a:ln/>
        </p:spPr>
        <p:txBody>
          <a:bodyPr wrap="square" lIns="0" tIns="0" rIns="0" bIns="0" rtlCol="0" anchor="t"/>
          <a:lstStyle/>
          <a:p>
            <a:pPr indent="0" marL="0">
              <a:spcAft>
                <a:spcPts val="200"/>
              </a:spcAft>
              <a:buNone/>
            </a:pPr>
            <a:r>
              <a:rPr lang="en-US" sz="1200" b="1" dirty="0">
                <a:solidFill>
                  <a:srgbClr val="1B1B2F"/>
                </a:solidFill>
                <a:latin typeface="Calibri" pitchFamily="34" charset="0"/>
                <a:ea typeface="Calibri" pitchFamily="34" charset="-122"/>
                <a:cs typeface="Calibri" pitchFamily="34" charset="-120"/>
              </a:rPr>
              <a:t>顧客データを自社で直接保有できる</a:t>
            </a:r>
            <a:endParaRPr lang="en-US" sz="1200" dirty="0"/>
          </a:p>
          <a:p>
            <a:pPr indent="0" marL="0">
              <a:buNone/>
            </a:pPr>
            <a:r>
              <a:rPr lang="en-US" sz="1000" dirty="0">
                <a:solidFill>
                  <a:srgbClr val="5A6B8C"/>
                </a:solidFill>
                <a:latin typeface="Calibri" pitchFamily="34" charset="0"/>
                <a:ea typeface="Calibri" pitchFamily="34" charset="-122"/>
                <a:cs typeface="Calibri" pitchFamily="34" charset="-120"/>
              </a:rPr>
              <a:t>共通ポイントは購買データが事業者側にも渡るが、独自なら顧客データ・ID-POSを自社で独占できる</a:t>
            </a:r>
            <a:endParaRPr lang="en-US" sz="1200" dirty="0"/>
          </a:p>
        </p:txBody>
      </p:sp>
      <p:sp>
        <p:nvSpPr>
          <p:cNvPr id="7" name="Shape 5"/>
          <p:cNvSpPr/>
          <p:nvPr/>
        </p:nvSpPr>
        <p:spPr>
          <a:xfrm>
            <a:off x="457200" y="2660904"/>
            <a:ext cx="274320" cy="274320"/>
          </a:xfrm>
          <a:prstGeom prst="ellipse">
            <a:avLst/>
          </a:prstGeom>
          <a:solidFill>
            <a:srgbClr val="334A8C"/>
          </a:solidFill>
          <a:ln/>
        </p:spPr>
      </p:sp>
      <p:sp>
        <p:nvSpPr>
          <p:cNvPr id="8" name="Text 6"/>
          <p:cNvSpPr/>
          <p:nvPr/>
        </p:nvSpPr>
        <p:spPr>
          <a:xfrm>
            <a:off x="457200" y="26609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868680" y="2578608"/>
            <a:ext cx="5074920" cy="1051560"/>
          </a:xfrm>
          <a:prstGeom prst="rect">
            <a:avLst/>
          </a:prstGeom>
          <a:noFill/>
          <a:ln/>
        </p:spPr>
        <p:txBody>
          <a:bodyPr wrap="square" lIns="0" tIns="0" rIns="0" bIns="0" rtlCol="0" anchor="t"/>
          <a:lstStyle/>
          <a:p>
            <a:pPr indent="0" marL="0">
              <a:spcAft>
                <a:spcPts val="200"/>
              </a:spcAft>
              <a:buNone/>
            </a:pPr>
            <a:r>
              <a:rPr lang="en-US" sz="1200" b="1" dirty="0">
                <a:solidFill>
                  <a:srgbClr val="1B1B2F"/>
                </a:solidFill>
                <a:latin typeface="Calibri" pitchFamily="34" charset="0"/>
                <a:ea typeface="Calibri" pitchFamily="34" charset="-122"/>
                <a:cs typeface="Calibri" pitchFamily="34" charset="-120"/>
              </a:rPr>
              <a:t>仲介手数料が発生しない/低い</a:t>
            </a:r>
            <a:endParaRPr lang="en-US" sz="1200" dirty="0"/>
          </a:p>
          <a:p>
            <a:pPr indent="0" marL="0">
              <a:buNone/>
            </a:pPr>
            <a:r>
              <a:rPr lang="en-US" sz="1000" dirty="0">
                <a:solidFill>
                  <a:srgbClr val="5A6B8C"/>
                </a:solidFill>
                <a:latin typeface="Calibri" pitchFamily="34" charset="0"/>
                <a:ea typeface="Calibri" pitchFamily="34" charset="-122"/>
                <a:cs typeface="Calibri" pitchFamily="34" charset="-120"/>
              </a:rPr>
              <a:t>共通ポイントは原資+手数料を事業者に払うが、独自ポイントはシステム運用費のみで済む</a:t>
            </a:r>
            <a:endParaRPr lang="en-US" sz="1200" dirty="0"/>
          </a:p>
        </p:txBody>
      </p:sp>
      <p:sp>
        <p:nvSpPr>
          <p:cNvPr id="10" name="Shape 8"/>
          <p:cNvSpPr/>
          <p:nvPr/>
        </p:nvSpPr>
        <p:spPr>
          <a:xfrm>
            <a:off x="457200" y="3831336"/>
            <a:ext cx="274320" cy="274320"/>
          </a:xfrm>
          <a:prstGeom prst="ellipse">
            <a:avLst/>
          </a:prstGeom>
          <a:solidFill>
            <a:srgbClr val="334A8C"/>
          </a:solidFill>
          <a:ln/>
        </p:spPr>
      </p:sp>
      <p:sp>
        <p:nvSpPr>
          <p:cNvPr id="11" name="Text 9"/>
          <p:cNvSpPr/>
          <p:nvPr/>
        </p:nvSpPr>
        <p:spPr>
          <a:xfrm>
            <a:off x="457200" y="38313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868680" y="3749040"/>
            <a:ext cx="5074920" cy="1051560"/>
          </a:xfrm>
          <a:prstGeom prst="rect">
            <a:avLst/>
          </a:prstGeom>
          <a:noFill/>
          <a:ln/>
        </p:spPr>
        <p:txBody>
          <a:bodyPr wrap="square" lIns="0" tIns="0" rIns="0" bIns="0" rtlCol="0" anchor="t"/>
          <a:lstStyle/>
          <a:p>
            <a:pPr indent="0" marL="0">
              <a:spcAft>
                <a:spcPts val="200"/>
              </a:spcAft>
              <a:buNone/>
            </a:pPr>
            <a:r>
              <a:rPr lang="en-US" sz="1200" b="1" dirty="0">
                <a:solidFill>
                  <a:srgbClr val="1B1B2F"/>
                </a:solidFill>
                <a:latin typeface="Calibri" pitchFamily="34" charset="0"/>
                <a:ea typeface="Calibri" pitchFamily="34" charset="-122"/>
                <a:cs typeface="Calibri" pitchFamily="34" charset="-120"/>
              </a:rPr>
              <a:t>還元率・キャンペーンの自由度が高い</a:t>
            </a:r>
            <a:endParaRPr lang="en-US" sz="1200" dirty="0"/>
          </a:p>
          <a:p>
            <a:pPr indent="0" marL="0">
              <a:buNone/>
            </a:pPr>
            <a:r>
              <a:rPr lang="en-US" sz="1000" dirty="0">
                <a:solidFill>
                  <a:srgbClr val="5A6B8C"/>
                </a:solidFill>
                <a:latin typeface="Calibri" pitchFamily="34" charset="0"/>
                <a:ea typeface="Calibri" pitchFamily="34" charset="-122"/>
                <a:cs typeface="Calibri" pitchFamily="34" charset="-120"/>
              </a:rPr>
              <a:t>自社の粗利構造に合わせて還元率や特売キャンペーンを柔軟に設計できる</a:t>
            </a:r>
            <a:endParaRPr lang="en-US" sz="1200" dirty="0"/>
          </a:p>
        </p:txBody>
      </p:sp>
      <p:sp>
        <p:nvSpPr>
          <p:cNvPr id="13" name="Shape 11"/>
          <p:cNvSpPr/>
          <p:nvPr/>
        </p:nvSpPr>
        <p:spPr>
          <a:xfrm>
            <a:off x="457200" y="5001768"/>
            <a:ext cx="274320" cy="274320"/>
          </a:xfrm>
          <a:prstGeom prst="ellipse">
            <a:avLst/>
          </a:prstGeom>
          <a:solidFill>
            <a:srgbClr val="334A8C"/>
          </a:solidFill>
          <a:ln/>
        </p:spPr>
      </p:sp>
      <p:sp>
        <p:nvSpPr>
          <p:cNvPr id="14" name="Text 12"/>
          <p:cNvSpPr/>
          <p:nvPr/>
        </p:nvSpPr>
        <p:spPr>
          <a:xfrm>
            <a:off x="457200" y="50017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868680" y="4919472"/>
            <a:ext cx="5074920" cy="1051560"/>
          </a:xfrm>
          <a:prstGeom prst="rect">
            <a:avLst/>
          </a:prstGeom>
          <a:noFill/>
          <a:ln/>
        </p:spPr>
        <p:txBody>
          <a:bodyPr wrap="square" lIns="0" tIns="0" rIns="0" bIns="0" rtlCol="0" anchor="t"/>
          <a:lstStyle/>
          <a:p>
            <a:pPr indent="0" marL="0">
              <a:spcAft>
                <a:spcPts val="200"/>
              </a:spcAft>
              <a:buNone/>
            </a:pPr>
            <a:r>
              <a:rPr lang="en-US" sz="1200" b="1" dirty="0">
                <a:solidFill>
                  <a:srgbClr val="1B1B2F"/>
                </a:solidFill>
                <a:latin typeface="Calibri" pitchFamily="34" charset="0"/>
                <a:ea typeface="Calibri" pitchFamily="34" charset="-122"/>
                <a:cs typeface="Calibri" pitchFamily="34" charset="-120"/>
              </a:rPr>
              <a:t>顧客ロイヤルティを自社に閉じ込められる</a:t>
            </a:r>
            <a:endParaRPr lang="en-US" sz="1200" dirty="0"/>
          </a:p>
          <a:p>
            <a:pPr indent="0" marL="0">
              <a:buNone/>
            </a:pPr>
            <a:r>
              <a:rPr lang="en-US" sz="1000" dirty="0">
                <a:solidFill>
                  <a:srgbClr val="5A6B8C"/>
                </a:solidFill>
                <a:latin typeface="Calibri" pitchFamily="34" charset="0"/>
                <a:ea typeface="Calibri" pitchFamily="34" charset="-122"/>
                <a:cs typeface="Calibri" pitchFamily="34" charset="-120"/>
              </a:rPr>
              <a:t>共通ポイントは顧客の「お得」意識が経済圏側に分散し、店舗への帰属意識が薄まりやすい</a:t>
            </a:r>
            <a:endParaRPr lang="en-US" sz="1200" dirty="0"/>
          </a:p>
        </p:txBody>
      </p:sp>
      <p:sp>
        <p:nvSpPr>
          <p:cNvPr id="16" name="Text 14"/>
          <p:cNvSpPr/>
          <p:nvPr/>
        </p:nvSpPr>
        <p:spPr>
          <a:xfrm>
            <a:off x="6217920" y="105156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併用時のコスト負担構造</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1463040"/>
          <a:ext cx="5486400" cy="914400"/>
        </p:xfrm>
        <a:graphic>
          <a:graphicData uri="http://schemas.openxmlformats.org/drawingml/2006/table">
            <a:tbl>
              <a:tblPr/>
              <a:tblGrid>
                <a:gridCol w="1371600"/>
                <a:gridCol w="1371600"/>
                <a:gridCol w="27432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種別</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負担者</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コスト構造</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1B1B2F"/>
                          </a:solidFill>
                          <a:latin typeface="Calibri" pitchFamily="34" charset="0"/>
                          <a:ea typeface="Calibri" pitchFamily="34" charset="-122"/>
                          <a:cs typeface="Calibri" pitchFamily="34" charset="-120"/>
                        </a:rPr>
                        <a:t>独自ポイント</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indent="0" marL="0">
                        <a:buNone/>
                      </a:pPr>
                      <a:r>
                        <a:rPr lang="en-US" sz="1000" dirty="0">
                          <a:solidFill>
                            <a:srgbClr val="1B1B2F"/>
                          </a:solidFill>
                          <a:latin typeface="Calibri" pitchFamily="34" charset="0"/>
                          <a:ea typeface="Calibri" pitchFamily="34" charset="-122"/>
                          <a:cs typeface="Calibri" pitchFamily="34" charset="-120"/>
                        </a:rPr>
                        <a:t>小売店</a:t>
                      </a:r>
                      <a:endParaRPr lang="en-US" sz="1000" dirty="0">
                        <a:latin typeface="Calibri" charset="0"/>
                        <a:ea typeface="Calibri" charset="0"/>
                        <a:cs typeface="Calibri" charset="0"/>
                      </a:endParaRPr>
                    </a:p>
                    <a:p>
                      <a:pPr indent="0" marL="0">
                        <a:buNone/>
                      </a:pPr>
                      <a:r>
                        <a:rPr lang="en-US" sz="1000" dirty="0">
                          <a:solidFill>
                            <a:srgbClr val="1B1B2F"/>
                          </a:solidFill>
                          <a:latin typeface="Calibri" pitchFamily="34" charset="0"/>
                          <a:ea typeface="Calibri" pitchFamily="34" charset="-122"/>
                          <a:cs typeface="Calibri" pitchFamily="34" charset="-120"/>
                        </a:rPr>
                        <a:t>(100%自己負担)</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indent="0" marL="0">
                        <a:buNone/>
                      </a:pPr>
                      <a:r>
                        <a:rPr lang="en-US" sz="1000" dirty="0">
                          <a:solidFill>
                            <a:srgbClr val="1B1B2F"/>
                          </a:solidFill>
                          <a:latin typeface="Calibri" pitchFamily="34" charset="0"/>
                          <a:ea typeface="Calibri" pitchFamily="34" charset="-122"/>
                          <a:cs typeface="Calibri" pitchFamily="34" charset="-120"/>
                        </a:rPr>
                        <a:t>システム運用費のみ。仲介手数料なし</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B1B2F"/>
                          </a:solidFill>
                          <a:latin typeface="Calibri" pitchFamily="34" charset="0"/>
                          <a:ea typeface="Calibri" pitchFamily="34" charset="-122"/>
                          <a:cs typeface="Calibri" pitchFamily="34" charset="-120"/>
                        </a:rPr>
                        <a:t>共通ポイント</a:t>
                      </a:r>
                      <a:endParaRPr lang="en-US" sz="1000" dirty="0">
                        <a:latin typeface="Calibri" charset="0"/>
                        <a:ea typeface="Calibri" charset="0"/>
                        <a:cs typeface="Calibri" charset="0"/>
                      </a:endParaRPr>
                    </a:p>
                    <a:p>
                      <a:pPr indent="0" marL="0">
                        <a:buNone/>
                      </a:pPr>
                      <a:r>
                        <a:rPr lang="en-US" sz="1000" b="1" dirty="0">
                          <a:solidFill>
                            <a:srgbClr val="1B1B2F"/>
                          </a:solidFill>
                          <a:latin typeface="Calibri" pitchFamily="34" charset="0"/>
                          <a:ea typeface="Calibri" pitchFamily="34" charset="-122"/>
                          <a:cs typeface="Calibri" pitchFamily="34" charset="-120"/>
                        </a:rPr>
                        <a:t>(dポイント等)</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indent="0" marL="0">
                        <a:buNone/>
                      </a:pPr>
                      <a:r>
                        <a:rPr lang="en-US" sz="1000" dirty="0">
                          <a:solidFill>
                            <a:srgbClr val="1B1B2F"/>
                          </a:solidFill>
                          <a:latin typeface="Calibri" pitchFamily="34" charset="0"/>
                          <a:ea typeface="Calibri" pitchFamily="34" charset="-122"/>
                          <a:cs typeface="Calibri" pitchFamily="34" charset="-120"/>
                        </a:rPr>
                        <a:t>小売店(加盟店)</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indent="0" marL="0">
                        <a:buNone/>
                      </a:pPr>
                      <a:r>
                        <a:rPr lang="en-US" sz="1000" dirty="0">
                          <a:solidFill>
                            <a:srgbClr val="1B1B2F"/>
                          </a:solidFill>
                          <a:latin typeface="Calibri" pitchFamily="34" charset="0"/>
                          <a:ea typeface="Calibri" pitchFamily="34" charset="-122"/>
                          <a:cs typeface="Calibri" pitchFamily="34" charset="-120"/>
                        </a:rPr>
                        <a:t>ポイント原資＋事業者への手数料の二重負担</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r>
            </a:tbl>
          </a:graphicData>
        </a:graphic>
      </p:graphicFrame>
      <p:sp>
        <p:nvSpPr>
          <p:cNvPr id="18" name="Shape 15"/>
          <p:cNvSpPr/>
          <p:nvPr/>
        </p:nvSpPr>
        <p:spPr>
          <a:xfrm>
            <a:off x="6217920" y="3063240"/>
            <a:ext cx="5486400" cy="3108960"/>
          </a:xfrm>
          <a:prstGeom prst="roundRect">
            <a:avLst>
              <a:gd name="adj" fmla="val 1765"/>
            </a:avLst>
          </a:prstGeom>
          <a:solidFill>
            <a:srgbClr val="FFFFFF"/>
          </a:solidFill>
          <a:ln w="9525">
            <a:solidFill>
              <a:srgbClr val="D7DEEE"/>
            </a:solidFill>
            <a:prstDash val="solid"/>
          </a:ln>
        </p:spPr>
      </p:sp>
      <p:sp>
        <p:nvSpPr>
          <p:cNvPr id="19" name="Text 16"/>
          <p:cNvSpPr/>
          <p:nvPr/>
        </p:nvSpPr>
        <p:spPr>
          <a:xfrm>
            <a:off x="6446520" y="3246120"/>
            <a:ext cx="5029200" cy="2834640"/>
          </a:xfrm>
          <a:prstGeom prst="rect">
            <a:avLst/>
          </a:prstGeom>
          <a:noFill/>
          <a:ln/>
        </p:spPr>
        <p:txBody>
          <a:bodyPr wrap="square" lIns="0" tIns="0" rIns="0" bIns="0" rtlCol="0" anchor="t"/>
          <a:lstStyle/>
          <a:p>
            <a:pPr indent="0" marL="0">
              <a:spcAft>
                <a:spcPts val="800"/>
              </a:spcAft>
              <a:buNone/>
            </a:pPr>
            <a:r>
              <a:rPr lang="en-US" sz="1150" b="1" dirty="0">
                <a:solidFill>
                  <a:srgbClr val="1E2761"/>
                </a:solidFill>
                <a:latin typeface="Calibri" pitchFamily="34" charset="0"/>
                <a:ea typeface="Calibri" pitchFamily="34" charset="-122"/>
                <a:cs typeface="Calibri" pitchFamily="34" charset="-120"/>
              </a:rPr>
              <a:t>手数料水準の参考値</a:t>
            </a:r>
            <a:endParaRPr lang="en-US" sz="1150" dirty="0"/>
          </a:p>
          <a:p>
            <a:pPr marL="342900" indent="-342900">
              <a:spcAft>
                <a:spcPts val="600"/>
              </a:spcAft>
              <a:buSzPct val="100000"/>
              <a:buChar char="•"/>
            </a:pPr>
            <a:r>
              <a:rPr lang="en-US" sz="1050" dirty="0">
                <a:solidFill>
                  <a:srgbClr val="1B1B2F"/>
                </a:solidFill>
                <a:latin typeface="Calibri" pitchFamily="34" charset="0"/>
                <a:ea typeface="Calibri" pitchFamily="34" charset="-122"/>
                <a:cs typeface="Calibri" pitchFamily="34" charset="-120"/>
              </a:rPr>
              <a:t>Tポイント(旧): 月額固定7,500円＋関与売上の3%(規模により軽減あり) [20]</a:t>
            </a:r>
            <a:endParaRPr lang="en-US" sz="1150" dirty="0"/>
          </a:p>
          <a:p>
            <a:pPr marL="342900" indent="-342900">
              <a:spcAft>
                <a:spcPts val="600"/>
              </a:spcAft>
              <a:buSzPct val="100000"/>
              <a:buChar char="•"/>
            </a:pPr>
            <a:r>
              <a:rPr lang="en-US" sz="1050" dirty="0">
                <a:solidFill>
                  <a:srgbClr val="1B1B2F"/>
                </a:solidFill>
                <a:latin typeface="Calibri" pitchFamily="34" charset="0"/>
                <a:ea typeface="Calibri" pitchFamily="34" charset="-122"/>
                <a:cs typeface="Calibri" pitchFamily="34" charset="-120"/>
              </a:rPr>
              <a:t>d払いの決済手数料: 2.6% [21]</a:t>
            </a:r>
            <a:endParaRPr lang="en-US" sz="1150" dirty="0"/>
          </a:p>
          <a:p>
            <a:pPr marL="342900" indent="-342900">
              <a:spcAft>
                <a:spcPts val="1000"/>
              </a:spcAft>
              <a:buSzPct val="100000"/>
              <a:buChar char="•"/>
            </a:pPr>
            <a:r>
              <a:rPr lang="en-US" sz="1050" dirty="0">
                <a:solidFill>
                  <a:srgbClr val="1B1B2F"/>
                </a:solidFill>
                <a:latin typeface="Calibri" pitchFamily="34" charset="0"/>
                <a:ea typeface="Calibri" pitchFamily="34" charset="-122"/>
                <a:cs typeface="Calibri" pitchFamily="34" charset="-120"/>
              </a:rPr>
              <a:t>EC系(Yahoo!ショッピング/楽天市場): 加盟店負担 約1%〜 [21]</a:t>
            </a:r>
            <a:endParaRPr lang="en-US" sz="1150" dirty="0"/>
          </a:p>
          <a:p>
            <a:pPr indent="0" marL="0">
              <a:buNone/>
            </a:pPr>
            <a:r>
              <a:rPr lang="en-US" sz="1000" i="1" dirty="0">
                <a:solidFill>
                  <a:srgbClr val="5A6B8C"/>
                </a:solidFill>
                <a:latin typeface="Calibri" pitchFamily="34" charset="0"/>
                <a:ea typeface="Calibri" pitchFamily="34" charset="-122"/>
                <a:cs typeface="Calibri" pitchFamily="34" charset="-120"/>
              </a:rPr>
              <a:t>※dポイント運営元(ドコモ)自身は原資を負担せず、加盟店からの手数料が収益源となる</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なぜ独自ポイントと共通ポイントが二重に付くのか</a:t>
            </a:r>
            <a:endParaRPr lang="en-US" sz="23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250" i="1" dirty="0">
                <a:solidFill>
                  <a:srgbClr val="5A6B8C"/>
                </a:solidFill>
                <a:latin typeface="Calibri" pitchFamily="34" charset="0"/>
                <a:ea typeface="Calibri" pitchFamily="34" charset="-122"/>
                <a:cs typeface="Calibri" pitchFamily="34" charset="-120"/>
              </a:rPr>
              <a:t>店舗は追加コストを払ってでも「新規獲得×リピート化」の両取りを狙っている</a:t>
            </a:r>
            <a:endParaRPr lang="en-US" sz="1250" dirty="0"/>
          </a:p>
        </p:txBody>
      </p:sp>
      <p:sp>
        <p:nvSpPr>
          <p:cNvPr id="4" name="Shape 2"/>
          <p:cNvSpPr/>
          <p:nvPr/>
        </p:nvSpPr>
        <p:spPr>
          <a:xfrm>
            <a:off x="457200" y="1371600"/>
            <a:ext cx="2834640" cy="4480560"/>
          </a:xfrm>
          <a:prstGeom prst="roundRect">
            <a:avLst>
              <a:gd name="adj" fmla="val 1935"/>
            </a:avLst>
          </a:prstGeom>
          <a:solidFill>
            <a:srgbClr val="1E2761"/>
          </a:solidFill>
          <a:ln w="9525">
            <a:solidFill>
              <a:srgbClr val="1E2761"/>
            </a:solidFill>
            <a:prstDash val="solid"/>
          </a:ln>
        </p:spPr>
      </p:sp>
      <p:sp>
        <p:nvSpPr>
          <p:cNvPr id="5" name="Text 3"/>
          <p:cNvSpPr/>
          <p:nvPr/>
        </p:nvSpPr>
        <p:spPr>
          <a:xfrm>
            <a:off x="640080" y="1737360"/>
            <a:ext cx="246888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3.6倍</a:t>
            </a:r>
            <a:endParaRPr lang="en-US" sz="4800" dirty="0"/>
          </a:p>
        </p:txBody>
      </p:sp>
      <p:sp>
        <p:nvSpPr>
          <p:cNvPr id="6" name="Text 4"/>
          <p:cNvSpPr/>
          <p:nvPr/>
        </p:nvSpPr>
        <p:spPr>
          <a:xfrm>
            <a:off x="640080" y="2697480"/>
            <a:ext cx="2468880" cy="731520"/>
          </a:xfrm>
          <a:prstGeom prst="rect">
            <a:avLst/>
          </a:prstGeom>
          <a:noFill/>
          <a:ln/>
        </p:spPr>
        <p:txBody>
          <a:bodyPr wrap="square" lIns="0" tIns="0" rIns="0" bIns="0" rtlCol="0" anchor="t"/>
          <a:lstStyle/>
          <a:p>
            <a:pPr algn="l" indent="0" marL="0">
              <a:buNone/>
            </a:pPr>
            <a:r>
              <a:rPr lang="en-US" sz="1200" dirty="0">
                <a:solidFill>
                  <a:srgbClr val="CADCFC"/>
                </a:solidFill>
                <a:latin typeface="Calibri" pitchFamily="34" charset="0"/>
                <a:ea typeface="Calibri" pitchFamily="34" charset="-122"/>
                <a:cs typeface="Calibri" pitchFamily="34" charset="-120"/>
              </a:rPr>
              <a:t>ポイント還元の販促効果</a:t>
            </a:r>
            <a:endParaRPr lang="en-US" sz="1200" dirty="0"/>
          </a:p>
          <a:p>
            <a:pPr algn="l" indent="0" marL="0">
              <a:buNone/>
            </a:pPr>
            <a:r>
              <a:rPr lang="en-US" sz="1200" dirty="0">
                <a:solidFill>
                  <a:srgbClr val="CADCFC"/>
                </a:solidFill>
                <a:latin typeface="Calibri" pitchFamily="34" charset="0"/>
                <a:ea typeface="Calibri" pitchFamily="34" charset="-122"/>
                <a:cs typeface="Calibri" pitchFamily="34" charset="-120"/>
              </a:rPr>
              <a:t>(vs 現金値引き)</a:t>
            </a:r>
            <a:endParaRPr lang="en-US" sz="1200" dirty="0"/>
          </a:p>
        </p:txBody>
      </p:sp>
      <p:sp>
        <p:nvSpPr>
          <p:cNvPr id="7" name="Text 5"/>
          <p:cNvSpPr/>
          <p:nvPr/>
        </p:nvSpPr>
        <p:spPr>
          <a:xfrm>
            <a:off x="640080" y="3566160"/>
            <a:ext cx="2468880" cy="2011680"/>
          </a:xfrm>
          <a:prstGeom prst="rect">
            <a:avLst/>
          </a:prstGeom>
          <a:noFill/>
          <a:ln/>
        </p:spPr>
        <p:txBody>
          <a:bodyPr wrap="square" lIns="0" tIns="0" rIns="0" bIns="0" rtlCol="0" anchor="t"/>
          <a:lstStyle/>
          <a:p>
            <a:pPr algn="l" indent="0" marL="0">
              <a:buNone/>
            </a:pPr>
            <a:r>
              <a:rPr lang="en-US" sz="1000" dirty="0">
                <a:solidFill>
                  <a:srgbClr val="C7D3EE"/>
                </a:solidFill>
                <a:latin typeface="Calibri" pitchFamily="34" charset="0"/>
                <a:ea typeface="Calibri" pitchFamily="34" charset="-122"/>
                <a:cs typeface="Calibri" pitchFamily="34" charset="-120"/>
              </a:rPr>
              <a:t>行動経済学的には、ポイントは「今回の支払いと分離された利得」として認識され、現金値引きより心理的満足度が高い(プロスペクト理論)。保有効果によりポイントを失いたくない心理がリピート来店を促す</a:t>
            </a:r>
            <a:endParaRPr lang="en-US" sz="1000" dirty="0"/>
          </a:p>
        </p:txBody>
      </p:sp>
      <p:sp>
        <p:nvSpPr>
          <p:cNvPr id="8" name="Text 6"/>
          <p:cNvSpPr/>
          <p:nvPr/>
        </p:nvSpPr>
        <p:spPr>
          <a:xfrm>
            <a:off x="640080" y="5577840"/>
            <a:ext cx="2468880" cy="228600"/>
          </a:xfrm>
          <a:prstGeom prst="rect">
            <a:avLst/>
          </a:prstGeom>
          <a:noFill/>
          <a:ln/>
        </p:spPr>
        <p:txBody>
          <a:bodyPr wrap="square" lIns="0" tIns="0" rIns="0" bIns="0" rtlCol="0" anchor="ctr"/>
          <a:lstStyle/>
          <a:p>
            <a:pPr algn="l" indent="0" marL="0">
              <a:buNone/>
            </a:pPr>
            <a:r>
              <a:rPr lang="en-US" sz="900" dirty="0">
                <a:solidFill>
                  <a:srgbClr val="8FA3D9"/>
                </a:solidFill>
                <a:latin typeface="Calibri" pitchFamily="34" charset="0"/>
                <a:ea typeface="Calibri" pitchFamily="34" charset="-122"/>
                <a:cs typeface="Calibri" pitchFamily="34" charset="-120"/>
              </a:rPr>
              <a:t>[23][24]</a:t>
            </a:r>
            <a:endParaRPr lang="en-US" sz="900" dirty="0"/>
          </a:p>
        </p:txBody>
      </p:sp>
      <p:sp>
        <p:nvSpPr>
          <p:cNvPr id="9" name="Shape 7"/>
          <p:cNvSpPr/>
          <p:nvPr/>
        </p:nvSpPr>
        <p:spPr>
          <a:xfrm>
            <a:off x="3566160" y="1444752"/>
            <a:ext cx="310896" cy="310896"/>
          </a:xfrm>
          <a:prstGeom prst="ellipse">
            <a:avLst/>
          </a:prstGeom>
          <a:solidFill>
            <a:srgbClr val="334A8C"/>
          </a:solidFill>
          <a:ln/>
        </p:spPr>
      </p:sp>
      <p:sp>
        <p:nvSpPr>
          <p:cNvPr id="10" name="Text 8"/>
          <p:cNvSpPr/>
          <p:nvPr/>
        </p:nvSpPr>
        <p:spPr>
          <a:xfrm>
            <a:off x="3566160" y="14447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4069080" y="1362456"/>
            <a:ext cx="7635240" cy="1234440"/>
          </a:xfrm>
          <a:prstGeom prst="rect">
            <a:avLst/>
          </a:prstGeom>
          <a:noFill/>
          <a:ln/>
        </p:spPr>
        <p:txBody>
          <a:bodyPr wrap="square" lIns="0" tIns="0" rIns="0" bIns="0" rtlCol="0" anchor="t"/>
          <a:lstStyle/>
          <a:p>
            <a:pPr indent="0" marL="0">
              <a:spcAft>
                <a:spcPts val="300"/>
              </a:spcAft>
              <a:buNone/>
            </a:pPr>
            <a:r>
              <a:rPr lang="en-US" sz="1400" b="1" dirty="0">
                <a:solidFill>
                  <a:srgbClr val="1E2761"/>
                </a:solidFill>
                <a:latin typeface="Calibri" pitchFamily="34" charset="0"/>
                <a:ea typeface="Calibri" pitchFamily="34" charset="-122"/>
                <a:cs typeface="Calibri" pitchFamily="34" charset="-120"/>
              </a:rPr>
              <a:t>訴求力の掛け算</a:t>
            </a:r>
            <a:endParaRPr lang="en-US" sz="1400" dirty="0"/>
          </a:p>
          <a:p>
            <a:pPr indent="0" marL="0">
              <a:buNone/>
            </a:pPr>
            <a:r>
              <a:rPr lang="en-US" sz="1150" dirty="0">
                <a:solidFill>
                  <a:srgbClr val="1B1B2F"/>
                </a:solidFill>
                <a:latin typeface="Calibri" pitchFamily="34" charset="0"/>
                <a:ea typeface="Calibri" pitchFamily="34" charset="-122"/>
                <a:cs typeface="Calibri" pitchFamily="34" charset="-120"/>
              </a:rPr>
              <a:t>販促効果は現金値引きの3.6倍。複数ポイントが同時に付くとレイヤーごとに効果が積み上がる</a:t>
            </a:r>
            <a:endParaRPr lang="en-US" sz="1400" dirty="0"/>
          </a:p>
        </p:txBody>
      </p:sp>
      <p:sp>
        <p:nvSpPr>
          <p:cNvPr id="12" name="Shape 10"/>
          <p:cNvSpPr/>
          <p:nvPr/>
        </p:nvSpPr>
        <p:spPr>
          <a:xfrm>
            <a:off x="3566160" y="2816352"/>
            <a:ext cx="310896" cy="310896"/>
          </a:xfrm>
          <a:prstGeom prst="ellipse">
            <a:avLst/>
          </a:prstGeom>
          <a:solidFill>
            <a:srgbClr val="334A8C"/>
          </a:solidFill>
          <a:ln/>
        </p:spPr>
      </p:sp>
      <p:sp>
        <p:nvSpPr>
          <p:cNvPr id="13" name="Text 11"/>
          <p:cNvSpPr/>
          <p:nvPr/>
        </p:nvSpPr>
        <p:spPr>
          <a:xfrm>
            <a:off x="3566160" y="28163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069080" y="2734056"/>
            <a:ext cx="7635240" cy="1234440"/>
          </a:xfrm>
          <a:prstGeom prst="rect">
            <a:avLst/>
          </a:prstGeom>
          <a:noFill/>
          <a:ln/>
        </p:spPr>
        <p:txBody>
          <a:bodyPr wrap="square" lIns="0" tIns="0" rIns="0" bIns="0" rtlCol="0" anchor="t"/>
          <a:lstStyle/>
          <a:p>
            <a:pPr indent="0" marL="0">
              <a:spcAft>
                <a:spcPts val="300"/>
              </a:spcAft>
              <a:buNone/>
            </a:pPr>
            <a:r>
              <a:rPr lang="en-US" sz="1400" b="1" dirty="0">
                <a:solidFill>
                  <a:srgbClr val="1E2761"/>
                </a:solidFill>
                <a:latin typeface="Calibri" pitchFamily="34" charset="0"/>
                <a:ea typeface="Calibri" pitchFamily="34" charset="-122"/>
                <a:cs typeface="Calibri" pitchFamily="34" charset="-120"/>
              </a:rPr>
              <a:t>役割分担(補完関係)</a:t>
            </a:r>
            <a:endParaRPr lang="en-US" sz="1400" dirty="0"/>
          </a:p>
          <a:p>
            <a:pPr indent="0" marL="0">
              <a:buNone/>
            </a:pPr>
            <a:r>
              <a:rPr lang="en-US" sz="1150" dirty="0">
                <a:solidFill>
                  <a:srgbClr val="1B1B2F"/>
                </a:solidFill>
                <a:latin typeface="Calibri" pitchFamily="34" charset="0"/>
                <a:ea typeface="Calibri" pitchFamily="34" charset="-122"/>
                <a:cs typeface="Calibri" pitchFamily="34" charset="-120"/>
              </a:rPr>
              <a:t>独自ポイント=既存顧客の囲い込み・リピート促進、共通ポイント=新規顧客の呼び込み・認知拡大。両方で「新規獲得→リピーター化」の顧客ライフサイクル全体をカバーできる</a:t>
            </a:r>
            <a:endParaRPr lang="en-US" sz="1400" dirty="0"/>
          </a:p>
        </p:txBody>
      </p:sp>
      <p:sp>
        <p:nvSpPr>
          <p:cNvPr id="15" name="Shape 13"/>
          <p:cNvSpPr/>
          <p:nvPr/>
        </p:nvSpPr>
        <p:spPr>
          <a:xfrm>
            <a:off x="3566160" y="4187952"/>
            <a:ext cx="310896" cy="310896"/>
          </a:xfrm>
          <a:prstGeom prst="ellipse">
            <a:avLst/>
          </a:prstGeom>
          <a:solidFill>
            <a:srgbClr val="334A8C"/>
          </a:solidFill>
          <a:ln/>
        </p:spPr>
      </p:sp>
      <p:sp>
        <p:nvSpPr>
          <p:cNvPr id="16" name="Text 14"/>
          <p:cNvSpPr/>
          <p:nvPr/>
        </p:nvSpPr>
        <p:spPr>
          <a:xfrm>
            <a:off x="3566160" y="4187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4069080" y="4105656"/>
            <a:ext cx="7635240" cy="1234440"/>
          </a:xfrm>
          <a:prstGeom prst="rect">
            <a:avLst/>
          </a:prstGeom>
          <a:noFill/>
          <a:ln/>
        </p:spPr>
        <p:txBody>
          <a:bodyPr wrap="square" lIns="0" tIns="0" rIns="0" bIns="0" rtlCol="0" anchor="t"/>
          <a:lstStyle/>
          <a:p>
            <a:pPr indent="0" marL="0">
              <a:spcAft>
                <a:spcPts val="300"/>
              </a:spcAft>
              <a:buNone/>
            </a:pPr>
            <a:r>
              <a:rPr lang="en-US" sz="1400" b="1" dirty="0">
                <a:solidFill>
                  <a:srgbClr val="1E2761"/>
                </a:solidFill>
                <a:latin typeface="Calibri" pitchFamily="34" charset="0"/>
                <a:ea typeface="Calibri" pitchFamily="34" charset="-122"/>
                <a:cs typeface="Calibri" pitchFamily="34" charset="-120"/>
              </a:rPr>
              <a:t>コストに見合うと判断される業態のみ導入</a:t>
            </a:r>
            <a:endParaRPr lang="en-US" sz="1400" dirty="0"/>
          </a:p>
          <a:p>
            <a:pPr indent="0" marL="0">
              <a:buNone/>
            </a:pPr>
            <a:r>
              <a:rPr lang="en-US" sz="1150" dirty="0">
                <a:solidFill>
                  <a:srgbClr val="1B1B2F"/>
                </a:solidFill>
                <a:latin typeface="Calibri" pitchFamily="34" charset="0"/>
                <a:ea typeface="Calibri" pitchFamily="34" charset="-122"/>
                <a:cs typeface="Calibri" pitchFamily="34" charset="-120"/>
              </a:rPr>
              <a:t>二重付与は加盟店コストが増加する(原資二重負担+レジオペレーションの複雑化)。それでも導入する店舗は、追加コストを上回る集客・客単価向上効果を見込んでいる [22]</a:t>
            </a:r>
            <a:endParaRPr lang="en-US" sz="1400" dirty="0"/>
          </a:p>
        </p:txBody>
      </p:sp>
      <p:sp>
        <p:nvSpPr>
          <p:cNvPr id="18" name="Shape 16"/>
          <p:cNvSpPr/>
          <p:nvPr/>
        </p:nvSpPr>
        <p:spPr>
          <a:xfrm>
            <a:off x="3566160" y="5486400"/>
            <a:ext cx="8138160" cy="777240"/>
          </a:xfrm>
          <a:prstGeom prst="roundRect">
            <a:avLst>
              <a:gd name="adj" fmla="val 7059"/>
            </a:avLst>
          </a:prstGeom>
          <a:solidFill>
            <a:srgbClr val="FFFFFF"/>
          </a:solidFill>
          <a:ln w="9525">
            <a:solidFill>
              <a:srgbClr val="D7DEEE"/>
            </a:solidFill>
            <a:prstDash val="solid"/>
          </a:ln>
        </p:spPr>
      </p:sp>
      <p:sp>
        <p:nvSpPr>
          <p:cNvPr id="19" name="Text 17"/>
          <p:cNvSpPr/>
          <p:nvPr/>
        </p:nvSpPr>
        <p:spPr>
          <a:xfrm>
            <a:off x="3749040" y="5596128"/>
            <a:ext cx="7772400" cy="594360"/>
          </a:xfrm>
          <a:prstGeom prst="rect">
            <a:avLst/>
          </a:prstGeom>
          <a:noFill/>
          <a:ln/>
        </p:spPr>
        <p:txBody>
          <a:bodyPr wrap="square" lIns="0" tIns="0" rIns="0" bIns="0" rtlCol="0" anchor="t"/>
          <a:lstStyle/>
          <a:p>
            <a:pPr indent="0" marL="0">
              <a:buNone/>
            </a:pPr>
            <a:r>
              <a:rPr lang="en-US" sz="1050" i="1" dirty="0">
                <a:solidFill>
                  <a:srgbClr val="5A6B8C"/>
                </a:solidFill>
                <a:latin typeface="Calibri" pitchFamily="34" charset="0"/>
                <a:ea typeface="Calibri" pitchFamily="34" charset="-122"/>
                <a:cs typeface="Calibri" pitchFamily="34" charset="-120"/>
              </a:rPr>
              <a:t>示唆: 「二重付与」は粗利が厚い・客単価が高い業態の特権であり、日用品のような薄利多売業態では成立しにくい。dポイントのホワイトレーベル化は、この「二重コストを払えない業態」でも共通ポイントの集客効果を低コストで享受できる仕組みになり得る</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独自ポイントのシステム維持課題</a:t>
            </a:r>
            <a:endParaRPr lang="en-US" sz="25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250" i="1" dirty="0">
                <a:solidFill>
                  <a:srgbClr val="5A6B8C"/>
                </a:solidFill>
                <a:latin typeface="Calibri" pitchFamily="34" charset="0"/>
                <a:ea typeface="Calibri" pitchFamily="34" charset="-122"/>
                <a:cs typeface="Calibri" pitchFamily="34" charset="-120"/>
              </a:rPr>
              <a:t>「独自ポイント＝低コスト」は誤解 ―仲介手数料の代わりに別の固定費を負う</a:t>
            </a:r>
            <a:endParaRPr lang="en-US" sz="1250" dirty="0"/>
          </a:p>
        </p:txBody>
      </p:sp>
      <p:sp>
        <p:nvSpPr>
          <p:cNvPr id="4" name="Shape 2"/>
          <p:cNvSpPr/>
          <p:nvPr/>
        </p:nvSpPr>
        <p:spPr>
          <a:xfrm>
            <a:off x="457200" y="1371600"/>
            <a:ext cx="2606040" cy="1783080"/>
          </a:xfrm>
          <a:prstGeom prst="roundRect">
            <a:avLst>
              <a:gd name="adj" fmla="val 3077"/>
            </a:avLst>
          </a:prstGeom>
          <a:solidFill>
            <a:srgbClr val="FFFFFF"/>
          </a:solidFill>
          <a:ln w="9525">
            <a:solidFill>
              <a:srgbClr val="D7DEEE"/>
            </a:solidFill>
            <a:prstDash val="solid"/>
          </a:ln>
        </p:spPr>
      </p:sp>
      <p:sp>
        <p:nvSpPr>
          <p:cNvPr id="5" name="Text 3"/>
          <p:cNvSpPr/>
          <p:nvPr/>
        </p:nvSpPr>
        <p:spPr>
          <a:xfrm>
            <a:off x="566928" y="1508760"/>
            <a:ext cx="2386584" cy="685800"/>
          </a:xfrm>
          <a:prstGeom prst="rect">
            <a:avLst/>
          </a:prstGeom>
          <a:noFill/>
          <a:ln/>
        </p:spPr>
        <p:txBody>
          <a:bodyPr wrap="square" lIns="0" tIns="0" rIns="0" bIns="0" rtlCol="0" anchor="t"/>
          <a:lstStyle/>
          <a:p>
            <a:pPr algn="l" indent="0" marL="0">
              <a:buNone/>
            </a:pPr>
            <a:r>
              <a:rPr lang="en-US" sz="2200" b="1" dirty="0">
                <a:solidFill>
                  <a:srgbClr val="1E2761"/>
                </a:solidFill>
                <a:latin typeface="Cambria" pitchFamily="34" charset="0"/>
                <a:ea typeface="Cambria" pitchFamily="34" charset="-122"/>
                <a:cs typeface="Cambria" pitchFamily="34" charset="-120"/>
              </a:rPr>
              <a:t>1,000万〜</a:t>
            </a:r>
            <a:endParaRPr lang="en-US" sz="2200" dirty="0"/>
          </a:p>
          <a:p>
            <a:pPr algn="l" indent="0" marL="0">
              <a:buNone/>
            </a:pPr>
            <a:r>
              <a:rPr lang="en-US" sz="2200" b="1" dirty="0">
                <a:solidFill>
                  <a:srgbClr val="1E2761"/>
                </a:solidFill>
                <a:latin typeface="Cambria" pitchFamily="34" charset="0"/>
                <a:ea typeface="Cambria" pitchFamily="34" charset="-122"/>
                <a:cs typeface="Cambria" pitchFamily="34" charset="-120"/>
              </a:rPr>
              <a:t>3,000万円</a:t>
            </a:r>
            <a:endParaRPr lang="en-US" sz="2200" dirty="0"/>
          </a:p>
        </p:txBody>
      </p:sp>
      <p:sp>
        <p:nvSpPr>
          <p:cNvPr id="6" name="Text 4"/>
          <p:cNvSpPr/>
          <p:nvPr/>
        </p:nvSpPr>
        <p:spPr>
          <a:xfrm>
            <a:off x="566928" y="2240280"/>
            <a:ext cx="2386584" cy="59436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自社開発コスト</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(規模により数億円のケースも)</a:t>
            </a:r>
            <a:endParaRPr lang="en-US" sz="1100" dirty="0"/>
          </a:p>
        </p:txBody>
      </p:sp>
      <p:sp>
        <p:nvSpPr>
          <p:cNvPr id="7" name="Text 5"/>
          <p:cNvSpPr/>
          <p:nvPr/>
        </p:nvSpPr>
        <p:spPr>
          <a:xfrm>
            <a:off x="56692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[25]</a:t>
            </a:r>
            <a:endParaRPr lang="en-US" sz="900" dirty="0"/>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sp>
      <p:sp>
        <p:nvSpPr>
          <p:cNvPr id="9" name="Text 7"/>
          <p:cNvSpPr/>
          <p:nvPr/>
        </p:nvSpPr>
        <p:spPr>
          <a:xfrm>
            <a:off x="3447288" y="1508760"/>
            <a:ext cx="2386584" cy="685800"/>
          </a:xfrm>
          <a:prstGeom prst="rect">
            <a:avLst/>
          </a:prstGeom>
          <a:noFill/>
          <a:ln/>
        </p:spPr>
        <p:txBody>
          <a:bodyPr wrap="square" lIns="0" tIns="0" rIns="0" bIns="0" rtlCol="0" anchor="t"/>
          <a:lstStyle/>
          <a:p>
            <a:pPr algn="l" indent="0" marL="0">
              <a:buNone/>
            </a:pPr>
            <a:r>
              <a:rPr lang="en-US" sz="2200" b="1" dirty="0">
                <a:solidFill>
                  <a:srgbClr val="1E2761"/>
                </a:solidFill>
                <a:latin typeface="Cambria" pitchFamily="34" charset="0"/>
                <a:ea typeface="Cambria" pitchFamily="34" charset="-122"/>
                <a:cs typeface="Cambria" pitchFamily="34" charset="-120"/>
              </a:rPr>
              <a:t>継続発生</a:t>
            </a:r>
            <a:endParaRPr lang="en-US" sz="2200" dirty="0"/>
          </a:p>
        </p:txBody>
      </p:sp>
      <p:sp>
        <p:nvSpPr>
          <p:cNvPr id="10" name="Text 8"/>
          <p:cNvSpPr/>
          <p:nvPr/>
        </p:nvSpPr>
        <p:spPr>
          <a:xfrm>
            <a:off x="3447288" y="2240280"/>
            <a:ext cx="2386584" cy="59436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サーバー・保守・専門人材の</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人件費(改修対応も含む)</a:t>
            </a:r>
            <a:endParaRPr lang="en-US" sz="1100" dirty="0"/>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[25]</a:t>
            </a:r>
            <a:endParaRPr lang="en-US" sz="900" dirty="0"/>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sp>
      <p:sp>
        <p:nvSpPr>
          <p:cNvPr id="13" name="Text 11"/>
          <p:cNvSpPr/>
          <p:nvPr/>
        </p:nvSpPr>
        <p:spPr>
          <a:xfrm>
            <a:off x="6327648" y="1508760"/>
            <a:ext cx="2386584" cy="685800"/>
          </a:xfrm>
          <a:prstGeom prst="rect">
            <a:avLst/>
          </a:prstGeom>
          <a:noFill/>
          <a:ln/>
        </p:spPr>
        <p:txBody>
          <a:bodyPr wrap="square" lIns="0" tIns="0" rIns="0" bIns="0" rtlCol="0" anchor="t"/>
          <a:lstStyle/>
          <a:p>
            <a:pPr algn="l" indent="0" marL="0">
              <a:buNone/>
            </a:pPr>
            <a:r>
              <a:rPr lang="en-US" sz="2200" b="1" dirty="0">
                <a:solidFill>
                  <a:srgbClr val="1E2761"/>
                </a:solidFill>
                <a:latin typeface="Cambria" pitchFamily="34" charset="0"/>
                <a:ea typeface="Cambria" pitchFamily="34" charset="-122"/>
                <a:cs typeface="Cambria" pitchFamily="34" charset="-120"/>
              </a:rPr>
              <a:t>急増中</a:t>
            </a:r>
            <a:endParaRPr lang="en-US" sz="2200" dirty="0"/>
          </a:p>
        </p:txBody>
      </p:sp>
      <p:sp>
        <p:nvSpPr>
          <p:cNvPr id="14" name="Text 12"/>
          <p:cNvSpPr/>
          <p:nvPr/>
        </p:nvSpPr>
        <p:spPr>
          <a:xfrm>
            <a:off x="6327648" y="2240280"/>
            <a:ext cx="2386584" cy="594360"/>
          </a:xfrm>
          <a:prstGeom prst="rect">
            <a:avLst/>
          </a:prstGeom>
          <a:noFill/>
          <a:ln/>
        </p:spPr>
        <p:txBody>
          <a:bodyPr wrap="square" lIns="0" tIns="0" rIns="0" bIns="0" rtlCol="0" anchor="t"/>
          <a:lstStyle/>
          <a:p>
            <a:pPr algn="l" indent="0" marL="0">
              <a:buNone/>
            </a:pPr>
            <a:r>
              <a:rPr lang="en-US" sz="1100" dirty="0">
                <a:solidFill>
                  <a:srgbClr val="1B1B2F"/>
                </a:solidFill>
                <a:latin typeface="Calibri" pitchFamily="34" charset="0"/>
                <a:ea typeface="Calibri" pitchFamily="34" charset="-122"/>
                <a:cs typeface="Calibri" pitchFamily="34" charset="-120"/>
              </a:rPr>
              <a:t>ポイント不正利用。</a:t>
            </a:r>
            <a:endParaRPr lang="en-US" sz="1100" dirty="0"/>
          </a:p>
          <a:p>
            <a:pPr algn="l" indent="0" marL="0">
              <a:buNone/>
            </a:pPr>
            <a:r>
              <a:rPr lang="en-US" sz="1100" dirty="0">
                <a:solidFill>
                  <a:srgbClr val="1B1B2F"/>
                </a:solidFill>
                <a:latin typeface="Calibri" pitchFamily="34" charset="0"/>
                <a:ea typeface="Calibri" pitchFamily="34" charset="-122"/>
                <a:cs typeface="Calibri" pitchFamily="34" charset="-120"/>
              </a:rPr>
              <a:t>セキュリティ対策の完全防御は困難</a:t>
            </a:r>
            <a:endParaRPr lang="en-US" sz="1100" dirty="0"/>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[26]</a:t>
            </a:r>
            <a:endParaRPr lang="en-US" sz="900" dirty="0"/>
          </a:p>
        </p:txBody>
      </p:sp>
      <p:sp>
        <p:nvSpPr>
          <p:cNvPr id="16" name="Shape 14"/>
          <p:cNvSpPr/>
          <p:nvPr/>
        </p:nvSpPr>
        <p:spPr>
          <a:xfrm>
            <a:off x="9098280" y="1371600"/>
            <a:ext cx="2606040" cy="1783080"/>
          </a:xfrm>
          <a:prstGeom prst="roundRect">
            <a:avLst>
              <a:gd name="adj" fmla="val 3077"/>
            </a:avLst>
          </a:prstGeom>
          <a:solidFill>
            <a:srgbClr val="1E2761"/>
          </a:solidFill>
          <a:ln w="9525">
            <a:solidFill>
              <a:srgbClr val="1E2761"/>
            </a:solidFill>
            <a:prstDash val="solid"/>
          </a:ln>
        </p:spPr>
      </p:sp>
      <p:sp>
        <p:nvSpPr>
          <p:cNvPr id="17" name="Text 15"/>
          <p:cNvSpPr/>
          <p:nvPr/>
        </p:nvSpPr>
        <p:spPr>
          <a:xfrm>
            <a:off x="9208008" y="1508760"/>
            <a:ext cx="2386584" cy="685800"/>
          </a:xfrm>
          <a:prstGeom prst="rect">
            <a:avLst/>
          </a:prstGeom>
          <a:noFill/>
          <a:ln/>
        </p:spPr>
        <p:txBody>
          <a:bodyPr wrap="square" lIns="0" tIns="0" rIns="0" bIns="0" rtlCol="0" anchor="t"/>
          <a:lstStyle/>
          <a:p>
            <a:pPr algn="l" indent="0" marL="0">
              <a:buNone/>
            </a:pPr>
            <a:r>
              <a:rPr lang="en-US" sz="2200" b="1" dirty="0">
                <a:solidFill>
                  <a:srgbClr val="FFFFFF"/>
                </a:solidFill>
                <a:latin typeface="Cambria" pitchFamily="34" charset="0"/>
                <a:ea typeface="Cambria" pitchFamily="34" charset="-122"/>
                <a:cs typeface="Cambria" pitchFamily="34" charset="-120"/>
              </a:rPr>
              <a:t>効果なし</a:t>
            </a:r>
            <a:endParaRPr lang="en-US" sz="2200" dirty="0"/>
          </a:p>
        </p:txBody>
      </p:sp>
      <p:sp>
        <p:nvSpPr>
          <p:cNvPr id="18" name="Text 16"/>
          <p:cNvSpPr/>
          <p:nvPr/>
        </p:nvSpPr>
        <p:spPr>
          <a:xfrm>
            <a:off x="9208008" y="2240280"/>
            <a:ext cx="2386584" cy="594360"/>
          </a:xfrm>
          <a:prstGeom prst="rect">
            <a:avLst/>
          </a:prstGeom>
          <a:noFill/>
          <a:ln/>
        </p:spPr>
        <p:txBody>
          <a:bodyPr wrap="square" lIns="0" tIns="0" rIns="0" bIns="0" rtlCol="0" anchor="t"/>
          <a:lstStyle/>
          <a:p>
            <a:pPr algn="l" indent="0" marL="0">
              <a:buNone/>
            </a:pPr>
            <a:r>
              <a:rPr lang="en-US" sz="1100" dirty="0">
                <a:solidFill>
                  <a:srgbClr val="CADCFC"/>
                </a:solidFill>
                <a:latin typeface="Calibri" pitchFamily="34" charset="0"/>
                <a:ea typeface="Calibri" pitchFamily="34" charset="-122"/>
                <a:cs typeface="Calibri" pitchFamily="34" charset="-120"/>
              </a:rPr>
              <a:t>共通ポイントのような</a:t>
            </a:r>
            <a:endParaRPr lang="en-US" sz="1100" dirty="0"/>
          </a:p>
          <a:p>
            <a:pPr algn="l" indent="0" marL="0">
              <a:buNone/>
            </a:pPr>
            <a:r>
              <a:rPr lang="en-US" sz="1100" dirty="0">
                <a:solidFill>
                  <a:srgbClr val="CADCFC"/>
                </a:solidFill>
                <a:latin typeface="Calibri" pitchFamily="34" charset="0"/>
                <a:ea typeface="Calibri" pitchFamily="34" charset="-122"/>
                <a:cs typeface="Calibri" pitchFamily="34" charset="-120"/>
              </a:rPr>
              <a:t>相互送客・新規誘引効果が無い</a:t>
            </a:r>
            <a:endParaRPr lang="en-US" sz="1100" dirty="0"/>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algn="l" indent="0" marL="0">
              <a:buNone/>
            </a:pPr>
            <a:r>
              <a:rPr lang="en-US" sz="900" dirty="0">
                <a:solidFill>
                  <a:srgbClr val="8FA3D9"/>
                </a:solidFill>
                <a:latin typeface="Calibri" pitchFamily="34" charset="0"/>
                <a:ea typeface="Calibri" pitchFamily="34" charset="-122"/>
                <a:cs typeface="Calibri" pitchFamily="34" charset="-120"/>
              </a:rPr>
              <a:t>[19]</a:t>
            </a:r>
            <a:endParaRPr lang="en-US" sz="900" dirty="0"/>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sp>
      <p:sp>
        <p:nvSpPr>
          <p:cNvPr id="21" name="Text 19"/>
          <p:cNvSpPr/>
          <p:nvPr/>
        </p:nvSpPr>
        <p:spPr>
          <a:xfrm>
            <a:off x="731520" y="3639312"/>
            <a:ext cx="10698480" cy="2606040"/>
          </a:xfrm>
          <a:prstGeom prst="rect">
            <a:avLst/>
          </a:prstGeom>
          <a:noFill/>
          <a:ln/>
        </p:spPr>
        <p:txBody>
          <a:bodyPr wrap="square" lIns="0" tIns="0" rIns="0" bIns="0" rtlCol="0" anchor="t"/>
          <a:lstStyle/>
          <a:p>
            <a:pPr indent="0" marL="0">
              <a:spcAft>
                <a:spcPts val="1000"/>
              </a:spcAft>
              <a:buNone/>
            </a:pPr>
            <a:r>
              <a:rPr lang="en-US" sz="1250" b="1" dirty="0">
                <a:solidFill>
                  <a:srgbClr val="1E2761"/>
                </a:solidFill>
                <a:latin typeface="Calibri" pitchFamily="34" charset="0"/>
                <a:ea typeface="Calibri" pitchFamily="34" charset="-122"/>
                <a:cs typeface="Calibri" pitchFamily="34" charset="-120"/>
              </a:rPr>
              <a:t>補足データ</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コスト負担を理由に自社ポイントを廃止・縮小し、共通ポイントへ切り替える(またはポイント交換システムで接続する)「自社ポイント離れ」の動きも実際に存在する [27]</a:t>
            </a:r>
            <a:endParaRPr lang="en-US" sz="1250" dirty="0"/>
          </a:p>
          <a:p>
            <a:pPr marL="342900" indent="-342900">
              <a:spcAft>
                <a:spcPts val="1000"/>
              </a:spcAft>
              <a:buSzPct val="100000"/>
              <a:buChar char="•"/>
            </a:pPr>
            <a:r>
              <a:rPr lang="en-US" sz="1250" dirty="0">
                <a:solidFill>
                  <a:srgbClr val="1B1B2F"/>
                </a:solidFill>
                <a:latin typeface="Calibri" pitchFamily="34" charset="0"/>
                <a:ea typeface="Calibri" pitchFamily="34" charset="-122"/>
                <a:cs typeface="Calibri" pitchFamily="34" charset="-120"/>
              </a:rPr>
              <a:t>共通ポイントは運営会社がシステム構築・保守・セキュリティを一手に引き受けるため、加盟店側はこれらの固定費を負わずに済む</a:t>
            </a:r>
            <a:endParaRPr lang="en-US" sz="1250" dirty="0"/>
          </a:p>
          <a:p>
            <a:pPr indent="0" marL="0">
              <a:buNone/>
            </a:pPr>
            <a:r>
              <a:rPr lang="en-US" sz="1150" i="1" dirty="0">
                <a:solidFill>
                  <a:srgbClr val="5A6B8C"/>
                </a:solidFill>
                <a:latin typeface="Calibri" pitchFamily="34" charset="0"/>
                <a:ea typeface="Calibri" pitchFamily="34" charset="-122"/>
                <a:cs typeface="Calibri" pitchFamily="34" charset="-120"/>
              </a:rPr>
              <a:t>示唆: 独自ポイントは「仲介手数料なし」の代わりに「初期投資・保守・セキュリティ」という別の固定費負担を負う構造。体力のない中小事業者ほどこの負担が重く、dポイントのホワイトレーベル化(システム構築・保守・セキュリティをドコモ側が肩代わり)の恩恵を最も受けられる層になり得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提案:ホワイトレーベルdポイントの複層設計</a:t>
            </a:r>
            <a:endParaRPr lang="en-US" sz="2400" dirty="0"/>
          </a:p>
        </p:txBody>
      </p:sp>
      <p:sp>
        <p:nvSpPr>
          <p:cNvPr id="3" name="Text 1"/>
          <p:cNvSpPr/>
          <p:nvPr/>
        </p:nvSpPr>
        <p:spPr>
          <a:xfrm>
            <a:off x="457200" y="777240"/>
            <a:ext cx="11247120" cy="292608"/>
          </a:xfrm>
          <a:prstGeom prst="rect">
            <a:avLst/>
          </a:prstGeom>
          <a:noFill/>
          <a:ln/>
        </p:spPr>
        <p:txBody>
          <a:bodyPr wrap="square" lIns="0" tIns="0" rIns="0" bIns="0" rtlCol="0" anchor="ctr"/>
          <a:lstStyle/>
          <a:p>
            <a:pPr indent="0" marL="0">
              <a:buNone/>
            </a:pPr>
            <a:r>
              <a:rPr lang="en-US" sz="1200" i="1" dirty="0">
                <a:solidFill>
                  <a:srgbClr val="5A6B8C"/>
                </a:solidFill>
                <a:latin typeface="Calibri" pitchFamily="34" charset="0"/>
                <a:ea typeface="Calibri" pitchFamily="34" charset="-122"/>
                <a:cs typeface="Calibri" pitchFamily="34" charset="-120"/>
              </a:rPr>
              <a:t>WL限定ポイントで囲い込みを守りつつ、交換オプションで「共通ポイントのお得感」も両立させる</a:t>
            </a:r>
            <a:endParaRPr lang="en-US" sz="1200" dirty="0"/>
          </a:p>
        </p:txBody>
      </p:sp>
      <p:sp>
        <p:nvSpPr>
          <p:cNvPr id="4" name="Shape 2"/>
          <p:cNvSpPr/>
          <p:nvPr/>
        </p:nvSpPr>
        <p:spPr>
          <a:xfrm>
            <a:off x="457200" y="1188720"/>
            <a:ext cx="4114800" cy="1005840"/>
          </a:xfrm>
          <a:prstGeom prst="roundRect">
            <a:avLst>
              <a:gd name="adj" fmla="val 5455"/>
            </a:avLst>
          </a:prstGeom>
          <a:solidFill>
            <a:srgbClr val="EDF1FA"/>
          </a:solidFill>
          <a:ln w="12700">
            <a:solidFill>
              <a:srgbClr val="1E2761"/>
            </a:solidFill>
            <a:prstDash val="solid"/>
          </a:ln>
        </p:spPr>
      </p:sp>
      <p:sp>
        <p:nvSpPr>
          <p:cNvPr id="5" name="Text 3"/>
          <p:cNvSpPr/>
          <p:nvPr/>
        </p:nvSpPr>
        <p:spPr>
          <a:xfrm>
            <a:off x="640080" y="1298448"/>
            <a:ext cx="3749040" cy="786384"/>
          </a:xfrm>
          <a:prstGeom prst="rect">
            <a:avLst/>
          </a:prstGeom>
          <a:noFill/>
          <a:ln/>
        </p:spPr>
        <p:txBody>
          <a:bodyPr wrap="square" lIns="0" tIns="0" rIns="0" bIns="0" rtlCol="0" anchor="t"/>
          <a:lstStyle/>
          <a:p>
            <a:pPr indent="0" marL="0">
              <a:spcAft>
                <a:spcPts val="300"/>
              </a:spcAft>
              <a:buNone/>
            </a:pPr>
            <a:r>
              <a:rPr lang="en-US" sz="1400" b="1" dirty="0">
                <a:solidFill>
                  <a:srgbClr val="1E2761"/>
                </a:solidFill>
                <a:latin typeface="Calibri" pitchFamily="34" charset="0"/>
                <a:ea typeface="Calibri" pitchFamily="34" charset="-122"/>
                <a:cs typeface="Calibri" pitchFamily="34" charset="-120"/>
              </a:rPr>
              <a:t>WL限定dポイント</a:t>
            </a:r>
            <a:endParaRPr lang="en-US" sz="1400" dirty="0"/>
          </a:p>
          <a:p>
            <a:pPr indent="0" marL="0">
              <a:buNone/>
            </a:pPr>
            <a:r>
              <a:rPr lang="en-US" sz="1050" dirty="0">
                <a:solidFill>
                  <a:srgbClr val="1B1B2F"/>
                </a:solidFill>
                <a:latin typeface="Calibri" pitchFamily="34" charset="0"/>
                <a:ea typeface="Calibri" pitchFamily="34" charset="-122"/>
                <a:cs typeface="Calibri" pitchFamily="34" charset="-120"/>
              </a:rPr>
              <a:t>その提携先でのみ貯める・使える(囲い込み維持)</a:t>
            </a:r>
            <a:endParaRPr lang="en-US" sz="1400" dirty="0"/>
          </a:p>
        </p:txBody>
      </p:sp>
      <p:sp>
        <p:nvSpPr>
          <p:cNvPr id="6" name="Text 4"/>
          <p:cNvSpPr/>
          <p:nvPr/>
        </p:nvSpPr>
        <p:spPr>
          <a:xfrm>
            <a:off x="4709160" y="1325880"/>
            <a:ext cx="2743200" cy="73152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手続きで交換</a:t>
            </a:r>
            <a:endParaRPr lang="en-US" sz="1100" dirty="0"/>
          </a:p>
          <a:p>
            <a:pPr algn="ctr" indent="0" marL="0">
              <a:buNone/>
            </a:pPr>
            <a:r>
              <a:rPr lang="en-US" sz="1100" b="1" dirty="0">
                <a:solidFill>
                  <a:srgbClr val="1E2761"/>
                </a:solidFill>
                <a:latin typeface="Calibri" pitchFamily="34" charset="0"/>
                <a:ea typeface="Calibri" pitchFamily="34" charset="-122"/>
                <a:cs typeface="Calibri" pitchFamily="34" charset="-120"/>
              </a:rPr>
              <a:t>(レート例: 33〜60%)</a:t>
            </a:r>
            <a:endParaRPr lang="en-US" sz="1100" dirty="0"/>
          </a:p>
        </p:txBody>
      </p:sp>
      <p:sp>
        <p:nvSpPr>
          <p:cNvPr id="7" name="Shape 5"/>
          <p:cNvSpPr/>
          <p:nvPr/>
        </p:nvSpPr>
        <p:spPr>
          <a:xfrm>
            <a:off x="4709160" y="1124712"/>
            <a:ext cx="2743200" cy="109728"/>
          </a:xfrm>
          <a:prstGeom prst="rightArrow">
            <a:avLst/>
          </a:prstGeom>
          <a:solidFill>
            <a:srgbClr val="AEBEDD"/>
          </a:solidFill>
          <a:ln/>
        </p:spPr>
      </p:sp>
      <p:sp>
        <p:nvSpPr>
          <p:cNvPr id="8" name="Shape 6"/>
          <p:cNvSpPr/>
          <p:nvPr/>
        </p:nvSpPr>
        <p:spPr>
          <a:xfrm>
            <a:off x="7589520" y="1188720"/>
            <a:ext cx="4114800" cy="1005840"/>
          </a:xfrm>
          <a:prstGeom prst="roundRect">
            <a:avLst>
              <a:gd name="adj" fmla="val 5455"/>
            </a:avLst>
          </a:prstGeom>
          <a:solidFill>
            <a:srgbClr val="1E2761"/>
          </a:solidFill>
          <a:ln w="12700">
            <a:solidFill>
              <a:srgbClr val="1E2761"/>
            </a:solidFill>
            <a:prstDash val="solid"/>
          </a:ln>
        </p:spPr>
      </p:sp>
      <p:sp>
        <p:nvSpPr>
          <p:cNvPr id="9" name="Text 7"/>
          <p:cNvSpPr/>
          <p:nvPr/>
        </p:nvSpPr>
        <p:spPr>
          <a:xfrm>
            <a:off x="7772400" y="1298448"/>
            <a:ext cx="3749040" cy="786384"/>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通常dポイント</a:t>
            </a:r>
            <a:endParaRPr lang="en-US" sz="1400" dirty="0"/>
          </a:p>
          <a:p>
            <a:pPr indent="0" marL="0">
              <a:buNone/>
            </a:pPr>
            <a:r>
              <a:rPr lang="en-US" sz="1050" dirty="0">
                <a:solidFill>
                  <a:srgbClr val="CADCFC"/>
                </a:solidFill>
                <a:latin typeface="Calibri" pitchFamily="34" charset="0"/>
                <a:ea typeface="Calibri" pitchFamily="34" charset="-122"/>
                <a:cs typeface="Calibri" pitchFamily="34" charset="-120"/>
              </a:rPr>
              <a:t>全国のdポイント加盟店・d払いで利用可</a:t>
            </a:r>
            <a:endParaRPr lang="en-US" sz="1400" dirty="0"/>
          </a:p>
        </p:txBody>
      </p:sp>
      <p:sp>
        <p:nvSpPr>
          <p:cNvPr id="10" name="Text 8"/>
          <p:cNvSpPr/>
          <p:nvPr/>
        </p:nvSpPr>
        <p:spPr>
          <a:xfrm>
            <a:off x="457200" y="2468880"/>
            <a:ext cx="112471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実現可能性の裏付け(前例)</a:t>
            </a:r>
            <a:endParaRPr lang="en-US" sz="1300" dirty="0"/>
          </a:p>
        </p:txBody>
      </p:sp>
      <p:sp>
        <p:nvSpPr>
          <p:cNvPr id="11" name="Shape 9"/>
          <p:cNvSpPr/>
          <p:nvPr/>
        </p:nvSpPr>
        <p:spPr>
          <a:xfrm>
            <a:off x="457200" y="2788920"/>
            <a:ext cx="5349240" cy="1371600"/>
          </a:xfrm>
          <a:prstGeom prst="roundRect">
            <a:avLst>
              <a:gd name="adj" fmla="val 4000"/>
            </a:avLst>
          </a:prstGeom>
          <a:solidFill>
            <a:srgbClr val="FFFFFF"/>
          </a:solidFill>
          <a:ln w="9525">
            <a:solidFill>
              <a:srgbClr val="D7DEEE"/>
            </a:solidFill>
            <a:prstDash val="solid"/>
          </a:ln>
        </p:spPr>
      </p:sp>
      <p:sp>
        <p:nvSpPr>
          <p:cNvPr id="12" name="Text 10"/>
          <p:cNvSpPr/>
          <p:nvPr/>
        </p:nvSpPr>
        <p:spPr>
          <a:xfrm>
            <a:off x="640080" y="2898648"/>
            <a:ext cx="4983480" cy="1152144"/>
          </a:xfrm>
          <a:prstGeom prst="rect">
            <a:avLst/>
          </a:prstGeom>
          <a:noFill/>
          <a:ln/>
        </p:spPr>
        <p:txBody>
          <a:bodyPr wrap="square" lIns="0" tIns="0" rIns="0" bIns="0" rtlCol="0" anchor="t"/>
          <a:lstStyle/>
          <a:p>
            <a:pPr indent="0" marL="0">
              <a:spcAft>
                <a:spcPts val="400"/>
              </a:spcAft>
              <a:buNone/>
            </a:pPr>
            <a:r>
              <a:rPr lang="en-US" sz="1150" b="1" dirty="0">
                <a:solidFill>
                  <a:srgbClr val="1E2761"/>
                </a:solidFill>
                <a:latin typeface="Calibri" pitchFamily="34" charset="0"/>
                <a:ea typeface="Calibri" pitchFamily="34" charset="-122"/>
                <a:cs typeface="Calibri" pitchFamily="34" charset="-120"/>
              </a:rPr>
              <a:t>前例① dポイントは既に複層ポイントを運用中</a:t>
            </a:r>
            <a:endParaRPr lang="en-US" sz="1150" dirty="0"/>
          </a:p>
          <a:p>
            <a:pPr indent="0" marL="0">
              <a:buNone/>
            </a:pPr>
            <a:r>
              <a:rPr lang="en-US" sz="1000" dirty="0">
                <a:solidFill>
                  <a:srgbClr val="1B1B2F"/>
                </a:solidFill>
                <a:latin typeface="Calibri" pitchFamily="34" charset="0"/>
                <a:ea typeface="Calibri" pitchFamily="34" charset="-122"/>
                <a:cs typeface="Calibri" pitchFamily="34" charset="-120"/>
              </a:rPr>
              <a:t>「通常ポイント」と「期間・用途限定ポイント」が既に併存し、合算利用・有効期限順消化の仕組みが稼働中。ゼロから開発する必要がない [28]</a:t>
            </a:r>
            <a:endParaRPr lang="en-US" sz="1150" dirty="0"/>
          </a:p>
        </p:txBody>
      </p:sp>
      <p:sp>
        <p:nvSpPr>
          <p:cNvPr id="13" name="Shape 11"/>
          <p:cNvSpPr/>
          <p:nvPr/>
        </p:nvSpPr>
        <p:spPr>
          <a:xfrm>
            <a:off x="6080760" y="2788920"/>
            <a:ext cx="5349240" cy="1371600"/>
          </a:xfrm>
          <a:prstGeom prst="roundRect">
            <a:avLst>
              <a:gd name="adj" fmla="val 4000"/>
            </a:avLst>
          </a:prstGeom>
          <a:solidFill>
            <a:srgbClr val="FFFFFF"/>
          </a:solidFill>
          <a:ln w="9525">
            <a:solidFill>
              <a:srgbClr val="D7DEEE"/>
            </a:solidFill>
            <a:prstDash val="solid"/>
          </a:ln>
        </p:spPr>
      </p:sp>
      <p:sp>
        <p:nvSpPr>
          <p:cNvPr id="14" name="Text 12"/>
          <p:cNvSpPr/>
          <p:nvPr/>
        </p:nvSpPr>
        <p:spPr>
          <a:xfrm>
            <a:off x="6263640" y="2898648"/>
            <a:ext cx="4983480" cy="1152144"/>
          </a:xfrm>
          <a:prstGeom prst="rect">
            <a:avLst/>
          </a:prstGeom>
          <a:noFill/>
          <a:ln/>
        </p:spPr>
        <p:txBody>
          <a:bodyPr wrap="square" lIns="0" tIns="0" rIns="0" bIns="0" rtlCol="0" anchor="t"/>
          <a:lstStyle/>
          <a:p>
            <a:pPr indent="0" marL="0">
              <a:spcAft>
                <a:spcPts val="400"/>
              </a:spcAft>
              <a:buNone/>
            </a:pPr>
            <a:r>
              <a:rPr lang="en-US" sz="1150" b="1" dirty="0">
                <a:solidFill>
                  <a:srgbClr val="1E2761"/>
                </a:solidFill>
                <a:latin typeface="Calibri" pitchFamily="34" charset="0"/>
                <a:ea typeface="Calibri" pitchFamily="34" charset="-122"/>
                <a:cs typeface="Calibri" pitchFamily="34" charset="-120"/>
              </a:rPr>
              <a:t>前例② マイル交換で「レート目減り」設計は実証済み</a:t>
            </a:r>
            <a:endParaRPr lang="en-US" sz="1150" dirty="0"/>
          </a:p>
          <a:p>
            <a:pPr indent="0" marL="0">
              <a:buNone/>
            </a:pPr>
            <a:r>
              <a:rPr lang="en-US" sz="1000" dirty="0">
                <a:solidFill>
                  <a:srgbClr val="1B1B2F"/>
                </a:solidFill>
                <a:latin typeface="Calibri" pitchFamily="34" charset="0"/>
                <a:ea typeface="Calibri" pitchFamily="34" charset="-122"/>
                <a:cs typeface="Calibri" pitchFamily="34" charset="-120"/>
              </a:rPr>
              <a:t>Pontaポイント→JALマイルは約33%、Vポイント→ANAマイルは50〜60%。レートを下げること自体が囲い込みの摩擦と原資コストの調整弁になる [29][30]</a:t>
            </a:r>
            <a:endParaRPr lang="en-US" sz="1150" dirty="0"/>
          </a:p>
        </p:txBody>
      </p:sp>
      <p:sp>
        <p:nvSpPr>
          <p:cNvPr id="15" name="Text 13"/>
          <p:cNvSpPr/>
          <p:nvPr/>
        </p:nvSpPr>
        <p:spPr>
          <a:xfrm>
            <a:off x="457200" y="4343400"/>
            <a:ext cx="5349240" cy="274320"/>
          </a:xfrm>
          <a:prstGeom prst="rect">
            <a:avLst/>
          </a:prstGeom>
          <a:noFill/>
          <a:ln/>
        </p:spPr>
        <p:txBody>
          <a:bodyPr wrap="square" lIns="0" tIns="0" rIns="0" bIns="0" rtlCol="0" anchor="ctr"/>
          <a:lstStyle/>
          <a:p>
            <a:pPr indent="0" marL="0">
              <a:buNone/>
            </a:pPr>
            <a:r>
              <a:rPr lang="en-US" sz="1300" b="1" dirty="0">
                <a:solidFill>
                  <a:srgbClr val="1E7145"/>
                </a:solidFill>
                <a:latin typeface="Calibri" pitchFamily="34" charset="0"/>
                <a:ea typeface="Calibri" pitchFamily="34" charset="-122"/>
                <a:cs typeface="Calibri" pitchFamily="34" charset="-120"/>
              </a:rPr>
              <a:t>強み</a:t>
            </a:r>
            <a:endParaRPr lang="en-US" sz="1300" dirty="0"/>
          </a:p>
        </p:txBody>
      </p:sp>
      <p:sp>
        <p:nvSpPr>
          <p:cNvPr id="16" name="Text 14"/>
          <p:cNvSpPr/>
          <p:nvPr/>
        </p:nvSpPr>
        <p:spPr>
          <a:xfrm>
            <a:off x="457200" y="4645152"/>
            <a:ext cx="5349240" cy="1783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1B2F"/>
                </a:solidFill>
                <a:latin typeface="Calibri" pitchFamily="34" charset="0"/>
                <a:ea typeface="Calibri" pitchFamily="34" charset="-122"/>
                <a:cs typeface="Calibri" pitchFamily="34" charset="-120"/>
              </a:rPr>
              <a:t>パートナー: 自社経済圏にポイントが留まり囲い込み効果が毀損されない</a:t>
            </a:r>
            <a:endParaRPr lang="en-US" sz="1100" dirty="0"/>
          </a:p>
          <a:p>
            <a:pPr marL="342900" indent="-342900">
              <a:spcAft>
                <a:spcPts val="600"/>
              </a:spcAft>
              <a:buSzPct val="100000"/>
              <a:buChar char="•"/>
            </a:pPr>
            <a:r>
              <a:rPr lang="en-US" sz="1100" dirty="0">
                <a:solidFill>
                  <a:srgbClr val="1B1B2F"/>
                </a:solidFill>
                <a:latin typeface="Calibri" pitchFamily="34" charset="0"/>
                <a:ea typeface="Calibri" pitchFamily="34" charset="-122"/>
                <a:cs typeface="Calibri" pitchFamily="34" charset="-120"/>
              </a:rPr>
              <a:t>ドコモ: 交換レートの目減り分が新収益源。WL提携先の増加で非ドコモ接点も拡大</a:t>
            </a:r>
            <a:endParaRPr lang="en-US" sz="1100" dirty="0"/>
          </a:p>
          <a:p>
            <a:pPr marL="342900" indent="-342900">
              <a:buSzPct val="100000"/>
              <a:buChar char="•"/>
            </a:pPr>
            <a:r>
              <a:rPr lang="en-US" sz="1100" dirty="0">
                <a:solidFill>
                  <a:srgbClr val="1B1B2F"/>
                </a:solidFill>
                <a:latin typeface="Calibri" pitchFamily="34" charset="0"/>
                <a:ea typeface="Calibri" pitchFamily="34" charset="-122"/>
                <a:cs typeface="Calibri" pitchFamily="34" charset="-120"/>
              </a:rPr>
              <a:t>消費者: 「将来dポイントに変えられる」安心感でWLポイント自体のお得感が底上げされる</a:t>
            </a:r>
            <a:endParaRPr lang="en-US" sz="1100" dirty="0"/>
          </a:p>
        </p:txBody>
      </p:sp>
      <p:sp>
        <p:nvSpPr>
          <p:cNvPr id="17" name="Text 15"/>
          <p:cNvSpPr/>
          <p:nvPr/>
        </p:nvSpPr>
        <p:spPr>
          <a:xfrm>
            <a:off x="6080760" y="4343400"/>
            <a:ext cx="5349240" cy="274320"/>
          </a:xfrm>
          <a:prstGeom prst="rect">
            <a:avLst/>
          </a:prstGeom>
          <a:noFill/>
          <a:ln/>
        </p:spPr>
        <p:txBody>
          <a:bodyPr wrap="square" lIns="0" tIns="0" rIns="0" bIns="0" rtlCol="0" anchor="ctr"/>
          <a:lstStyle/>
          <a:p>
            <a:pPr indent="0" marL="0">
              <a:buNone/>
            </a:pPr>
            <a:r>
              <a:rPr lang="en-US" sz="1300" b="1" dirty="0">
                <a:solidFill>
                  <a:srgbClr val="9C6B00"/>
                </a:solidFill>
                <a:latin typeface="Calibri" pitchFamily="34" charset="0"/>
                <a:ea typeface="Calibri" pitchFamily="34" charset="-122"/>
                <a:cs typeface="Calibri" pitchFamily="34" charset="-120"/>
              </a:rPr>
              <a:t>設計上の論点</a:t>
            </a:r>
            <a:endParaRPr lang="en-US" sz="1300" dirty="0"/>
          </a:p>
        </p:txBody>
      </p:sp>
      <p:sp>
        <p:nvSpPr>
          <p:cNvPr id="18" name="Text 16"/>
          <p:cNvSpPr/>
          <p:nvPr/>
        </p:nvSpPr>
        <p:spPr>
          <a:xfrm>
            <a:off x="6080760" y="4645152"/>
            <a:ext cx="5349240" cy="1783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1B2F"/>
                </a:solidFill>
                <a:latin typeface="Calibri" pitchFamily="34" charset="0"/>
                <a:ea typeface="Calibri" pitchFamily="34" charset="-122"/>
                <a:cs typeface="Calibri" pitchFamily="34" charset="-120"/>
              </a:rPr>
              <a:t>交換レートの水準が生命線 ―高すぎれば囲い込み崩壊、低すぎれば評判悪化</a:t>
            </a:r>
            <a:endParaRPr lang="en-US" sz="1100" dirty="0"/>
          </a:p>
          <a:p>
            <a:pPr marL="342900" indent="-342900">
              <a:spcAft>
                <a:spcPts val="600"/>
              </a:spcAft>
              <a:buSzPct val="100000"/>
              <a:buChar char="•"/>
            </a:pPr>
            <a:r>
              <a:rPr lang="en-US" sz="1100" dirty="0">
                <a:solidFill>
                  <a:srgbClr val="1B1B2F"/>
                </a:solidFill>
                <a:latin typeface="Calibri" pitchFamily="34" charset="0"/>
                <a:ea typeface="Calibri" pitchFamily="34" charset="-122"/>
                <a:cs typeface="Calibri" pitchFamily="34" charset="-120"/>
              </a:rPr>
              <a:t>交換方向の設計 ―WL→通常のみか、双方向か</a:t>
            </a:r>
            <a:endParaRPr lang="en-US" sz="1100" dirty="0"/>
          </a:p>
          <a:p>
            <a:pPr marL="342900" indent="-342900">
              <a:buSzPct val="100000"/>
              <a:buChar char="•"/>
            </a:pPr>
            <a:r>
              <a:rPr lang="en-US" sz="1100" dirty="0">
                <a:solidFill>
                  <a:srgbClr val="1B1B2F"/>
                </a:solidFill>
                <a:latin typeface="Calibri" pitchFamily="34" charset="0"/>
                <a:ea typeface="Calibri" pitchFamily="34" charset="-122"/>
                <a:cs typeface="Calibri" pitchFamily="34" charset="-120"/>
              </a:rPr>
              <a:t>消費者の分かりにくさ ―現行の期間・用途限定ポイントも理解されにくい実態がある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引用元・算定根拠</a:t>
            </a:r>
            <a:endParaRPr lang="en-US" sz="2600" dirty="0"/>
          </a:p>
        </p:txBody>
      </p:sp>
      <p:sp>
        <p:nvSpPr>
          <p:cNvPr id="3" name="Text 1"/>
          <p:cNvSpPr/>
          <p:nvPr/>
        </p:nvSpPr>
        <p:spPr>
          <a:xfrm>
            <a:off x="457200" y="960120"/>
            <a:ext cx="5440680" cy="3977640"/>
          </a:xfrm>
          <a:prstGeom prst="rect">
            <a:avLst/>
          </a:prstGeom>
          <a:noFill/>
          <a:ln/>
        </p:spPr>
        <p:txBody>
          <a:bodyPr wrap="square" lIns="0" tIns="0" rIns="0" bIns="0" rtlCol="0" anchor="t"/>
          <a:lstStyle/>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 MMD研究所ほか「通信会社と利用ポイントに関する調査」 ― キャリア別メイン利用ポイントの相関</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 NTTドコモ モバイル社会研究所 シニア調査(70代スマホ所有率など)</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[3] ITmedia ビジネスオンライン「『ドコモ経済圏』に取り込め ―会員数1億人超え、dポイントクラブがLINE連携で目指すLTV最大化戦略」(2025年12月)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[4] 株式会社ロイヤリティ マーケティング公式データ(paymentnavi「Ponta 15年の歩みから見るポイントが生み出す価値と決済の変化」)</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[5] MMD研究所ほか 年代別ポイント利用実態調査</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[6] SBペイメントサービス「実店舗でのキャッシュレス決済の利用実態調査結果」(2024年11月)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[7] マナミナ(バリューズ)/アイリッジ調査「スマホ決済利用率」</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[8] Vポイントマーケティング(旧CCC)プレスリリース「Tカードの年間利用会員数が日本総人口の50%突破」(2017年)</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[9] paymentnavi「SMBCグループ共通ポイント『Vポイント』、若年層獲得や日常利用促進で成果」</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[10] ITmedia ビジネスオンライン「日常で最も多く利用するポイントは『楽天ポイント』幅広い世代で最多」(2021年10月)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[11] MMD研究所「ポイント経済圏のサービス利用に関する調査」(2025年7月)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[12] 第一生命経済研究所「シニアのポイ活事情 ―キャッシュレス化が後押しするシニアのポイントサービス利用―」鄭美沙(Life Design Report 2025.7、50〜79歳2,400人調査)</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[13] マイナビニュース「『ポイ活』を行っているシニアは6割弱 ―ポイ活アプリ、ネットバンキングの利用状況は?」(2025年7月10日)</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[14] 株式会社ハルメク「シニア女性に聞いた『キャッシュレス決済』に関する実態調査」</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[15] NTTドコモ モバイル社会研究所「【シニア】QRコード決済利用率 60代が1年で7ポイント上昇し半数を超える」(2024年5月30日)</a:t>
            </a:r>
            <a:endParaRPr lang="en-US" sz="850" dirty="0"/>
          </a:p>
        </p:txBody>
      </p:sp>
      <p:sp>
        <p:nvSpPr>
          <p:cNvPr id="4" name="Text 2"/>
          <p:cNvSpPr/>
          <p:nvPr/>
        </p:nvSpPr>
        <p:spPr>
          <a:xfrm>
            <a:off x="6263640" y="960120"/>
            <a:ext cx="5440680" cy="3977640"/>
          </a:xfrm>
          <a:prstGeom prst="rect">
            <a:avLst/>
          </a:prstGeom>
          <a:noFill/>
          <a:ln/>
        </p:spPr>
        <p:txBody>
          <a:bodyPr wrap="square" lIns="0" tIns="0" rIns="0" bIns="0" rtlCol="0" anchor="t"/>
          <a:lstStyle/>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[16] マイボイスコム株式会社「ポイントサービスに関するアンケート調査」(直近1年間の利用店舗・業種別)</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[17] 一般社団法人全国スーパーマーケット協会・一般社団法人日本スーパーマーケット協会「2023年 スーパーマーケット年次統計調査 報告書」(2023年10月)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[18] 株式会社プラネット「意識調査 Fromプラネット Vol.75 ―ポイントカードに関する意識調査―」</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[19] ポイントマーケティングラボ「共通ポイントと自社（個別）ポイントの特徴や違い」</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[20] LIMO「TポイントやPontaの共通ポイント、原資は誰が出しているの？ 増える共通ポイント導入企業、今後の課題は何か」</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[21] コツマガ「dポイントは2重取り、3重取りもできる！対象の加盟店と手順、注意点を解説」</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[22] ポイ探「独自ポイントと共通ポイントの併用パターンが増えてきた理由とは？ 独自ポイントを発行するメリットを解説！」</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[23] PRESIDENT「なぜか満足度が高まる『ポイント還元』の罠 販促効果は『値引き』の3.6倍もある」</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[24] 東芝テック「現金値引よりポイント還元が好まれるワケ―行動経済学が教える正しいポイントの貯め方」</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[25] SBギフト「ポイントプログラムとは？自社導入を考える前に知っておくべき概要とメリット・デメリット」</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[26] ライブドアニュース「ポイントカードの不正利用が急増 セキュリティ対策は難しく」</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[27] note「ポイント戦略の分岐点―自社と共通の違いを科学する」</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[28] NTTドコモ公式ヘルプ「dポイントの『期間・用途限定ポイント』とは何ですか？」</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[29] ドットマガジン「マイル交換率がよいルート。JAL派やANA派が貯めたいポイントの種類」</a:t>
            </a:r>
            <a:endParaRPr lang="en-US" sz="850" dirty="0"/>
          </a:p>
          <a:p>
            <a:pPr indent="0" marL="0">
              <a:spcAft>
                <a:spcPts val="400"/>
              </a:spcAft>
              <a:buNone/>
            </a:pPr>
            <a:r>
              <a:rPr lang="en-US" sz="850" dirty="0">
                <a:solidFill>
                  <a:srgbClr val="1B1B2F"/>
                </a:solidFill>
                <a:latin typeface="Calibri" pitchFamily="34" charset="0"/>
                <a:ea typeface="Calibri" pitchFamily="34" charset="-122"/>
                <a:cs typeface="Calibri" pitchFamily="34" charset="-120"/>
              </a:rPr>
              <a:t>[30] ANAマイレージクラブ公式サイト「提携ポイントへの交換」</a:t>
            </a:r>
            <a:endParaRPr lang="en-US" sz="850" dirty="0"/>
          </a:p>
        </p:txBody>
      </p:sp>
      <p:sp>
        <p:nvSpPr>
          <p:cNvPr id="5" name="Shape 3"/>
          <p:cNvSpPr/>
          <p:nvPr/>
        </p:nvSpPr>
        <p:spPr>
          <a:xfrm>
            <a:off x="457200" y="4983480"/>
            <a:ext cx="11247120" cy="1417320"/>
          </a:xfrm>
          <a:prstGeom prst="roundRect">
            <a:avLst>
              <a:gd name="adj" fmla="val 5161"/>
            </a:avLst>
          </a:prstGeom>
          <a:solidFill>
            <a:srgbClr val="F4F6FB"/>
          </a:solidFill>
          <a:ln w="9525">
            <a:solidFill>
              <a:srgbClr val="D7DEEE"/>
            </a:solidFill>
            <a:prstDash val="solid"/>
          </a:ln>
        </p:spPr>
      </p:sp>
      <p:sp>
        <p:nvSpPr>
          <p:cNvPr id="6" name="Text 4"/>
          <p:cNvSpPr/>
          <p:nvPr/>
        </p:nvSpPr>
        <p:spPr>
          <a:xfrm>
            <a:off x="685800" y="5120640"/>
            <a:ext cx="10789920" cy="1188720"/>
          </a:xfrm>
          <a:prstGeom prst="rect">
            <a:avLst/>
          </a:prstGeom>
          <a:noFill/>
          <a:ln/>
        </p:spPr>
        <p:txBody>
          <a:bodyPr wrap="square" lIns="0" tIns="0" rIns="0" bIns="0" rtlCol="0" anchor="t"/>
          <a:lstStyle/>
          <a:p>
            <a:pPr indent="0" marL="0">
              <a:buNone/>
            </a:pPr>
            <a:r>
              <a:rPr lang="en-US" sz="1150" b="1" dirty="0">
                <a:solidFill>
                  <a:srgbClr val="1E2761"/>
                </a:solidFill>
                <a:latin typeface="Calibri" pitchFamily="34" charset="0"/>
                <a:ea typeface="Calibri" pitchFamily="34" charset="-122"/>
                <a:cs typeface="Calibri" pitchFamily="34" charset="-120"/>
              </a:rPr>
              <a:t>算定根拠(確度の付け方)　</a:t>
            </a:r>
            <a:endParaRPr lang="en-US" sz="1150" dirty="0"/>
          </a:p>
          <a:p>
            <a:pPr indent="0" marL="0">
              <a:buNone/>
            </a:pPr>
            <a:r>
              <a:rPr lang="en-US" sz="1000" dirty="0">
                <a:solidFill>
                  <a:srgbClr val="1B1B2F"/>
                </a:solidFill>
                <a:latin typeface="Calibri" pitchFamily="34" charset="0"/>
                <a:ea typeface="Calibri" pitchFamily="34" charset="-122"/>
                <a:cs typeface="Calibri" pitchFamily="34" charset="-120"/>
              </a:rPr>
              <a:t>各社は年齢・性別の詳細な会員構成を公式には開示していないため、本資料は複数の公開報道・調査会社レポートの整合性から推定した二次情報の統合である。「高」は公式データ・企業担当者コメントを含む複数の独立ソースが一致した項目、「中」は報道・調査会社データのみ、または単一/やや古い情報源に基づく項目を指す。</a:t>
            </a:r>
            <a:endParaRPr lang="en-US" sz="1150" dirty="0"/>
          </a:p>
          <a:p>
            <a:pPr indent="0" marL="0">
              <a:buNone/>
            </a:pPr>
            <a:r>
              <a:rPr lang="en-US" sz="950" i="1" dirty="0">
                <a:solidFill>
                  <a:srgbClr val="5A6B8C"/>
                </a:solidFill>
                <a:latin typeface="Calibri" pitchFamily="34" charset="0"/>
                <a:ea typeface="Calibri" pitchFamily="34" charset="-122"/>
                <a:cs typeface="Calibri" pitchFamily="34" charset="-120"/>
              </a:rPr>
              <a:t>注: 「dポイント会員の約2人に1人が非ドコモユーザー」という数値は単一のSEO記事のみで確認され、公式IR等で未確認のため本表には採用していない。</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85800"/>
            <a:ext cx="5486400" cy="50292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結論</a:t>
            </a:r>
            <a:endParaRPr lang="en-US" sz="2200" dirty="0"/>
          </a:p>
        </p:txBody>
      </p:sp>
      <p:sp>
        <p:nvSpPr>
          <p:cNvPr id="3" name="Text 1"/>
          <p:cNvSpPr/>
          <p:nvPr/>
        </p:nvSpPr>
        <p:spPr>
          <a:xfrm>
            <a:off x="731520" y="1143000"/>
            <a:ext cx="10515600" cy="137160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「登録の広さ」と「利用の偏り」は別軸</a:t>
            </a:r>
            <a:endParaRPr lang="en-US" sz="3000" dirty="0"/>
          </a:p>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業界共通の構造的課題</a:t>
            </a:r>
            <a:endParaRPr lang="en-US" sz="3000" dirty="0"/>
          </a:p>
        </p:txBody>
      </p:sp>
      <p:sp>
        <p:nvSpPr>
          <p:cNvPr id="4" name="Shape 2"/>
          <p:cNvSpPr/>
          <p:nvPr/>
        </p:nvSpPr>
        <p:spPr>
          <a:xfrm>
            <a:off x="731520" y="2935224"/>
            <a:ext cx="292608" cy="292608"/>
          </a:xfrm>
          <a:prstGeom prst="ellipse">
            <a:avLst/>
          </a:prstGeom>
          <a:solidFill>
            <a:srgbClr val="334A8C"/>
          </a:solidFill>
          <a:ln/>
        </p:spPr>
      </p:sp>
      <p:sp>
        <p:nvSpPr>
          <p:cNvPr id="5" name="Text 3"/>
          <p:cNvSpPr/>
          <p:nvPr/>
        </p:nvSpPr>
        <p:spPr>
          <a:xfrm>
            <a:off x="731520" y="293522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2880360"/>
            <a:ext cx="10058400" cy="685800"/>
          </a:xfrm>
          <a:prstGeom prst="rect">
            <a:avLst/>
          </a:prstGeom>
          <a:noFill/>
          <a:ln/>
        </p:spPr>
        <p:txBody>
          <a:bodyPr wrap="square" lIns="0" tIns="0" rIns="0" bIns="0" rtlCol="0" anchor="t"/>
          <a:lstStyle/>
          <a:p>
            <a:pPr indent="0" marL="0">
              <a:buNone/>
            </a:pPr>
            <a:r>
              <a:rPr lang="en-US" sz="1450" dirty="0">
                <a:solidFill>
                  <a:srgbClr val="CADCFC"/>
                </a:solidFill>
                <a:latin typeface="Calibri" pitchFamily="34" charset="0"/>
                <a:ea typeface="Calibri" pitchFamily="34" charset="-122"/>
                <a:cs typeface="Calibri" pitchFamily="34" charset="-120"/>
              </a:rPr>
              <a:t>各ポイントサービスは、母体企業(通信キャリア/EC/旧CCC提携先)の顧客基盤に応じた属性の偏りを構造的に抱える</a:t>
            </a:r>
            <a:endParaRPr lang="en-US" sz="1450" dirty="0"/>
          </a:p>
        </p:txBody>
      </p:sp>
      <p:sp>
        <p:nvSpPr>
          <p:cNvPr id="7" name="Shape 5"/>
          <p:cNvSpPr/>
          <p:nvPr/>
        </p:nvSpPr>
        <p:spPr>
          <a:xfrm>
            <a:off x="731520" y="3776472"/>
            <a:ext cx="292608" cy="292608"/>
          </a:xfrm>
          <a:prstGeom prst="ellipse">
            <a:avLst/>
          </a:prstGeom>
          <a:solidFill>
            <a:srgbClr val="334A8C"/>
          </a:solidFill>
          <a:ln/>
        </p:spPr>
      </p:sp>
      <p:sp>
        <p:nvSpPr>
          <p:cNvPr id="8" name="Text 6"/>
          <p:cNvSpPr/>
          <p:nvPr/>
        </p:nvSpPr>
        <p:spPr>
          <a:xfrm>
            <a:off x="731520" y="37764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34440" y="3721608"/>
            <a:ext cx="10058400" cy="685800"/>
          </a:xfrm>
          <a:prstGeom prst="rect">
            <a:avLst/>
          </a:prstGeom>
          <a:noFill/>
          <a:ln/>
        </p:spPr>
        <p:txBody>
          <a:bodyPr wrap="square" lIns="0" tIns="0" rIns="0" bIns="0" rtlCol="0" anchor="t"/>
          <a:lstStyle/>
          <a:p>
            <a:pPr indent="0" marL="0">
              <a:buNone/>
            </a:pPr>
            <a:r>
              <a:rPr lang="en-US" sz="1450" dirty="0">
                <a:solidFill>
                  <a:srgbClr val="CADCFC"/>
                </a:solidFill>
                <a:latin typeface="Calibri" pitchFamily="34" charset="0"/>
                <a:ea typeface="Calibri" pitchFamily="34" charset="-122"/>
                <a:cs typeface="Calibri" pitchFamily="34" charset="-120"/>
              </a:rPr>
              <a:t>特にPontaポイントはdポイントと同型の「登録は幅広いが、メイン利用は特定層に集中」という構造が確認できた</a:t>
            </a:r>
            <a:endParaRPr lang="en-US" sz="1450" dirty="0"/>
          </a:p>
        </p:txBody>
      </p:sp>
      <p:sp>
        <p:nvSpPr>
          <p:cNvPr id="10" name="Shape 8"/>
          <p:cNvSpPr/>
          <p:nvPr/>
        </p:nvSpPr>
        <p:spPr>
          <a:xfrm>
            <a:off x="731520" y="4617720"/>
            <a:ext cx="292608" cy="292608"/>
          </a:xfrm>
          <a:prstGeom prst="ellipse">
            <a:avLst/>
          </a:prstGeom>
          <a:solidFill>
            <a:srgbClr val="334A8C"/>
          </a:solidFill>
          <a:ln/>
        </p:spPr>
      </p:sp>
      <p:sp>
        <p:nvSpPr>
          <p:cNvPr id="11" name="Text 9"/>
          <p:cNvSpPr/>
          <p:nvPr/>
        </p:nvSpPr>
        <p:spPr>
          <a:xfrm>
            <a:off x="731520" y="46177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234440" y="4562856"/>
            <a:ext cx="10058400" cy="685800"/>
          </a:xfrm>
          <a:prstGeom prst="rect">
            <a:avLst/>
          </a:prstGeom>
          <a:noFill/>
          <a:ln/>
        </p:spPr>
        <p:txBody>
          <a:bodyPr wrap="square" lIns="0" tIns="0" rIns="0" bIns="0" rtlCol="0" anchor="t"/>
          <a:lstStyle/>
          <a:p>
            <a:pPr indent="0" marL="0">
              <a:buNone/>
            </a:pPr>
            <a:r>
              <a:rPr lang="en-US" sz="1450" dirty="0">
                <a:solidFill>
                  <a:srgbClr val="CADCFC"/>
                </a:solidFill>
                <a:latin typeface="Calibri" pitchFamily="34" charset="0"/>
                <a:ea typeface="Calibri" pitchFamily="34" charset="-122"/>
                <a:cs typeface="Calibri" pitchFamily="34" charset="-120"/>
              </a:rPr>
              <a:t>→ dポイント固有の弱点ではなく、業界全体がキャリア基盤に紐づく偏りを抱えている</a:t>
            </a:r>
            <a:endParaRPr lang="en-US" sz="1450" dirty="0"/>
          </a:p>
        </p:txBody>
      </p:sp>
      <p:sp>
        <p:nvSpPr>
          <p:cNvPr id="13" name="Shape 11"/>
          <p:cNvSpPr/>
          <p:nvPr/>
        </p:nvSpPr>
        <p:spPr>
          <a:xfrm>
            <a:off x="731520" y="5458968"/>
            <a:ext cx="292608" cy="292608"/>
          </a:xfrm>
          <a:prstGeom prst="ellipse">
            <a:avLst/>
          </a:prstGeom>
          <a:solidFill>
            <a:srgbClr val="3AA0FF"/>
          </a:solidFill>
          <a:ln/>
        </p:spPr>
      </p:sp>
      <p:sp>
        <p:nvSpPr>
          <p:cNvPr id="14" name="Text 12"/>
          <p:cNvSpPr/>
          <p:nvPr/>
        </p:nvSpPr>
        <p:spPr>
          <a:xfrm>
            <a:off x="731520" y="5458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234440" y="5404104"/>
            <a:ext cx="10058400" cy="68580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この偏りを最初に解消する企業が、生成AI時代の行動データ資産で優位に立てる</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2026-07-28T03:50:37Z</dcterms:created>
  <dcterms:modified xsi:type="dcterms:W3CDTF">2026-07-28T03:50:37Z</dcterms:modified>
</cp:coreProperties>
</file>