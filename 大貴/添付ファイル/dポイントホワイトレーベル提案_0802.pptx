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1" r:id="rId3"/>
    <p:sldId id="300" r:id="rId4"/>
    <p:sldId id="303" r:id="rId5"/>
    <p:sldId id="289" r:id="rId6"/>
    <p:sldId id="304" r:id="rId7"/>
    <p:sldId id="305" r:id="rId8"/>
    <p:sldId id="288" r:id="rId9"/>
    <p:sldId id="290" r:id="rId10"/>
    <p:sldId id="275" r:id="rId11"/>
    <p:sldId id="306" r:id="rId12"/>
    <p:sldId id="307" r:id="rId13"/>
    <p:sldId id="257" r:id="rId14"/>
    <p:sldId id="292" r:id="rId15"/>
    <p:sldId id="291" r:id="rId16"/>
    <p:sldId id="293" r:id="rId17"/>
    <p:sldId id="294" r:id="rId18"/>
    <p:sldId id="274" r:id="rId19"/>
    <p:sldId id="296" r:id="rId20"/>
    <p:sldId id="295" r:id="rId21"/>
    <p:sldId id="298" r:id="rId22"/>
    <p:sldId id="297" r:id="rId23"/>
    <p:sldId id="299" r:id="rId24"/>
    <p:sldId id="301" r:id="rId25"/>
    <p:sldId id="302" r:id="rId26"/>
  </p:sldIdLst>
  <p:sldSz cx="12192000" cy="6858000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3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ACBB261F-1F9A-4038-9033-D889137BA4CD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346F2D7A-CE24-4F76-BA82-718C692A70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30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58368" y="448389"/>
            <a:ext cx="50292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00AEE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DOCOMO BUSINESS CREATION INTERNSHIP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7170" y="371444"/>
            <a:ext cx="566928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ja-JP" altLang="en-US" sz="2000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ドコモの新規事業提案</a:t>
            </a:r>
            <a:endParaRPr sz="2000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38883" y="2228672"/>
            <a:ext cx="8333233" cy="129266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8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en-US" sz="28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誰でも生成</a:t>
            </a:r>
            <a:r>
              <a:rPr lang="en-US" altLang="ja-JP" sz="28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8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の便利を享受できるサービス</a:t>
            </a:r>
            <a:r>
              <a:rPr sz="28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ja-JP" altLang="en-US" sz="28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2000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を実現する</a:t>
            </a:r>
            <a:endParaRPr lang="en-US" altLang="ja-JP" sz="2000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d-point</a:t>
            </a:r>
            <a:r>
              <a:rPr lang="ja-JP" altLang="en-US" sz="40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ホワイトレーベル</a:t>
            </a:r>
            <a:r>
              <a:rPr lang="ja-JP" altLang="en-US" sz="28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の提案</a:t>
            </a:r>
            <a:endParaRPr sz="2800" b="1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50008" y="3732993"/>
            <a:ext cx="8051292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ja-JP" altLang="en-US" sz="2000" b="0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ー　</a:t>
            </a:r>
            <a:r>
              <a:rPr lang="en-US" altLang="ja-JP" sz="2000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『SyncMe』</a:t>
            </a:r>
            <a:r>
              <a:rPr lang="ja-JP" altLang="en-US" sz="2000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と　</a:t>
            </a:r>
            <a:r>
              <a:rPr lang="en-US" altLang="ja-JP" sz="2000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『Ahamo</a:t>
            </a:r>
            <a:r>
              <a:rPr lang="ja-JP" altLang="en-US" sz="2000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ホワイトレーベル</a:t>
            </a:r>
            <a:r>
              <a:rPr lang="en-US" altLang="ja-JP" sz="2000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2000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の次の一手について　ー</a:t>
            </a:r>
            <a:endParaRPr sz="2000" b="0" dirty="0">
              <a:solidFill>
                <a:srgbClr val="66798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95850" y="4624253"/>
            <a:ext cx="182880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66798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那須 大貴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FAE1-70A5-CA60-AB72-FFD9835D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52A892-BE3A-14A6-1E08-610534AC4487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ja-JP" altLang="en-US" dirty="0">
                <a:solidFill>
                  <a:srgbClr val="00AEE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ストーリーライン</a:t>
            </a:r>
            <a:endParaRPr dirty="0">
              <a:solidFill>
                <a:srgbClr val="00AEE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7499E6E-1423-BB4F-E799-7D8DF27CBC97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2">
            <a:extLst>
              <a:ext uri="{FF2B5EF4-FFF2-40B4-BE49-F238E27FC236}">
                <a16:creationId xmlns:a16="http://schemas.microsoft.com/office/drawing/2014/main" id="{87B06968-9A9C-FD93-DCF8-46AD1BCEBD80}"/>
              </a:ext>
            </a:extLst>
          </p:cNvPr>
          <p:cNvSpPr txBox="1"/>
          <p:nvPr/>
        </p:nvSpPr>
        <p:spPr>
          <a:xfrm>
            <a:off x="983363" y="972909"/>
            <a:ext cx="6639945" cy="470898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新規事業概要とテーマ選択理由</a:t>
            </a:r>
            <a:endParaRPr lang="en-US" altLang="ja-JP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現状分析</a:t>
            </a:r>
            <a:b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 		2-1.</a:t>
            </a: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b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 		2-2.</a:t>
            </a: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生成</a:t>
            </a:r>
            <a: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の利用状況</a:t>
            </a:r>
            <a:b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 		2-3.</a:t>
            </a: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ポイントの利用状況</a:t>
            </a:r>
            <a:endParaRPr lang="en-US" altLang="ja-JP" sz="2000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 algn="l">
              <a:spcAft>
                <a:spcPts val="180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対策</a:t>
            </a:r>
            <a:b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			3-1.</a:t>
            </a: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対策の考え方</a:t>
            </a:r>
            <a:b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			3-2.</a:t>
            </a: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対策概要</a:t>
            </a:r>
            <a:endParaRPr lang="en-US" altLang="ja-JP" sz="800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 algn="l">
              <a:spcAft>
                <a:spcPts val="180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ドコモにもたらす効果</a:t>
            </a:r>
            <a:endParaRPr lang="en-US" altLang="ja-JP" sz="2400" b="1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 algn="l">
              <a:spcAft>
                <a:spcPts val="180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おわりに</a:t>
            </a:r>
            <a:endParaRPr lang="en-US" altLang="ja-JP" sz="2400" b="1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8469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189A-721D-38C6-E7F2-262D28A0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248D39-BEB2-C997-5B0B-DD1DEF0E9E83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1-1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．テーマ選定の考え方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26908A7-E7F9-AE29-0833-C85CB85B3A8C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タイトル 1">
            <a:extLst>
              <a:ext uri="{FF2B5EF4-FFF2-40B4-BE49-F238E27FC236}">
                <a16:creationId xmlns:a16="http://schemas.microsoft.com/office/drawing/2014/main" id="{F7B9FE55-7150-3F87-1A82-52C658A9E601}"/>
              </a:ext>
            </a:extLst>
          </p:cNvPr>
          <p:cNvSpPr txBox="1">
            <a:spLocks/>
          </p:cNvSpPr>
          <p:nvPr/>
        </p:nvSpPr>
        <p:spPr>
          <a:xfrm>
            <a:off x="776176" y="774757"/>
            <a:ext cx="10345162" cy="10198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生活者ニーズ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ペインと、ドコモの強み　の両面から新事業テーマを検討</a:t>
            </a:r>
            <a:endParaRPr lang="en-US" altLang="ja-JP" sz="24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新事業は、「基盤事業」・「アプリサービス事業」・「料金サービス」に　分類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6CD913E-12E2-7EED-4AB8-7AD824BFBB73}"/>
              </a:ext>
            </a:extLst>
          </p:cNvPr>
          <p:cNvSpPr/>
          <p:nvPr/>
        </p:nvSpPr>
        <p:spPr>
          <a:xfrm>
            <a:off x="345440" y="2167312"/>
            <a:ext cx="3291840" cy="205740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40A5C47-E81C-5F4F-21C1-6731299CF961}"/>
              </a:ext>
            </a:extLst>
          </p:cNvPr>
          <p:cNvSpPr/>
          <p:nvPr/>
        </p:nvSpPr>
        <p:spPr>
          <a:xfrm>
            <a:off x="574040" y="2350192"/>
            <a:ext cx="1463040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01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637EAE1-2B16-D5CF-D381-5983A9A23EAB}"/>
              </a:ext>
            </a:extLst>
          </p:cNvPr>
          <p:cNvSpPr/>
          <p:nvPr/>
        </p:nvSpPr>
        <p:spPr>
          <a:xfrm>
            <a:off x="2585720" y="2441632"/>
            <a:ext cx="777240" cy="68567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CA3A5B4A-197A-EA06-2DAE-FF78D7706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168" y="2597080"/>
            <a:ext cx="457200" cy="40334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4CA95680-71EF-CB4C-712D-2A61D3CB1AD7}"/>
              </a:ext>
            </a:extLst>
          </p:cNvPr>
          <p:cNvSpPr/>
          <p:nvPr/>
        </p:nvSpPr>
        <p:spPr>
          <a:xfrm>
            <a:off x="520700" y="3348251"/>
            <a:ext cx="2941320" cy="61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生活者視点での便利</a:t>
            </a:r>
            <a: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/</a:t>
            </a: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不便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から、新事業の種となる</a:t>
            </a:r>
            <a:endParaRPr lang="en-US" altLang="ja-JP" b="1" dirty="0">
              <a:solidFill>
                <a:srgbClr val="1E2761"/>
              </a:solidFill>
              <a:latin typeface="Meiryo UI" panose="020B0604030504040204" pitchFamily="50" charset="-128"/>
              <a:ea typeface="Meiryo UI" panose="020B0604030504040204" pitchFamily="50" charset="-128"/>
              <a:cs typeface="Cambria" pitchFamily="34" charset="-120"/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ニーズを洗い出す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7FECBD6-72E2-6B20-7433-D46340FB5589}"/>
              </a:ext>
            </a:extLst>
          </p:cNvPr>
          <p:cNvSpPr/>
          <p:nvPr/>
        </p:nvSpPr>
        <p:spPr>
          <a:xfrm>
            <a:off x="3664712" y="2945953"/>
            <a:ext cx="402336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b="1" dirty="0">
                <a:solidFill>
                  <a:srgbClr val="E4007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×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D5857D83-2B28-7704-5F08-4EBB08AEACCE}"/>
              </a:ext>
            </a:extLst>
          </p:cNvPr>
          <p:cNvSpPr/>
          <p:nvPr/>
        </p:nvSpPr>
        <p:spPr>
          <a:xfrm>
            <a:off x="4094480" y="2167312"/>
            <a:ext cx="3291840" cy="205740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922D701-6402-0962-1B79-1CEE157924B7}"/>
              </a:ext>
            </a:extLst>
          </p:cNvPr>
          <p:cNvSpPr/>
          <p:nvPr/>
        </p:nvSpPr>
        <p:spPr>
          <a:xfrm>
            <a:off x="4323080" y="2350192"/>
            <a:ext cx="1463040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02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8A7CEE7-FAD8-C6E7-ECE5-8550671C07EC}"/>
              </a:ext>
            </a:extLst>
          </p:cNvPr>
          <p:cNvSpPr/>
          <p:nvPr/>
        </p:nvSpPr>
        <p:spPr>
          <a:xfrm>
            <a:off x="6334760" y="2441632"/>
            <a:ext cx="777240" cy="68567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CD2AD140-59A7-B6FE-E19A-F5FC38335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208" y="2597080"/>
            <a:ext cx="457200" cy="403340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3DE5D6C8-8C6E-552B-DE06-865C312DF868}"/>
              </a:ext>
            </a:extLst>
          </p:cNvPr>
          <p:cNvSpPr/>
          <p:nvPr/>
        </p:nvSpPr>
        <p:spPr>
          <a:xfrm>
            <a:off x="4233164" y="3202776"/>
            <a:ext cx="3136392" cy="819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ドコモの置かれている経営環境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から望まれることや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活かせる強みについて分析する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A0BF55B2-4328-0035-AA28-9A5B7F092115}"/>
              </a:ext>
            </a:extLst>
          </p:cNvPr>
          <p:cNvSpPr/>
          <p:nvPr/>
        </p:nvSpPr>
        <p:spPr>
          <a:xfrm>
            <a:off x="7843520" y="2167312"/>
            <a:ext cx="4042914" cy="1610828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D1ADED4C-023C-64FD-D722-E616629EBDC9}"/>
              </a:ext>
            </a:extLst>
          </p:cNvPr>
          <p:cNvSpPr/>
          <p:nvPr/>
        </p:nvSpPr>
        <p:spPr>
          <a:xfrm>
            <a:off x="8072120" y="2198260"/>
            <a:ext cx="1463040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03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D81978D-FCEA-804F-A036-7C76A7181418}"/>
              </a:ext>
            </a:extLst>
          </p:cNvPr>
          <p:cNvGrpSpPr/>
          <p:nvPr/>
        </p:nvGrpSpPr>
        <p:grpSpPr>
          <a:xfrm>
            <a:off x="10952480" y="2592807"/>
            <a:ext cx="777240" cy="685678"/>
            <a:chOff x="10144760" y="2452260"/>
            <a:chExt cx="777240" cy="685678"/>
          </a:xfrm>
        </p:grpSpPr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8BA16030-D03D-EB7A-6495-0AE3164F233B}"/>
                </a:ext>
              </a:extLst>
            </p:cNvPr>
            <p:cNvSpPr/>
            <p:nvPr/>
          </p:nvSpPr>
          <p:spPr>
            <a:xfrm>
              <a:off x="10144760" y="2452260"/>
              <a:ext cx="777240" cy="685678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FDA98876-DE97-6044-B607-428AA6C0B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00208" y="2607708"/>
              <a:ext cx="457200" cy="403340"/>
            </a:xfrm>
            <a:prstGeom prst="rect">
              <a:avLst/>
            </a:prstGeom>
          </p:spPr>
        </p:pic>
      </p:grpSp>
      <p:sp>
        <p:nvSpPr>
          <p:cNvPr id="28" name="Text 21">
            <a:extLst>
              <a:ext uri="{FF2B5EF4-FFF2-40B4-BE49-F238E27FC236}">
                <a16:creationId xmlns:a16="http://schemas.microsoft.com/office/drawing/2014/main" id="{E25F9130-BF3E-6D6A-0DF1-2578146E450A}"/>
              </a:ext>
            </a:extLst>
          </p:cNvPr>
          <p:cNvSpPr/>
          <p:nvPr/>
        </p:nvSpPr>
        <p:spPr>
          <a:xfrm>
            <a:off x="8117840" y="2729168"/>
            <a:ext cx="2834640" cy="847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「基盤事業」・「サービス事業」</a:t>
            </a:r>
            <a:endParaRPr lang="en-US" altLang="ja-JP" b="1" dirty="0">
              <a:solidFill>
                <a:srgbClr val="00B05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「料金サービス」のどこを</a:t>
            </a:r>
            <a:endParaRPr lang="en-US" altLang="ja-JP" b="1" dirty="0">
              <a:solidFill>
                <a:srgbClr val="00B05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狙った事業かを意識</a:t>
            </a:r>
            <a:endParaRPr lang="en-US" altLang="ja-JP" b="1" dirty="0">
              <a:solidFill>
                <a:srgbClr val="00B05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吹き出し: 角を丸めた四角形 31">
            <a:extLst>
              <a:ext uri="{FF2B5EF4-FFF2-40B4-BE49-F238E27FC236}">
                <a16:creationId xmlns:a16="http://schemas.microsoft.com/office/drawing/2014/main" id="{7E003E18-9AE9-3B8E-7D48-8AFEB7904AA8}"/>
              </a:ext>
            </a:extLst>
          </p:cNvPr>
          <p:cNvSpPr/>
          <p:nvPr/>
        </p:nvSpPr>
        <p:spPr>
          <a:xfrm>
            <a:off x="183646" y="4692072"/>
            <a:ext cx="3278374" cy="1836917"/>
          </a:xfrm>
          <a:prstGeom prst="wedgeRoundRectCallout">
            <a:avLst>
              <a:gd name="adj1" fmla="val -15279"/>
              <a:gd name="adj2" fmla="val -6858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吹き出し: 角を丸めた四角形 32">
            <a:extLst>
              <a:ext uri="{FF2B5EF4-FFF2-40B4-BE49-F238E27FC236}">
                <a16:creationId xmlns:a16="http://schemas.microsoft.com/office/drawing/2014/main" id="{CC139657-99A9-C9BE-12A0-64AA36DA661A}"/>
              </a:ext>
            </a:extLst>
          </p:cNvPr>
          <p:cNvSpPr/>
          <p:nvPr/>
        </p:nvSpPr>
        <p:spPr>
          <a:xfrm>
            <a:off x="4079498" y="4692072"/>
            <a:ext cx="3278374" cy="1836917"/>
          </a:xfrm>
          <a:prstGeom prst="wedgeRoundRectCallout">
            <a:avLst>
              <a:gd name="adj1" fmla="val -15279"/>
              <a:gd name="adj2" fmla="val -6858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タイトル 1">
            <a:extLst>
              <a:ext uri="{FF2B5EF4-FFF2-40B4-BE49-F238E27FC236}">
                <a16:creationId xmlns:a16="http://schemas.microsoft.com/office/drawing/2014/main" id="{8BB945FA-1AEE-5382-C482-ACE55ACA291F}"/>
              </a:ext>
            </a:extLst>
          </p:cNvPr>
          <p:cNvSpPr txBox="1">
            <a:spLocks/>
          </p:cNvSpPr>
          <p:nvPr/>
        </p:nvSpPr>
        <p:spPr>
          <a:xfrm>
            <a:off x="338455" y="4962960"/>
            <a:ext cx="2859913" cy="1242952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/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・生成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は便利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・誰もが、日常的に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使える進化が必要</a:t>
            </a:r>
          </a:p>
        </p:txBody>
      </p:sp>
      <p:sp>
        <p:nvSpPr>
          <p:cNvPr id="36" name="タイトル 1">
            <a:extLst>
              <a:ext uri="{FF2B5EF4-FFF2-40B4-BE49-F238E27FC236}">
                <a16:creationId xmlns:a16="http://schemas.microsoft.com/office/drawing/2014/main" id="{F6CCCEB3-00A9-EF0D-98D6-7CBBF088F485}"/>
              </a:ext>
            </a:extLst>
          </p:cNvPr>
          <p:cNvSpPr txBox="1">
            <a:spLocks/>
          </p:cNvSpPr>
          <p:nvPr/>
        </p:nvSpPr>
        <p:spPr>
          <a:xfrm>
            <a:off x="4267200" y="4959528"/>
            <a:ext cx="2859913" cy="1242952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/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・顧客基盤に強み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など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活用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が成長戦略の柱</a:t>
            </a: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30006914-6846-E96B-3FAA-FE660E392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965667"/>
            <a:ext cx="4185154" cy="258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4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6CC5-E7D8-AAF2-1A42-02CC9392C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6B1FAFC-D0C8-4C0C-FEDB-DA3806DD6EA2}"/>
              </a:ext>
            </a:extLst>
          </p:cNvPr>
          <p:cNvSpPr/>
          <p:nvPr/>
        </p:nvSpPr>
        <p:spPr>
          <a:xfrm>
            <a:off x="977464" y="1869106"/>
            <a:ext cx="10688558" cy="476560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5F9E88-0FEC-0513-1757-586B338D0C97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1-2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には、行動データが必要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4F6E148-2AA0-944B-1945-C831A1618E53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タイトル 1">
            <a:extLst>
              <a:ext uri="{FF2B5EF4-FFF2-40B4-BE49-F238E27FC236}">
                <a16:creationId xmlns:a16="http://schemas.microsoft.com/office/drawing/2014/main" id="{83E8E0AD-4685-585B-B8C9-3D6640B2DA31}"/>
              </a:ext>
            </a:extLst>
          </p:cNvPr>
          <p:cNvSpPr txBox="1">
            <a:spLocks/>
          </p:cNvSpPr>
          <p:nvPr/>
        </p:nvSpPr>
        <p:spPr>
          <a:xfrm>
            <a:off x="1295260" y="798038"/>
            <a:ext cx="10688558" cy="874932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が、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Chat-GPT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などより　「使われる生成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」になるためには、</a:t>
            </a:r>
            <a:endParaRPr lang="en-US" altLang="ja-JP" sz="24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ja-JP" altLang="en-US" sz="28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行動データ　をもとに、　ユーザを理解することが必要</a:t>
            </a:r>
            <a:endParaRPr lang="ja-JP" altLang="en-US" sz="24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0503993-B4C5-B5EE-651F-BAB377AA65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22" r="3401" b="5715"/>
          <a:stretch>
            <a:fillRect/>
          </a:stretch>
        </p:blipFill>
        <p:spPr>
          <a:xfrm>
            <a:off x="1295260" y="2032631"/>
            <a:ext cx="10113475" cy="452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2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1B21-5FB2-830A-1572-28128B99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E46A14-1614-A235-AF49-BCDAD5816CA2}"/>
              </a:ext>
            </a:extLst>
          </p:cNvPr>
          <p:cNvSpPr txBox="1"/>
          <p:nvPr/>
        </p:nvSpPr>
        <p:spPr>
          <a:xfrm>
            <a:off x="232409" y="49765"/>
            <a:ext cx="7720743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1-3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によりｄポイントは発展　　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ポイントにより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は発展する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E89E0BD-0185-D645-8568-EB03887B7F83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タイトル 1">
            <a:extLst>
              <a:ext uri="{FF2B5EF4-FFF2-40B4-BE49-F238E27FC236}">
                <a16:creationId xmlns:a16="http://schemas.microsoft.com/office/drawing/2014/main" id="{B24DCC90-EA4B-CD72-DE25-C45CB693A4ED}"/>
              </a:ext>
            </a:extLst>
          </p:cNvPr>
          <p:cNvSpPr txBox="1">
            <a:spLocks/>
          </p:cNvSpPr>
          <p:nvPr/>
        </p:nvSpPr>
        <p:spPr>
          <a:xfrm>
            <a:off x="1093240" y="676134"/>
            <a:ext cx="10688558" cy="874932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ｄポイント（お得）と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（便利）は、</a:t>
            </a:r>
            <a:r>
              <a:rPr lang="en-US" altLang="ja-JP" sz="28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28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使うほどに価値が循環</a:t>
            </a:r>
            <a:r>
              <a:rPr lang="en-US" altLang="ja-JP" sz="28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相互連関の関係にある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490ED89-D7E5-961A-D000-7C2D38F2FA14}"/>
              </a:ext>
            </a:extLst>
          </p:cNvPr>
          <p:cNvSpPr/>
          <p:nvPr/>
        </p:nvSpPr>
        <p:spPr>
          <a:xfrm>
            <a:off x="361507" y="1640486"/>
            <a:ext cx="11304515" cy="491979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762C2C-B375-4C98-003F-F39B93D9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77" b="4554"/>
          <a:stretch>
            <a:fillRect/>
          </a:stretch>
        </p:blipFill>
        <p:spPr>
          <a:xfrm>
            <a:off x="894080" y="1900196"/>
            <a:ext cx="10664563" cy="443513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3518ADA-976F-DE89-0912-07332207F6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27" t="58435" r="37452" b="20946"/>
          <a:stretch>
            <a:fillRect/>
          </a:stretch>
        </p:blipFill>
        <p:spPr>
          <a:xfrm>
            <a:off x="4978771" y="2901268"/>
            <a:ext cx="2052559" cy="119911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5B42A68-B624-0EBA-DE55-F1CE5DBE6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98" t="32648" r="11331" b="63240"/>
          <a:stretch>
            <a:fillRect/>
          </a:stretch>
        </p:blipFill>
        <p:spPr>
          <a:xfrm>
            <a:off x="8463515" y="2541164"/>
            <a:ext cx="1584252" cy="36010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4E0E06D-2DAF-927A-649B-91D5A7C39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98" t="32648" r="11331" b="63240"/>
          <a:stretch>
            <a:fillRect/>
          </a:stretch>
        </p:blipFill>
        <p:spPr>
          <a:xfrm>
            <a:off x="5831720" y="6050606"/>
            <a:ext cx="1218827" cy="277042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7210E333-562A-0EBA-5F40-0645FFBF5546}"/>
              </a:ext>
            </a:extLst>
          </p:cNvPr>
          <p:cNvSpPr txBox="1"/>
          <p:nvPr/>
        </p:nvSpPr>
        <p:spPr>
          <a:xfrm>
            <a:off x="8463515" y="2455376"/>
            <a:ext cx="1662943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EF5787E6-99FA-E102-9826-25CA30355943}"/>
              </a:ext>
            </a:extLst>
          </p:cNvPr>
          <p:cNvSpPr txBox="1"/>
          <p:nvPr/>
        </p:nvSpPr>
        <p:spPr>
          <a:xfrm>
            <a:off x="5831720" y="5996777"/>
            <a:ext cx="1399954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(SyncMe)</a:t>
            </a:r>
            <a:endParaRPr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134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30223-9972-4B0D-CD88-F9695856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5C7CA-F1DA-9993-1C01-8527BD8A35D1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1-4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．新事業テーマ選定理由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AB146D1-B9C0-484E-B067-B07EBB82A479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018A9DA-A044-67BD-5D9A-D57CC2537F87}"/>
              </a:ext>
            </a:extLst>
          </p:cNvPr>
          <p:cNvSpPr/>
          <p:nvPr/>
        </p:nvSpPr>
        <p:spPr>
          <a:xfrm>
            <a:off x="370147" y="1023243"/>
            <a:ext cx="10933879" cy="14436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976E9B6C-F0D0-D73D-FA1F-11AEC9D47152}"/>
              </a:ext>
            </a:extLst>
          </p:cNvPr>
          <p:cNvSpPr txBox="1">
            <a:spLocks/>
          </p:cNvSpPr>
          <p:nvPr/>
        </p:nvSpPr>
        <p:spPr>
          <a:xfrm>
            <a:off x="807336" y="1217255"/>
            <a:ext cx="10345162" cy="12000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生活者ニーズ</a:t>
            </a: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ペインの視点から、　</a:t>
            </a:r>
            <a:endParaRPr lang="en-US" altLang="ja-JP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1200"/>
              </a:spcAft>
            </a:pP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『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誰もが生成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の恩恵を享受できる社会実現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を選定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6D8291C-A0D6-5D6C-F8C3-DEBDB2549EF1}"/>
              </a:ext>
            </a:extLst>
          </p:cNvPr>
          <p:cNvSpPr/>
          <p:nvPr/>
        </p:nvSpPr>
        <p:spPr>
          <a:xfrm>
            <a:off x="370147" y="2786342"/>
            <a:ext cx="10933879" cy="14436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3CAE0CAA-5189-E053-2670-A319EA8C5BBD}"/>
              </a:ext>
            </a:extLst>
          </p:cNvPr>
          <p:cNvSpPr txBox="1">
            <a:spLocks/>
          </p:cNvSpPr>
          <p:nvPr/>
        </p:nvSpPr>
        <p:spPr>
          <a:xfrm>
            <a:off x="807336" y="2944877"/>
            <a:ext cx="10345162" cy="1264989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ドコモのアセット活用</a:t>
            </a: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強みの活用の視点から、　</a:t>
            </a:r>
            <a:endParaRPr lang="en-US" altLang="ja-JP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1200"/>
              </a:spcAft>
            </a:pP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『SyncMe</a:t>
            </a:r>
            <a:r>
              <a:rPr lang="ja-JP" altLang="en-US" sz="20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（便利）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ｄポイント</a:t>
            </a:r>
            <a:r>
              <a:rPr lang="ja-JP" altLang="en-US" sz="20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（お得）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の相互連関に注目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D93DB31-6AAC-23F2-B67E-FABFF963D87E}"/>
              </a:ext>
            </a:extLst>
          </p:cNvPr>
          <p:cNvSpPr/>
          <p:nvPr/>
        </p:nvSpPr>
        <p:spPr>
          <a:xfrm>
            <a:off x="370146" y="4625150"/>
            <a:ext cx="10933879" cy="1443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BBFEAD4E-CC94-3DCD-B280-FDE9FD215A05}"/>
              </a:ext>
            </a:extLst>
          </p:cNvPr>
          <p:cNvSpPr txBox="1">
            <a:spLocks/>
          </p:cNvSpPr>
          <p:nvPr/>
        </p:nvSpPr>
        <p:spPr>
          <a:xfrm>
            <a:off x="750540" y="4850344"/>
            <a:ext cx="10345162" cy="10198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新事業は、「基盤事業」「アプリサービス事業」「料金サービス」に　分類できると考えるが、　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基盤が重要と考え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選定した</a:t>
            </a:r>
            <a:endParaRPr lang="en-US" altLang="ja-JP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ja-JP" altLang="en-US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132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2F8A-E541-1F41-7912-E64BEB90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25C00D-757B-C2AF-5F8C-F4AB9D0B6F00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1-5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．新事業概要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EC5B502-1760-FBC5-5372-7291A6ABDE91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E00873D-8CA1-B99B-FD42-B25DFDD4FE60}"/>
              </a:ext>
            </a:extLst>
          </p:cNvPr>
          <p:cNvSpPr/>
          <p:nvPr/>
        </p:nvSpPr>
        <p:spPr>
          <a:xfrm>
            <a:off x="354741" y="2371111"/>
            <a:ext cx="10933879" cy="20552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C3678C2C-6313-0059-E5AE-F1EB973213A3}"/>
              </a:ext>
            </a:extLst>
          </p:cNvPr>
          <p:cNvSpPr txBox="1">
            <a:spLocks/>
          </p:cNvSpPr>
          <p:nvPr/>
        </p:nvSpPr>
        <p:spPr>
          <a:xfrm>
            <a:off x="791930" y="2565124"/>
            <a:ext cx="10345162" cy="1974508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ポイントの　量（会員数）と　　質（毎日使う）　を強化</a:t>
            </a:r>
            <a:b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する新規事業として、</a:t>
            </a:r>
            <a:endParaRPr lang="en-US" altLang="ja-JP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ポイントのホワイトレーベル　を提案する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ja-JP" altLang="en-US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94E2F4-71AF-0793-1528-C1D3CCDC59F8}"/>
              </a:ext>
            </a:extLst>
          </p:cNvPr>
          <p:cNvSpPr/>
          <p:nvPr/>
        </p:nvSpPr>
        <p:spPr>
          <a:xfrm>
            <a:off x="354740" y="4546746"/>
            <a:ext cx="10933879" cy="1901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E8D540E-8EDA-C031-E023-77ACD175956D}"/>
              </a:ext>
            </a:extLst>
          </p:cNvPr>
          <p:cNvSpPr txBox="1">
            <a:spLocks/>
          </p:cNvSpPr>
          <p:nvPr/>
        </p:nvSpPr>
        <p:spPr>
          <a:xfrm>
            <a:off x="791930" y="4740759"/>
            <a:ext cx="10345162" cy="15347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ここで提案するホワイトレーベルとは、</a:t>
            </a:r>
            <a:b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①ブランドは、連携先のブランド</a:t>
            </a:r>
            <a:b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②そこでしか使えないポイント　　　　　　　　を言う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3E7F4569-476B-ADEF-6B99-0AC8441E3C00}"/>
              </a:ext>
            </a:extLst>
          </p:cNvPr>
          <p:cNvSpPr txBox="1">
            <a:spLocks/>
          </p:cNvSpPr>
          <p:nvPr/>
        </p:nvSpPr>
        <p:spPr>
          <a:xfrm>
            <a:off x="629060" y="825457"/>
            <a:ext cx="11359740" cy="1170837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ポイントの量と質の強化は、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のサービス向上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につながり、</a:t>
            </a:r>
            <a:b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加えて、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ｄポイント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マーケティングソリューション事業収益向上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を実現</a:t>
            </a:r>
          </a:p>
        </p:txBody>
      </p:sp>
    </p:spTree>
    <p:extLst>
      <p:ext uri="{BB962C8B-B14F-4D97-AF65-F5344CB8AC3E}">
        <p14:creationId xmlns:p14="http://schemas.microsoft.com/office/powerpoint/2010/main" val="2528743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4F245-0D38-2942-989E-7E116341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17141B1-00B9-7B29-280A-D61C780887CA}"/>
              </a:ext>
            </a:extLst>
          </p:cNvPr>
          <p:cNvSpPr/>
          <p:nvPr/>
        </p:nvSpPr>
        <p:spPr>
          <a:xfrm>
            <a:off x="361507" y="1339986"/>
            <a:ext cx="11304515" cy="5220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4F06F4-8E5C-93C7-112F-17C66E47A49B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1-6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．新規事業概要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・・・　ｄポイント・ホワイトレーベル事業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C8ED755-A5DB-787C-1D28-5B8EDF26ED08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0FED6AA5-AF2D-9892-C15D-6193B580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190" b="13225"/>
          <a:stretch>
            <a:fillRect/>
          </a:stretch>
        </p:blipFill>
        <p:spPr>
          <a:xfrm>
            <a:off x="467833" y="1488569"/>
            <a:ext cx="7283302" cy="4887999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6DE1F7D9-6E6C-5AA0-1093-436AF0DEBCA2}"/>
              </a:ext>
            </a:extLst>
          </p:cNvPr>
          <p:cNvSpPr txBox="1">
            <a:spLocks/>
          </p:cNvSpPr>
          <p:nvPr/>
        </p:nvSpPr>
        <p:spPr>
          <a:xfrm>
            <a:off x="776176" y="736598"/>
            <a:ext cx="10345162" cy="397143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ｄポイント・ホワイトレーベルを起点に、「収益拡大」と「社会価値」の両立を実現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E012755-BEEF-2468-BFA6-A87D5BAF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74" t="4053" b="13225"/>
          <a:stretch>
            <a:fillRect/>
          </a:stretch>
        </p:blipFill>
        <p:spPr>
          <a:xfrm>
            <a:off x="8102010" y="1637415"/>
            <a:ext cx="3285142" cy="469023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926CFD5-3A7D-3FDF-740E-46114921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061" t="63171" r="36546" b="31172"/>
          <a:stretch>
            <a:fillRect/>
          </a:stretch>
        </p:blipFill>
        <p:spPr>
          <a:xfrm>
            <a:off x="6177516" y="5648545"/>
            <a:ext cx="903768" cy="156550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D4A29FBE-15BB-CEEB-D4D8-1AF87FE2FAA9}"/>
              </a:ext>
            </a:extLst>
          </p:cNvPr>
          <p:cNvSpPr txBox="1"/>
          <p:nvPr/>
        </p:nvSpPr>
        <p:spPr>
          <a:xfrm>
            <a:off x="6234227" y="5548791"/>
            <a:ext cx="1197932" cy="276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sz="12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(SyncMe)</a:t>
            </a:r>
            <a:endParaRPr lang="ja-JP" altLang="en-US" sz="1200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1424487-0043-947E-61DE-50FA1E6334BF}"/>
              </a:ext>
            </a:extLst>
          </p:cNvPr>
          <p:cNvSpPr/>
          <p:nvPr/>
        </p:nvSpPr>
        <p:spPr>
          <a:xfrm>
            <a:off x="660401" y="2514602"/>
            <a:ext cx="2468880" cy="452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16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9203-63E2-B74D-DBB5-0F77B1A61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DD9F48E-BB30-F77F-350C-45CF5E375E66}"/>
              </a:ext>
            </a:extLst>
          </p:cNvPr>
          <p:cNvSpPr/>
          <p:nvPr/>
        </p:nvSpPr>
        <p:spPr>
          <a:xfrm>
            <a:off x="167254" y="1716712"/>
            <a:ext cx="10933879" cy="20627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CE8E2-994C-2A36-B25A-EBDA6AB50600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．現状分析（まとめ）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343DE7B-AB52-885C-6CFF-9EB6895E44D8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タイトル 1">
            <a:extLst>
              <a:ext uri="{FF2B5EF4-FFF2-40B4-BE49-F238E27FC236}">
                <a16:creationId xmlns:a16="http://schemas.microsoft.com/office/drawing/2014/main" id="{625788A4-80FA-4895-6304-7C22D799ADC6}"/>
              </a:ext>
            </a:extLst>
          </p:cNvPr>
          <p:cNvSpPr txBox="1">
            <a:spLocks/>
          </p:cNvSpPr>
          <p:nvPr/>
        </p:nvSpPr>
        <p:spPr>
          <a:xfrm>
            <a:off x="761255" y="769890"/>
            <a:ext cx="11012390" cy="1037644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の「便利」とｄポイントの「お得」の相乗効果を最大化するための課題を分析</a:t>
            </a: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２つの共通の課題は、　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日常使われる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サービスになること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23148292-0E9A-F6BF-AE86-E0508844524B}"/>
              </a:ext>
            </a:extLst>
          </p:cNvPr>
          <p:cNvSpPr txBox="1">
            <a:spLocks/>
          </p:cNvSpPr>
          <p:nvPr/>
        </p:nvSpPr>
        <p:spPr>
          <a:xfrm>
            <a:off x="268942" y="1890002"/>
            <a:ext cx="10334331" cy="1521749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＜生成ＡＩの利用状況＞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1200"/>
              </a:spcAft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　生成ＡＩの利用者は急激な成長傾向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　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毎日使う利用者は、約３０％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に留まる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　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「使い方が分からない」と「自分の生活に必要ない」　</a:t>
            </a:r>
            <a:r>
              <a:rPr lang="ja-JP" altLang="en-US" sz="2278" dirty="0">
                <a:latin typeface="Meiryo UI" panose="020B0604030504040204" pitchFamily="50" charset="-128"/>
                <a:ea typeface="Meiryo UI" panose="020B0604030504040204" pitchFamily="50" charset="-128"/>
              </a:rPr>
              <a:t>が、使わない二大理由</a:t>
            </a:r>
            <a:endParaRPr lang="en-US" altLang="ja-JP" sz="2278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BF88FE8-0CCB-3256-533C-C7D57338855F}"/>
              </a:ext>
            </a:extLst>
          </p:cNvPr>
          <p:cNvSpPr/>
          <p:nvPr/>
        </p:nvSpPr>
        <p:spPr>
          <a:xfrm>
            <a:off x="167255" y="4019114"/>
            <a:ext cx="10933878" cy="2573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32EE384-DF93-E839-63A0-ACDDE89EA06F}"/>
              </a:ext>
            </a:extLst>
          </p:cNvPr>
          <p:cNvSpPr txBox="1">
            <a:spLocks/>
          </p:cNvSpPr>
          <p:nvPr/>
        </p:nvSpPr>
        <p:spPr>
          <a:xfrm>
            <a:off x="431644" y="4165313"/>
            <a:ext cx="10069941" cy="2288649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＜ポイントの利用状況＞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1200"/>
              </a:spcAft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　ｄポイントは５大ポイントのひとつ。幅広い年齢層で活用されている。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　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ポイント利用シーンはリアル空間での購買時が５７％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と最も多い。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　「日常的な利用」は、楽天ポイントに対し遅れをとっている。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　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日常利用の代表格「スーパー」では独自ポイントが７割前後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であるが、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			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共通ポイントへの移行兆候が見られる。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547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1CC4-B490-322A-CD86-B1049364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1920E4-636C-0534-72E2-6B2EF3147BB3}"/>
              </a:ext>
            </a:extLst>
          </p:cNvPr>
          <p:cNvSpPr txBox="1"/>
          <p:nvPr/>
        </p:nvSpPr>
        <p:spPr>
          <a:xfrm>
            <a:off x="525978" y="932262"/>
            <a:ext cx="11064240" cy="16158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生成</a:t>
            </a:r>
            <a:r>
              <a:rPr lang="en-US" altLang="ja-JP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の出現は、便利な世界を構築しつつある。</a:t>
            </a:r>
            <a:endParaRPr lang="en-US" altLang="ja-JP" sz="2400" b="1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しかし、生成AIの恩恵を誰もが等しく受けられるわけではない。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371600" lvl="2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年々利用者は増加しているが、</a:t>
            </a:r>
            <a:r>
              <a:rPr lang="ja-JP" altLang="en-US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日本では</a:t>
            </a:r>
            <a:r>
              <a:rPr lang="en-US" altLang="ja-JP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r>
              <a:rPr lang="ja-JP" altLang="en-US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％は利用したことがない</a:t>
            </a:r>
            <a:endParaRPr lang="en-US" altLang="ja-JP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371600" lvl="2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毎日利用する利用者は</a:t>
            </a:r>
            <a:r>
              <a:rPr lang="en-US" altLang="ja-JP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lang="ja-JP" altLang="en-US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％未満</a:t>
            </a:r>
            <a:r>
              <a:rPr lang="ja-JP" altLang="en-US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であり、日常で必須の便利ツールとはなっていない</a:t>
            </a:r>
            <a:endParaRPr lang="en-US" altLang="ja-JP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4D7C638-705D-63CB-6080-E5A0F1DD4EF8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ABCCB85-6BC5-2DED-C9BE-15417E77E93F}"/>
              </a:ext>
            </a:extLst>
          </p:cNvPr>
          <p:cNvSpPr/>
          <p:nvPr/>
        </p:nvSpPr>
        <p:spPr>
          <a:xfrm>
            <a:off x="525978" y="2896331"/>
            <a:ext cx="11140044" cy="3403287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E3088F2-0E60-C706-1382-FD4DBA8957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11"/>
          <a:stretch>
            <a:fillRect/>
          </a:stretch>
        </p:blipFill>
        <p:spPr>
          <a:xfrm>
            <a:off x="680207" y="3492378"/>
            <a:ext cx="4815840" cy="273240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D08F11D4-3D0C-8B7D-DB34-370AE53BDC51}"/>
              </a:ext>
            </a:extLst>
          </p:cNvPr>
          <p:cNvSpPr/>
          <p:nvPr/>
        </p:nvSpPr>
        <p:spPr>
          <a:xfrm>
            <a:off x="2891247" y="6327648"/>
            <a:ext cx="6409505" cy="403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＜</a:t>
            </a:r>
            <a:r>
              <a:rPr 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出典総務省「令和8年版 情報通信白書」（2025年度調査）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＞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1CE32F73-6BA1-B180-89B5-EBEBF44A2ED3}"/>
              </a:ext>
            </a:extLst>
          </p:cNvPr>
          <p:cNvSpPr/>
          <p:nvPr/>
        </p:nvSpPr>
        <p:spPr>
          <a:xfrm>
            <a:off x="1824652" y="3036648"/>
            <a:ext cx="3348594" cy="403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＜日本人の生成</a:t>
            </a:r>
            <a:r>
              <a:rPr lang="en-US" altLang="ja-JP" sz="16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利用割合＞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89C46FD3-7CF1-858F-AD7B-6D37F9A5CC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38"/>
          <a:stretch>
            <a:fillRect/>
          </a:stretch>
        </p:blipFill>
        <p:spPr>
          <a:xfrm>
            <a:off x="6471920" y="3415373"/>
            <a:ext cx="4815840" cy="2707548"/>
          </a:xfrm>
          <a:prstGeom prst="rect">
            <a:avLst/>
          </a:prstGeom>
        </p:spPr>
      </p:pic>
      <p:sp>
        <p:nvSpPr>
          <p:cNvPr id="46" name="Text 7">
            <a:extLst>
              <a:ext uri="{FF2B5EF4-FFF2-40B4-BE49-F238E27FC236}">
                <a16:creationId xmlns:a16="http://schemas.microsoft.com/office/drawing/2014/main" id="{2C78324A-F047-AC76-6BAB-B4101B4692C9}"/>
              </a:ext>
            </a:extLst>
          </p:cNvPr>
          <p:cNvSpPr/>
          <p:nvPr/>
        </p:nvSpPr>
        <p:spPr>
          <a:xfrm>
            <a:off x="6745337" y="2981186"/>
            <a:ext cx="3348594" cy="403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＜利用頻度＞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6D8A45CE-F847-8573-E51C-2C2F79549968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2-2-1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現状分析①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生成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の利用状況</a:t>
            </a:r>
          </a:p>
        </p:txBody>
      </p:sp>
    </p:spTree>
    <p:extLst>
      <p:ext uri="{BB962C8B-B14F-4D97-AF65-F5344CB8AC3E}">
        <p14:creationId xmlns:p14="http://schemas.microsoft.com/office/powerpoint/2010/main" val="3316406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E020-E7C0-6DF2-5FAA-72F99E27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4D7A37-F65E-27EC-D9F1-F05F12DA2A59}"/>
              </a:ext>
            </a:extLst>
          </p:cNvPr>
          <p:cNvSpPr txBox="1"/>
          <p:nvPr/>
        </p:nvSpPr>
        <p:spPr>
          <a:xfrm>
            <a:off x="312466" y="806014"/>
            <a:ext cx="11544254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「使い方が分からない＝リテラシー」や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「自分の生活に必要ない＝仕事・学業以外の使い方は未成熟」　</a:t>
            </a:r>
            <a:r>
              <a:rPr lang="ja-JP" altLang="en-US" sz="2400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が普及阻害要因</a:t>
            </a:r>
            <a:endParaRPr lang="en-US" altLang="ja-JP" sz="2400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2683C6C2-8D2D-AA46-135F-017EE9340D77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2D6DB4B-A83D-A441-5552-74B08AF9D77C}"/>
              </a:ext>
            </a:extLst>
          </p:cNvPr>
          <p:cNvSpPr/>
          <p:nvPr/>
        </p:nvSpPr>
        <p:spPr>
          <a:xfrm>
            <a:off x="525978" y="2062481"/>
            <a:ext cx="7419142" cy="423713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DD96A70A-923C-EEA5-AE4F-145A5BA90AD5}"/>
              </a:ext>
            </a:extLst>
          </p:cNvPr>
          <p:cNvSpPr/>
          <p:nvPr/>
        </p:nvSpPr>
        <p:spPr>
          <a:xfrm>
            <a:off x="1314635" y="6321560"/>
            <a:ext cx="6409505" cy="403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＜</a:t>
            </a:r>
            <a:r>
              <a:rPr 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出典総務省「令和8年版 情報通信白書」（2025年度調査）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" pitchFamily="34" charset="-120"/>
              </a:rPr>
              <a:t>＞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B9529168-BBD7-F79B-0449-89FE9AB2E484}"/>
              </a:ext>
            </a:extLst>
          </p:cNvPr>
          <p:cNvSpPr/>
          <p:nvPr/>
        </p:nvSpPr>
        <p:spPr>
          <a:xfrm>
            <a:off x="232410" y="2229845"/>
            <a:ext cx="4638675" cy="403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＜生成</a:t>
            </a:r>
            <a:r>
              <a:rPr lang="en-US" altLang="ja-JP" sz="16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を使わない理由＞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945E76B-4059-8787-F320-C7FECB00EB8A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2-2-2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現状分析①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生成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の利用状況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DC9FA5C-589B-224D-9CF0-A2DFA537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66" y="2661403"/>
            <a:ext cx="6953354" cy="34983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A315F1-D492-4E90-EA16-1997DAF5C9C4}"/>
              </a:ext>
            </a:extLst>
          </p:cNvPr>
          <p:cNvSpPr/>
          <p:nvPr/>
        </p:nvSpPr>
        <p:spPr>
          <a:xfrm>
            <a:off x="991766" y="5180108"/>
            <a:ext cx="6732374" cy="871878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円形 9">
            <a:extLst>
              <a:ext uri="{FF2B5EF4-FFF2-40B4-BE49-F238E27FC236}">
                <a16:creationId xmlns:a16="http://schemas.microsoft.com/office/drawing/2014/main" id="{FA88AE7B-D47E-92F8-067E-A9CB1E14D0AE}"/>
              </a:ext>
            </a:extLst>
          </p:cNvPr>
          <p:cNvSpPr/>
          <p:nvPr/>
        </p:nvSpPr>
        <p:spPr>
          <a:xfrm>
            <a:off x="8521898" y="2431116"/>
            <a:ext cx="3334822" cy="2950263"/>
          </a:xfrm>
          <a:prstGeom prst="wedgeEllipseCallout">
            <a:avLst>
              <a:gd name="adj1" fmla="val -72017"/>
              <a:gd name="adj2" fmla="val 65944"/>
            </a:avLst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7CAEC7-CF15-F26A-E26F-74963B3AAFBD}"/>
              </a:ext>
            </a:extLst>
          </p:cNvPr>
          <p:cNvSpPr txBox="1"/>
          <p:nvPr/>
        </p:nvSpPr>
        <p:spPr>
          <a:xfrm>
            <a:off x="8864402" y="2885188"/>
            <a:ext cx="2842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800" b="0" i="0" u="none" strike="noStrike" baseline="0" dirty="0">
                <a:solidFill>
                  <a:schemeClr val="bg1"/>
                </a:solidFill>
                <a:latin typeface="UDReiminPr6N-Regular"/>
              </a:rPr>
              <a:t>利用シーンは、</a:t>
            </a:r>
            <a:endParaRPr lang="en-US" altLang="ja-JP" sz="1800" b="0" i="0" u="none" strike="noStrike" baseline="0" dirty="0">
              <a:solidFill>
                <a:schemeClr val="bg1"/>
              </a:solidFill>
              <a:latin typeface="UDReiminPr6N-Regular"/>
            </a:endParaRPr>
          </a:p>
          <a:p>
            <a:pPr algn="l"/>
            <a:r>
              <a:rPr lang="ja-JP" altLang="en-US" dirty="0">
                <a:solidFill>
                  <a:schemeClr val="bg1"/>
                </a:solidFill>
                <a:latin typeface="UDReiminPr6N-Regular"/>
              </a:rPr>
              <a:t>　　</a:t>
            </a:r>
            <a:r>
              <a:rPr lang="ja-JP" altLang="en-US" sz="1800" b="0" i="0" u="none" strike="noStrike" baseline="0" dirty="0">
                <a:solidFill>
                  <a:schemeClr val="bg1"/>
                </a:solidFill>
                <a:latin typeface="UDReiminPr6N-Regular"/>
              </a:rPr>
              <a:t>第一位：情報の理解</a:t>
            </a:r>
            <a:endParaRPr lang="en-US" altLang="ja-JP" dirty="0">
              <a:solidFill>
                <a:schemeClr val="bg1"/>
              </a:solidFill>
              <a:latin typeface="UDReiminPr6N-Regular"/>
            </a:endParaRPr>
          </a:p>
          <a:p>
            <a:pPr algn="l"/>
            <a:r>
              <a:rPr lang="ja-JP" altLang="en-US" sz="1800" b="0" i="0" u="none" strike="noStrike" baseline="0" dirty="0">
                <a:solidFill>
                  <a:schemeClr val="bg1"/>
                </a:solidFill>
                <a:latin typeface="UDReiminPr6N-Regular"/>
              </a:rPr>
              <a:t>　　第二位：文書作成・校正</a:t>
            </a:r>
            <a:endParaRPr lang="en-US" altLang="ja-JP" sz="1800" b="0" i="0" u="none" strike="noStrike" baseline="0" dirty="0">
              <a:solidFill>
                <a:schemeClr val="bg1"/>
              </a:solidFill>
              <a:latin typeface="UDReiminPr6N-Regular"/>
            </a:endParaRPr>
          </a:p>
          <a:p>
            <a:pPr algn="l"/>
            <a:r>
              <a:rPr lang="ja-JP" altLang="en-US" dirty="0">
                <a:solidFill>
                  <a:schemeClr val="bg1"/>
                </a:solidFill>
                <a:latin typeface="UDReiminPr6N-Regular"/>
              </a:rPr>
              <a:t>　　第三位：</a:t>
            </a:r>
            <a:r>
              <a:rPr lang="ja-JP" altLang="en-US" sz="1800" b="0" i="0" u="none" strike="noStrike" baseline="0" dirty="0">
                <a:solidFill>
                  <a:schemeClr val="bg1"/>
                </a:solidFill>
                <a:latin typeface="UDReiminPr6N-Regular"/>
              </a:rPr>
              <a:t>翻訳</a:t>
            </a:r>
            <a:endParaRPr lang="ja-JP" alt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0A4F853-F192-ADC5-7CEE-99127D914763}"/>
              </a:ext>
            </a:extLst>
          </p:cNvPr>
          <p:cNvSpPr txBox="1"/>
          <p:nvPr/>
        </p:nvSpPr>
        <p:spPr>
          <a:xfrm>
            <a:off x="9014460" y="4234152"/>
            <a:ext cx="2842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dirty="0">
                <a:solidFill>
                  <a:schemeClr val="bg1"/>
                </a:solidFill>
              </a:rPr>
              <a:t>仕事・学業以外では、</a:t>
            </a:r>
            <a:br>
              <a:rPr lang="en-US" altLang="ja-JP" dirty="0">
                <a:solidFill>
                  <a:schemeClr val="bg1"/>
                </a:solidFill>
              </a:rPr>
            </a:br>
            <a:r>
              <a:rPr lang="ja-JP" altLang="en-US" dirty="0">
                <a:solidFill>
                  <a:schemeClr val="bg1"/>
                </a:solidFill>
              </a:rPr>
              <a:t>利用する機会は少ない</a:t>
            </a:r>
          </a:p>
        </p:txBody>
      </p:sp>
    </p:spTree>
    <p:extLst>
      <p:ext uri="{BB962C8B-B14F-4D97-AF65-F5344CB8AC3E}">
        <p14:creationId xmlns:p14="http://schemas.microsoft.com/office/powerpoint/2010/main" val="28117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1C88-C31C-2DAC-910A-84FCC85C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B66BF79-20A3-4553-6129-9003899049B0}"/>
              </a:ext>
            </a:extLst>
          </p:cNvPr>
          <p:cNvSpPr/>
          <p:nvPr/>
        </p:nvSpPr>
        <p:spPr>
          <a:xfrm>
            <a:off x="256861" y="1972445"/>
            <a:ext cx="11678277" cy="4490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DB1C61A-0FB8-0D6B-9967-BFE628E3EC76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id="{D9D4DDD5-50F9-FD80-6ABB-E70AB8BE9C17}"/>
              </a:ext>
            </a:extLst>
          </p:cNvPr>
          <p:cNvSpPr txBox="1"/>
          <p:nvPr/>
        </p:nvSpPr>
        <p:spPr>
          <a:xfrm>
            <a:off x="509076" y="608154"/>
            <a:ext cx="11173848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ChatGPT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Claude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などの現在の生成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の弱点は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つ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この弱点は、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で解決可能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0D781238-7D83-893C-466C-86476A20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96" y="2858842"/>
            <a:ext cx="5102860" cy="3401907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E08F43D-5A08-B916-64D9-8A2BE59A5510}"/>
              </a:ext>
            </a:extLst>
          </p:cNvPr>
          <p:cNvSpPr txBox="1"/>
          <p:nvPr/>
        </p:nvSpPr>
        <p:spPr>
          <a:xfrm>
            <a:off x="369159" y="3041322"/>
            <a:ext cx="588994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現在の生成AIは、主にインターネット</a:t>
            </a: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</a:t>
            </a:r>
            <a:br>
              <a:rPr lang="en-US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の文章から知識を学習しているため、</a:t>
            </a: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br>
              <a:rPr lang="en-US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現実の環境や人間の行動を理解して</a:t>
            </a: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br>
              <a:rPr lang="en-US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いるわけではない。</a:t>
            </a:r>
            <a:endParaRPr lang="en-US" altLang="ja-JP" sz="2800" b="1" dirty="0">
              <a:solidFill>
                <a:schemeClr val="accent6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そのため、リアル空間での判断や</a:t>
            </a:r>
            <a:br>
              <a:rPr lang="en-US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レコメンドには限界があ</a:t>
            </a: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る。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4CF4875B-A4F5-8D57-4B22-F5BF5E39D70D}"/>
              </a:ext>
            </a:extLst>
          </p:cNvPr>
          <p:cNvSpPr txBox="1"/>
          <p:nvPr/>
        </p:nvSpPr>
        <p:spPr>
          <a:xfrm>
            <a:off x="395356" y="2071653"/>
            <a:ext cx="6554083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 dirty="0" err="1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弱点</a:t>
            </a:r>
            <a:r>
              <a:rPr lang="ja-JP" altLang="en-US" sz="32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sz="32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：行動データを学んでいない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2077D82-0FB0-60FC-E496-3BA675DA3495}"/>
              </a:ext>
            </a:extLst>
          </p:cNvPr>
          <p:cNvSpPr txBox="1"/>
          <p:nvPr/>
        </p:nvSpPr>
        <p:spPr>
          <a:xfrm>
            <a:off x="232410" y="84691"/>
            <a:ext cx="786511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2-2-3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現状分析①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　生成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の弱点は、行動データの学習不足</a:t>
            </a:r>
          </a:p>
        </p:txBody>
      </p:sp>
    </p:spTree>
    <p:extLst>
      <p:ext uri="{BB962C8B-B14F-4D97-AF65-F5344CB8AC3E}">
        <p14:creationId xmlns:p14="http://schemas.microsoft.com/office/powerpoint/2010/main" val="19806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/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id="{6AC0EA80-4E6E-A449-883D-74B633945D0A}"/>
              </a:ext>
            </a:extLst>
          </p:cNvPr>
          <p:cNvSpPr txBox="1"/>
          <p:nvPr/>
        </p:nvSpPr>
        <p:spPr>
          <a:xfrm>
            <a:off x="457785" y="817830"/>
            <a:ext cx="11173848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ChatGPT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Claude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などの現在の生成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の弱点は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つ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この弱点は、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で解決可能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33FF09-3B3E-75A3-19DC-9B0C2F23C72B}"/>
              </a:ext>
            </a:extLst>
          </p:cNvPr>
          <p:cNvSpPr/>
          <p:nvPr/>
        </p:nvSpPr>
        <p:spPr>
          <a:xfrm>
            <a:off x="344166" y="2035792"/>
            <a:ext cx="11546202" cy="464311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D44F9F7-A396-B834-A4FD-CB5E5331EB55}"/>
              </a:ext>
            </a:extLst>
          </p:cNvPr>
          <p:cNvSpPr txBox="1"/>
          <p:nvPr/>
        </p:nvSpPr>
        <p:spPr>
          <a:xfrm>
            <a:off x="561662" y="2158703"/>
            <a:ext cx="5804104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 dirty="0" err="1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弱点</a:t>
            </a:r>
            <a:r>
              <a:rPr lang="ja-JP" altLang="en-US" sz="32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sz="32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ja-JP" altLang="en-US" sz="3200" b="1" dirty="0">
                <a:solidFill>
                  <a:srgbClr val="0A1B3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利用者のことを知らない</a:t>
            </a:r>
            <a:endParaRPr sz="3200" b="1" dirty="0">
              <a:solidFill>
                <a:srgbClr val="0A1B3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B16F63B-8C1F-18DA-E745-8BBD43E87F0A}"/>
              </a:ext>
            </a:extLst>
          </p:cNvPr>
          <p:cNvSpPr txBox="1"/>
          <p:nvPr/>
        </p:nvSpPr>
        <p:spPr>
          <a:xfrm>
            <a:off x="457785" y="3263175"/>
            <a:ext cx="5392098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・生成</a:t>
            </a:r>
            <a:r>
              <a:rPr lang="en-US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は利用者の考え方や</a:t>
            </a:r>
            <a:br>
              <a:rPr lang="en-US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属性や業務内容などを知らない。</a:t>
            </a:r>
            <a:endParaRPr lang="en-US" altLang="ja-JP" sz="2800" b="1" dirty="0">
              <a:solidFill>
                <a:schemeClr val="accent6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・そのため回答が一般論となる傾向　</a:t>
            </a:r>
            <a:br>
              <a:rPr lang="en-US" altLang="ja-JP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がある。</a:t>
            </a:r>
            <a:endParaRPr lang="en-US" altLang="ja-JP" sz="2800" b="1" dirty="0">
              <a:solidFill>
                <a:schemeClr val="accent6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endParaRPr lang="en-US" altLang="ja-JP" sz="2800" b="1" dirty="0">
              <a:solidFill>
                <a:schemeClr val="accent6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r>
              <a:rPr lang="ja-JP" altLang="en-US" sz="20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20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IT</a:t>
            </a:r>
            <a:r>
              <a:rPr lang="ja-JP" altLang="en-US" sz="2000" b="1" dirty="0">
                <a:solidFill>
                  <a:schemeClr val="accent6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リテラシーがあれば解決できる）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A711471-1972-4EBE-1922-80BA25476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90" r="1098" b="13184"/>
          <a:stretch>
            <a:fillRect/>
          </a:stretch>
        </p:blipFill>
        <p:spPr>
          <a:xfrm>
            <a:off x="5746006" y="2743478"/>
            <a:ext cx="6122878" cy="3799562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1CF673E-5731-CC3C-1067-7CD8C938D54D}"/>
              </a:ext>
            </a:extLst>
          </p:cNvPr>
          <p:cNvSpPr txBox="1"/>
          <p:nvPr/>
        </p:nvSpPr>
        <p:spPr>
          <a:xfrm>
            <a:off x="232410" y="62727"/>
            <a:ext cx="659511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2-2-4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現状分析①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　生成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の弱点は一般的な回答になること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F2DA1-7707-0E4D-F8CF-7B8928C1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4E973F-C5E8-6224-D3D8-A7EDB4CF686B}"/>
              </a:ext>
            </a:extLst>
          </p:cNvPr>
          <p:cNvSpPr/>
          <p:nvPr/>
        </p:nvSpPr>
        <p:spPr>
          <a:xfrm>
            <a:off x="166824" y="2942088"/>
            <a:ext cx="12015015" cy="343059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CA1216A-9889-FA45-D83B-E633135EF9E2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id="{DC51DB50-F519-44D1-4C9E-838FD374ADF7}"/>
              </a:ext>
            </a:extLst>
          </p:cNvPr>
          <p:cNvSpPr txBox="1"/>
          <p:nvPr/>
        </p:nvSpPr>
        <p:spPr>
          <a:xfrm>
            <a:off x="680526" y="763731"/>
            <a:ext cx="1117384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ポイントは五大ポイントのひとつ。　会員数も大きく、年齢の高寄りも比較的小さい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E2EA163-5ED6-69A1-47BB-936D1DBCB4AB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2-3-1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現状分析②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　ポイントの利用状況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02B9E2CB-8F74-7F3F-EC8B-B89AA05D16BE}"/>
              </a:ext>
            </a:extLst>
          </p:cNvPr>
          <p:cNvSpPr/>
          <p:nvPr/>
        </p:nvSpPr>
        <p:spPr>
          <a:xfrm>
            <a:off x="388068" y="1661723"/>
            <a:ext cx="2283991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7C003C9-4043-12AF-B7EE-6C6435C9A8F4}"/>
              </a:ext>
            </a:extLst>
          </p:cNvPr>
          <p:cNvSpPr/>
          <p:nvPr/>
        </p:nvSpPr>
        <p:spPr>
          <a:xfrm>
            <a:off x="388068" y="1661723"/>
            <a:ext cx="22839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指標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73BD78E-9057-95B1-91F4-ACA767298CF3}"/>
              </a:ext>
            </a:extLst>
          </p:cNvPr>
          <p:cNvSpPr/>
          <p:nvPr/>
        </p:nvSpPr>
        <p:spPr>
          <a:xfrm>
            <a:off x="2672059" y="1661723"/>
            <a:ext cx="1907979" cy="457200"/>
          </a:xfrm>
          <a:prstGeom prst="rect">
            <a:avLst/>
          </a:prstGeom>
          <a:solidFill>
            <a:srgbClr val="C7000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27BB94F-F265-CF06-D710-FF1421924D00}"/>
              </a:ext>
            </a:extLst>
          </p:cNvPr>
          <p:cNvSpPr/>
          <p:nvPr/>
        </p:nvSpPr>
        <p:spPr>
          <a:xfrm>
            <a:off x="2672059" y="1661723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NTTドコモ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506C41D3-98DD-95D2-A741-AD0F4D9C28BE}"/>
              </a:ext>
            </a:extLst>
          </p:cNvPr>
          <p:cNvSpPr/>
          <p:nvPr/>
        </p:nvSpPr>
        <p:spPr>
          <a:xfrm>
            <a:off x="10163641" y="1661723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8F132CA-5E2D-EA9B-F5FC-D92932906A32}"/>
              </a:ext>
            </a:extLst>
          </p:cNvPr>
          <p:cNvSpPr/>
          <p:nvPr/>
        </p:nvSpPr>
        <p:spPr>
          <a:xfrm>
            <a:off x="10163641" y="1661723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V</a:t>
            </a:r>
            <a:r>
              <a:rPr lang="ja-JP" alt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ポイント</a:t>
            </a:r>
            <a:br>
              <a:rPr lang="en-US" altLang="ja-JP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ja-JP" alt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（三井住友カード）</a:t>
            </a:r>
            <a:endParaRPr lang="ja-JP" altLang="en-US" sz="1400" b="1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C019BA65-08EA-9A92-8536-A4B1728AA37C}"/>
              </a:ext>
            </a:extLst>
          </p:cNvPr>
          <p:cNvSpPr/>
          <p:nvPr/>
        </p:nvSpPr>
        <p:spPr>
          <a:xfrm>
            <a:off x="388068" y="2118923"/>
            <a:ext cx="2283991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1A18B59-0693-3788-CDE4-C8A4F3EC7C0E}"/>
              </a:ext>
            </a:extLst>
          </p:cNvPr>
          <p:cNvSpPr/>
          <p:nvPr/>
        </p:nvSpPr>
        <p:spPr>
          <a:xfrm>
            <a:off x="497796" y="2118923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ポイント会員数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FACA8ECE-EAC7-1046-F8B6-F42D2FC7A6C7}"/>
              </a:ext>
            </a:extLst>
          </p:cNvPr>
          <p:cNvSpPr/>
          <p:nvPr/>
        </p:nvSpPr>
        <p:spPr>
          <a:xfrm>
            <a:off x="2672059" y="2118923"/>
            <a:ext cx="190797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6F50C2F-907F-78A0-00AA-9C5034797B57}"/>
              </a:ext>
            </a:extLst>
          </p:cNvPr>
          <p:cNvSpPr/>
          <p:nvPr/>
        </p:nvSpPr>
        <p:spPr>
          <a:xfrm>
            <a:off x="2781788" y="2118923"/>
            <a:ext cx="156834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>
                <a:solidFill>
                  <a:srgbClr val="D0021B"/>
                </a:solidFill>
              </a:rPr>
              <a:t>1</a:t>
            </a:r>
            <a:r>
              <a:rPr lang="ja-JP" altLang="en-US" sz="1400" b="1" dirty="0">
                <a:solidFill>
                  <a:srgbClr val="D0021B"/>
                </a:solidFill>
              </a:rPr>
              <a:t>億</a:t>
            </a:r>
            <a:r>
              <a:rPr lang="en-US" altLang="ja-JP" sz="1400" b="1" dirty="0">
                <a:solidFill>
                  <a:srgbClr val="D0021B"/>
                </a:solidFill>
              </a:rPr>
              <a:t>500</a:t>
            </a:r>
            <a:r>
              <a:rPr lang="ja-JP" altLang="en-US" sz="1400" b="1" dirty="0">
                <a:solidFill>
                  <a:srgbClr val="D0021B"/>
                </a:solidFill>
              </a:rPr>
              <a:t>万</a:t>
            </a: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DDDE362D-8890-A390-7EB6-E2B3C54AAACC}"/>
              </a:ext>
            </a:extLst>
          </p:cNvPr>
          <p:cNvSpPr/>
          <p:nvPr/>
        </p:nvSpPr>
        <p:spPr>
          <a:xfrm>
            <a:off x="10163641" y="2118923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294220C3-5FCD-9AD2-8A2B-F2BDAFA3BED5}"/>
              </a:ext>
            </a:extLst>
          </p:cNvPr>
          <p:cNvSpPr/>
          <p:nvPr/>
        </p:nvSpPr>
        <p:spPr>
          <a:xfrm>
            <a:off x="10273369" y="2118923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</a:t>
            </a:r>
            <a:r>
              <a:rPr lang="en-US" altLang="ja-JP" sz="1400" b="1" dirty="0"/>
              <a:t>6,000</a:t>
            </a:r>
            <a:r>
              <a:rPr lang="ja-JP" altLang="en-US" sz="1400" b="1" dirty="0"/>
              <a:t>万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857EAA9F-4706-9E7A-650C-A286752F298F}"/>
              </a:ext>
            </a:extLst>
          </p:cNvPr>
          <p:cNvSpPr/>
          <p:nvPr/>
        </p:nvSpPr>
        <p:spPr>
          <a:xfrm>
            <a:off x="6444143" y="1664871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73E855A4-23F8-7291-5A56-BF3F08F42A32}"/>
              </a:ext>
            </a:extLst>
          </p:cNvPr>
          <p:cNvSpPr/>
          <p:nvPr/>
        </p:nvSpPr>
        <p:spPr>
          <a:xfrm>
            <a:off x="6444143" y="1664871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PayPay</a:t>
            </a: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 PT</a:t>
            </a: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4E2F5155-58D0-38A8-D8B2-D3FC580B1E61}"/>
              </a:ext>
            </a:extLst>
          </p:cNvPr>
          <p:cNvSpPr/>
          <p:nvPr/>
        </p:nvSpPr>
        <p:spPr>
          <a:xfrm>
            <a:off x="6444143" y="2122071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5FA7005-B99C-CB83-68EC-A132D5743A6C}"/>
              </a:ext>
            </a:extLst>
          </p:cNvPr>
          <p:cNvSpPr/>
          <p:nvPr/>
        </p:nvSpPr>
        <p:spPr>
          <a:xfrm>
            <a:off x="6553871" y="2122071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億以上</a:t>
            </a: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0A2DC405-C165-F4EC-4E03-87D86DCB19F8}"/>
              </a:ext>
            </a:extLst>
          </p:cNvPr>
          <p:cNvSpPr/>
          <p:nvPr/>
        </p:nvSpPr>
        <p:spPr>
          <a:xfrm>
            <a:off x="8303892" y="1664871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1A93DDB5-2B03-C9EB-ECE0-2085EF8F13B2}"/>
              </a:ext>
            </a:extLst>
          </p:cNvPr>
          <p:cNvSpPr/>
          <p:nvPr/>
        </p:nvSpPr>
        <p:spPr>
          <a:xfrm>
            <a:off x="8303892" y="1664871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楽天</a:t>
            </a: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PT</a:t>
            </a: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E04B9932-19F0-600B-D60D-D85745766660}"/>
              </a:ext>
            </a:extLst>
          </p:cNvPr>
          <p:cNvSpPr/>
          <p:nvPr/>
        </p:nvSpPr>
        <p:spPr>
          <a:xfrm>
            <a:off x="8303892" y="2122071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AC6C75B0-5476-E2FB-20A4-78699DA121EA}"/>
              </a:ext>
            </a:extLst>
          </p:cNvPr>
          <p:cNvSpPr/>
          <p:nvPr/>
        </p:nvSpPr>
        <p:spPr>
          <a:xfrm>
            <a:off x="8413620" y="2122071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億以上</a:t>
            </a: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86878AE0-42DD-C5E3-C5A4-5DE1030E14F9}"/>
              </a:ext>
            </a:extLst>
          </p:cNvPr>
          <p:cNvSpPr/>
          <p:nvPr/>
        </p:nvSpPr>
        <p:spPr>
          <a:xfrm>
            <a:off x="4580038" y="1669493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60C81C02-CA57-CBE7-24A6-154226318D36}"/>
              </a:ext>
            </a:extLst>
          </p:cNvPr>
          <p:cNvSpPr/>
          <p:nvPr/>
        </p:nvSpPr>
        <p:spPr>
          <a:xfrm>
            <a:off x="4580038" y="1669493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Ponta</a:t>
            </a: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62040B26-36B8-884C-AF91-A8F1C657C431}"/>
              </a:ext>
            </a:extLst>
          </p:cNvPr>
          <p:cNvSpPr/>
          <p:nvPr/>
        </p:nvSpPr>
        <p:spPr>
          <a:xfrm>
            <a:off x="4580038" y="2126693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81638553-F62D-F0F4-62B6-DAC02164CED7}"/>
              </a:ext>
            </a:extLst>
          </p:cNvPr>
          <p:cNvSpPr/>
          <p:nvPr/>
        </p:nvSpPr>
        <p:spPr>
          <a:xfrm>
            <a:off x="4689766" y="2126693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億以上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1FA0AEBD-ABDD-3D49-F4E1-D13606E01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83"/>
          <a:stretch>
            <a:fillRect/>
          </a:stretch>
        </p:blipFill>
        <p:spPr>
          <a:xfrm>
            <a:off x="3689970" y="3497387"/>
            <a:ext cx="7863472" cy="274898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528DC8-BA5E-45B6-47A4-2234EFB0A3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4" t="8521" r="29103" b="10592"/>
          <a:stretch>
            <a:fillRect/>
          </a:stretch>
        </p:blipFill>
        <p:spPr bwMode="auto">
          <a:xfrm>
            <a:off x="943137" y="3637131"/>
            <a:ext cx="2612664" cy="2364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760F0094-2343-599B-5F4A-2C963C3CE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33" b="91695"/>
          <a:stretch>
            <a:fillRect/>
          </a:stretch>
        </p:blipFill>
        <p:spPr bwMode="auto">
          <a:xfrm>
            <a:off x="247465" y="3043697"/>
            <a:ext cx="5048326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05BE8E-8442-CD12-B17F-9EDD146FA5C1}"/>
              </a:ext>
            </a:extLst>
          </p:cNvPr>
          <p:cNvSpPr txBox="1"/>
          <p:nvPr/>
        </p:nvSpPr>
        <p:spPr>
          <a:xfrm>
            <a:off x="3031355" y="6386563"/>
            <a:ext cx="7122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＜出典　</a:t>
            </a:r>
            <a:r>
              <a:rPr lang="ja-JP" altLang="ja-JP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MM</a:t>
            </a:r>
            <a:r>
              <a:rPr lang="ja-JP" altLang="en-US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総研　</a:t>
            </a:r>
            <a:r>
              <a:rPr lang="ja-JP" altLang="ja-JP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en-US" altLang="ja-JP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2025</a:t>
            </a:r>
            <a:r>
              <a:rPr lang="ja-JP" altLang="en-US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lang="en-US" altLang="ja-JP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lang="ja-JP" altLang="en-US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月ポイント経済圏のサービス利用に関する調査</a:t>
            </a:r>
            <a:r>
              <a:rPr lang="ja-JP" altLang="ja-JP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ja-JP" altLang="en-US" sz="16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＞</a:t>
            </a:r>
            <a:endParaRPr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Box 1">
            <a:extLst>
              <a:ext uri="{FF2B5EF4-FFF2-40B4-BE49-F238E27FC236}">
                <a16:creationId xmlns:a16="http://schemas.microsoft.com/office/drawing/2014/main" id="{B816F2E6-F7B3-6042-C672-FB4424C343AA}"/>
              </a:ext>
            </a:extLst>
          </p:cNvPr>
          <p:cNvSpPr txBox="1"/>
          <p:nvPr/>
        </p:nvSpPr>
        <p:spPr>
          <a:xfrm>
            <a:off x="638558" y="4903001"/>
            <a:ext cx="709930" cy="76944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👉</a:t>
            </a:r>
          </a:p>
        </p:txBody>
      </p:sp>
      <p:sp>
        <p:nvSpPr>
          <p:cNvPr id="44" name="TextBox 1">
            <a:extLst>
              <a:ext uri="{FF2B5EF4-FFF2-40B4-BE49-F238E27FC236}">
                <a16:creationId xmlns:a16="http://schemas.microsoft.com/office/drawing/2014/main" id="{A026ABCF-72C3-1D4E-D5C8-3DB75C9BF71E}"/>
              </a:ext>
            </a:extLst>
          </p:cNvPr>
          <p:cNvSpPr txBox="1"/>
          <p:nvPr/>
        </p:nvSpPr>
        <p:spPr>
          <a:xfrm rot="5591498">
            <a:off x="9296094" y="2813628"/>
            <a:ext cx="709930" cy="76944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👉</a:t>
            </a:r>
          </a:p>
        </p:txBody>
      </p:sp>
    </p:spTree>
    <p:extLst>
      <p:ext uri="{BB962C8B-B14F-4D97-AF65-F5344CB8AC3E}">
        <p14:creationId xmlns:p14="http://schemas.microsoft.com/office/powerpoint/2010/main" val="311295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9638-2977-C45F-026D-91E7F3C7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1A59359-AF86-AE61-D25F-3AD87A0F7B7E}"/>
              </a:ext>
            </a:extLst>
          </p:cNvPr>
          <p:cNvSpPr/>
          <p:nvPr/>
        </p:nvSpPr>
        <p:spPr>
          <a:xfrm>
            <a:off x="542880" y="2137144"/>
            <a:ext cx="11140044" cy="411270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65043E6-62AF-D52F-ABA5-ABCB192DF08B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id="{E4FF2544-879F-E3D9-5893-C29FB4159CD3}"/>
              </a:ext>
            </a:extLst>
          </p:cNvPr>
          <p:cNvSpPr txBox="1"/>
          <p:nvPr/>
        </p:nvSpPr>
        <p:spPr>
          <a:xfrm>
            <a:off x="814344" y="965748"/>
            <a:ext cx="1117384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日常的に使われる共通ポイントは、楽天ポイントが、頭一つ抜けている状況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0763033-D3C7-74CD-AD3B-F7D7F650F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69" t="91479"/>
          <a:stretch>
            <a:fillRect/>
          </a:stretch>
        </p:blipFill>
        <p:spPr>
          <a:xfrm>
            <a:off x="3366158" y="5774727"/>
            <a:ext cx="7930600" cy="36933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60FC81-1253-BF3D-EF05-E8361FCD0232}"/>
              </a:ext>
            </a:extLst>
          </p:cNvPr>
          <p:cNvSpPr txBox="1"/>
          <p:nvPr/>
        </p:nvSpPr>
        <p:spPr>
          <a:xfrm>
            <a:off x="3212965" y="6396994"/>
            <a:ext cx="6108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＜出典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NRI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決済・ポイント実態調査レポート（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年５月）＞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7F6F2F9-F361-A6CE-122B-B9FC0678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700"/>
          <a:stretch>
            <a:fillRect/>
          </a:stretch>
        </p:blipFill>
        <p:spPr>
          <a:xfrm>
            <a:off x="690880" y="2396981"/>
            <a:ext cx="10810239" cy="307281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3BE03C4C-274F-0B53-0815-2571B8CF725B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2-3-2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．日常的に使われる共通ポイントは？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2CB1657-6AFE-2406-10EC-B58B95FB26EA}"/>
              </a:ext>
            </a:extLst>
          </p:cNvPr>
          <p:cNvSpPr/>
          <p:nvPr/>
        </p:nvSpPr>
        <p:spPr>
          <a:xfrm>
            <a:off x="2509520" y="5086750"/>
            <a:ext cx="955984" cy="4359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38AE020-3FEC-803A-C481-9DC11108565D}"/>
              </a:ext>
            </a:extLst>
          </p:cNvPr>
          <p:cNvSpPr/>
          <p:nvPr/>
        </p:nvSpPr>
        <p:spPr>
          <a:xfrm>
            <a:off x="3613504" y="3034204"/>
            <a:ext cx="3498496" cy="462382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B59C368-1BE6-3D00-BDC0-A04CF15C8F4E}"/>
              </a:ext>
            </a:extLst>
          </p:cNvPr>
          <p:cNvSpPr/>
          <p:nvPr/>
        </p:nvSpPr>
        <p:spPr>
          <a:xfrm>
            <a:off x="3613504" y="5056667"/>
            <a:ext cx="1944016" cy="462382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567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0FE8B-188C-2DCB-9A68-5AC6597D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787118-7302-1445-9FA5-D08BE90A4D76}"/>
              </a:ext>
            </a:extLst>
          </p:cNvPr>
          <p:cNvSpPr/>
          <p:nvPr/>
        </p:nvSpPr>
        <p:spPr>
          <a:xfrm>
            <a:off x="542880" y="1806906"/>
            <a:ext cx="11140044" cy="44429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A2C1549-BE04-E084-FAD3-DC6F66E13B2E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id="{6A4EEA3C-D29F-0E27-917C-39AF24483A81}"/>
              </a:ext>
            </a:extLst>
          </p:cNvPr>
          <p:cNvSpPr txBox="1"/>
          <p:nvPr/>
        </p:nvSpPr>
        <p:spPr>
          <a:xfrm>
            <a:off x="814344" y="694193"/>
            <a:ext cx="11173848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ポイントの使い道は、　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店頭での支払い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ネットではなく、リアルな場所での行動データを、ポイントから掴むことができる　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D0AC20E9-1BDF-6B33-6D1A-69F1B6AE6787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2-3-3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．ポイントを使う場所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使うシーン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1C69A6C-43D2-C0AC-7CC4-1D6FFDB71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44" y="1943071"/>
            <a:ext cx="10647554" cy="417061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3DFBEDF-EDE1-981D-8BBC-234751AA94C5}"/>
              </a:ext>
            </a:extLst>
          </p:cNvPr>
          <p:cNvSpPr/>
          <p:nvPr/>
        </p:nvSpPr>
        <p:spPr>
          <a:xfrm>
            <a:off x="1775637" y="2626242"/>
            <a:ext cx="2360428" cy="4359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533162-BD0D-E1CB-23A2-04C5C2AE5CFC}"/>
              </a:ext>
            </a:extLst>
          </p:cNvPr>
          <p:cNvSpPr txBox="1"/>
          <p:nvPr/>
        </p:nvSpPr>
        <p:spPr>
          <a:xfrm>
            <a:off x="3212965" y="6396994"/>
            <a:ext cx="6108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＜出典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NRI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決済・ポイント実態調査レポート（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年５月）＞</a:t>
            </a:r>
          </a:p>
        </p:txBody>
      </p:sp>
    </p:spTree>
    <p:extLst>
      <p:ext uri="{BB962C8B-B14F-4D97-AF65-F5344CB8AC3E}">
        <p14:creationId xmlns:p14="http://schemas.microsoft.com/office/powerpoint/2010/main" val="399290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9099-5BAD-5C50-6F5E-CA0377CE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857CE13-16FD-D611-21B8-DB9803517A11}"/>
              </a:ext>
            </a:extLst>
          </p:cNvPr>
          <p:cNvSpPr/>
          <p:nvPr/>
        </p:nvSpPr>
        <p:spPr>
          <a:xfrm>
            <a:off x="542880" y="1806906"/>
            <a:ext cx="11140044" cy="44429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7A71CA7-86FE-2168-A448-AAD5C7B7268E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id="{A7F7CA6A-6A7F-3637-9E79-327552BE363B}"/>
              </a:ext>
            </a:extLst>
          </p:cNvPr>
          <p:cNvSpPr txBox="1"/>
          <p:nvPr/>
        </p:nvSpPr>
        <p:spPr>
          <a:xfrm>
            <a:off x="814344" y="734915"/>
            <a:ext cx="11173848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日常の行動の代表格である、「スーパーでの買い物」には、独自ポイントが支配的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しかし近年、独自ポイントから共通ポイントへの移行　の兆候が伺える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E32A3B-FEF6-80B3-1758-2A4642D34037}"/>
              </a:ext>
            </a:extLst>
          </p:cNvPr>
          <p:cNvSpPr txBox="1"/>
          <p:nvPr/>
        </p:nvSpPr>
        <p:spPr>
          <a:xfrm>
            <a:off x="3456805" y="6341062"/>
            <a:ext cx="6108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＜出典　全国スーパーマーケット協会「年次統計調査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2025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」＞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5CD58F8E-D51F-6F86-56D5-CE213163442F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2-3-4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．スーパーの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独自ポイント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の割合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A16E0F0-F431-F90E-6987-FDA50E399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44" y="1998195"/>
            <a:ext cx="10269383" cy="4060362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4CA06C-B3F3-F439-349E-223688F36BA3}"/>
              </a:ext>
            </a:extLst>
          </p:cNvPr>
          <p:cNvSpPr/>
          <p:nvPr/>
        </p:nvSpPr>
        <p:spPr>
          <a:xfrm>
            <a:off x="2200940" y="2993065"/>
            <a:ext cx="2360428" cy="4359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C82EF73-B1DF-5896-7BE4-02877EE5265B}"/>
              </a:ext>
            </a:extLst>
          </p:cNvPr>
          <p:cNvSpPr/>
          <p:nvPr/>
        </p:nvSpPr>
        <p:spPr>
          <a:xfrm>
            <a:off x="2200940" y="3943633"/>
            <a:ext cx="2360428" cy="4359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7DFC3F0-EAAA-F6B4-578E-66A25E3F5E8E}"/>
              </a:ext>
            </a:extLst>
          </p:cNvPr>
          <p:cNvCxnSpPr>
            <a:cxnSpLocks/>
          </p:cNvCxnSpPr>
          <p:nvPr/>
        </p:nvCxnSpPr>
        <p:spPr>
          <a:xfrm flipH="1" flipV="1">
            <a:off x="8705246" y="3125972"/>
            <a:ext cx="318976" cy="30302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E716167C-FAA8-90D8-04C2-D4D6643DAFB5}"/>
              </a:ext>
            </a:extLst>
          </p:cNvPr>
          <p:cNvCxnSpPr>
            <a:cxnSpLocks/>
          </p:cNvCxnSpPr>
          <p:nvPr/>
        </p:nvCxnSpPr>
        <p:spPr>
          <a:xfrm flipV="1">
            <a:off x="5094539" y="4010086"/>
            <a:ext cx="466757" cy="30302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641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AAEC4-6EE6-DD92-8166-1FD7D7B9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EEA4E31-9854-16D2-990B-49011D9A1116}"/>
              </a:ext>
            </a:extLst>
          </p:cNvPr>
          <p:cNvSpPr/>
          <p:nvPr/>
        </p:nvSpPr>
        <p:spPr>
          <a:xfrm>
            <a:off x="232410" y="1076960"/>
            <a:ext cx="11464548" cy="11683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42E5661-3B0A-BDA1-8DED-64B461D58E23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36751D71-6288-43A6-4081-9CE12374EC05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3-1-1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．対策の考え方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ED5600D2-D81D-9FAC-5E5A-3496532B64A7}"/>
              </a:ext>
            </a:extLst>
          </p:cNvPr>
          <p:cNvSpPr txBox="1">
            <a:spLocks/>
          </p:cNvSpPr>
          <p:nvPr/>
        </p:nvSpPr>
        <p:spPr>
          <a:xfrm>
            <a:off x="318006" y="4517193"/>
            <a:ext cx="11555988" cy="1588951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ja-JP" altLang="en-US" sz="40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ｄポイントの　　会員数（量）の側面と、　</a:t>
            </a:r>
            <a:endParaRPr lang="en-US" altLang="ja-JP" sz="40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1200"/>
              </a:spcAft>
            </a:pPr>
            <a:r>
              <a:rPr lang="ja-JP" altLang="en-US" sz="40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日常利用（質）の側面の　両方を改善</a:t>
            </a:r>
            <a:endParaRPr lang="en-US" altLang="ja-JP" sz="40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1200"/>
              </a:spcAft>
            </a:pPr>
            <a:endParaRPr lang="en-US" altLang="ja-JP" sz="40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1200"/>
              </a:spcAft>
            </a:pPr>
            <a:endParaRPr lang="en-US" altLang="ja-JP" sz="40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481379DE-8E05-FB5E-E6B5-B3954CE3A516}"/>
              </a:ext>
            </a:extLst>
          </p:cNvPr>
          <p:cNvSpPr txBox="1">
            <a:spLocks/>
          </p:cNvSpPr>
          <p:nvPr/>
        </p:nvSpPr>
        <p:spPr>
          <a:xfrm>
            <a:off x="351532" y="1186716"/>
            <a:ext cx="11088628" cy="1018001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/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（１）</a:t>
            </a:r>
            <a:r>
              <a:rPr lang="en-US" altLang="ja-JP" sz="28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の「便利」とｄポイントの「お得」の相乗効果を最大化には、</a:t>
            </a:r>
            <a:b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　「日常使い」の利用シーン・利用者へのリーチが必要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56EEE07-124A-327B-82E0-41D1967FF5C3}"/>
              </a:ext>
            </a:extLst>
          </p:cNvPr>
          <p:cNvSpPr/>
          <p:nvPr/>
        </p:nvSpPr>
        <p:spPr>
          <a:xfrm>
            <a:off x="224532" y="2512565"/>
            <a:ext cx="11464548" cy="11683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CDC807F-E5B3-96D0-A293-87FD2E6529C3}"/>
              </a:ext>
            </a:extLst>
          </p:cNvPr>
          <p:cNvSpPr txBox="1">
            <a:spLocks/>
          </p:cNvSpPr>
          <p:nvPr/>
        </p:nvSpPr>
        <p:spPr>
          <a:xfrm>
            <a:off x="351532" y="2662961"/>
            <a:ext cx="11088628" cy="1018001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/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（２）毎日使うポテンシャルの高い、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スーパー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で、ｄポイントが使われる</a:t>
            </a:r>
            <a:b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　対策を検討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647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16296-3D99-CBA7-7865-D9E2AD08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A748E10-6BB5-035A-90B4-2ADB5AF1D49B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2F42D5C8-5003-3A3F-71E4-DEC06EAA5C06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3-1-2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．対策の考え方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BAAC2316-4216-0F92-B351-5619ACCD7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346122"/>
              </p:ext>
            </p:extLst>
          </p:nvPr>
        </p:nvGraphicFramePr>
        <p:xfrm>
          <a:off x="1066800" y="2042178"/>
          <a:ext cx="10546080" cy="438082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082702">
                  <a:extLst>
                    <a:ext uri="{9D8B030D-6E8A-4147-A177-3AD203B41FA5}">
                      <a16:colId xmlns:a16="http://schemas.microsoft.com/office/drawing/2014/main" val="1181536051"/>
                    </a:ext>
                  </a:extLst>
                </a:gridCol>
                <a:gridCol w="4731689">
                  <a:extLst>
                    <a:ext uri="{9D8B030D-6E8A-4147-A177-3AD203B41FA5}">
                      <a16:colId xmlns:a16="http://schemas.microsoft.com/office/drawing/2014/main" val="3248413311"/>
                    </a:ext>
                  </a:extLst>
                </a:gridCol>
                <a:gridCol w="4731689">
                  <a:extLst>
                    <a:ext uri="{9D8B030D-6E8A-4147-A177-3AD203B41FA5}">
                      <a16:colId xmlns:a16="http://schemas.microsoft.com/office/drawing/2014/main" val="2946573500"/>
                    </a:ext>
                  </a:extLst>
                </a:gridCol>
              </a:tblGrid>
              <a:tr h="3827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/>
                        <a:t>独自ポイント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dirty="0"/>
                        <a:t>共通ポイント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994039"/>
                  </a:ext>
                </a:extLst>
              </a:tr>
              <a:tr h="382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狙い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囲い込み・顧客理解</a:t>
                      </a:r>
                      <a:endParaRPr lang="ja-JP" sz="2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集客・運営効率</a:t>
                      </a:r>
                      <a:endParaRPr lang="ja-JP" sz="2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809817"/>
                  </a:ext>
                </a:extLst>
              </a:tr>
              <a:tr h="95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dirty="0"/>
                        <a:t>強み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・</a:t>
                      </a:r>
                      <a:r>
                        <a:rPr lang="ja-JP" dirty="0"/>
                        <a:t>自社でしか使えないため再来店を促せる</a:t>
                      </a:r>
                      <a:br>
                        <a:rPr lang="ja-JP" dirty="0"/>
                      </a:br>
                      <a:r>
                        <a:rPr lang="ja-JP" altLang="en-US" dirty="0"/>
                        <a:t>・</a:t>
                      </a:r>
                      <a:r>
                        <a:rPr lang="ja-JP" dirty="0"/>
                        <a:t>自社データで顧客を深く理解できる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・他店で貯まった</a:t>
                      </a:r>
                      <a:r>
                        <a:rPr lang="ja-JP" dirty="0"/>
                        <a:t>ポイントを</a:t>
                      </a:r>
                      <a:r>
                        <a:rPr lang="ja-JP" altLang="en-US" dirty="0"/>
                        <a:t>使えるお得感</a:t>
                      </a:r>
                      <a:br>
                        <a:rPr lang="ja-JP" dirty="0"/>
                      </a:br>
                      <a:r>
                        <a:rPr lang="ja-JP" altLang="en-US" dirty="0"/>
                        <a:t>・</a:t>
                      </a:r>
                      <a:r>
                        <a:rPr lang="ja-JP" dirty="0"/>
                        <a:t>運営基盤を自社構築しなくてよい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44160"/>
                  </a:ext>
                </a:extLst>
              </a:tr>
              <a:tr h="1244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弱み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・</a:t>
                      </a:r>
                      <a:r>
                        <a:rPr lang="ja-JP" dirty="0"/>
                        <a:t>初期投資・運営負荷が大きい</a:t>
                      </a:r>
                      <a:br>
                        <a:rPr lang="ja-JP" dirty="0"/>
                      </a:br>
                      <a:r>
                        <a:rPr lang="ja-JP" altLang="en-US" dirty="0"/>
                        <a:t>・</a:t>
                      </a:r>
                      <a:r>
                        <a:rPr lang="ja-JP" dirty="0"/>
                        <a:t>近年はセキュリティ対応でランニングも増大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・</a:t>
                      </a:r>
                      <a:r>
                        <a:rPr lang="ja-JP" dirty="0"/>
                        <a:t>自社で</a:t>
                      </a:r>
                      <a:r>
                        <a:rPr lang="ja-JP" altLang="en-US" dirty="0"/>
                        <a:t>負担した</a:t>
                      </a:r>
                      <a:r>
                        <a:rPr lang="ja-JP" dirty="0"/>
                        <a:t>ポイントが他社で使われる</a:t>
                      </a:r>
                      <a:br>
                        <a:rPr lang="ja-JP" dirty="0"/>
                      </a:br>
                      <a:r>
                        <a:rPr lang="ja-JP" altLang="en-US" dirty="0"/>
                        <a:t>・</a:t>
                      </a:r>
                      <a:r>
                        <a:rPr lang="ja-JP" dirty="0"/>
                        <a:t>顧客データやブランド主導権を握りにくい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736312"/>
                  </a:ext>
                </a:extLst>
              </a:tr>
              <a:tr h="669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コスト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初期：大</a:t>
                      </a:r>
                      <a:br>
                        <a:rPr lang="ja-JP"/>
                      </a:br>
                      <a:r>
                        <a:rPr lang="ja-JP"/>
                        <a:t>ランニング：中から大へ上昇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初期：小</a:t>
                      </a:r>
                      <a:br>
                        <a:rPr lang="ja-JP"/>
                      </a:br>
                      <a:r>
                        <a:rPr lang="ja-JP"/>
                        <a:t>ランニング：大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445288"/>
                  </a:ext>
                </a:extLst>
              </a:tr>
              <a:tr h="669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まとめ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/>
                        <a:t>顧客を自社に留めたい企業に有効</a:t>
                      </a:r>
                      <a:endParaRPr 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b="1" dirty="0"/>
                        <a:t>広域集客と簡易運営を重視する企業に有効</a:t>
                      </a:r>
                      <a:endParaRPr lang="ja-JP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2332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D56EE9-3281-27A7-FDB9-7E84D9719AAF}"/>
              </a:ext>
            </a:extLst>
          </p:cNvPr>
          <p:cNvSpPr txBox="1"/>
          <p:nvPr/>
        </p:nvSpPr>
        <p:spPr>
          <a:xfrm>
            <a:off x="1322952" y="734916"/>
            <a:ext cx="9233288" cy="8309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独自ポイントと共通ポイントの　いいとこどり　の　新ポイントを、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ｄポイントのホワイトレーベル　として　新設することを提案する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6903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1D04-AD93-39E9-E91A-58B81FB1A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2D8F174-52F7-9076-4190-AA12C9F61BB0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2BFAEAA9-346A-A34D-C310-2D32AD318A32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3-2-1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．対策概要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8A881B-0356-6742-9DCD-E0932DAA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95" t="11093" r="21807" b="25067"/>
          <a:stretch>
            <a:fillRect/>
          </a:stretch>
        </p:blipFill>
        <p:spPr>
          <a:xfrm>
            <a:off x="2296159" y="1536540"/>
            <a:ext cx="7325361" cy="369586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DBE51038-330F-954B-C45D-C0BE922B0282}"/>
              </a:ext>
            </a:extLst>
          </p:cNvPr>
          <p:cNvSpPr txBox="1"/>
          <p:nvPr/>
        </p:nvSpPr>
        <p:spPr>
          <a:xfrm>
            <a:off x="466724" y="606682"/>
            <a:ext cx="1098423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ホワイトレーベルは、独自ポイントの強みである「囲い込み・顧客理解」を維持しつつ、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共通ポイントの強みである「集客・運営効率」を取り込む第三の選択肢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D0770861-A181-B7C6-A96D-47B71013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06" t="11093" r="79687" b="25067"/>
          <a:stretch>
            <a:fillRect/>
          </a:stretch>
        </p:blipFill>
        <p:spPr>
          <a:xfrm>
            <a:off x="148594" y="1877483"/>
            <a:ext cx="2058665" cy="310303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063DC5A-6F4A-B36A-8E56-6AD56388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11" t="12311" b="26342"/>
          <a:stretch>
            <a:fillRect/>
          </a:stretch>
        </p:blipFill>
        <p:spPr>
          <a:xfrm>
            <a:off x="9799320" y="1814405"/>
            <a:ext cx="2115954" cy="301159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883020C-FF4D-59DC-3727-3A33FB486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7" t="77091" r="4171" b="1633"/>
          <a:stretch>
            <a:fillRect/>
          </a:stretch>
        </p:blipFill>
        <p:spPr>
          <a:xfrm>
            <a:off x="1198879" y="5540983"/>
            <a:ext cx="9794241" cy="113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4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4D93-840C-32F5-EAB1-05120A42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A9430B1-EA8E-4A9F-DBCC-6192AB32F84F}"/>
              </a:ext>
            </a:extLst>
          </p:cNvPr>
          <p:cNvSpPr/>
          <p:nvPr/>
        </p:nvSpPr>
        <p:spPr>
          <a:xfrm>
            <a:off x="111124" y="2151763"/>
            <a:ext cx="11826876" cy="4621537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EAD744D-7FD7-ADE3-E151-5282302A409D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50CAD140-C344-01D4-217F-191F27AFA816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3-2-2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．対策概要（参考：</a:t>
            </a:r>
            <a:r>
              <a:rPr lang="en-US" altLang="ja-JP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ahamo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のホワイトレーベル）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957FA5A-0D89-B17A-19D5-88EDE55DF7D2}"/>
              </a:ext>
            </a:extLst>
          </p:cNvPr>
          <p:cNvSpPr txBox="1"/>
          <p:nvPr/>
        </p:nvSpPr>
        <p:spPr>
          <a:xfrm>
            <a:off x="314324" y="702422"/>
            <a:ext cx="11623676" cy="12772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ドコモ社は、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月に、</a:t>
            </a:r>
            <a:r>
              <a:rPr lang="en-US" altLang="ja-JP" sz="2400" b="1" dirty="0" err="1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ahamo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のホワイトレーベル　を開始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他社連携（他社ブランドや他社サービス）で、これまでと異なるユーザ層へリーチし、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顧客接点、ドコモ経済圏への取り込み　を狙った　と類推する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608D182-2DBE-5839-BE00-AF1564343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6" t="80312" r="1064" b="2713"/>
          <a:stretch>
            <a:fillRect/>
          </a:stretch>
        </p:blipFill>
        <p:spPr>
          <a:xfrm>
            <a:off x="232410" y="5004824"/>
            <a:ext cx="11514252" cy="1577825"/>
          </a:xfrm>
          <a:prstGeom prst="rect">
            <a:avLst/>
          </a:prstGeom>
        </p:spPr>
      </p:pic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7274DAE-BF0C-34CC-E4DF-D1976587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49" r="50077" b="53465"/>
          <a:stretch>
            <a:fillRect/>
          </a:stretch>
        </p:blipFill>
        <p:spPr>
          <a:xfrm>
            <a:off x="314324" y="2269839"/>
            <a:ext cx="6711750" cy="2734985"/>
          </a:xfrm>
          <a:prstGeom prst="rect">
            <a:avLst/>
          </a:prstGeom>
        </p:spPr>
      </p:pic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99BCF360-A9B8-475B-A001-AD8CA24E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45" t="855" r="1530" b="83003"/>
          <a:stretch>
            <a:fillRect/>
          </a:stretch>
        </p:blipFill>
        <p:spPr>
          <a:xfrm>
            <a:off x="7305040" y="2696508"/>
            <a:ext cx="4530090" cy="16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73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140B6-2191-809F-03C9-51934C2E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8BE77C5-2316-2111-66F9-5425B29C553F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01EE3CE5-50B3-52F1-3493-F3AFD66D3400}"/>
              </a:ext>
            </a:extLst>
          </p:cNvPr>
          <p:cNvSpPr txBox="1"/>
          <p:nvPr/>
        </p:nvSpPr>
        <p:spPr>
          <a:xfrm>
            <a:off x="232410" y="84691"/>
            <a:ext cx="6793664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3-2-3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．対策概要（ドコモ社内の最近動向との親和性について考察）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8E400CC-CE93-7E4D-9031-7A77963996DF}"/>
              </a:ext>
            </a:extLst>
          </p:cNvPr>
          <p:cNvSpPr txBox="1"/>
          <p:nvPr/>
        </p:nvSpPr>
        <p:spPr>
          <a:xfrm>
            <a:off x="428942" y="673784"/>
            <a:ext cx="11623676" cy="209288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ドコモが顧客の全面に出るドコモブランディングに加え、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b="1" dirty="0" err="1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ahamo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JAL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連携のような、　ドコモは裏方だが、顧客接点は握る　ホワイトレーベルに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舵をきった　経営の考え方　を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月に採用した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もっと大きな顧客接点である、ｄポイントも同様の考え方を適用すべき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E98CA286-F3AF-3084-4831-879726DA4840}"/>
              </a:ext>
            </a:extLst>
          </p:cNvPr>
          <p:cNvSpPr/>
          <p:nvPr/>
        </p:nvSpPr>
        <p:spPr>
          <a:xfrm>
            <a:off x="845820" y="3369546"/>
            <a:ext cx="4800600" cy="278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A9409547-3E44-6410-F9F2-9D8EF4B009B6}"/>
              </a:ext>
            </a:extLst>
          </p:cNvPr>
          <p:cNvSpPr txBox="1"/>
          <p:nvPr/>
        </p:nvSpPr>
        <p:spPr>
          <a:xfrm>
            <a:off x="1120140" y="362557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66798F"/>
                </a:solidFill>
                <a:latin typeface="Aptos"/>
              </a:rPr>
              <a:t>ドコモ回線契約数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F299FC-E4DC-4EDA-5B7F-0E25621F01A7}"/>
              </a:ext>
            </a:extLst>
          </p:cNvPr>
          <p:cNvSpPr txBox="1"/>
          <p:nvPr/>
        </p:nvSpPr>
        <p:spPr>
          <a:xfrm>
            <a:off x="1897380" y="4319799"/>
            <a:ext cx="3200400" cy="83099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4800" b="1" dirty="0">
                <a:solidFill>
                  <a:srgbClr val="0A1B34"/>
                </a:solidFill>
                <a:latin typeface="Aptos"/>
              </a:rPr>
              <a:t>9,307万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F3C18DD-470C-2DBD-5FB1-9C83FFA62935}"/>
              </a:ext>
            </a:extLst>
          </p:cNvPr>
          <p:cNvSpPr txBox="1"/>
          <p:nvPr/>
        </p:nvSpPr>
        <p:spPr>
          <a:xfrm>
            <a:off x="2583180" y="3625578"/>
            <a:ext cx="3200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dirty="0">
                <a:solidFill>
                  <a:srgbClr val="66798F"/>
                </a:solidFill>
                <a:latin typeface="Aptos"/>
              </a:rPr>
              <a:t>2026年3月末・TCA調べ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ED517589-61C9-13F8-3607-5E3BE9613337}"/>
              </a:ext>
            </a:extLst>
          </p:cNvPr>
          <p:cNvSpPr/>
          <p:nvPr/>
        </p:nvSpPr>
        <p:spPr>
          <a:xfrm>
            <a:off x="6149340" y="3369546"/>
            <a:ext cx="4800600" cy="2786032"/>
          </a:xfrm>
          <a:prstGeom prst="roundRect">
            <a:avLst>
              <a:gd name="adj" fmla="val 12000"/>
            </a:avLst>
          </a:prstGeom>
          <a:solidFill>
            <a:srgbClr val="EBF8FC"/>
          </a:solidFill>
          <a:ln>
            <a:solidFill>
              <a:srgbClr val="43C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BF444F31-DC18-9B8F-AE7B-EA73E1E6E4B7}"/>
              </a:ext>
            </a:extLst>
          </p:cNvPr>
          <p:cNvSpPr txBox="1"/>
          <p:nvPr/>
        </p:nvSpPr>
        <p:spPr>
          <a:xfrm>
            <a:off x="6423660" y="362557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66798F"/>
                </a:solidFill>
                <a:latin typeface="Aptos"/>
              </a:rPr>
              <a:t>dポイント会員数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EA2EF40C-D6AA-C067-BCD3-237109B735F9}"/>
              </a:ext>
            </a:extLst>
          </p:cNvPr>
          <p:cNvSpPr txBox="1"/>
          <p:nvPr/>
        </p:nvSpPr>
        <p:spPr>
          <a:xfrm>
            <a:off x="7297420" y="4510832"/>
            <a:ext cx="3200400" cy="70788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4000" b="1" dirty="0">
                <a:solidFill>
                  <a:srgbClr val="0A1B34"/>
                </a:solidFill>
                <a:latin typeface="Aptos"/>
              </a:rPr>
              <a:t>1億500万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7F872305-DB29-6513-6320-205E64D8E53C}"/>
              </a:ext>
            </a:extLst>
          </p:cNvPr>
          <p:cNvSpPr/>
          <p:nvPr/>
        </p:nvSpPr>
        <p:spPr>
          <a:xfrm>
            <a:off x="1120140" y="5647931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うち MVNO卸</a:t>
            </a: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約2,000万</a:t>
            </a:r>
            <a:endParaRPr lang="en-US" sz="12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975DFDA4-C73A-F53C-20D6-69680E3E4FBC}"/>
              </a:ext>
            </a:extLst>
          </p:cNvPr>
          <p:cNvSpPr/>
          <p:nvPr/>
        </p:nvSpPr>
        <p:spPr>
          <a:xfrm>
            <a:off x="3042920" y="5643849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モジュール</a:t>
            </a: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約2,000万</a:t>
            </a:r>
            <a:r>
              <a:rPr lang="ja-JP" alt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と推計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23940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D881-9CC9-FB06-A3AD-0F4B64A4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43A9486-651F-676C-9D03-806D5BD562F9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8237B68F-98EC-63B5-76C0-10E4D997A966}"/>
              </a:ext>
            </a:extLst>
          </p:cNvPr>
          <p:cNvSpPr txBox="1"/>
          <p:nvPr/>
        </p:nvSpPr>
        <p:spPr>
          <a:xfrm>
            <a:off x="232410" y="84691"/>
            <a:ext cx="6793664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4-1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．ドコモにもたらす効果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6E75CCA-119D-6C37-6072-9AE69592DDBF}"/>
              </a:ext>
            </a:extLst>
          </p:cNvPr>
          <p:cNvSpPr/>
          <p:nvPr/>
        </p:nvSpPr>
        <p:spPr>
          <a:xfrm>
            <a:off x="457200" y="1498445"/>
            <a:ext cx="5486400" cy="1905036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6792037-BA4C-8092-72B1-963F2268CB5A}"/>
              </a:ext>
            </a:extLst>
          </p:cNvPr>
          <p:cNvSpPr/>
          <p:nvPr/>
        </p:nvSpPr>
        <p:spPr>
          <a:xfrm>
            <a:off x="685800" y="184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01DC714-DB35-2BDF-4AB5-27C815D807D2}"/>
              </a:ext>
            </a:extLst>
          </p:cNvPr>
          <p:cNvSpPr/>
          <p:nvPr/>
        </p:nvSpPr>
        <p:spPr>
          <a:xfrm>
            <a:off x="685800" y="184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603971C-7529-A0F1-3D69-5DB7399D73E7}"/>
              </a:ext>
            </a:extLst>
          </p:cNvPr>
          <p:cNvSpPr/>
          <p:nvPr/>
        </p:nvSpPr>
        <p:spPr>
          <a:xfrm>
            <a:off x="1280160" y="180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データ資産の質向上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54D18FA-A12C-49CA-8688-AEBA47753128}"/>
              </a:ext>
            </a:extLst>
          </p:cNvPr>
          <p:cNvSpPr/>
          <p:nvPr/>
        </p:nvSpPr>
        <p:spPr>
          <a:xfrm>
            <a:off x="1230537" y="2774565"/>
            <a:ext cx="3851113" cy="30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日常</a:t>
            </a:r>
            <a:r>
              <a:rPr lang="en-US" sz="20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の行動データを獲得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D8564E7-D7A7-E839-DFCA-35E55656D031}"/>
              </a:ext>
            </a:extLst>
          </p:cNvPr>
          <p:cNvSpPr/>
          <p:nvPr/>
        </p:nvSpPr>
        <p:spPr>
          <a:xfrm>
            <a:off x="6248095" y="1525563"/>
            <a:ext cx="5486400" cy="1877918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FA852B0-C426-27A0-435C-55B1329F63D6}"/>
              </a:ext>
            </a:extLst>
          </p:cNvPr>
          <p:cNvSpPr/>
          <p:nvPr/>
        </p:nvSpPr>
        <p:spPr>
          <a:xfrm>
            <a:off x="6476695" y="1849000"/>
            <a:ext cx="457200" cy="457200"/>
          </a:xfrm>
          <a:prstGeom prst="ellipse">
            <a:avLst/>
          </a:prstGeom>
          <a:solidFill>
            <a:srgbClr val="C7000F"/>
          </a:solidFill>
          <a:ln/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5C936D2-9162-040B-45C4-B8F6DE8C8CCC}"/>
              </a:ext>
            </a:extLst>
          </p:cNvPr>
          <p:cNvSpPr/>
          <p:nvPr/>
        </p:nvSpPr>
        <p:spPr>
          <a:xfrm>
            <a:off x="6476695" y="184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E8357E9-03ED-9D18-D77D-DB991D0DCF4B}"/>
              </a:ext>
            </a:extLst>
          </p:cNvPr>
          <p:cNvSpPr/>
          <p:nvPr/>
        </p:nvSpPr>
        <p:spPr>
          <a:xfrm>
            <a:off x="7071055" y="180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のサービス性向上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7EC44C01-0455-96E0-9BDB-F58C25897359}"/>
              </a:ext>
            </a:extLst>
          </p:cNvPr>
          <p:cNvSpPr/>
          <p:nvPr/>
        </p:nvSpPr>
        <p:spPr>
          <a:xfrm>
            <a:off x="457200" y="4043559"/>
            <a:ext cx="5486400" cy="1943583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86B1A01-9162-347C-D983-6408563D5F79}"/>
              </a:ext>
            </a:extLst>
          </p:cNvPr>
          <p:cNvSpPr/>
          <p:nvPr/>
        </p:nvSpPr>
        <p:spPr>
          <a:xfrm>
            <a:off x="685800" y="4272160"/>
            <a:ext cx="457200" cy="457200"/>
          </a:xfrm>
          <a:prstGeom prst="ellipse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6A07895-4956-3B5E-BA9B-757C931B3F81}"/>
              </a:ext>
            </a:extLst>
          </p:cNvPr>
          <p:cNvSpPr/>
          <p:nvPr/>
        </p:nvSpPr>
        <p:spPr>
          <a:xfrm>
            <a:off x="685800" y="4272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21F850E-E653-83A9-8A41-3650620A3009}"/>
              </a:ext>
            </a:extLst>
          </p:cNvPr>
          <p:cNvSpPr/>
          <p:nvPr/>
        </p:nvSpPr>
        <p:spPr>
          <a:xfrm>
            <a:off x="1280160" y="4226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収益への貢献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3BDE9A8-D249-A70C-AD27-FE5B09899605}"/>
              </a:ext>
            </a:extLst>
          </p:cNvPr>
          <p:cNvSpPr/>
          <p:nvPr/>
        </p:nvSpPr>
        <p:spPr>
          <a:xfrm>
            <a:off x="731520" y="4775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ポイント</a:t>
            </a:r>
            <a:r>
              <a:rPr lang="en-US" sz="20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手数料収入拡大</a:t>
            </a:r>
            <a:br>
              <a:rPr lang="en-US" sz="20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ja-JP" altLang="en-US" sz="20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（金融事業への貢献）</a:t>
            </a:r>
            <a:endParaRPr lang="en-US" altLang="ja-JP" sz="2000" dirty="0">
              <a:solidFill>
                <a:srgbClr val="3A3A3A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マーケティングソリューション収益拡大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539746F4-C4EB-CC89-0F42-2AF0F34A39BD}"/>
              </a:ext>
            </a:extLst>
          </p:cNvPr>
          <p:cNvSpPr/>
          <p:nvPr/>
        </p:nvSpPr>
        <p:spPr>
          <a:xfrm>
            <a:off x="6248095" y="4043560"/>
            <a:ext cx="5486400" cy="1943582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9DB885C-CEF3-5696-3DF7-1810587F0040}"/>
              </a:ext>
            </a:extLst>
          </p:cNvPr>
          <p:cNvSpPr/>
          <p:nvPr/>
        </p:nvSpPr>
        <p:spPr>
          <a:xfrm>
            <a:off x="6476695" y="42721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58CE5B5-26A7-F53B-24AD-9F9A7CB0076A}"/>
              </a:ext>
            </a:extLst>
          </p:cNvPr>
          <p:cNvSpPr/>
          <p:nvPr/>
        </p:nvSpPr>
        <p:spPr>
          <a:xfrm>
            <a:off x="6476695" y="4272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0C2F40F3-DAC6-F61A-6983-3FE98ACBD168}"/>
              </a:ext>
            </a:extLst>
          </p:cNvPr>
          <p:cNvSpPr/>
          <p:nvPr/>
        </p:nvSpPr>
        <p:spPr>
          <a:xfrm>
            <a:off x="7071055" y="4226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社会インパクト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DCAC79EF-AF7B-2F83-0DDB-54E3E20C1DBE}"/>
              </a:ext>
            </a:extLst>
          </p:cNvPr>
          <p:cNvSpPr/>
          <p:nvPr/>
        </p:nvSpPr>
        <p:spPr>
          <a:xfrm>
            <a:off x="7065738" y="2747448"/>
            <a:ext cx="3851113" cy="30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毎日使うサービスへ成長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F0F5C694-1742-6059-9500-C3BEB29F801B}"/>
              </a:ext>
            </a:extLst>
          </p:cNvPr>
          <p:cNvSpPr/>
          <p:nvPr/>
        </p:nvSpPr>
        <p:spPr>
          <a:xfrm>
            <a:off x="7071055" y="4987549"/>
            <a:ext cx="3851113" cy="30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誰でも生成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で便利な社会実現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0566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23E2F-5CA4-40A4-F0AD-5652DDDE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7072CD-665C-8269-936C-B86F1AF0BB90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id="{F514290C-117B-8009-E623-9BB7CF2F5B79}"/>
              </a:ext>
            </a:extLst>
          </p:cNvPr>
          <p:cNvSpPr txBox="1"/>
          <p:nvPr/>
        </p:nvSpPr>
        <p:spPr>
          <a:xfrm>
            <a:off x="765194" y="5751929"/>
            <a:ext cx="4574321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ドコモが本市場の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％を獲ると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約８００億円収益がプラス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210ABFDD-F83F-04AF-76D1-4C94849D9F6E}"/>
              </a:ext>
            </a:extLst>
          </p:cNvPr>
          <p:cNvSpPr txBox="1"/>
          <p:nvPr/>
        </p:nvSpPr>
        <p:spPr>
          <a:xfrm>
            <a:off x="232410" y="84691"/>
            <a:ext cx="60350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4-2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．ドコモへもたらす効果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F4CF3879-BBED-3354-95F9-3E888C4D75AB}"/>
              </a:ext>
            </a:extLst>
          </p:cNvPr>
          <p:cNvSpPr/>
          <p:nvPr/>
        </p:nvSpPr>
        <p:spPr>
          <a:xfrm>
            <a:off x="694639" y="785866"/>
            <a:ext cx="4971179" cy="3276260"/>
          </a:xfrm>
          <a:prstGeom prst="roundRect">
            <a:avLst>
              <a:gd name="adj" fmla="val 3902"/>
            </a:avLst>
          </a:prstGeom>
          <a:solidFill>
            <a:srgbClr val="FAFA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C35B0EC-EE29-652E-FF21-292E869FB858}"/>
              </a:ext>
            </a:extLst>
          </p:cNvPr>
          <p:cNvSpPr/>
          <p:nvPr/>
        </p:nvSpPr>
        <p:spPr>
          <a:xfrm>
            <a:off x="923240" y="846615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3FFAB1E-AA1E-3DE7-B04C-B31F78AFC44A}"/>
              </a:ext>
            </a:extLst>
          </p:cNvPr>
          <p:cNvSpPr/>
          <p:nvPr/>
        </p:nvSpPr>
        <p:spPr>
          <a:xfrm>
            <a:off x="923240" y="8466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CE5B13B1-3F16-71F2-CD43-267D3C3D2D90}"/>
              </a:ext>
            </a:extLst>
          </p:cNvPr>
          <p:cNvSpPr/>
          <p:nvPr/>
        </p:nvSpPr>
        <p:spPr>
          <a:xfrm>
            <a:off x="1517600" y="819183"/>
            <a:ext cx="2600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ポイント発行手数料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8920CFEB-8FC8-ED5E-03B3-BE177CB1375F}"/>
              </a:ext>
            </a:extLst>
          </p:cNvPr>
          <p:cNvSpPr/>
          <p:nvPr/>
        </p:nvSpPr>
        <p:spPr>
          <a:xfrm>
            <a:off x="831799" y="1413543"/>
            <a:ext cx="48340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加盟店はポイントを「1pt＝1円＋α」でドコモから購入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差額（α）が手数料収入。</a:t>
            </a: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　</a:t>
            </a: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料率は個別契約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CFC3DC20-1F9E-DC9D-43B7-D0DF676DAE65}"/>
              </a:ext>
            </a:extLst>
          </p:cNvPr>
          <p:cNvSpPr/>
          <p:nvPr/>
        </p:nvSpPr>
        <p:spPr>
          <a:xfrm>
            <a:off x="6093279" y="743639"/>
            <a:ext cx="5631898" cy="3333778"/>
          </a:xfrm>
          <a:prstGeom prst="roundRect">
            <a:avLst>
              <a:gd name="adj" fmla="val 3902"/>
            </a:avLst>
          </a:prstGeom>
          <a:solidFill>
            <a:srgbClr val="FAFA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C10C7CB-A342-B516-7FF6-493A19348D7B}"/>
              </a:ext>
            </a:extLst>
          </p:cNvPr>
          <p:cNvSpPr/>
          <p:nvPr/>
        </p:nvSpPr>
        <p:spPr>
          <a:xfrm>
            <a:off x="6728051" y="864903"/>
            <a:ext cx="457200" cy="457200"/>
          </a:xfrm>
          <a:prstGeom prst="ellipse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7061DB11-BFC5-0261-E861-F992549D361B}"/>
              </a:ext>
            </a:extLst>
          </p:cNvPr>
          <p:cNvSpPr/>
          <p:nvPr/>
        </p:nvSpPr>
        <p:spPr>
          <a:xfrm>
            <a:off x="6728051" y="8649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②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00066D8D-6C1E-0BDA-D688-16609080ABF7}"/>
              </a:ext>
            </a:extLst>
          </p:cNvPr>
          <p:cNvSpPr/>
          <p:nvPr/>
        </p:nvSpPr>
        <p:spPr>
          <a:xfrm>
            <a:off x="7347212" y="865277"/>
            <a:ext cx="34886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マーケティングソリューション</a:t>
            </a:r>
            <a:endParaRPr lang="en-US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F1376149-5F88-9AA9-3F82-E8A201E1C69D}"/>
              </a:ext>
            </a:extLst>
          </p:cNvPr>
          <p:cNvSpPr/>
          <p:nvPr/>
        </p:nvSpPr>
        <p:spPr>
          <a:xfrm>
            <a:off x="6499559" y="3551592"/>
            <a:ext cx="4819338" cy="283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購買データを起点の収益：　約</a:t>
            </a:r>
            <a:r>
              <a:rPr lang="en-US" altLang="ja-JP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1800</a:t>
            </a:r>
            <a:r>
              <a:rPr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億円</a:t>
            </a:r>
            <a:endParaRPr lang="en-US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B4C81525-3B11-10B2-1808-D81AF0A90CB0}"/>
              </a:ext>
            </a:extLst>
          </p:cNvPr>
          <p:cNvSpPr/>
          <p:nvPr/>
        </p:nvSpPr>
        <p:spPr>
          <a:xfrm>
            <a:off x="1375803" y="2674686"/>
            <a:ext cx="3804362" cy="512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約4,000億pt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630B16B8-9853-C51F-DAEF-5B857D792879}"/>
              </a:ext>
            </a:extLst>
          </p:cNvPr>
          <p:cNvSpPr/>
          <p:nvPr/>
        </p:nvSpPr>
        <p:spPr>
          <a:xfrm>
            <a:off x="879946" y="2502209"/>
            <a:ext cx="2715189" cy="22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年間ポイント</a:t>
            </a:r>
            <a:r>
              <a:rPr lang="ja-JP" altLang="en-US" sz="1400" dirty="0">
                <a:solidFill>
                  <a:srgbClr val="6E6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消費</a:t>
            </a:r>
            <a:r>
              <a:rPr lang="en-US" sz="1400" dirty="0">
                <a:solidFill>
                  <a:srgbClr val="6E6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量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0" name="Text 6">
            <a:extLst>
              <a:ext uri="{FF2B5EF4-FFF2-40B4-BE49-F238E27FC236}">
                <a16:creationId xmlns:a16="http://schemas.microsoft.com/office/drawing/2014/main" id="{593F9F72-1E7A-4CF0-7445-C7FE02120CB4}"/>
              </a:ext>
            </a:extLst>
          </p:cNvPr>
          <p:cNvSpPr/>
          <p:nvPr/>
        </p:nvSpPr>
        <p:spPr>
          <a:xfrm>
            <a:off x="7082346" y="3683352"/>
            <a:ext cx="42148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＜出典：</a:t>
            </a:r>
            <a:r>
              <a:rPr lang="en-US" altLang="ja-JP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2024</a:t>
            </a: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年度決算説明会資料＞</a:t>
            </a:r>
            <a:endParaRPr lang="en-US" sz="1400" b="1" dirty="0">
              <a:solidFill>
                <a:srgbClr val="1B2A4A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</p:txBody>
      </p:sp>
      <p:sp>
        <p:nvSpPr>
          <p:cNvPr id="1031" name="Text 6">
            <a:extLst>
              <a:ext uri="{FF2B5EF4-FFF2-40B4-BE49-F238E27FC236}">
                <a16:creationId xmlns:a16="http://schemas.microsoft.com/office/drawing/2014/main" id="{BF89F0C1-48C2-5FE3-29F0-B9D76A21830C}"/>
              </a:ext>
            </a:extLst>
          </p:cNvPr>
          <p:cNvSpPr/>
          <p:nvPr/>
        </p:nvSpPr>
        <p:spPr>
          <a:xfrm>
            <a:off x="1341576" y="3041803"/>
            <a:ext cx="365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＜出典：</a:t>
            </a:r>
            <a:r>
              <a:rPr lang="en-US" altLang="ja-JP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2026</a:t>
            </a: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年５月ドコモ報道発表資料＞</a:t>
            </a:r>
            <a:endParaRPr lang="en-US" sz="1400" b="1" dirty="0">
              <a:solidFill>
                <a:srgbClr val="1B2A4A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</p:txBody>
      </p:sp>
      <p:pic>
        <p:nvPicPr>
          <p:cNvPr id="1033" name="図 1032">
            <a:extLst>
              <a:ext uri="{FF2B5EF4-FFF2-40B4-BE49-F238E27FC236}">
                <a16:creationId xmlns:a16="http://schemas.microsoft.com/office/drawing/2014/main" id="{FC2F03FC-FC93-E88E-533D-3045270EF6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39" t="25665"/>
          <a:stretch>
            <a:fillRect/>
          </a:stretch>
        </p:blipFill>
        <p:spPr>
          <a:xfrm>
            <a:off x="9047670" y="1400707"/>
            <a:ext cx="2556501" cy="2006742"/>
          </a:xfrm>
          <a:prstGeom prst="rect">
            <a:avLst/>
          </a:prstGeom>
        </p:spPr>
      </p:pic>
      <p:sp>
        <p:nvSpPr>
          <p:cNvPr id="1034" name="Text 17">
            <a:extLst>
              <a:ext uri="{FF2B5EF4-FFF2-40B4-BE49-F238E27FC236}">
                <a16:creationId xmlns:a16="http://schemas.microsoft.com/office/drawing/2014/main" id="{758BC356-53B0-F7E4-A9A7-6C39F64267AD}"/>
              </a:ext>
            </a:extLst>
          </p:cNvPr>
          <p:cNvSpPr/>
          <p:nvPr/>
        </p:nvSpPr>
        <p:spPr>
          <a:xfrm>
            <a:off x="770559" y="3698255"/>
            <a:ext cx="4819338" cy="40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料率を２０％と仮定すると、　約８００億円</a:t>
            </a:r>
            <a:endParaRPr lang="en-US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5" name="正方形/長方形 1034">
            <a:extLst>
              <a:ext uri="{FF2B5EF4-FFF2-40B4-BE49-F238E27FC236}">
                <a16:creationId xmlns:a16="http://schemas.microsoft.com/office/drawing/2014/main" id="{7E5E1D1E-B61B-452E-C707-F9DD1353C0AF}"/>
              </a:ext>
            </a:extLst>
          </p:cNvPr>
          <p:cNvSpPr/>
          <p:nvPr/>
        </p:nvSpPr>
        <p:spPr>
          <a:xfrm>
            <a:off x="1164771" y="2480343"/>
            <a:ext cx="4015394" cy="1012549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Text 23">
            <a:extLst>
              <a:ext uri="{FF2B5EF4-FFF2-40B4-BE49-F238E27FC236}">
                <a16:creationId xmlns:a16="http://schemas.microsoft.com/office/drawing/2014/main" id="{C883CD50-947F-DD3A-10DC-31BDDA5AC397}"/>
              </a:ext>
            </a:extLst>
          </p:cNvPr>
          <p:cNvSpPr/>
          <p:nvPr/>
        </p:nvSpPr>
        <p:spPr>
          <a:xfrm>
            <a:off x="697208" y="4578493"/>
            <a:ext cx="4683184" cy="792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ja-JP" altLang="en-US" dirty="0"/>
              <a:t>経済産業省「商業動態統計」における業態別「スーパー」販売額：</a:t>
            </a:r>
            <a:r>
              <a:rPr lang="en-US" altLang="ja-JP" dirty="0"/>
              <a:t>2025</a:t>
            </a:r>
            <a:r>
              <a:rPr lang="ja-JP" altLang="en-US" dirty="0"/>
              <a:t>年 </a:t>
            </a:r>
            <a:r>
              <a:rPr lang="en-US" altLang="ja-JP" dirty="0"/>
              <a:t>16</a:t>
            </a:r>
            <a:r>
              <a:rPr lang="ja-JP" altLang="en-US" dirty="0"/>
              <a:t>兆</a:t>
            </a:r>
            <a:r>
              <a:rPr lang="en-US" altLang="ja-JP" dirty="0"/>
              <a:t>8,026</a:t>
            </a:r>
            <a:r>
              <a:rPr lang="ja-JP" altLang="en-US" dirty="0"/>
              <a:t>億円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8" name="Text 6">
            <a:extLst>
              <a:ext uri="{FF2B5EF4-FFF2-40B4-BE49-F238E27FC236}">
                <a16:creationId xmlns:a16="http://schemas.microsoft.com/office/drawing/2014/main" id="{2F78A545-3B37-01EA-258B-F52377688B95}"/>
              </a:ext>
            </a:extLst>
          </p:cNvPr>
          <p:cNvSpPr/>
          <p:nvPr/>
        </p:nvSpPr>
        <p:spPr>
          <a:xfrm>
            <a:off x="985866" y="5190884"/>
            <a:ext cx="4007740" cy="36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独自ポイント市場は、１％と仮定すると　</a:t>
            </a:r>
            <a:r>
              <a:rPr lang="en-US" altLang="ja-JP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1,680</a:t>
            </a: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億円</a:t>
            </a:r>
            <a:endParaRPr lang="en-US" sz="1400" b="1" dirty="0">
              <a:solidFill>
                <a:srgbClr val="1B2A4A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</p:txBody>
      </p:sp>
      <p:sp>
        <p:nvSpPr>
          <p:cNvPr id="1039" name="正方形/長方形 1038">
            <a:extLst>
              <a:ext uri="{FF2B5EF4-FFF2-40B4-BE49-F238E27FC236}">
                <a16:creationId xmlns:a16="http://schemas.microsoft.com/office/drawing/2014/main" id="{02E6C18D-7E84-1F1A-2CD0-5909688AC988}"/>
              </a:ext>
            </a:extLst>
          </p:cNvPr>
          <p:cNvSpPr/>
          <p:nvPr/>
        </p:nvSpPr>
        <p:spPr>
          <a:xfrm>
            <a:off x="625676" y="4489729"/>
            <a:ext cx="4913882" cy="2169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矢印: 下 1039">
            <a:extLst>
              <a:ext uri="{FF2B5EF4-FFF2-40B4-BE49-F238E27FC236}">
                <a16:creationId xmlns:a16="http://schemas.microsoft.com/office/drawing/2014/main" id="{E8526286-0C56-CA08-8A73-67E0BDDF97FD}"/>
              </a:ext>
            </a:extLst>
          </p:cNvPr>
          <p:cNvSpPr/>
          <p:nvPr/>
        </p:nvSpPr>
        <p:spPr>
          <a:xfrm>
            <a:off x="1850571" y="4210060"/>
            <a:ext cx="2656115" cy="2033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1" name="図 1040">
            <a:extLst>
              <a:ext uri="{FF2B5EF4-FFF2-40B4-BE49-F238E27FC236}">
                <a16:creationId xmlns:a16="http://schemas.microsoft.com/office/drawing/2014/main" id="{36DB103B-907D-2C20-41CF-FF904FEF9F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65" r="58092"/>
          <a:stretch>
            <a:fillRect/>
          </a:stretch>
        </p:blipFill>
        <p:spPr>
          <a:xfrm>
            <a:off x="6187403" y="1400707"/>
            <a:ext cx="2934825" cy="2006742"/>
          </a:xfrm>
          <a:prstGeom prst="rect">
            <a:avLst/>
          </a:prstGeom>
        </p:spPr>
      </p:pic>
      <p:sp>
        <p:nvSpPr>
          <p:cNvPr id="1042" name="矢印: 下 1041">
            <a:extLst>
              <a:ext uri="{FF2B5EF4-FFF2-40B4-BE49-F238E27FC236}">
                <a16:creationId xmlns:a16="http://schemas.microsoft.com/office/drawing/2014/main" id="{3B68688F-4A77-B62E-78CE-4546142E6BD0}"/>
              </a:ext>
            </a:extLst>
          </p:cNvPr>
          <p:cNvSpPr/>
          <p:nvPr/>
        </p:nvSpPr>
        <p:spPr>
          <a:xfrm>
            <a:off x="7370244" y="4189033"/>
            <a:ext cx="2656115" cy="2033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正方形/長方形 1042">
            <a:extLst>
              <a:ext uri="{FF2B5EF4-FFF2-40B4-BE49-F238E27FC236}">
                <a16:creationId xmlns:a16="http://schemas.microsoft.com/office/drawing/2014/main" id="{33C68E9A-B1BE-FDAD-D64E-B1EE3D11EDA8}"/>
              </a:ext>
            </a:extLst>
          </p:cNvPr>
          <p:cNvSpPr/>
          <p:nvPr/>
        </p:nvSpPr>
        <p:spPr>
          <a:xfrm>
            <a:off x="6405015" y="4431068"/>
            <a:ext cx="4913882" cy="2169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TextBox 2">
            <a:extLst>
              <a:ext uri="{FF2B5EF4-FFF2-40B4-BE49-F238E27FC236}">
                <a16:creationId xmlns:a16="http://schemas.microsoft.com/office/drawing/2014/main" id="{1684E3FD-4444-9B56-E97F-93B0198D5F8B}"/>
              </a:ext>
            </a:extLst>
          </p:cNvPr>
          <p:cNvSpPr txBox="1"/>
          <p:nvPr/>
        </p:nvSpPr>
        <p:spPr>
          <a:xfrm>
            <a:off x="6563438" y="4775385"/>
            <a:ext cx="4574321" cy="1631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行動データの量・質の向上により、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DX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ソリューションが強化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（具体的数値は情報量不足より、</a:t>
            </a:r>
            <a:br>
              <a:rPr lang="en-US" altLang="ja-JP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　　　　　　　　　　今回は計算できず）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7721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77A46-7EFE-D409-5154-889B7399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8C1B320-4DFF-79B5-873D-4518C0EDB728}"/>
              </a:ext>
            </a:extLst>
          </p:cNvPr>
          <p:cNvCxnSpPr>
            <a:cxnSpLocks/>
          </p:cNvCxnSpPr>
          <p:nvPr/>
        </p:nvCxnSpPr>
        <p:spPr>
          <a:xfrm>
            <a:off x="0" y="530352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800C7AAE-374B-EC31-EC3E-F6ACDE38163C}"/>
              </a:ext>
            </a:extLst>
          </p:cNvPr>
          <p:cNvSpPr txBox="1"/>
          <p:nvPr/>
        </p:nvSpPr>
        <p:spPr>
          <a:xfrm>
            <a:off x="232410" y="84691"/>
            <a:ext cx="6793664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．おわりに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DDB73AF8-2AB2-8E64-B856-1C7D6903672A}"/>
              </a:ext>
            </a:extLst>
          </p:cNvPr>
          <p:cNvSpPr txBox="1"/>
          <p:nvPr/>
        </p:nvSpPr>
        <p:spPr>
          <a:xfrm>
            <a:off x="428942" y="673784"/>
            <a:ext cx="11623676" cy="12772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ja-JP" sz="2400" b="1" dirty="0" err="1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-mode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から始まる、　ドコモのプラットフォーム事業（基盤事業）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ポイントと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の相乗効果で、社会にインパクトを与える、基盤強化こそ、</a:t>
            </a:r>
            <a:b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ドコモらしい新事業であると考える</a:t>
            </a:r>
            <a:endParaRPr lang="en-US" altLang="ja-JP" sz="2400" b="1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2FF44371-5277-209E-537E-D117C34F29F5}"/>
              </a:ext>
            </a:extLst>
          </p:cNvPr>
          <p:cNvSpPr txBox="1"/>
          <p:nvPr/>
        </p:nvSpPr>
        <p:spPr>
          <a:xfrm>
            <a:off x="938212" y="4903001"/>
            <a:ext cx="709930" cy="76944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👉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946C21C2-759E-8A67-6BD6-E487B1A576EB}"/>
              </a:ext>
            </a:extLst>
          </p:cNvPr>
          <p:cNvSpPr txBox="1"/>
          <p:nvPr/>
        </p:nvSpPr>
        <p:spPr>
          <a:xfrm>
            <a:off x="232410" y="5635565"/>
            <a:ext cx="187071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ja-JP" altLang="en-US" b="1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基盤こそドコモ！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A97B7070-6457-08E5-C11C-127B7569A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2168265"/>
            <a:ext cx="9845040" cy="46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18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2088</Words>
  <Application>Microsoft Office PowerPoint</Application>
  <PresentationFormat>ワイド画面</PresentationFormat>
  <Paragraphs>188</Paragraphs>
  <Slides>25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3" baseType="lpstr">
      <vt:lpstr>Meiryo UI</vt:lpstr>
      <vt:lpstr>UDReiminPr6N-Regular</vt:lpstr>
      <vt:lpstr>游ゴシック</vt:lpstr>
      <vt:lpstr>Aptos</vt:lpstr>
      <vt:lpstr>Arial</vt:lpstr>
      <vt:lpstr>Calibri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和徳 那須</cp:lastModifiedBy>
  <cp:revision>99</cp:revision>
  <cp:lastPrinted>2026-08-01T02:25:07Z</cp:lastPrinted>
  <dcterms:created xsi:type="dcterms:W3CDTF">2013-01-27T09:14:16Z</dcterms:created>
  <dcterms:modified xsi:type="dcterms:W3CDTF">2026-08-02T11:11:54Z</dcterms:modified>
  <cp:category/>
</cp:coreProperties>
</file>