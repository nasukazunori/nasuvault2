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i959Fw6NTSGqvwyyNMAlIzSOHI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AA888-54A0-4C54-936F-01206E308FBF}">
  <a:tblStyle styleId="{A91AA888-54A0-4C54-936F-01206E308FB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6FF"/>
          </a:solidFill>
        </a:fill>
      </a:tcStyle>
    </a:wholeTbl>
    <a:band1H>
      <a:tcTxStyle b="off" i="off"/>
      <a:tcStyle>
        <a:tcBdr/>
        <a:fill>
          <a:solidFill>
            <a:srgbClr val="CCECFF"/>
          </a:solidFill>
        </a:fill>
      </a:tcStyle>
    </a:band1H>
    <a:band2H>
      <a:tcTxStyle b="off" i="off"/>
      <a:tcStyle>
        <a:tcBdr/>
      </a:tcStyle>
    </a:band2H>
    <a:band1V>
      <a:tcTxStyle b="off" i="off"/>
      <a:tcStyle>
        <a:tcBdr/>
        <a:fill>
          <a:solidFill>
            <a:srgbClr val="CCECF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8" Type="http://customschemas.google.com/relationships/presentationmetadata" Target="meta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 name="Google Shape;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タイトルのみ">
  <p:cSld name="2_タイトルのみ">
    <p:spTree>
      <p:nvGrpSpPr>
        <p:cNvPr id="1" name="Shape 16"/>
        <p:cNvGrpSpPr/>
        <p:nvPr/>
      </p:nvGrpSpPr>
      <p:grpSpPr>
        <a:xfrm>
          <a:off x="0" y="0"/>
          <a:ext cx="0" cy="0"/>
          <a:chOff x="0" y="0"/>
          <a:chExt cx="0" cy="0"/>
        </a:xfrm>
      </p:grpSpPr>
      <p:sp>
        <p:nvSpPr>
          <p:cNvPr id="17" name="Google Shape;17;p3"/>
          <p:cNvSpPr txBox="1">
            <a:spLocks noGrp="1"/>
          </p:cNvSpPr>
          <p:nvPr>
            <p:ph type="dt" idx="10"/>
          </p:nvPr>
        </p:nvSpPr>
        <p:spPr>
          <a:xfrm>
            <a:off x="838201"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4038601"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861060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
        <p:nvSpPr>
          <p:cNvPr id="20" name="Google Shape;20;p3"/>
          <p:cNvSpPr txBox="1"/>
          <p:nvPr/>
        </p:nvSpPr>
        <p:spPr>
          <a:xfrm>
            <a:off x="382689" y="175079"/>
            <a:ext cx="11353267" cy="509151"/>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p:txBody>
      </p:sp>
      <p:sp>
        <p:nvSpPr>
          <p:cNvPr id="21" name="Google Shape;21;p3"/>
          <p:cNvSpPr txBox="1">
            <a:spLocks noGrp="1"/>
          </p:cNvSpPr>
          <p:nvPr>
            <p:ph type="title"/>
          </p:nvPr>
        </p:nvSpPr>
        <p:spPr>
          <a:xfrm>
            <a:off x="243155" y="175079"/>
            <a:ext cx="11580161" cy="50915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2" name="Google Shape;22;p3"/>
          <p:cNvCxnSpPr/>
          <p:nvPr/>
        </p:nvCxnSpPr>
        <p:spPr>
          <a:xfrm>
            <a:off x="236561" y="175079"/>
            <a:ext cx="0" cy="509151"/>
          </a:xfrm>
          <a:prstGeom prst="straightConnector1">
            <a:avLst/>
          </a:prstGeom>
          <a:noFill/>
          <a:ln w="57150" cap="flat" cmpd="sng">
            <a:solidFill>
              <a:srgbClr val="7F7F7F"/>
            </a:solidFill>
            <a:prstDash val="solid"/>
            <a:miter lim="8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rgbClr val="3F3F3F"/>
              </a:buClr>
              <a:buSzPts val="4875"/>
              <a:buFont typeface="Arial"/>
              <a:buNone/>
              <a:defRPr sz="4875">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rgbClr val="3F3F3F"/>
              </a:buClr>
              <a:buSzPts val="1950"/>
              <a:buNone/>
              <a:defRPr sz="1950">
                <a:solidFill>
                  <a:srgbClr val="3F3F3F"/>
                </a:solidFill>
              </a:defRPr>
            </a:lvl1pPr>
            <a:lvl2pPr lvl="1" algn="ctr">
              <a:lnSpc>
                <a:spcPct val="100000"/>
              </a:lnSpc>
              <a:spcBef>
                <a:spcPts val="600"/>
              </a:spcBef>
              <a:spcAft>
                <a:spcPts val="0"/>
              </a:spcAft>
              <a:buClr>
                <a:srgbClr val="3F3F3F"/>
              </a:buClr>
              <a:buSzPts val="1625"/>
              <a:buNone/>
              <a:defRPr sz="1625"/>
            </a:lvl2pPr>
            <a:lvl3pPr lvl="2" algn="ctr">
              <a:lnSpc>
                <a:spcPct val="100000"/>
              </a:lnSpc>
              <a:spcBef>
                <a:spcPts val="600"/>
              </a:spcBef>
              <a:spcAft>
                <a:spcPts val="0"/>
              </a:spcAft>
              <a:buClr>
                <a:srgbClr val="3F3F3F"/>
              </a:buClr>
              <a:buSzPts val="1463"/>
              <a:buNone/>
              <a:defRPr sz="1463"/>
            </a:lvl3pPr>
            <a:lvl4pPr lvl="3" algn="ctr">
              <a:lnSpc>
                <a:spcPct val="100000"/>
              </a:lnSpc>
              <a:spcBef>
                <a:spcPts val="600"/>
              </a:spcBef>
              <a:spcAft>
                <a:spcPts val="0"/>
              </a:spcAft>
              <a:buClr>
                <a:srgbClr val="3F3F3F"/>
              </a:buClr>
              <a:buSzPts val="1300"/>
              <a:buNone/>
              <a:defRPr sz="1300"/>
            </a:lvl4pPr>
            <a:lvl5pPr lvl="4" algn="ctr">
              <a:lnSpc>
                <a:spcPct val="100000"/>
              </a:lnSpc>
              <a:spcBef>
                <a:spcPts val="600"/>
              </a:spcBef>
              <a:spcAft>
                <a:spcPts val="0"/>
              </a:spcAft>
              <a:buClr>
                <a:srgbClr val="3F3F3F"/>
              </a:buClr>
              <a:buSzPts val="1300"/>
              <a:buNone/>
              <a:defRPr sz="1300"/>
            </a:lvl5pPr>
            <a:lvl6pPr lvl="5" algn="ctr">
              <a:lnSpc>
                <a:spcPct val="90000"/>
              </a:lnSpc>
              <a:spcBef>
                <a:spcPts val="600"/>
              </a:spcBef>
              <a:spcAft>
                <a:spcPts val="0"/>
              </a:spcAft>
              <a:buClr>
                <a:schemeClr val="dk1"/>
              </a:buClr>
              <a:buSzPts val="1300"/>
              <a:buNone/>
              <a:defRPr sz="1300"/>
            </a:lvl6pPr>
            <a:lvl7pPr lvl="6" algn="ctr">
              <a:lnSpc>
                <a:spcPct val="90000"/>
              </a:lnSpc>
              <a:spcBef>
                <a:spcPts val="406"/>
              </a:spcBef>
              <a:spcAft>
                <a:spcPts val="0"/>
              </a:spcAft>
              <a:buClr>
                <a:schemeClr val="dk1"/>
              </a:buClr>
              <a:buSzPts val="1300"/>
              <a:buNone/>
              <a:defRPr sz="1300"/>
            </a:lvl7pPr>
            <a:lvl8pPr lvl="7" algn="ctr">
              <a:lnSpc>
                <a:spcPct val="90000"/>
              </a:lnSpc>
              <a:spcBef>
                <a:spcPts val="406"/>
              </a:spcBef>
              <a:spcAft>
                <a:spcPts val="0"/>
              </a:spcAft>
              <a:buClr>
                <a:schemeClr val="dk1"/>
              </a:buClr>
              <a:buSzPts val="1300"/>
              <a:buNone/>
              <a:defRPr sz="1300"/>
            </a:lvl8pPr>
            <a:lvl9pPr lvl="8" algn="ctr">
              <a:lnSpc>
                <a:spcPct val="90000"/>
              </a:lnSpc>
              <a:spcBef>
                <a:spcPts val="406"/>
              </a:spcBef>
              <a:spcAft>
                <a:spcPts val="0"/>
              </a:spcAft>
              <a:buClr>
                <a:schemeClr val="dk1"/>
              </a:buClr>
              <a:buSzPts val="1300"/>
              <a:buNone/>
              <a:defRPr sz="1300"/>
            </a:lvl9pPr>
          </a:lstStyle>
          <a:p>
            <a:endParaRPr/>
          </a:p>
        </p:txBody>
      </p:sp>
      <p:sp>
        <p:nvSpPr>
          <p:cNvPr id="26" name="Google Shape;26;p4"/>
          <p:cNvSpPr txBox="1">
            <a:spLocks noGrp="1"/>
          </p:cNvSpPr>
          <p:nvPr>
            <p:ph type="dt" idx="10"/>
          </p:nvPr>
        </p:nvSpPr>
        <p:spPr>
          <a:xfrm>
            <a:off x="838201"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1"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36561" y="175079"/>
            <a:ext cx="11697282" cy="509151"/>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F3F3F"/>
              </a:buClr>
              <a:buSzPts val="1800"/>
              <a:buFont typeface="Arial"/>
              <a:buNone/>
              <a:defRPr sz="1800"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36561" y="828675"/>
            <a:ext cx="11697282" cy="534828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100000"/>
              </a:lnSpc>
              <a:spcBef>
                <a:spcPts val="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1pPr>
            <a:lvl2pPr marL="914400" marR="0" lvl="1"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2pPr>
            <a:lvl3pPr marL="1371600" marR="0" lvl="2"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3pPr>
            <a:lvl4pPr marL="1828800" marR="0" lvl="3"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4pPr>
            <a:lvl5pPr marL="2286000" marR="0" lvl="4"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5pPr>
            <a:lvl6pPr marL="2743200" marR="0" lvl="5" indent="-321501" algn="l" rtl="0">
              <a:lnSpc>
                <a:spcPct val="90000"/>
              </a:lnSpc>
              <a:spcBef>
                <a:spcPts val="600"/>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6pPr>
            <a:lvl7pPr marL="3200400" marR="0" lvl="6" indent="-321501"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7pPr>
            <a:lvl8pPr marL="3657600" marR="0" lvl="7" indent="-321501"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8pPr>
            <a:lvl9pPr marL="4114800" marR="0" lvl="8" indent="-321501"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838201"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75"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4038601"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75"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861060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cxnSp>
        <p:nvCxnSpPr>
          <p:cNvPr id="15" name="Google Shape;15;p2"/>
          <p:cNvCxnSpPr/>
          <p:nvPr/>
        </p:nvCxnSpPr>
        <p:spPr>
          <a:xfrm>
            <a:off x="236561" y="175079"/>
            <a:ext cx="0" cy="509151"/>
          </a:xfrm>
          <a:prstGeom prst="straightConnector1">
            <a:avLst/>
          </a:prstGeom>
          <a:noFill/>
          <a:ln w="57150" cap="flat" cmpd="sng">
            <a:solidFill>
              <a:srgbClr val="7F7F7F"/>
            </a:solidFill>
            <a:prstDash val="solid"/>
            <a:miter lim="8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1"/>
          <p:cNvSpPr txBox="1"/>
          <p:nvPr/>
        </p:nvSpPr>
        <p:spPr>
          <a:xfrm>
            <a:off x="1260775" y="653225"/>
            <a:ext cx="10827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3F3F3F"/>
                </a:solidFill>
                <a:latin typeface="Arial"/>
                <a:ea typeface="Arial"/>
                <a:cs typeface="Arial"/>
                <a:sym typeface="Arial"/>
              </a:rPr>
              <a:t>◆ 直近の出来事等を振り返ってみて、自身が「便利だと感じた出来事」「不便だと感じた出来事」をそれぞれ書き出してみましょう</a:t>
            </a:r>
            <a:endParaRPr sz="1400" b="0" i="0" u="none" strike="noStrike" cap="none">
              <a:solidFill>
                <a:srgbClr val="000000"/>
              </a:solidFill>
              <a:latin typeface="Arial"/>
              <a:ea typeface="Arial"/>
              <a:cs typeface="Arial"/>
              <a:sym typeface="Arial"/>
            </a:endParaRPr>
          </a:p>
        </p:txBody>
      </p:sp>
      <p:graphicFrame>
        <p:nvGraphicFramePr>
          <p:cNvPr id="34" name="Google Shape;34;p1"/>
          <p:cNvGraphicFramePr/>
          <p:nvPr/>
        </p:nvGraphicFramePr>
        <p:xfrm>
          <a:off x="1260775" y="4226009"/>
          <a:ext cx="5244525" cy="2371220"/>
        </p:xfrm>
        <a:graphic>
          <a:graphicData uri="http://schemas.openxmlformats.org/drawingml/2006/table">
            <a:tbl>
              <a:tblPr firstRow="1" bandRow="1">
                <a:noFill/>
                <a:tableStyleId>{A91AA888-54A0-4C54-936F-01206E308FBF}</a:tableStyleId>
              </a:tblPr>
              <a:tblGrid>
                <a:gridCol w="2107425">
                  <a:extLst>
                    <a:ext uri="{9D8B030D-6E8A-4147-A177-3AD203B41FA5}">
                      <a16:colId xmlns:a16="http://schemas.microsoft.com/office/drawing/2014/main" val="20000"/>
                    </a:ext>
                  </a:extLst>
                </a:gridCol>
                <a:gridCol w="3137100">
                  <a:extLst>
                    <a:ext uri="{9D8B030D-6E8A-4147-A177-3AD203B41FA5}">
                      <a16:colId xmlns:a16="http://schemas.microsoft.com/office/drawing/2014/main" val="20001"/>
                    </a:ext>
                  </a:extLst>
                </a:gridCol>
              </a:tblGrid>
              <a:tr h="2250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便利/快適だろうと思う出来事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なぜ便利や快適だろうと思ったのか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駅の電光掲示板を見て、英語だけではなく、多国語対応が可能になっていた</a:t>
                      </a:r>
                      <a:endParaRPr sz="7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外国人旅行客の方が、電光掲示板を活用して行き先をスムーズに検索できていたため</a:t>
                      </a:r>
                      <a:endParaRPr sz="1400" u="none" strike="noStrike" cap="none"/>
                    </a:p>
                  </a:txBody>
                  <a:tcPr marL="84400" marR="84400" marT="42200" marB="42200" anchor="ctr"/>
                </a:tc>
                <a:extLst>
                  <a:ext uri="{0D108BD9-81ED-4DB2-BD59-A6C34878D82A}">
                    <a16:rowId xmlns:a16="http://schemas.microsoft.com/office/drawing/2014/main" val="10001"/>
                  </a:ext>
                </a:extLst>
              </a:tr>
              <a:tr h="531700">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自動運転ソフトを手がけるティアフォーが2026年7月22日に東証グロースに上場した</a:t>
                      </a:r>
                      <a:endParaRPr sz="8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自動運転が普及すれば、免許を返納した高齢者や公共交通機関が少ない過疎地に住む人でも、自由に移動できるようになるだろうと感じたため</a:t>
                      </a:r>
                      <a:endParaRPr sz="800" u="none" strike="noStrike" cap="none">
                        <a:latin typeface="Arial"/>
                        <a:ea typeface="Arial"/>
                        <a:cs typeface="Arial"/>
                        <a:sym typeface="Arial"/>
                      </a:endParaRPr>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00000"/>
                        </a:lnSpc>
                        <a:spcBef>
                          <a:spcPts val="0"/>
                        </a:spcBef>
                        <a:spcAft>
                          <a:spcPts val="0"/>
                        </a:spcAft>
                        <a:buClr>
                          <a:schemeClr val="dk1"/>
                        </a:buClr>
                        <a:buSzPts val="800"/>
                        <a:buFont typeface="Arial"/>
                        <a:buNone/>
                      </a:pPr>
                      <a:endParaRPr sz="800" u="none" strike="noStrike" cap="none">
                        <a:solidFill>
                          <a:schemeClr val="accent5"/>
                        </a:solidFill>
                      </a:endParaRPr>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endParaRPr sz="850" u="none" strike="noStrike" cap="none">
                        <a:solidFill>
                          <a:schemeClr val="accent5"/>
                        </a:solidFill>
                      </a:endParaRPr>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15000"/>
                        </a:lnSpc>
                        <a:spcBef>
                          <a:spcPts val="0"/>
                        </a:spcBef>
                        <a:spcAft>
                          <a:spcPts val="0"/>
                        </a:spcAft>
                        <a:buClr>
                          <a:srgbClr val="000000"/>
                        </a:buClr>
                        <a:buSzPts val="1050"/>
                        <a:buFont typeface="Arial"/>
                        <a:buNone/>
                      </a:pPr>
                      <a:endParaRPr sz="8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endParaRPr sz="750"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graphicFrame>
        <p:nvGraphicFramePr>
          <p:cNvPr id="35" name="Google Shape;35;p1"/>
          <p:cNvGraphicFramePr/>
          <p:nvPr/>
        </p:nvGraphicFramePr>
        <p:xfrm>
          <a:off x="6712827" y="4226009"/>
          <a:ext cx="5355675" cy="2371220"/>
        </p:xfrm>
        <a:graphic>
          <a:graphicData uri="http://schemas.openxmlformats.org/drawingml/2006/table">
            <a:tbl>
              <a:tblPr firstRow="1" bandRow="1">
                <a:noFill/>
                <a:tableStyleId>{A91AA888-54A0-4C54-936F-01206E308FBF}</a:tableStyleId>
              </a:tblPr>
              <a:tblGrid>
                <a:gridCol w="2168900">
                  <a:extLst>
                    <a:ext uri="{9D8B030D-6E8A-4147-A177-3AD203B41FA5}">
                      <a16:colId xmlns:a16="http://schemas.microsoft.com/office/drawing/2014/main" val="20000"/>
                    </a:ext>
                  </a:extLst>
                </a:gridCol>
                <a:gridCol w="3186775">
                  <a:extLst>
                    <a:ext uri="{9D8B030D-6E8A-4147-A177-3AD203B41FA5}">
                      <a16:colId xmlns:a16="http://schemas.microsoft.com/office/drawing/2014/main" val="20001"/>
                    </a:ext>
                  </a:extLst>
                </a:gridCol>
              </a:tblGrid>
              <a:tr h="2250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不便/不快だろうと思う出来事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なぜ不便や不快だろうと思ったのか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朝の電車で赤ちゃんが泣いていたのに対して、文句を言っている大人がいた</a:t>
                      </a:r>
                      <a:endParaRPr sz="1400" u="none" strike="noStrike" cap="none"/>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子どもが泣くのは仕方がないことにも関わらず、大人気のない対応だったため</a:t>
                      </a:r>
                      <a:endParaRPr sz="1400" u="none" strike="noStrike" cap="none"/>
                    </a:p>
                  </a:txBody>
                  <a:tcPr marL="84400" marR="84400" marT="42200" marB="42200" anchor="ctr"/>
                </a:tc>
                <a:extLst>
                  <a:ext uri="{0D108BD9-81ED-4DB2-BD59-A6C34878D82A}">
                    <a16:rowId xmlns:a16="http://schemas.microsoft.com/office/drawing/2014/main" val="10001"/>
                  </a:ext>
                </a:extLst>
              </a:tr>
              <a:tr h="531700">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高齢者やITに詳しくない人が、スマホの新機能や生成AIをうまく使いこなせず、恩恵を受けられていない</a:t>
                      </a:r>
                      <a:endParaRPr sz="8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若い世代やITに詳しい人はAIの恩恵を存分に享受できる一方、リテラシーの差によって同じ便利さを得られない人がいると感じたため</a:t>
                      </a:r>
                      <a:endParaRPr sz="800" u="none" strike="noStrike" cap="none">
                        <a:latin typeface="Arial"/>
                        <a:ea typeface="Arial"/>
                        <a:cs typeface="Arial"/>
                        <a:sym typeface="Arial"/>
                      </a:endParaRPr>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00000"/>
                        </a:lnSpc>
                        <a:spcBef>
                          <a:spcPts val="0"/>
                        </a:spcBef>
                        <a:spcAft>
                          <a:spcPts val="0"/>
                        </a:spcAft>
                        <a:buClr>
                          <a:schemeClr val="dk1"/>
                        </a:buClr>
                        <a:buSzPts val="800"/>
                        <a:buFont typeface="Arial"/>
                        <a:buNone/>
                      </a:pPr>
                      <a:endParaRPr sz="75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800"/>
                        <a:buFont typeface="Arial"/>
                        <a:buNone/>
                      </a:pPr>
                      <a:endParaRPr sz="750" u="none" strike="noStrike" cap="none"/>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00000"/>
                        </a:lnSpc>
                        <a:spcBef>
                          <a:spcPts val="0"/>
                        </a:spcBef>
                        <a:spcAft>
                          <a:spcPts val="0"/>
                        </a:spcAft>
                        <a:buClr>
                          <a:schemeClr val="dk1"/>
                        </a:buClr>
                        <a:buSzPts val="800"/>
                        <a:buFont typeface="Arial"/>
                        <a:buNone/>
                      </a:pPr>
                      <a:endParaRPr sz="7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endParaRPr sz="800" b="1"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sp>
        <p:nvSpPr>
          <p:cNvPr id="36" name="Google Shape;36;p1"/>
          <p:cNvSpPr txBox="1"/>
          <p:nvPr/>
        </p:nvSpPr>
        <p:spPr>
          <a:xfrm>
            <a:off x="1260775" y="3667800"/>
            <a:ext cx="10678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3F3F3F"/>
                </a:solidFill>
                <a:latin typeface="Arial"/>
                <a:ea typeface="Arial"/>
                <a:cs typeface="Arial"/>
                <a:sym typeface="Arial"/>
              </a:rPr>
              <a:t>◆身の回りで起きた出来事やニュースを思い返してみて、「これは、誰かにとって、便利/快適だろうなと感じた出来事」</a:t>
            </a: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3F3F3F"/>
                </a:solidFill>
                <a:latin typeface="Arial"/>
                <a:ea typeface="Arial"/>
                <a:cs typeface="Arial"/>
                <a:sym typeface="Arial"/>
              </a:rPr>
              <a:t>「これは、誰かにとって、不便/不快なのではないかと感じた出来事」をそれぞれ書き出してみましょう</a:t>
            </a:r>
            <a:endParaRPr sz="1400" b="0" i="0" u="none" strike="noStrike" cap="none">
              <a:solidFill>
                <a:srgbClr val="000000"/>
              </a:solidFill>
              <a:latin typeface="Arial"/>
              <a:ea typeface="Arial"/>
              <a:cs typeface="Arial"/>
              <a:sym typeface="Arial"/>
            </a:endParaRPr>
          </a:p>
        </p:txBody>
      </p:sp>
      <p:sp>
        <p:nvSpPr>
          <p:cNvPr id="37" name="Google Shape;37;p1"/>
          <p:cNvSpPr txBox="1"/>
          <p:nvPr/>
        </p:nvSpPr>
        <p:spPr>
          <a:xfrm>
            <a:off x="5569000" y="149475"/>
            <a:ext cx="6499500" cy="400200"/>
          </a:xfrm>
          <a:prstGeom prst="rect">
            <a:avLst/>
          </a:prstGeom>
          <a:solidFill>
            <a:srgbClr val="FF0000"/>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000000"/>
                </a:solidFill>
                <a:latin typeface="Arial"/>
                <a:ea typeface="Arial"/>
                <a:cs typeface="Arial"/>
                <a:sym typeface="Arial"/>
              </a:rPr>
              <a:t>※ワークシートはコピーしてご自身のPCに保存したものに作業してください</a:t>
            </a:r>
            <a:endParaRPr sz="1400" b="0" i="0" u="none" strike="noStrike" cap="none">
              <a:solidFill>
                <a:srgbClr val="000000"/>
              </a:solidFill>
              <a:latin typeface="Arial"/>
              <a:ea typeface="Arial"/>
              <a:cs typeface="Arial"/>
              <a:sym typeface="Arial"/>
            </a:endParaRPr>
          </a:p>
        </p:txBody>
      </p:sp>
      <p:graphicFrame>
        <p:nvGraphicFramePr>
          <p:cNvPr id="38" name="Google Shape;38;p1"/>
          <p:cNvGraphicFramePr/>
          <p:nvPr/>
        </p:nvGraphicFramePr>
        <p:xfrm>
          <a:off x="1260775" y="1064569"/>
          <a:ext cx="5244525" cy="2427075"/>
        </p:xfrm>
        <a:graphic>
          <a:graphicData uri="http://schemas.openxmlformats.org/drawingml/2006/table">
            <a:tbl>
              <a:tblPr firstRow="1" bandRow="1">
                <a:noFill/>
                <a:tableStyleId>{A91AA888-54A0-4C54-936F-01206E308FBF}</a:tableStyleId>
              </a:tblPr>
              <a:tblGrid>
                <a:gridCol w="2107425">
                  <a:extLst>
                    <a:ext uri="{9D8B030D-6E8A-4147-A177-3AD203B41FA5}">
                      <a16:colId xmlns:a16="http://schemas.microsoft.com/office/drawing/2014/main" val="20000"/>
                    </a:ext>
                  </a:extLst>
                </a:gridCol>
                <a:gridCol w="3137100">
                  <a:extLst>
                    <a:ext uri="{9D8B030D-6E8A-4147-A177-3AD203B41FA5}">
                      <a16:colId xmlns:a16="http://schemas.microsoft.com/office/drawing/2014/main" val="20001"/>
                    </a:ext>
                  </a:extLst>
                </a:gridCol>
              </a:tblGrid>
              <a:tr h="3002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便利や快適に感じた出来事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なぜ便利や快適だと感じたのか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病院に行った際に薬局が併設されており、診察から薬の受け取りまでスムーズに行えた</a:t>
                      </a:r>
                      <a:endParaRPr sz="7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病院で処方箋を受け取った後、薬局を探さなければいけない</a:t>
                      </a:r>
                      <a:br>
                        <a:rPr lang="ja" sz="700" u="none" strike="noStrike" cap="none">
                          <a:latin typeface="Arial"/>
                          <a:ea typeface="Arial"/>
                          <a:cs typeface="Arial"/>
                          <a:sym typeface="Arial"/>
                        </a:rPr>
                      </a:br>
                      <a:r>
                        <a:rPr lang="ja" sz="700" u="none" strike="noStrike" cap="none">
                          <a:latin typeface="Arial"/>
                          <a:ea typeface="Arial"/>
                          <a:cs typeface="Arial"/>
                          <a:sym typeface="Arial"/>
                        </a:rPr>
                        <a:t>手間が省けたため</a:t>
                      </a:r>
                      <a:endParaRPr sz="1400" u="none" strike="noStrike" cap="none"/>
                    </a:p>
                  </a:txBody>
                  <a:tcPr marL="84400" marR="84400" marT="42200" marB="42200" anchor="ctr"/>
                </a:tc>
                <a:extLst>
                  <a:ext uri="{0D108BD9-81ED-4DB2-BD59-A6C34878D82A}">
                    <a16:rowId xmlns:a16="http://schemas.microsoft.com/office/drawing/2014/main" val="10001"/>
                  </a:ext>
                </a:extLst>
              </a:tr>
              <a:tr h="531700">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生成AI（ChatGPTやClaudeなど）を使うことで、情報収集・思考整理・資料作成が一人で完結できるようになった</a:t>
                      </a:r>
                      <a:endParaRPr sz="8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以前は調べ物や文章整理に時間がかかっていたが、AIに相談しながら進めることで作業時間が大幅に短縮され、考えも整理しやすくなったため</a:t>
                      </a:r>
                      <a:endParaRPr sz="800" u="none" strike="noStrike" cap="none">
                        <a:latin typeface="Arial"/>
                        <a:ea typeface="Arial"/>
                        <a:cs typeface="Arial"/>
                        <a:sym typeface="Arial"/>
                      </a:endParaRPr>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15000"/>
                        </a:lnSpc>
                        <a:spcBef>
                          <a:spcPts val="0"/>
                        </a:spcBef>
                        <a:spcAft>
                          <a:spcPts val="0"/>
                        </a:spcAft>
                        <a:buClr>
                          <a:srgbClr val="000000"/>
                        </a:buClr>
                        <a:buSzPts val="1050"/>
                        <a:buFont typeface="Arial"/>
                        <a:buNone/>
                      </a:pPr>
                      <a:endParaRPr sz="800" u="none" strike="noStrike" cap="none">
                        <a:solidFill>
                          <a:schemeClr val="accent5"/>
                        </a:solidFill>
                      </a:endParaRPr>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endParaRPr sz="800" u="none" strike="noStrike" cap="none">
                        <a:solidFill>
                          <a:schemeClr val="accent5"/>
                        </a:solidFill>
                      </a:endParaRPr>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15000"/>
                        </a:lnSpc>
                        <a:spcBef>
                          <a:spcPts val="0"/>
                        </a:spcBef>
                        <a:spcAft>
                          <a:spcPts val="0"/>
                        </a:spcAft>
                        <a:buClr>
                          <a:srgbClr val="000000"/>
                        </a:buClr>
                        <a:buSzPts val="1050"/>
                        <a:buFont typeface="Arial"/>
                        <a:buNone/>
                      </a:pPr>
                      <a:endParaRPr sz="8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endParaRPr sz="750"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graphicFrame>
        <p:nvGraphicFramePr>
          <p:cNvPr id="39" name="Google Shape;39;p1"/>
          <p:cNvGraphicFramePr/>
          <p:nvPr/>
        </p:nvGraphicFramePr>
        <p:xfrm>
          <a:off x="6712827" y="1064582"/>
          <a:ext cx="5355675" cy="2455025"/>
        </p:xfrm>
        <a:graphic>
          <a:graphicData uri="http://schemas.openxmlformats.org/drawingml/2006/table">
            <a:tbl>
              <a:tblPr firstRow="1" bandRow="1">
                <a:noFill/>
                <a:tableStyleId>{A91AA888-54A0-4C54-936F-01206E308FBF}</a:tableStyleId>
              </a:tblPr>
              <a:tblGrid>
                <a:gridCol w="2168900">
                  <a:extLst>
                    <a:ext uri="{9D8B030D-6E8A-4147-A177-3AD203B41FA5}">
                      <a16:colId xmlns:a16="http://schemas.microsoft.com/office/drawing/2014/main" val="20000"/>
                    </a:ext>
                  </a:extLst>
                </a:gridCol>
                <a:gridCol w="3186775">
                  <a:extLst>
                    <a:ext uri="{9D8B030D-6E8A-4147-A177-3AD203B41FA5}">
                      <a16:colId xmlns:a16="http://schemas.microsoft.com/office/drawing/2014/main" val="20001"/>
                    </a:ext>
                  </a:extLst>
                </a:gridCol>
              </a:tblGrid>
              <a:tr h="3002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不便や不快に感じた出来事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なぜ不便や不快だと感じたのか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飲食店で分煙がされておらず、</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禁煙エリアでも煙草のにおいがした</a:t>
                      </a:r>
                      <a:endParaRPr sz="9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煙草のにおいが苦手で禁煙エリアのある飲食店に入ったのに</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煙草のにおいがしたため</a:t>
                      </a:r>
                      <a:endParaRPr sz="1400" u="none" strike="noStrike" cap="none"/>
                    </a:p>
                  </a:txBody>
                  <a:tcPr marL="84400" marR="84400" marT="42200" marB="42200" anchor="ctr"/>
                </a:tc>
                <a:extLst>
                  <a:ext uri="{0D108BD9-81ED-4DB2-BD59-A6C34878D82A}">
                    <a16:rowId xmlns:a16="http://schemas.microsoft.com/office/drawing/2014/main" val="10001"/>
                  </a:ext>
                </a:extLst>
              </a:tr>
              <a:tr h="559650">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就活の面接や説明会の日程調整を、企業ごとにメールで個別にやり取りする必要がある</a:t>
                      </a:r>
                      <a:endParaRPr sz="8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Arial"/>
                          <a:ea typeface="Arial"/>
                          <a:cs typeface="Arial"/>
                          <a:sym typeface="Arial"/>
                        </a:rPr>
                        <a:t>応募先が増えるほど、それぞれ異なるやり方で連絡を取り合う必要があり、自動で調整してくれる仕組みがなく手間がかかるため</a:t>
                      </a:r>
                      <a:endParaRPr sz="800" u="none" strike="noStrike" cap="none">
                        <a:latin typeface="Arial"/>
                        <a:ea typeface="Arial"/>
                        <a:cs typeface="Arial"/>
                        <a:sym typeface="Arial"/>
                      </a:endParaRPr>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00000"/>
                        </a:lnSpc>
                        <a:spcBef>
                          <a:spcPts val="0"/>
                        </a:spcBef>
                        <a:spcAft>
                          <a:spcPts val="0"/>
                        </a:spcAft>
                        <a:buClr>
                          <a:schemeClr val="dk1"/>
                        </a:buClr>
                        <a:buSzPts val="800"/>
                        <a:buFont typeface="Arial"/>
                        <a:buNone/>
                      </a:pPr>
                      <a:endParaRPr sz="75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800"/>
                        <a:buFont typeface="Arial"/>
                        <a:buNone/>
                      </a:pPr>
                      <a:endParaRPr sz="600" u="none" strike="noStrike" cap="none"/>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00000"/>
                        </a:lnSpc>
                        <a:spcBef>
                          <a:spcPts val="0"/>
                        </a:spcBef>
                        <a:spcAft>
                          <a:spcPts val="0"/>
                        </a:spcAft>
                        <a:buClr>
                          <a:schemeClr val="dk1"/>
                        </a:buClr>
                        <a:buSzPts val="800"/>
                        <a:buFont typeface="Arial"/>
                        <a:buNone/>
                      </a:pPr>
                      <a:endParaRPr sz="750" u="none" strike="noStrike" cap="none"/>
                    </a:p>
                    <a:p>
                      <a:pPr marL="0" marR="0" lvl="0" indent="0" algn="l" rtl="0">
                        <a:lnSpc>
                          <a:spcPct val="100000"/>
                        </a:lnSpc>
                        <a:spcBef>
                          <a:spcPts val="0"/>
                        </a:spcBef>
                        <a:spcAft>
                          <a:spcPts val="0"/>
                        </a:spcAft>
                        <a:buClr>
                          <a:schemeClr val="dk1"/>
                        </a:buClr>
                        <a:buSzPts val="800"/>
                        <a:buFont typeface="Arial"/>
                        <a:buNone/>
                      </a:pPr>
                      <a:endParaRPr sz="7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endParaRPr sz="750"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1_Office テーマ">
  <a:themeElements>
    <a:clrScheme name="FY2023RecruitingProject">
      <a:dk1>
        <a:srgbClr val="000000"/>
      </a:dk1>
      <a:lt1>
        <a:srgbClr val="FFFFFF"/>
      </a:lt1>
      <a:dk2>
        <a:srgbClr val="44546A"/>
      </a:dk2>
      <a:lt2>
        <a:srgbClr val="E7E6E6"/>
      </a:lt2>
      <a:accent1>
        <a:srgbClr val="33CCFF"/>
      </a:accent1>
      <a:accent2>
        <a:srgbClr val="FF3399"/>
      </a:accent2>
      <a:accent3>
        <a:srgbClr val="009999"/>
      </a:accent3>
      <a:accent4>
        <a:srgbClr val="CC0000"/>
      </a:accent4>
      <a:accent5>
        <a:srgbClr val="000000"/>
      </a:accent5>
      <a:accent6>
        <a:srgbClr val="00000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ワイド画面</PresentationFormat>
  <Slides>1</Slides>
  <Notes>1</Notes>
  <HiddenSlides>0</HiddenSlides>
  <ScaleCrop>false</ScaleCrop>
  <HeadingPairs>
    <vt:vector size="4" baseType="variant">
      <vt:variant>
        <vt:lpstr>テーマ</vt:lpstr>
      </vt:variant>
      <vt:variant>
        <vt:i4>1</vt:i4>
      </vt:variant>
      <vt:variant>
        <vt:lpstr>スライド タイトル</vt:lpstr>
      </vt:variant>
      <vt:variant>
        <vt:i4>1</vt:i4>
      </vt:variant>
    </vt:vector>
  </HeadingPairs>
  <TitlesOfParts>
    <vt:vector size="2" baseType="lpstr">
      <vt:lpstr>1_Office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和徳 那須</cp:lastModifiedBy>
  <cp:revision>1</cp:revision>
  <dcterms:modified xsi:type="dcterms:W3CDTF">2026-07-26T00:00:42Z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5af88a6-b88e-425b-bf39-433b2fafd692_SiteId">
    <vt:lpwstr>6786d483-f51b-44bd-b40a-6fe409a5265e</vt:lpwstr>
  </property>
  <property fmtid="{D5CDD505-2E9C-101B-9397-08002B2CF9AE}" pid="3" name="MSIP_Label_75af88a6-b88e-425b-bf39-433b2fafd692_SetDate">
    <vt:lpwstr>2025-07-31T04:35:14Z</vt:lpwstr>
  </property>
  <property fmtid="{D5CDD505-2E9C-101B-9397-08002B2CF9AE}" pid="4" name="MSIP_Label_75af88a6-b88e-425b-bf39-433b2fafd692_Name">
    <vt:lpwstr>秘密度C</vt:lpwstr>
  </property>
  <property fmtid="{D5CDD505-2E9C-101B-9397-08002B2CF9AE}" pid="5" name="MSIP_Label_75af88a6-b88e-425b-bf39-433b2fafd692_Method">
    <vt:lpwstr>Standard</vt:lpwstr>
  </property>
  <property fmtid="{D5CDD505-2E9C-101B-9397-08002B2CF9AE}" pid="6" name="MSIP_Label_75af88a6-b88e-425b-bf39-433b2fafd692_Enabled">
    <vt:lpwstr>true</vt:lpwstr>
  </property>
  <property fmtid="{D5CDD505-2E9C-101B-9397-08002B2CF9AE}" pid="7" name="MSIP_Label_75af88a6-b88e-425b-bf39-433b2fafd692_ContentBits">
    <vt:lpwstr>8</vt:lpwstr>
  </property>
</Properties>
</file>