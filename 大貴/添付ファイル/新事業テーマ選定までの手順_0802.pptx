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1" r:id="rId5"/>
    <p:sldId id="266" r:id="rId6"/>
    <p:sldId id="263" r:id="rId7"/>
    <p:sldId id="264" r:id="rId8"/>
    <p:sldId id="267" r:id="rId9"/>
    <p:sldId id="265" r:id="rId10"/>
    <p:sldId id="262" r:id="rId11"/>
    <p:sldId id="268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83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58:22.2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58:22.8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9830,'0'0'0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58:23.6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58:27.2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58:27.8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9830,'0'0'0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7466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E1FAB-D812-C1ED-382A-9A5D2392C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F3463B-CC85-56F5-A855-3A41CCE32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0C7A1B-8C92-735A-CB46-F5BC3558B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47E4-42B8-1D88-21CC-475EE29964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6350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5676D-CACA-BD79-02F3-F1CF8C2B5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57C24F-3D1C-4ADD-E629-65ABA3183B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B41A94-45A5-0DD1-9FCE-90B3E57223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0982B-9A4F-1D45-7451-C7D0FE5478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41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D8CA5-99AE-CBE9-59B0-0AAA64AA5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397D8A-25D9-F437-4869-89136A954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1EB7D8-D3CB-888D-3CAA-709602A62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AE9F7-B9A8-A7EC-7305-288804514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847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447D4-1655-4C19-83D4-198436BB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0B4E28-9FC0-71E9-3F18-4DF21F7257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B6E30B-DC93-4254-5090-5D4AABA33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2E9EA-3442-F149-07D5-AFC91817F5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6102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C06B2-B408-49A6-E2F4-F67B0409F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76D9FE-3A49-D92C-5B67-F2564E1623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BCE7C8-13F8-C67B-9B14-53BFBB5F9C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6F2CE-CA5F-5D3F-7FA1-C898BEFC1F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228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27AB1-9699-FBE8-3ACA-AB4A28844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7EC707-BE76-62D1-5050-B46F28458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ED6B1A-41A6-1D1E-B786-C2E8F43AD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112FD-5936-9A6B-DA35-0B1CF9670D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611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E8DCC-EA5E-03EC-2862-7848C4D38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D7F781-5179-41FD-2473-BE46980E1D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5A699C-61F8-6555-D731-699548273F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95E67-9304-7FE0-9668-FADD66F351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9187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71D73-BC43-8AB0-E9F5-F609CBAA9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DAA2F3-30F9-AE07-4B00-BE83C8963C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B378D7-34CE-DB3F-4E87-6FDC531E3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268CD-8B6D-C32D-F759-A0B8CF5A14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893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2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6.png"/><Relationship Id="rId5" Type="http://schemas.openxmlformats.org/officeDocument/2006/relationships/customXml" Target="../ink/ink1.xml"/><Relationship Id="rId10" Type="http://schemas.openxmlformats.org/officeDocument/2006/relationships/customXml" Target="../ink/ink5.xml"/><Relationship Id="rId4" Type="http://schemas.openxmlformats.org/officeDocument/2006/relationships/image" Target="../media/image4.png"/><Relationship Id="rId9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ドコモインターンシップ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新事業テーマ選定までの手順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E40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生活者の便利と不便 </a:t>
            </a: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から、新事業テーマの選定へ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大貴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新事業テーマ選定までのプロセス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291840" cy="3794760"/>
          </a:xfrm>
          <a:prstGeom prst="roundRect">
            <a:avLst>
              <a:gd name="adj" fmla="val 2778"/>
            </a:avLst>
          </a:prstGeom>
          <a:solidFill>
            <a:srgbClr val="F4F6FB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01</a:t>
            </a:r>
            <a:endParaRPr lang="en-US" dirty="0">
              <a:solidFill>
                <a:srgbClr val="C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880360" y="22402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239572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2000" y="3470698"/>
            <a:ext cx="2941320" cy="699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生活者視点での便利</a:t>
            </a:r>
            <a:r>
              <a:rPr lang="en-US" altLang="ja-JP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/</a:t>
            </a:r>
            <a:r>
              <a:rPr lang="ja-JP" altLang="en-US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不便</a:t>
            </a:r>
            <a:br>
              <a:rPr lang="en-US" altLang="ja-JP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</a:br>
            <a:r>
              <a:rPr lang="ja-JP" altLang="en-US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から、新事業の種となる</a:t>
            </a:r>
            <a:endParaRPr lang="en-US" altLang="ja-JP" b="1" dirty="0">
              <a:solidFill>
                <a:srgbClr val="1E2761"/>
              </a:solidFill>
              <a:latin typeface="Meiryo UI" panose="020B0604030504040204" pitchFamily="50" charset="-128"/>
              <a:ea typeface="Meiryo UI" panose="020B0604030504040204" pitchFamily="50" charset="-128"/>
              <a:cs typeface="Cambria" pitchFamily="34" charset="-120"/>
            </a:endParaRPr>
          </a:p>
          <a:p>
            <a:pPr marL="0" indent="0">
              <a:buNone/>
            </a:pPr>
            <a:r>
              <a:rPr lang="ja-JP" altLang="en-US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ニーズを洗い出す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68680" y="4677505"/>
            <a:ext cx="2834640" cy="0"/>
          </a:xfrm>
          <a:prstGeom prst="line">
            <a:avLst/>
          </a:prstGeom>
          <a:noFill/>
          <a:ln w="12700">
            <a:solidFill>
              <a:srgbClr val="D8DE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51952" y="4826925"/>
            <a:ext cx="3291840" cy="79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A2A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事前課題を</a:t>
            </a:r>
            <a:r>
              <a:rPr lang="ja-JP" altLang="en-US" dirty="0">
                <a:solidFill>
                  <a:srgbClr val="2A2A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もとに、生活者のニーズを議論。</a:t>
            </a:r>
            <a:endParaRPr lang="en-US" dirty="0">
              <a:solidFill>
                <a:srgbClr val="2A2A38"/>
              </a:solidFill>
              <a:latin typeface="Meiryo UI" panose="020B0604030504040204" pitchFamily="50" charset="-128"/>
              <a:ea typeface="Meiryo UI" panose="020B0604030504040204" pitchFamily="50" charset="-128"/>
              <a:cs typeface="Calibri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959352" y="3905039"/>
            <a:ext cx="402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4007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→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389120" y="1965960"/>
            <a:ext cx="3291840" cy="3794760"/>
          </a:xfrm>
          <a:prstGeom prst="roundRect">
            <a:avLst>
              <a:gd name="adj" fmla="val 2778"/>
            </a:avLst>
          </a:prstGeom>
          <a:solidFill>
            <a:srgbClr val="F4F6FB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617720" y="21488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02</a:t>
            </a:r>
            <a:endParaRPr lang="en-US" dirty="0">
              <a:solidFill>
                <a:srgbClr val="C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629400" y="22402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395728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466844" y="3411412"/>
            <a:ext cx="3136392" cy="929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ドコモの置かれている経営環境</a:t>
            </a:r>
            <a:br>
              <a:rPr lang="en-US" altLang="ja-JP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</a:br>
            <a:r>
              <a:rPr lang="ja-JP" altLang="en-US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から望まれることや</a:t>
            </a:r>
            <a:br>
              <a:rPr lang="en-US" altLang="ja-JP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</a:br>
            <a:r>
              <a:rPr lang="ja-JP" altLang="en-US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活かせる強みについて分析する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4617720" y="4677505"/>
            <a:ext cx="2834640" cy="0"/>
          </a:xfrm>
          <a:prstGeom prst="line">
            <a:avLst/>
          </a:prstGeom>
          <a:noFill/>
          <a:ln w="12700">
            <a:solidFill>
              <a:srgbClr val="D8DE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4617720" y="4826924"/>
            <a:ext cx="2834640" cy="75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ja-JP" altLang="en-US" dirty="0">
                <a:solidFill>
                  <a:srgbClr val="2A2A3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ドコモの経営環境や強みについて議論。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7708392" y="3905039"/>
            <a:ext cx="402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4007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→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8138160" y="1965960"/>
            <a:ext cx="3291840" cy="3794760"/>
          </a:xfrm>
          <a:prstGeom prst="roundRect">
            <a:avLst>
              <a:gd name="adj" fmla="val 2778"/>
            </a:avLst>
          </a:prstGeom>
          <a:solidFill>
            <a:srgbClr val="F4F6FB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8366760" y="21488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03</a:t>
            </a:r>
            <a:endParaRPr lang="en-US" dirty="0">
              <a:solidFill>
                <a:srgbClr val="C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10378440" y="22402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3888" y="2395728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366760" y="3470698"/>
            <a:ext cx="2834640" cy="960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ニーズ</a:t>
            </a:r>
            <a:r>
              <a:rPr lang="en-US" altLang="ja-JP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×</a:t>
            </a:r>
            <a:r>
              <a:rPr lang="ja-JP" altLang="en-US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強み　の両方を念頭に、「ドコモの新事業」の</a:t>
            </a:r>
            <a:br>
              <a:rPr lang="en-US" altLang="ja-JP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</a:br>
            <a:r>
              <a:rPr lang="ja-JP" altLang="en-US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テーマを選定する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8366760" y="4677505"/>
            <a:ext cx="2834640" cy="0"/>
          </a:xfrm>
          <a:prstGeom prst="line">
            <a:avLst/>
          </a:prstGeom>
          <a:noFill/>
          <a:ln w="12700">
            <a:solidFill>
              <a:srgbClr val="D8DEE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8366760" y="4913644"/>
            <a:ext cx="2834640" cy="664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今から深堀する新事業の</a:t>
            </a:r>
            <a:b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テーマを議論。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89241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278339" y="3160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E40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285184" y="8541"/>
            <a:ext cx="1005840" cy="1005840"/>
          </a:xfrm>
          <a:prstGeom prst="ellipse">
            <a:avLst/>
          </a:prstGeom>
          <a:solidFill>
            <a:srgbClr val="E4007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784" y="237141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843013" y="99228"/>
            <a:ext cx="9239125" cy="9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ja-JP" alt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生活者視点での便利</a:t>
            </a:r>
            <a:r>
              <a:rPr lang="en-US" altLang="ja-JP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</a:t>
            </a:r>
            <a:r>
              <a:rPr lang="ja-JP" alt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不便から、新事業の種となる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ja-JP" alt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ニーズを洗い出す</a:t>
            </a:r>
          </a:p>
        </p:txBody>
      </p:sp>
      <p:sp>
        <p:nvSpPr>
          <p:cNvPr id="101" name="ProposalTitle"/>
          <p:cNvSpPr/>
          <p:nvPr/>
        </p:nvSpPr>
        <p:spPr>
          <a:xfrm>
            <a:off x="418681" y="1300000"/>
            <a:ext cx="11354638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22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進め方（提案）</a:t>
            </a:r>
          </a:p>
        </p:txBody>
      </p:sp>
      <p:sp>
        <p:nvSpPr>
          <p:cNvPr id="102" name="ProposalSubtitle"/>
          <p:cNvSpPr/>
          <p:nvPr/>
        </p:nvSpPr>
        <p:spPr>
          <a:xfrm>
            <a:off x="418681" y="1780000"/>
            <a:ext cx="11354638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300" b="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事前課題（便利/不便に感じたこと）を持ち寄り、以下の4ステップでグループ議論を行う</a:t>
            </a:r>
          </a:p>
        </p:txBody>
      </p:sp>
      <p:sp>
        <p:nvSpPr>
          <p:cNvPr id="103" name="Card1Bg"/>
          <p:cNvSpPr/>
          <p:nvPr/>
        </p:nvSpPr>
        <p:spPr>
          <a:xfrm>
            <a:off x="418681" y="2280000"/>
            <a:ext cx="2688000" cy="3550000"/>
          </a:xfrm>
          <a:prstGeom prst="roundRect">
            <a:avLst>
              <a:gd name="adj" fmla="val 6000"/>
            </a:avLst>
          </a:prstGeom>
          <a:solidFill>
            <a:srgbClr val="F4F5FA"/>
          </a:solidFill>
          <a:ln>
            <a:noFill/>
          </a:ln>
          <a:effectLst>
            <a:outerShdw blurRad="90000" dist="30000" dir="5400000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4" name="Card1Circle"/>
          <p:cNvSpPr/>
          <p:nvPr/>
        </p:nvSpPr>
        <p:spPr>
          <a:xfrm>
            <a:off x="618681" y="2480000"/>
            <a:ext cx="460000" cy="460000"/>
          </a:xfrm>
          <a:prstGeom prst="ellipse">
            <a:avLst/>
          </a:prstGeom>
          <a:solidFill>
            <a:srgbClr val="E4007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05" name="Card1Header"/>
          <p:cNvSpPr/>
          <p:nvPr/>
        </p:nvSpPr>
        <p:spPr>
          <a:xfrm>
            <a:off x="618681" y="3060000"/>
            <a:ext cx="2288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共有（発表）</a:t>
            </a:r>
          </a:p>
        </p:txBody>
      </p:sp>
      <p:sp>
        <p:nvSpPr>
          <p:cNvPr id="106" name="Card1Time"/>
          <p:cNvSpPr/>
          <p:nvPr/>
        </p:nvSpPr>
        <p:spPr>
          <a:xfrm>
            <a:off x="618681" y="3740000"/>
            <a:ext cx="2288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100" b="1" dirty="0">
                <a:solidFill>
                  <a:srgbClr val="E40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目安：一人3分</a:t>
            </a:r>
          </a:p>
        </p:txBody>
      </p:sp>
      <p:sp>
        <p:nvSpPr>
          <p:cNvPr id="107" name="Card1Body"/>
          <p:cNvSpPr/>
          <p:nvPr/>
        </p:nvSpPr>
        <p:spPr>
          <a:xfrm>
            <a:off x="618681" y="4190000"/>
            <a:ext cx="2288000" cy="1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Font typeface="Wingdings" panose="05000000000000000000" pitchFamily="2" charset="2"/>
              <a:buChar char="p"/>
            </a:pPr>
            <a:r>
              <a:rPr lang="ja-JP" altLang="en-US" sz="1200" b="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事前課題（便利/不便）を発表</a:t>
            </a:r>
          </a:p>
          <a:p>
            <a:pPr marL="228600" indent="-228600">
              <a:spcAft>
                <a:spcPts val="200"/>
              </a:spcAft>
              <a:buFont typeface="Wingdings" panose="05000000000000000000" pitchFamily="2" charset="2"/>
              <a:buChar char="p"/>
            </a:pPr>
            <a:r>
              <a:rPr lang="ja-JP" altLang="en-US" sz="1200" b="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自分と他者の話を分けて紹介</a:t>
            </a:r>
          </a:p>
        </p:txBody>
      </p:sp>
      <p:sp>
        <p:nvSpPr>
          <p:cNvPr id="108" name="Arrow1"/>
          <p:cNvSpPr/>
          <p:nvPr/>
        </p:nvSpPr>
        <p:spPr>
          <a:xfrm>
            <a:off x="3106681" y="2280000"/>
            <a:ext cx="200000" cy="35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800" b="1" dirty="0">
                <a:solidFill>
                  <a:srgbClr val="E40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</a:p>
        </p:txBody>
      </p:sp>
      <p:sp>
        <p:nvSpPr>
          <p:cNvPr id="109" name="Card2Bg"/>
          <p:cNvSpPr/>
          <p:nvPr/>
        </p:nvSpPr>
        <p:spPr>
          <a:xfrm>
            <a:off x="3306681" y="2280000"/>
            <a:ext cx="2688000" cy="3550000"/>
          </a:xfrm>
          <a:prstGeom prst="roundRect">
            <a:avLst>
              <a:gd name="adj" fmla="val 6000"/>
            </a:avLst>
          </a:prstGeom>
          <a:solidFill>
            <a:srgbClr val="F4F5FA"/>
          </a:solidFill>
          <a:ln>
            <a:noFill/>
          </a:ln>
          <a:effectLst>
            <a:outerShdw blurRad="90000" dist="30000" dir="5400000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0" name="Card2Circle"/>
          <p:cNvSpPr/>
          <p:nvPr/>
        </p:nvSpPr>
        <p:spPr>
          <a:xfrm>
            <a:off x="3506681" y="2480000"/>
            <a:ext cx="460000" cy="460000"/>
          </a:xfrm>
          <a:prstGeom prst="ellipse">
            <a:avLst/>
          </a:prstGeom>
          <a:solidFill>
            <a:srgbClr val="E4007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111" name="Card2Header"/>
          <p:cNvSpPr/>
          <p:nvPr/>
        </p:nvSpPr>
        <p:spPr>
          <a:xfrm>
            <a:off x="3506681" y="3060000"/>
            <a:ext cx="2288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書き出し</a:t>
            </a:r>
          </a:p>
        </p:txBody>
      </p:sp>
      <p:sp>
        <p:nvSpPr>
          <p:cNvPr id="112" name="Card2Time"/>
          <p:cNvSpPr/>
          <p:nvPr/>
        </p:nvSpPr>
        <p:spPr>
          <a:xfrm>
            <a:off x="3506681" y="3740000"/>
            <a:ext cx="2288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100" b="1" dirty="0">
                <a:solidFill>
                  <a:srgbClr val="E40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目安：10分</a:t>
            </a:r>
          </a:p>
        </p:txBody>
      </p:sp>
      <p:sp>
        <p:nvSpPr>
          <p:cNvPr id="113" name="Card2Body"/>
          <p:cNvSpPr/>
          <p:nvPr/>
        </p:nvSpPr>
        <p:spPr>
          <a:xfrm>
            <a:off x="3506681" y="4190000"/>
            <a:ext cx="2288000" cy="1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Font typeface="Wingdings" panose="05000000000000000000" pitchFamily="2" charset="2"/>
              <a:buChar char="p"/>
            </a:pPr>
            <a:r>
              <a:rPr lang="ja-JP" altLang="en-US" sz="1200" b="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出た意見を付箋やシートに整理</a:t>
            </a:r>
          </a:p>
          <a:p>
            <a:pPr marL="228600" indent="-228600">
              <a:spcAft>
                <a:spcPts val="200"/>
              </a:spcAft>
              <a:buFont typeface="Wingdings" panose="05000000000000000000" pitchFamily="2" charset="2"/>
              <a:buChar char="p"/>
            </a:pPr>
            <a:r>
              <a:rPr lang="ja-JP" altLang="en-US" sz="1200" b="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テーマ・業界ごとに分類</a:t>
            </a:r>
          </a:p>
        </p:txBody>
      </p:sp>
      <p:sp>
        <p:nvSpPr>
          <p:cNvPr id="114" name="Arrow2"/>
          <p:cNvSpPr/>
          <p:nvPr/>
        </p:nvSpPr>
        <p:spPr>
          <a:xfrm>
            <a:off x="5994681" y="2280000"/>
            <a:ext cx="200000" cy="35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800" b="1" dirty="0">
                <a:solidFill>
                  <a:srgbClr val="E40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</a:p>
        </p:txBody>
      </p:sp>
      <p:sp>
        <p:nvSpPr>
          <p:cNvPr id="115" name="Card3Bg"/>
          <p:cNvSpPr/>
          <p:nvPr/>
        </p:nvSpPr>
        <p:spPr>
          <a:xfrm>
            <a:off x="6194681" y="2280000"/>
            <a:ext cx="2688000" cy="3550000"/>
          </a:xfrm>
          <a:prstGeom prst="roundRect">
            <a:avLst>
              <a:gd name="adj" fmla="val 6000"/>
            </a:avLst>
          </a:prstGeom>
          <a:solidFill>
            <a:srgbClr val="F4F5FA"/>
          </a:solidFill>
          <a:ln>
            <a:noFill/>
          </a:ln>
          <a:effectLst>
            <a:outerShdw blurRad="90000" dist="30000" dir="5400000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6" name="Card3Circle"/>
          <p:cNvSpPr/>
          <p:nvPr/>
        </p:nvSpPr>
        <p:spPr>
          <a:xfrm>
            <a:off x="6394681" y="2480000"/>
            <a:ext cx="460000" cy="460000"/>
          </a:xfrm>
          <a:prstGeom prst="ellipse">
            <a:avLst/>
          </a:prstGeom>
          <a:solidFill>
            <a:srgbClr val="E4007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117" name="Card3Header"/>
          <p:cNvSpPr/>
          <p:nvPr/>
        </p:nvSpPr>
        <p:spPr>
          <a:xfrm>
            <a:off x="6394681" y="3060000"/>
            <a:ext cx="2288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絞り込み</a:t>
            </a:r>
          </a:p>
        </p:txBody>
      </p:sp>
      <p:sp>
        <p:nvSpPr>
          <p:cNvPr id="118" name="Card3Time"/>
          <p:cNvSpPr/>
          <p:nvPr/>
        </p:nvSpPr>
        <p:spPr>
          <a:xfrm>
            <a:off x="6394681" y="3740000"/>
            <a:ext cx="2288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100" b="1" dirty="0">
                <a:solidFill>
                  <a:srgbClr val="E40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目安：10分</a:t>
            </a:r>
          </a:p>
        </p:txBody>
      </p:sp>
      <p:sp>
        <p:nvSpPr>
          <p:cNvPr id="119" name="Card3Body"/>
          <p:cNvSpPr/>
          <p:nvPr/>
        </p:nvSpPr>
        <p:spPr>
          <a:xfrm>
            <a:off x="6394681" y="4190000"/>
            <a:ext cx="2288000" cy="1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Font typeface="Wingdings" panose="05000000000000000000" pitchFamily="2" charset="2"/>
              <a:buChar char="p"/>
            </a:pPr>
            <a:r>
              <a:rPr lang="ja-JP" altLang="en-US" sz="1200" b="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深掘りしたいニーズを議論</a:t>
            </a:r>
          </a:p>
          <a:p>
            <a:pPr marL="228600" indent="-228600">
              <a:spcAft>
                <a:spcPts val="200"/>
              </a:spcAft>
              <a:buFont typeface="Wingdings" panose="05000000000000000000" pitchFamily="2" charset="2"/>
              <a:buChar char="p"/>
            </a:pPr>
            <a:r>
              <a:rPr lang="ja-JP" altLang="en-US" sz="1200" b="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3〜5個に絞り込む</a:t>
            </a:r>
          </a:p>
        </p:txBody>
      </p:sp>
      <p:sp>
        <p:nvSpPr>
          <p:cNvPr id="120" name="Arrow3"/>
          <p:cNvSpPr/>
          <p:nvPr/>
        </p:nvSpPr>
        <p:spPr>
          <a:xfrm>
            <a:off x="8882681" y="2280000"/>
            <a:ext cx="200000" cy="35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800" b="1" dirty="0">
                <a:solidFill>
                  <a:srgbClr val="E40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</a:p>
        </p:txBody>
      </p:sp>
      <p:sp>
        <p:nvSpPr>
          <p:cNvPr id="121" name="Card4Bg"/>
          <p:cNvSpPr/>
          <p:nvPr/>
        </p:nvSpPr>
        <p:spPr>
          <a:xfrm>
            <a:off x="9082681" y="2280000"/>
            <a:ext cx="2688000" cy="3550000"/>
          </a:xfrm>
          <a:prstGeom prst="roundRect">
            <a:avLst>
              <a:gd name="adj" fmla="val 6000"/>
            </a:avLst>
          </a:prstGeom>
          <a:solidFill>
            <a:srgbClr val="F4F5FA"/>
          </a:solidFill>
          <a:ln>
            <a:noFill/>
          </a:ln>
          <a:effectLst>
            <a:outerShdw blurRad="90000" dist="30000" dir="5400000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2" name="Card4Circle"/>
          <p:cNvSpPr/>
          <p:nvPr/>
        </p:nvSpPr>
        <p:spPr>
          <a:xfrm>
            <a:off x="9282681" y="2480000"/>
            <a:ext cx="460000" cy="460000"/>
          </a:xfrm>
          <a:prstGeom prst="ellipse">
            <a:avLst/>
          </a:prstGeom>
          <a:solidFill>
            <a:srgbClr val="E4007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123" name="Card4Header"/>
          <p:cNvSpPr/>
          <p:nvPr/>
        </p:nvSpPr>
        <p:spPr>
          <a:xfrm>
            <a:off x="9282681" y="3060000"/>
            <a:ext cx="2288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言語化</a:t>
            </a:r>
          </a:p>
        </p:txBody>
      </p:sp>
      <p:sp>
        <p:nvSpPr>
          <p:cNvPr id="124" name="Card4Time"/>
          <p:cNvSpPr/>
          <p:nvPr/>
        </p:nvSpPr>
        <p:spPr>
          <a:xfrm>
            <a:off x="9282681" y="3740000"/>
            <a:ext cx="2288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100" b="1" dirty="0">
                <a:solidFill>
                  <a:srgbClr val="E400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目安：10分</a:t>
            </a:r>
          </a:p>
        </p:txBody>
      </p:sp>
      <p:sp>
        <p:nvSpPr>
          <p:cNvPr id="125" name="Card4Body"/>
          <p:cNvSpPr/>
          <p:nvPr/>
        </p:nvSpPr>
        <p:spPr>
          <a:xfrm>
            <a:off x="9282681" y="4190000"/>
            <a:ext cx="2288000" cy="1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Font typeface="Wingdings" panose="05000000000000000000" pitchFamily="2" charset="2"/>
              <a:buChar char="p"/>
            </a:pPr>
            <a:r>
              <a:rPr lang="ja-JP" altLang="en-US" sz="1200" b="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選んだニーズを一文に整理</a:t>
            </a:r>
          </a:p>
          <a:p>
            <a:pPr marL="228600" indent="-228600">
              <a:spcAft>
                <a:spcPts val="200"/>
              </a:spcAft>
              <a:buFont typeface="Wingdings" panose="05000000000000000000" pitchFamily="2" charset="2"/>
              <a:buChar char="p"/>
            </a:pPr>
            <a:r>
              <a:rPr lang="ja-JP" altLang="en-US" sz="1200" b="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誰の、どんな不便/便利かを明確化</a:t>
            </a:r>
          </a:p>
        </p:txBody>
      </p:sp>
      <p:sp>
        <p:nvSpPr>
          <p:cNvPr id="126" name="ProposalFooter"/>
          <p:cNvSpPr/>
          <p:nvPr/>
        </p:nvSpPr>
        <p:spPr>
          <a:xfrm>
            <a:off x="418681" y="5930000"/>
            <a:ext cx="11354638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3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想定所要時間：合計 約35分　※各自の事前課題ワークを持参してディスカッションに臨む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2A463-9E12-1EF0-EDEA-F7E650C64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C3FBEC5-39C6-CDEC-2F1C-40A2841C12AB}"/>
              </a:ext>
            </a:extLst>
          </p:cNvPr>
          <p:cNvSpPr/>
          <p:nvPr/>
        </p:nvSpPr>
        <p:spPr>
          <a:xfrm>
            <a:off x="0" y="0"/>
            <a:ext cx="12192000" cy="1089241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D63BB99-34FE-8524-1F28-507EECB159D2}"/>
              </a:ext>
            </a:extLst>
          </p:cNvPr>
          <p:cNvSpPr/>
          <p:nvPr/>
        </p:nvSpPr>
        <p:spPr>
          <a:xfrm>
            <a:off x="278339" y="3160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E40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</a:t>
            </a:r>
            <a:r>
              <a:rPr lang="en-US" altLang="ja-JP" sz="1500" b="1" kern="0" spc="200" dirty="0">
                <a:solidFill>
                  <a:srgbClr val="E40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EB59654-E848-D8A2-94F1-08A2133786A7}"/>
              </a:ext>
            </a:extLst>
          </p:cNvPr>
          <p:cNvSpPr/>
          <p:nvPr/>
        </p:nvSpPr>
        <p:spPr>
          <a:xfrm>
            <a:off x="2843013" y="99228"/>
            <a:ext cx="9239125" cy="9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ja-JP" alt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ドコモの置かれている経営環境から望まれることや</a:t>
            </a:r>
            <a:br>
              <a:rPr lang="ja-JP" alt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ja-JP" alt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活かせすべき強みについて分析</a:t>
            </a: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D2657A26-2FB9-A34D-8DF9-D555AEA0BA5D}"/>
              </a:ext>
            </a:extLst>
          </p:cNvPr>
          <p:cNvSpPr/>
          <p:nvPr/>
        </p:nvSpPr>
        <p:spPr>
          <a:xfrm>
            <a:off x="1333918" y="17082"/>
            <a:ext cx="1005840" cy="1005840"/>
          </a:xfrm>
          <a:prstGeom prst="ellipse">
            <a:avLst/>
          </a:prstGeom>
          <a:solidFill>
            <a:srgbClr val="E4007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9EFE7FBC-EAF2-0DCC-9A3C-022ED3221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518" y="245682"/>
            <a:ext cx="548640" cy="548640"/>
          </a:xfrm>
          <a:prstGeom prst="rect">
            <a:avLst/>
          </a:prstGeom>
        </p:spPr>
      </p:pic>
      <p:sp>
        <p:nvSpPr>
          <p:cNvPr id="9" name="Text 0">
            <a:extLst>
              <a:ext uri="{FF2B5EF4-FFF2-40B4-BE49-F238E27FC236}">
                <a16:creationId xmlns:a16="http://schemas.microsoft.com/office/drawing/2014/main" id="{ECCF7219-881E-E30D-4A63-D51EA67A5E61}"/>
              </a:ext>
            </a:extLst>
          </p:cNvPr>
          <p:cNvSpPr/>
          <p:nvPr/>
        </p:nvSpPr>
        <p:spPr>
          <a:xfrm>
            <a:off x="418681" y="1405261"/>
            <a:ext cx="10972800" cy="4804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ja-JP" altLang="en-US" sz="28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＜参考情報＞</a:t>
            </a:r>
            <a:endParaRPr lang="en-US" altLang="ja-JP" sz="2800" b="1" dirty="0">
              <a:solidFill>
                <a:srgbClr val="1B2A4A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514350" indent="-514350"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ja-JP" altLang="en-US" sz="28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環境分析</a:t>
            </a:r>
            <a:endParaRPr lang="en-US" altLang="ja-JP" sz="2800" b="1" dirty="0">
              <a:solidFill>
                <a:srgbClr val="1B2A4A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514350" indent="-514350"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ja-JP" altLang="en-US" sz="28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ドコモの事業状況（業績と成長戦略）</a:t>
            </a:r>
            <a:endParaRPr lang="en-US" altLang="ja-JP" sz="2800" b="1" dirty="0">
              <a:solidFill>
                <a:srgbClr val="1B2A4A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514350" indent="-514350"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en-US" sz="2800" b="1" dirty="0" err="1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</a:t>
            </a:r>
            <a:r>
              <a:rPr lang="ja-JP" altLang="en-US" sz="28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との基礎数値の</a:t>
            </a:r>
            <a:r>
              <a:rPr lang="en-US" sz="2800" b="1" dirty="0" err="1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比較</a:t>
            </a:r>
            <a:endParaRPr lang="en-US" sz="2800" b="1" dirty="0">
              <a:solidFill>
                <a:srgbClr val="1B2A4A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>
              <a:spcAft>
                <a:spcPts val="600"/>
              </a:spcAft>
            </a:pPr>
            <a:endParaRPr lang="en-US" altLang="ja-JP" sz="2800" b="1" dirty="0">
              <a:solidFill>
                <a:srgbClr val="1B2A4A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>
              <a:spcAft>
                <a:spcPts val="600"/>
              </a:spcAft>
            </a:pPr>
            <a:r>
              <a:rPr lang="ja-JP" altLang="en-US" sz="28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＜考察＞　　</a:t>
            </a:r>
            <a:endParaRPr lang="en-US" altLang="ja-JP" sz="2800" b="1" dirty="0">
              <a:solidFill>
                <a:srgbClr val="1B2A4A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ja-JP" altLang="en-US" sz="28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ドコモの経営環境から求められること</a:t>
            </a:r>
            <a:endParaRPr lang="en-US" altLang="ja-JP" sz="2800" b="1" dirty="0">
              <a:solidFill>
                <a:srgbClr val="1B2A4A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ja-JP" altLang="en-US" sz="28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ドコモが活かすべき強み考察</a:t>
            </a:r>
            <a:endParaRPr lang="en-US" altLang="ja-JP" sz="2800" b="1" dirty="0">
              <a:solidFill>
                <a:srgbClr val="1B2A4A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85546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2E9A3-A889-60D1-71C8-17D143908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正方形/長方形 116">
            <a:extLst>
              <a:ext uri="{FF2B5EF4-FFF2-40B4-BE49-F238E27FC236}">
                <a16:creationId xmlns:a16="http://schemas.microsoft.com/office/drawing/2014/main" id="{F5AC6C59-5619-563F-CF99-8341065AD632}"/>
              </a:ext>
            </a:extLst>
          </p:cNvPr>
          <p:cNvSpPr/>
          <p:nvPr/>
        </p:nvSpPr>
        <p:spPr>
          <a:xfrm>
            <a:off x="150054" y="3957054"/>
            <a:ext cx="11859317" cy="2619856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799CDAFB-D96E-728A-076A-3F59484DCA27}"/>
              </a:ext>
            </a:extLst>
          </p:cNvPr>
          <p:cNvSpPr/>
          <p:nvPr/>
        </p:nvSpPr>
        <p:spPr>
          <a:xfrm>
            <a:off x="150054" y="1188470"/>
            <a:ext cx="11859317" cy="2619856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E1874B4-7F49-BB06-3E8B-E7A2DF5D612F}"/>
              </a:ext>
            </a:extLst>
          </p:cNvPr>
          <p:cNvSpPr/>
          <p:nvPr/>
        </p:nvSpPr>
        <p:spPr>
          <a:xfrm>
            <a:off x="2843013" y="99228"/>
            <a:ext cx="9239125" cy="9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ja-JP" alt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競合との基礎数値の比較</a:t>
            </a:r>
          </a:p>
        </p:txBody>
      </p:sp>
      <p:sp>
        <p:nvSpPr>
          <p:cNvPr id="131" name="Shape 0">
            <a:extLst>
              <a:ext uri="{FF2B5EF4-FFF2-40B4-BE49-F238E27FC236}">
                <a16:creationId xmlns:a16="http://schemas.microsoft.com/office/drawing/2014/main" id="{C1687210-42A9-F180-5033-B478A24A8AD5}"/>
              </a:ext>
            </a:extLst>
          </p:cNvPr>
          <p:cNvSpPr/>
          <p:nvPr/>
        </p:nvSpPr>
        <p:spPr>
          <a:xfrm>
            <a:off x="0" y="0"/>
            <a:ext cx="12192000" cy="1089241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2" name="Text 2">
            <a:extLst>
              <a:ext uri="{FF2B5EF4-FFF2-40B4-BE49-F238E27FC236}">
                <a16:creationId xmlns:a16="http://schemas.microsoft.com/office/drawing/2014/main" id="{D8756391-E329-C98E-633C-20114AA3366A}"/>
              </a:ext>
            </a:extLst>
          </p:cNvPr>
          <p:cNvSpPr/>
          <p:nvPr/>
        </p:nvSpPr>
        <p:spPr>
          <a:xfrm>
            <a:off x="278339" y="3160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E40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</a:t>
            </a:r>
            <a:r>
              <a:rPr lang="en-US" altLang="ja-JP" sz="1500" b="1" kern="0" spc="200" dirty="0">
                <a:solidFill>
                  <a:srgbClr val="E40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3" name="Text 4">
            <a:extLst>
              <a:ext uri="{FF2B5EF4-FFF2-40B4-BE49-F238E27FC236}">
                <a16:creationId xmlns:a16="http://schemas.microsoft.com/office/drawing/2014/main" id="{8B70746B-9B5D-C6E1-4784-B852E5B68EEB}"/>
              </a:ext>
            </a:extLst>
          </p:cNvPr>
          <p:cNvSpPr/>
          <p:nvPr/>
        </p:nvSpPr>
        <p:spPr>
          <a:xfrm>
            <a:off x="2843013" y="99228"/>
            <a:ext cx="9239125" cy="9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ja-JP" alt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環境分析</a:t>
            </a:r>
          </a:p>
        </p:txBody>
      </p:sp>
      <p:sp>
        <p:nvSpPr>
          <p:cNvPr id="134" name="Shape 3">
            <a:extLst>
              <a:ext uri="{FF2B5EF4-FFF2-40B4-BE49-F238E27FC236}">
                <a16:creationId xmlns:a16="http://schemas.microsoft.com/office/drawing/2014/main" id="{872F59D5-3BEA-4E27-6754-96DFB9DC9B89}"/>
              </a:ext>
            </a:extLst>
          </p:cNvPr>
          <p:cNvSpPr/>
          <p:nvPr/>
        </p:nvSpPr>
        <p:spPr>
          <a:xfrm>
            <a:off x="1333918" y="17082"/>
            <a:ext cx="1005840" cy="1005840"/>
          </a:xfrm>
          <a:prstGeom prst="ellipse">
            <a:avLst/>
          </a:prstGeom>
          <a:solidFill>
            <a:srgbClr val="E4007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35" name="Image 0" descr="preencoded.png">
            <a:extLst>
              <a:ext uri="{FF2B5EF4-FFF2-40B4-BE49-F238E27FC236}">
                <a16:creationId xmlns:a16="http://schemas.microsoft.com/office/drawing/2014/main" id="{F7674C12-24D9-6903-9DB3-3F8F96AF9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518" y="245682"/>
            <a:ext cx="548640" cy="54864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C89D144F-F6E9-058E-7690-A8B29481D972}"/>
              </a:ext>
            </a:extLst>
          </p:cNvPr>
          <p:cNvSpPr/>
          <p:nvPr/>
        </p:nvSpPr>
        <p:spPr>
          <a:xfrm>
            <a:off x="182629" y="1325474"/>
            <a:ext cx="5112852" cy="4937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2000" b="1" dirty="0">
                <a:solidFill>
                  <a:srgbClr val="1B2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①</a:t>
            </a:r>
            <a:r>
              <a:rPr lang="en-US" altLang="ja-JP" sz="2000" b="1" dirty="0">
                <a:solidFill>
                  <a:srgbClr val="1B2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PEST</a:t>
            </a:r>
            <a:r>
              <a:rPr lang="ja-JP" altLang="en-US" sz="2000" b="1" dirty="0">
                <a:solidFill>
                  <a:srgbClr val="1B2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分析からの抽出のポイント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060DEE97-6262-9742-15C5-76462B89EB22}"/>
              </a:ext>
            </a:extLst>
          </p:cNvPr>
          <p:cNvSpPr/>
          <p:nvPr/>
        </p:nvSpPr>
        <p:spPr>
          <a:xfrm>
            <a:off x="419852" y="1947873"/>
            <a:ext cx="6431324" cy="1659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総務省が電気通信事業法27条の3（端末割引上限）の見直しを</a:t>
            </a:r>
            <a:br>
              <a:rPr lang="en-US" sz="16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</a:br>
            <a:r>
              <a:rPr lang="en-US" sz="16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検討開始（2025年12月〜専門委員会）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05000"/>
              </a:lnSpc>
              <a:spcAft>
                <a:spcPts val="600"/>
              </a:spcAft>
              <a:buSzPct val="100000"/>
            </a:pPr>
            <a:r>
              <a:rPr lang="ja-JP" altLang="en-US" sz="16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　　</a:t>
            </a:r>
            <a:r>
              <a:rPr lang="en-US" sz="16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「</a:t>
            </a:r>
            <a:r>
              <a:rPr lang="ja-JP" altLang="en-US" sz="16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ホッピング</a:t>
            </a:r>
            <a:r>
              <a:rPr lang="en-US" sz="16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」</a:t>
            </a:r>
            <a:r>
              <a:rPr lang="ja-JP" altLang="en-US" sz="16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（乗換特典の繰り返し利用）や短期解約への規制論点</a:t>
            </a:r>
            <a:br>
              <a:rPr lang="en-US" altLang="ja-JP" sz="16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</a:br>
            <a:r>
              <a:rPr lang="ja-JP" altLang="en-US" sz="16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　　　が浮上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93" name="図 92">
            <a:extLst>
              <a:ext uri="{FF2B5EF4-FFF2-40B4-BE49-F238E27FC236}">
                <a16:creationId xmlns:a16="http://schemas.microsoft.com/office/drawing/2014/main" id="{33DC7D69-0EE7-EC41-B4B0-869AAE88C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9297" y="1292578"/>
            <a:ext cx="5112851" cy="241960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4" name="インク 93">
                <a:extLst>
                  <a:ext uri="{FF2B5EF4-FFF2-40B4-BE49-F238E27FC236}">
                    <a16:creationId xmlns:a16="http://schemas.microsoft.com/office/drawing/2014/main" id="{5FBEFC3E-3DE4-67B7-5777-D0ACF672B7D2}"/>
                  </a:ext>
                </a:extLst>
              </p14:cNvPr>
              <p14:cNvContentPartPr/>
              <p14:nvPr/>
            </p14:nvContentPartPr>
            <p14:xfrm>
              <a:off x="2059718" y="3175220"/>
              <a:ext cx="360" cy="360"/>
            </p14:xfrm>
          </p:contentPart>
        </mc:Choice>
        <mc:Fallback xmlns="">
          <p:pic>
            <p:nvPicPr>
              <p:cNvPr id="94" name="インク 93">
                <a:extLst>
                  <a:ext uri="{FF2B5EF4-FFF2-40B4-BE49-F238E27FC236}">
                    <a16:creationId xmlns:a16="http://schemas.microsoft.com/office/drawing/2014/main" id="{5FBEFC3E-3DE4-67B7-5777-D0ACF672B7D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42078" y="315722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5" name="インク 94">
                <a:extLst>
                  <a:ext uri="{FF2B5EF4-FFF2-40B4-BE49-F238E27FC236}">
                    <a16:creationId xmlns:a16="http://schemas.microsoft.com/office/drawing/2014/main" id="{978858BF-CD3C-DB85-2116-C7931986A1F3}"/>
                  </a:ext>
                </a:extLst>
              </p14:cNvPr>
              <p14:cNvContentPartPr/>
              <p14:nvPr/>
            </p14:nvContentPartPr>
            <p14:xfrm>
              <a:off x="2350958" y="2280620"/>
              <a:ext cx="360" cy="360"/>
            </p14:xfrm>
          </p:contentPart>
        </mc:Choice>
        <mc:Fallback xmlns="">
          <p:pic>
            <p:nvPicPr>
              <p:cNvPr id="95" name="インク 94">
                <a:extLst>
                  <a:ext uri="{FF2B5EF4-FFF2-40B4-BE49-F238E27FC236}">
                    <a16:creationId xmlns:a16="http://schemas.microsoft.com/office/drawing/2014/main" id="{978858BF-CD3C-DB85-2116-C7931986A1F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33318" y="226298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6" name="インク 95">
                <a:extLst>
                  <a:ext uri="{FF2B5EF4-FFF2-40B4-BE49-F238E27FC236}">
                    <a16:creationId xmlns:a16="http://schemas.microsoft.com/office/drawing/2014/main" id="{FC02AB8A-477E-B2A2-1B03-57A312310756}"/>
                  </a:ext>
                </a:extLst>
              </p14:cNvPr>
              <p14:cNvContentPartPr/>
              <p14:nvPr/>
            </p14:nvContentPartPr>
            <p14:xfrm>
              <a:off x="2089958" y="2049860"/>
              <a:ext cx="360" cy="360"/>
            </p14:xfrm>
          </p:contentPart>
        </mc:Choice>
        <mc:Fallback xmlns="">
          <p:pic>
            <p:nvPicPr>
              <p:cNvPr id="96" name="インク 95">
                <a:extLst>
                  <a:ext uri="{FF2B5EF4-FFF2-40B4-BE49-F238E27FC236}">
                    <a16:creationId xmlns:a16="http://schemas.microsoft.com/office/drawing/2014/main" id="{FC02AB8A-477E-B2A2-1B03-57A31231075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71958" y="203186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7" name="インク 96">
                <a:extLst>
                  <a:ext uri="{FF2B5EF4-FFF2-40B4-BE49-F238E27FC236}">
                    <a16:creationId xmlns:a16="http://schemas.microsoft.com/office/drawing/2014/main" id="{699F200E-E6EA-33E1-CC5C-4F7A1D6953DB}"/>
                  </a:ext>
                </a:extLst>
              </p14:cNvPr>
              <p14:cNvContentPartPr/>
              <p14:nvPr/>
            </p14:nvContentPartPr>
            <p14:xfrm>
              <a:off x="1607558" y="2502020"/>
              <a:ext cx="360" cy="360"/>
            </p14:xfrm>
          </p:contentPart>
        </mc:Choice>
        <mc:Fallback xmlns="">
          <p:pic>
            <p:nvPicPr>
              <p:cNvPr id="97" name="インク 96">
                <a:extLst>
                  <a:ext uri="{FF2B5EF4-FFF2-40B4-BE49-F238E27FC236}">
                    <a16:creationId xmlns:a16="http://schemas.microsoft.com/office/drawing/2014/main" id="{699F200E-E6EA-33E1-CC5C-4F7A1D6953D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89558" y="248402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8" name="インク 97">
                <a:extLst>
                  <a:ext uri="{FF2B5EF4-FFF2-40B4-BE49-F238E27FC236}">
                    <a16:creationId xmlns:a16="http://schemas.microsoft.com/office/drawing/2014/main" id="{7388C0C2-A5EF-F1E2-BE71-81EBA91E2E18}"/>
                  </a:ext>
                </a:extLst>
              </p14:cNvPr>
              <p14:cNvContentPartPr/>
              <p14:nvPr/>
            </p14:nvContentPartPr>
            <p14:xfrm>
              <a:off x="1908878" y="2290700"/>
              <a:ext cx="360" cy="360"/>
            </p14:xfrm>
          </p:contentPart>
        </mc:Choice>
        <mc:Fallback xmlns="">
          <p:pic>
            <p:nvPicPr>
              <p:cNvPr id="98" name="インク 97">
                <a:extLst>
                  <a:ext uri="{FF2B5EF4-FFF2-40B4-BE49-F238E27FC236}">
                    <a16:creationId xmlns:a16="http://schemas.microsoft.com/office/drawing/2014/main" id="{7388C0C2-A5EF-F1E2-BE71-81EBA91E2E1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91238" y="2273060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2A1CDAE0-35B7-A90B-69A9-E4FC585927F8}"/>
              </a:ext>
            </a:extLst>
          </p:cNvPr>
          <p:cNvSpPr txBox="1"/>
          <p:nvPr/>
        </p:nvSpPr>
        <p:spPr>
          <a:xfrm>
            <a:off x="419852" y="3093173"/>
            <a:ext cx="6094324" cy="326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ja-JP" altLang="en-US" sz="16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生成</a:t>
            </a:r>
            <a:r>
              <a:rPr lang="en-US" altLang="ja-JP" sz="16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AI／AI</a:t>
            </a:r>
            <a:r>
              <a:rPr lang="ja-JP" altLang="en-US" sz="16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エージェント活用が新たな競争軸へ</a:t>
            </a: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02" name="図 101">
            <a:extLst>
              <a:ext uri="{FF2B5EF4-FFF2-40B4-BE49-F238E27FC236}">
                <a16:creationId xmlns:a16="http://schemas.microsoft.com/office/drawing/2014/main" id="{A21F7DE6-158A-1796-8761-201DF483BCC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59297" y="4131823"/>
            <a:ext cx="5189334" cy="2342928"/>
          </a:xfrm>
          <a:prstGeom prst="rect">
            <a:avLst/>
          </a:prstGeom>
        </p:spPr>
      </p:pic>
      <p:sp>
        <p:nvSpPr>
          <p:cNvPr id="109" name="Text 0">
            <a:extLst>
              <a:ext uri="{FF2B5EF4-FFF2-40B4-BE49-F238E27FC236}">
                <a16:creationId xmlns:a16="http://schemas.microsoft.com/office/drawing/2014/main" id="{F6F0BCC1-E599-FB56-A350-16BEEB520828}"/>
              </a:ext>
            </a:extLst>
          </p:cNvPr>
          <p:cNvSpPr/>
          <p:nvPr/>
        </p:nvSpPr>
        <p:spPr>
          <a:xfrm>
            <a:off x="286587" y="4131823"/>
            <a:ext cx="5112852" cy="4937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2000" b="1" dirty="0">
                <a:solidFill>
                  <a:srgbClr val="1B2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②ドコモの</a:t>
            </a:r>
            <a:r>
              <a:rPr lang="en-US" altLang="ja-JP" sz="2000" b="1" dirty="0" err="1">
                <a:solidFill>
                  <a:srgbClr val="1B2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SWOT</a:t>
            </a:r>
            <a:r>
              <a:rPr lang="en-US" sz="2000" b="1" dirty="0" err="1">
                <a:solidFill>
                  <a:srgbClr val="1B2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分析</a:t>
            </a:r>
            <a:r>
              <a:rPr lang="ja-JP" altLang="en-US" sz="2000" b="1" dirty="0">
                <a:solidFill>
                  <a:srgbClr val="1B2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からの抽出のポイント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0" name="Text 10">
            <a:extLst>
              <a:ext uri="{FF2B5EF4-FFF2-40B4-BE49-F238E27FC236}">
                <a16:creationId xmlns:a16="http://schemas.microsoft.com/office/drawing/2014/main" id="{1A5D7A1B-0FD6-036D-0B7F-FB1D9442F4BF}"/>
              </a:ext>
            </a:extLst>
          </p:cNvPr>
          <p:cNvSpPr/>
          <p:nvPr/>
        </p:nvSpPr>
        <p:spPr>
          <a:xfrm>
            <a:off x="419852" y="4672801"/>
            <a:ext cx="6332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altLang="ja-JP" sz="16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d</a:t>
            </a:r>
            <a:r>
              <a:rPr lang="ja-JP" altLang="en-US" sz="16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ポイントを核とした顧客基盤</a:t>
            </a: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が強み。</a:t>
            </a: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AIエージェント「SyncMe」など、データ×AIによる新サービス創出</a:t>
            </a:r>
            <a:r>
              <a:rPr lang="ja-JP" altLang="en-US" sz="16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の</a:t>
            </a:r>
            <a:br>
              <a:rPr lang="en-US" altLang="ja-JP" sz="16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</a:br>
            <a:r>
              <a:rPr lang="ja-JP" altLang="en-US" sz="16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技術力とデータ基盤が強み。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ja-JP" altLang="en-US" sz="16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通信品質の課題があり、</a:t>
            </a:r>
            <a:r>
              <a:rPr lang="en-US" altLang="ja-JP" sz="16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他社に対し</a:t>
            </a:r>
            <a:r>
              <a:rPr lang="ja-JP" altLang="en-US" sz="16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て弱みとなっている一面あり。</a:t>
            </a: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02483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ECA77-5213-1228-5753-A40D2E47E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C21B7787-E69C-D78C-1D20-6A2BD67EB048}"/>
              </a:ext>
            </a:extLst>
          </p:cNvPr>
          <p:cNvSpPr/>
          <p:nvPr/>
        </p:nvSpPr>
        <p:spPr>
          <a:xfrm>
            <a:off x="40192" y="3796763"/>
            <a:ext cx="12041946" cy="2962009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A9320472-E5D1-2830-FCA8-0547AE3216B7}"/>
              </a:ext>
            </a:extLst>
          </p:cNvPr>
          <p:cNvSpPr/>
          <p:nvPr/>
        </p:nvSpPr>
        <p:spPr>
          <a:xfrm>
            <a:off x="0" y="0"/>
            <a:ext cx="12192000" cy="1089241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24A3488-A6AE-9F53-CE82-F02FBA1F8C07}"/>
              </a:ext>
            </a:extLst>
          </p:cNvPr>
          <p:cNvSpPr/>
          <p:nvPr/>
        </p:nvSpPr>
        <p:spPr>
          <a:xfrm>
            <a:off x="278339" y="3160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E40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</a:t>
            </a:r>
            <a:r>
              <a:rPr lang="en-US" altLang="ja-JP" sz="1500" b="1" kern="0" spc="200" dirty="0">
                <a:solidFill>
                  <a:srgbClr val="E40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980C588-4337-786F-A287-3F617C930A0B}"/>
              </a:ext>
            </a:extLst>
          </p:cNvPr>
          <p:cNvSpPr/>
          <p:nvPr/>
        </p:nvSpPr>
        <p:spPr>
          <a:xfrm>
            <a:off x="2843013" y="99228"/>
            <a:ext cx="9239125" cy="9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ja-JP" alt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ドコモの事業の振り返り</a:t>
            </a: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FB763EB6-E21F-454A-0FDF-E78338F8E8C7}"/>
              </a:ext>
            </a:extLst>
          </p:cNvPr>
          <p:cNvSpPr/>
          <p:nvPr/>
        </p:nvSpPr>
        <p:spPr>
          <a:xfrm>
            <a:off x="1333918" y="17082"/>
            <a:ext cx="1005840" cy="1005840"/>
          </a:xfrm>
          <a:prstGeom prst="ellipse">
            <a:avLst/>
          </a:prstGeom>
          <a:solidFill>
            <a:srgbClr val="E4007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F7ADF105-BFDA-7C99-B8A8-6D817CFC5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518" y="245682"/>
            <a:ext cx="548640" cy="54864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D19A245A-24D7-4324-974E-AC1C8D1CEEA2}"/>
              </a:ext>
            </a:extLst>
          </p:cNvPr>
          <p:cNvSpPr/>
          <p:nvPr/>
        </p:nvSpPr>
        <p:spPr>
          <a:xfrm>
            <a:off x="548640" y="1417320"/>
            <a:ext cx="5349240" cy="958412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5DD73891-3221-9AC5-A425-8A866930BBD4}"/>
              </a:ext>
            </a:extLst>
          </p:cNvPr>
          <p:cNvSpPr/>
          <p:nvPr/>
        </p:nvSpPr>
        <p:spPr>
          <a:xfrm>
            <a:off x="548640" y="1417320"/>
            <a:ext cx="82296" cy="958412"/>
          </a:xfrm>
          <a:prstGeom prst="rect">
            <a:avLst/>
          </a:prstGeom>
          <a:solidFill>
            <a:srgbClr val="C7000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1A2E995E-E0D5-DDD1-0B94-590FF3531A9C}"/>
              </a:ext>
            </a:extLst>
          </p:cNvPr>
          <p:cNvSpPr/>
          <p:nvPr/>
        </p:nvSpPr>
        <p:spPr>
          <a:xfrm>
            <a:off x="746760" y="1408428"/>
            <a:ext cx="9053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C700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業績</a:t>
            </a:r>
            <a:endParaRPr lang="en-US" sz="15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4FE49421-C987-3684-A1FA-B9A2BA9A3B1F}"/>
              </a:ext>
            </a:extLst>
          </p:cNvPr>
          <p:cNvSpPr/>
          <p:nvPr/>
        </p:nvSpPr>
        <p:spPr>
          <a:xfrm>
            <a:off x="746760" y="1679590"/>
            <a:ext cx="4970987" cy="6659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ja-JP" alt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r>
              <a:rPr 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2026年3月期は</a:t>
            </a:r>
            <a:r>
              <a:rPr lang="ja-JP" alt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増収減益</a:t>
            </a:r>
            <a:endParaRPr lang="en-US" altLang="ja-JP" sz="1200" dirty="0">
              <a:solidFill>
                <a:srgbClr val="3A3A3A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ja-JP" alt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　</a:t>
            </a:r>
            <a:r>
              <a:rPr 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営業収益6兆3,360億円（+2%）営業利益は8,830億円（▲13%）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ja-JP" alt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</a:rPr>
              <a:t>・</a:t>
            </a:r>
            <a:r>
              <a:rPr lang="en-US" altLang="ja-JP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</a:rPr>
              <a:t>ARPU</a:t>
            </a:r>
            <a:r>
              <a:rPr lang="ja-JP" alt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</a:rPr>
              <a:t>（一人あたり平均収益）が前年プラス</a:t>
            </a:r>
            <a:endParaRPr lang="en-US" sz="120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1ECDAFA7-0E20-445B-7BC3-CD579D13059F}"/>
              </a:ext>
            </a:extLst>
          </p:cNvPr>
          <p:cNvSpPr/>
          <p:nvPr/>
        </p:nvSpPr>
        <p:spPr>
          <a:xfrm>
            <a:off x="6217920" y="1417320"/>
            <a:ext cx="5349240" cy="958412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18973D08-BF5C-596B-4F10-B11058348CE4}"/>
              </a:ext>
            </a:extLst>
          </p:cNvPr>
          <p:cNvSpPr/>
          <p:nvPr/>
        </p:nvSpPr>
        <p:spPr>
          <a:xfrm>
            <a:off x="6217920" y="1417320"/>
            <a:ext cx="82296" cy="95841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872A9A98-220B-A46B-8BB4-0012CF3796E9}"/>
              </a:ext>
            </a:extLst>
          </p:cNvPr>
          <p:cNvSpPr/>
          <p:nvPr/>
        </p:nvSpPr>
        <p:spPr>
          <a:xfrm>
            <a:off x="6413126" y="1436713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5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市場シェア</a:t>
            </a:r>
            <a:endParaRPr lang="en-US" sz="15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1E673212-2F85-5598-5AB6-29CD5A281790}"/>
              </a:ext>
            </a:extLst>
          </p:cNvPr>
          <p:cNvSpPr/>
          <p:nvPr/>
        </p:nvSpPr>
        <p:spPr>
          <a:xfrm>
            <a:off x="6526036" y="1746504"/>
            <a:ext cx="5361164" cy="6292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ja-JP" alt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r>
              <a:rPr 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契約者数9,307万</a:t>
            </a:r>
            <a:r>
              <a:rPr lang="ja-JP" alt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</a:t>
            </a:r>
            <a:r>
              <a:rPr 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39.7%</a:t>
            </a:r>
            <a:r>
              <a:rPr lang="ja-JP" alt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）で首位。（</a:t>
            </a:r>
            <a:r>
              <a:rPr lang="en-US" altLang="ja-JP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KDDI</a:t>
            </a:r>
            <a:r>
              <a:rPr lang="ja-JP" alt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と楽天が増加基調）</a:t>
            </a:r>
            <a:endParaRPr lang="en-US" sz="1200" dirty="0">
              <a:solidFill>
                <a:srgbClr val="3A3A3A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ja-JP" alt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・ｄポイント会員数は、約</a:t>
            </a:r>
            <a:r>
              <a:rPr lang="en-US" altLang="ja-JP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r>
              <a:rPr lang="ja-JP" alt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億</a:t>
            </a:r>
            <a:r>
              <a:rPr lang="en-US" altLang="ja-JP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500</a:t>
            </a:r>
            <a:r>
              <a:rPr lang="ja-JP" alt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万。（日本</a:t>
            </a:r>
            <a:r>
              <a:rPr lang="en-US" altLang="ja-JP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r>
              <a:rPr lang="ja-JP" alt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台大ポイントのひとつ）</a:t>
            </a:r>
            <a:endParaRPr lang="en-US" sz="120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3287D7B1-5597-3718-1B4E-2FE885456363}"/>
              </a:ext>
            </a:extLst>
          </p:cNvPr>
          <p:cNvSpPr/>
          <p:nvPr/>
        </p:nvSpPr>
        <p:spPr>
          <a:xfrm>
            <a:off x="589788" y="2459736"/>
            <a:ext cx="5349240" cy="969264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7030A230-2D6E-04F8-0B2E-31B54E8B4026}"/>
              </a:ext>
            </a:extLst>
          </p:cNvPr>
          <p:cNvSpPr/>
          <p:nvPr/>
        </p:nvSpPr>
        <p:spPr>
          <a:xfrm>
            <a:off x="565318" y="2459736"/>
            <a:ext cx="64662" cy="958412"/>
          </a:xfrm>
          <a:prstGeom prst="rect">
            <a:avLst/>
          </a:prstGeom>
          <a:solidFill>
            <a:srgbClr val="1E7A4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8AA4A5D6-CBF0-E405-C475-77424ECF74BA}"/>
              </a:ext>
            </a:extLst>
          </p:cNvPr>
          <p:cNvSpPr/>
          <p:nvPr/>
        </p:nvSpPr>
        <p:spPr>
          <a:xfrm>
            <a:off x="731687" y="2495156"/>
            <a:ext cx="1458016" cy="345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7A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成長戦略</a:t>
            </a:r>
            <a:endParaRPr lang="en-US" sz="15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1645A4F6-A864-7CFC-2950-DA4F23046555}"/>
              </a:ext>
            </a:extLst>
          </p:cNvPr>
          <p:cNvSpPr/>
          <p:nvPr/>
        </p:nvSpPr>
        <p:spPr>
          <a:xfrm>
            <a:off x="746760" y="2870208"/>
            <a:ext cx="4800600" cy="5160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ja-JP" alt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r>
              <a:rPr 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スマートライフ</a:t>
            </a:r>
            <a:r>
              <a:rPr lang="ja-JP" alt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、</a:t>
            </a:r>
            <a:r>
              <a:rPr 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法人事業を成長エンジンと位置づけ</a:t>
            </a:r>
            <a:r>
              <a:rPr lang="ja-JP" alt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1200" dirty="0">
              <a:solidFill>
                <a:srgbClr val="3A3A3A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ja-JP" alt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r>
              <a:rPr lang="en-US" altLang="ja-JP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</a:t>
            </a:r>
            <a:r>
              <a:rPr lang="ja-JP" alt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活用を重点テーマのひとつとして設定。</a:t>
            </a:r>
            <a:endParaRPr lang="en-US" sz="120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77DD9E3E-45DE-0361-10A0-00A0AA575E3C}"/>
              </a:ext>
            </a:extLst>
          </p:cNvPr>
          <p:cNvSpPr/>
          <p:nvPr/>
        </p:nvSpPr>
        <p:spPr>
          <a:xfrm>
            <a:off x="6194406" y="2459736"/>
            <a:ext cx="5349240" cy="958412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dirty="0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5EAE42E1-E549-B80B-8CD8-590B275B8816}"/>
              </a:ext>
            </a:extLst>
          </p:cNvPr>
          <p:cNvSpPr/>
          <p:nvPr/>
        </p:nvSpPr>
        <p:spPr>
          <a:xfrm>
            <a:off x="6234598" y="2459736"/>
            <a:ext cx="58568" cy="969264"/>
          </a:xfrm>
          <a:prstGeom prst="rect">
            <a:avLst/>
          </a:prstGeom>
          <a:solidFill>
            <a:srgbClr val="B5760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BE1CB1C9-82C6-A11E-5A08-05EA780ACAEF}"/>
              </a:ext>
            </a:extLst>
          </p:cNvPr>
          <p:cNvSpPr/>
          <p:nvPr/>
        </p:nvSpPr>
        <p:spPr>
          <a:xfrm>
            <a:off x="6413126" y="2455114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500" b="1" dirty="0">
                <a:solidFill>
                  <a:srgbClr val="B576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その他（ネットワーク整備と料金プランなど）</a:t>
            </a:r>
            <a:endParaRPr lang="en-US" sz="150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400D369A-62BB-9DE6-7B40-6E3AFAF485D6}"/>
              </a:ext>
            </a:extLst>
          </p:cNvPr>
          <p:cNvSpPr/>
          <p:nvPr/>
        </p:nvSpPr>
        <p:spPr>
          <a:xfrm>
            <a:off x="6582926" y="273234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ja-JP" alt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・通信品質強化にむけた、５</a:t>
            </a:r>
            <a:r>
              <a:rPr lang="en-US" altLang="ja-JP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</a:t>
            </a:r>
            <a:r>
              <a:rPr lang="ja-JP" alt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基地局を</a:t>
            </a:r>
            <a:r>
              <a:rPr lang="en-US" altLang="ja-JP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6800</a:t>
            </a:r>
            <a:r>
              <a:rPr lang="ja-JP" alt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局増設（＋</a:t>
            </a:r>
            <a:r>
              <a:rPr lang="en-US" altLang="ja-JP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r>
              <a:rPr lang="ja-JP" alt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％）</a:t>
            </a:r>
            <a:endParaRPr lang="en-US" altLang="ja-JP" sz="1200" dirty="0">
              <a:solidFill>
                <a:srgbClr val="3A3A3A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ja-JP" alt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</a:rPr>
              <a:t>・ドコモ</a:t>
            </a:r>
            <a:r>
              <a:rPr lang="en-US" altLang="ja-JP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</a:rPr>
              <a:t>MAX300</a:t>
            </a:r>
            <a:r>
              <a:rPr lang="ja-JP" alt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</a:rPr>
              <a:t>万契約突破。　</a:t>
            </a:r>
            <a:endParaRPr lang="en-US" sz="1200" dirty="0"/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7A96D28C-DAD3-C017-02CA-68A38A93FC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274" y="4174075"/>
            <a:ext cx="3604147" cy="249442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13B37D27-36A3-F53E-F0D5-CB3F505C4F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4241" y="4174075"/>
            <a:ext cx="3849573" cy="249442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45A7048E-0B47-4BE6-2AA0-88A147647B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5722" y="4117417"/>
            <a:ext cx="3841478" cy="249442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35" name="Text 8">
            <a:extLst>
              <a:ext uri="{FF2B5EF4-FFF2-40B4-BE49-F238E27FC236}">
                <a16:creationId xmlns:a16="http://schemas.microsoft.com/office/drawing/2014/main" id="{5D0D1137-2570-5D30-86FF-0DD3BE3EC64A}"/>
              </a:ext>
            </a:extLst>
          </p:cNvPr>
          <p:cNvSpPr/>
          <p:nvPr/>
        </p:nvSpPr>
        <p:spPr>
          <a:xfrm>
            <a:off x="109862" y="3780856"/>
            <a:ext cx="117773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ja-JP" altLang="en-US" sz="15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ドコモの成長戦略（</a:t>
            </a:r>
            <a:r>
              <a:rPr lang="en-US" altLang="ja-JP" sz="15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r>
              <a:rPr lang="ja-JP" altLang="en-US" sz="15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年度決算説明会資料より抜粋）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510951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B9A59-E22B-37C3-5DD6-6320F775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>
            <a:extLst>
              <a:ext uri="{FF2B5EF4-FFF2-40B4-BE49-F238E27FC236}">
                <a16:creationId xmlns:a16="http://schemas.microsoft.com/office/drawing/2014/main" id="{332D8F03-FC5D-6C1D-7BBA-2E9C17BF795F}"/>
              </a:ext>
            </a:extLst>
          </p:cNvPr>
          <p:cNvSpPr/>
          <p:nvPr/>
        </p:nvSpPr>
        <p:spPr>
          <a:xfrm>
            <a:off x="2843013" y="99228"/>
            <a:ext cx="9239125" cy="9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ja-JP" alt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競合との基礎数値の比較</a:t>
            </a: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EBDC68AE-7C35-1876-5B41-1ED2BAAE31BB}"/>
              </a:ext>
            </a:extLst>
          </p:cNvPr>
          <p:cNvSpPr/>
          <p:nvPr/>
        </p:nvSpPr>
        <p:spPr>
          <a:xfrm>
            <a:off x="278339" y="1336229"/>
            <a:ext cx="2213652" cy="457200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9FAC450F-C5D4-A97F-D020-AB7517D3B195}"/>
              </a:ext>
            </a:extLst>
          </p:cNvPr>
          <p:cNvSpPr/>
          <p:nvPr/>
        </p:nvSpPr>
        <p:spPr>
          <a:xfrm>
            <a:off x="278339" y="1336229"/>
            <a:ext cx="20614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指標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FDFD19AB-38FA-59C8-22E7-7B5A778C8F07}"/>
              </a:ext>
            </a:extLst>
          </p:cNvPr>
          <p:cNvSpPr/>
          <p:nvPr/>
        </p:nvSpPr>
        <p:spPr>
          <a:xfrm>
            <a:off x="2452805" y="1336229"/>
            <a:ext cx="2407315" cy="457200"/>
          </a:xfrm>
          <a:prstGeom prst="rect">
            <a:avLst/>
          </a:prstGeom>
          <a:solidFill>
            <a:srgbClr val="C7000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C281200F-765A-9892-87B2-C195B0041AE0}"/>
              </a:ext>
            </a:extLst>
          </p:cNvPr>
          <p:cNvSpPr/>
          <p:nvPr/>
        </p:nvSpPr>
        <p:spPr>
          <a:xfrm>
            <a:off x="2452805" y="1336229"/>
            <a:ext cx="24073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NTTドコモ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A8B49E7C-BFD0-636E-A3FA-E3624FD4ECFA}"/>
              </a:ext>
            </a:extLst>
          </p:cNvPr>
          <p:cNvSpPr/>
          <p:nvPr/>
        </p:nvSpPr>
        <p:spPr>
          <a:xfrm>
            <a:off x="4863406" y="1336229"/>
            <a:ext cx="2407315" cy="457200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38EA1ABB-1584-CA00-C5B6-C13DB8D86443}"/>
              </a:ext>
            </a:extLst>
          </p:cNvPr>
          <p:cNvSpPr/>
          <p:nvPr/>
        </p:nvSpPr>
        <p:spPr>
          <a:xfrm>
            <a:off x="4863406" y="1336229"/>
            <a:ext cx="24073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KDDI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CB3A44AF-A9F0-B464-4C4C-F2BD82E4B884}"/>
              </a:ext>
            </a:extLst>
          </p:cNvPr>
          <p:cNvSpPr/>
          <p:nvPr/>
        </p:nvSpPr>
        <p:spPr>
          <a:xfrm>
            <a:off x="7274008" y="1336229"/>
            <a:ext cx="2407315" cy="457200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D4D4427E-99A1-E36D-8EB6-DE4C6FC71E7B}"/>
              </a:ext>
            </a:extLst>
          </p:cNvPr>
          <p:cNvSpPr/>
          <p:nvPr/>
        </p:nvSpPr>
        <p:spPr>
          <a:xfrm>
            <a:off x="7274008" y="1336229"/>
            <a:ext cx="24073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ソフトバンク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5117D90E-550C-9E56-D952-E0EF5D558486}"/>
              </a:ext>
            </a:extLst>
          </p:cNvPr>
          <p:cNvSpPr/>
          <p:nvPr/>
        </p:nvSpPr>
        <p:spPr>
          <a:xfrm>
            <a:off x="278339" y="1793429"/>
            <a:ext cx="2213652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695A479D-6275-98B0-BFCE-10E6390CF0EB}"/>
              </a:ext>
            </a:extLst>
          </p:cNvPr>
          <p:cNvSpPr/>
          <p:nvPr/>
        </p:nvSpPr>
        <p:spPr>
          <a:xfrm>
            <a:off x="388067" y="1793429"/>
            <a:ext cx="28895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契約者数（携帯電話）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03AAC572-8C77-6151-1A26-B6C794E303D0}"/>
              </a:ext>
            </a:extLst>
          </p:cNvPr>
          <p:cNvSpPr/>
          <p:nvPr/>
        </p:nvSpPr>
        <p:spPr>
          <a:xfrm>
            <a:off x="2452805" y="1793429"/>
            <a:ext cx="2407315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F7D470B1-F3B3-4226-C060-FE9BADBCC722}"/>
              </a:ext>
            </a:extLst>
          </p:cNvPr>
          <p:cNvSpPr/>
          <p:nvPr/>
        </p:nvSpPr>
        <p:spPr>
          <a:xfrm>
            <a:off x="2562533" y="1793429"/>
            <a:ext cx="2208089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9,307万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39C1B4C8-B353-C877-35EE-664FD2BA3BB1}"/>
              </a:ext>
            </a:extLst>
          </p:cNvPr>
          <p:cNvSpPr/>
          <p:nvPr/>
        </p:nvSpPr>
        <p:spPr>
          <a:xfrm>
            <a:off x="4863406" y="1793429"/>
            <a:ext cx="2407315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65541364-F552-8417-FDC1-B2D969C96A0F}"/>
              </a:ext>
            </a:extLst>
          </p:cNvPr>
          <p:cNvSpPr/>
          <p:nvPr/>
        </p:nvSpPr>
        <p:spPr>
          <a:xfrm>
            <a:off x="4973134" y="1793429"/>
            <a:ext cx="2208089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7,276万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A643B96F-8F3E-DC13-6084-F405B22E539E}"/>
              </a:ext>
            </a:extLst>
          </p:cNvPr>
          <p:cNvSpPr/>
          <p:nvPr/>
        </p:nvSpPr>
        <p:spPr>
          <a:xfrm>
            <a:off x="7274008" y="1793429"/>
            <a:ext cx="2407315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7180A168-B550-F44E-7030-F957B4293C24}"/>
              </a:ext>
            </a:extLst>
          </p:cNvPr>
          <p:cNvSpPr/>
          <p:nvPr/>
        </p:nvSpPr>
        <p:spPr>
          <a:xfrm>
            <a:off x="7383736" y="1793429"/>
            <a:ext cx="2208089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5,692万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Shape 18">
            <a:extLst>
              <a:ext uri="{FF2B5EF4-FFF2-40B4-BE49-F238E27FC236}">
                <a16:creationId xmlns:a16="http://schemas.microsoft.com/office/drawing/2014/main" id="{B1415E7F-7E44-1FF0-B9AA-F29708259882}"/>
              </a:ext>
            </a:extLst>
          </p:cNvPr>
          <p:cNvSpPr/>
          <p:nvPr/>
        </p:nvSpPr>
        <p:spPr>
          <a:xfrm>
            <a:off x="278339" y="2415221"/>
            <a:ext cx="221365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Text 19">
            <a:extLst>
              <a:ext uri="{FF2B5EF4-FFF2-40B4-BE49-F238E27FC236}">
                <a16:creationId xmlns:a16="http://schemas.microsoft.com/office/drawing/2014/main" id="{E5F15693-3285-2D01-DD75-6C245EA95990}"/>
              </a:ext>
            </a:extLst>
          </p:cNvPr>
          <p:cNvSpPr/>
          <p:nvPr/>
        </p:nvSpPr>
        <p:spPr>
          <a:xfrm>
            <a:off x="388067" y="2415221"/>
            <a:ext cx="1951691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 err="1">
                <a:solidFill>
                  <a:srgbClr val="1B2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携帯シェア</a:t>
            </a:r>
            <a:br>
              <a:rPr lang="en-US" sz="1400" b="1" dirty="0">
                <a:solidFill>
                  <a:srgbClr val="1B2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</a:br>
            <a:r>
              <a:rPr lang="en-US" sz="1400" b="1" dirty="0">
                <a:solidFill>
                  <a:srgbClr val="1B2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（2025年9月末）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Shape 20">
            <a:extLst>
              <a:ext uri="{FF2B5EF4-FFF2-40B4-BE49-F238E27FC236}">
                <a16:creationId xmlns:a16="http://schemas.microsoft.com/office/drawing/2014/main" id="{03E620A5-B262-1015-93A7-262913698DD8}"/>
              </a:ext>
            </a:extLst>
          </p:cNvPr>
          <p:cNvSpPr/>
          <p:nvPr/>
        </p:nvSpPr>
        <p:spPr>
          <a:xfrm>
            <a:off x="2452805" y="2415221"/>
            <a:ext cx="2407315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Text 21">
            <a:extLst>
              <a:ext uri="{FF2B5EF4-FFF2-40B4-BE49-F238E27FC236}">
                <a16:creationId xmlns:a16="http://schemas.microsoft.com/office/drawing/2014/main" id="{7D570A16-7FFE-E415-493F-9414958F9083}"/>
              </a:ext>
            </a:extLst>
          </p:cNvPr>
          <p:cNvSpPr/>
          <p:nvPr/>
        </p:nvSpPr>
        <p:spPr>
          <a:xfrm>
            <a:off x="2562533" y="2415221"/>
            <a:ext cx="2208089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39.7%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Shape 22">
            <a:extLst>
              <a:ext uri="{FF2B5EF4-FFF2-40B4-BE49-F238E27FC236}">
                <a16:creationId xmlns:a16="http://schemas.microsoft.com/office/drawing/2014/main" id="{EBEA2C1F-B9D4-F610-18C5-6CD1971A6C5B}"/>
              </a:ext>
            </a:extLst>
          </p:cNvPr>
          <p:cNvSpPr/>
          <p:nvPr/>
        </p:nvSpPr>
        <p:spPr>
          <a:xfrm>
            <a:off x="4863406" y="2415221"/>
            <a:ext cx="2407315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B95DD93A-3F98-CF00-FFAF-319074639335}"/>
              </a:ext>
            </a:extLst>
          </p:cNvPr>
          <p:cNvSpPr/>
          <p:nvPr/>
        </p:nvSpPr>
        <p:spPr>
          <a:xfrm>
            <a:off x="4973134" y="2415221"/>
            <a:ext cx="2208089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31.3%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Shape 24">
            <a:extLst>
              <a:ext uri="{FF2B5EF4-FFF2-40B4-BE49-F238E27FC236}">
                <a16:creationId xmlns:a16="http://schemas.microsoft.com/office/drawing/2014/main" id="{1B99FC14-CA6B-7972-29EE-561728B9A15C}"/>
              </a:ext>
            </a:extLst>
          </p:cNvPr>
          <p:cNvSpPr/>
          <p:nvPr/>
        </p:nvSpPr>
        <p:spPr>
          <a:xfrm>
            <a:off x="7274008" y="2415221"/>
            <a:ext cx="2407315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Text 25">
            <a:extLst>
              <a:ext uri="{FF2B5EF4-FFF2-40B4-BE49-F238E27FC236}">
                <a16:creationId xmlns:a16="http://schemas.microsoft.com/office/drawing/2014/main" id="{CC73C1CF-D26B-64BC-7EB2-46F6CB278936}"/>
              </a:ext>
            </a:extLst>
          </p:cNvPr>
          <p:cNvSpPr/>
          <p:nvPr/>
        </p:nvSpPr>
        <p:spPr>
          <a:xfrm>
            <a:off x="7383736" y="2415221"/>
            <a:ext cx="2208089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24.8%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Shape 26">
            <a:extLst>
              <a:ext uri="{FF2B5EF4-FFF2-40B4-BE49-F238E27FC236}">
                <a16:creationId xmlns:a16="http://schemas.microsoft.com/office/drawing/2014/main" id="{EA640500-C617-6250-5DA6-B6DA0AE8612C}"/>
              </a:ext>
            </a:extLst>
          </p:cNvPr>
          <p:cNvSpPr/>
          <p:nvPr/>
        </p:nvSpPr>
        <p:spPr>
          <a:xfrm>
            <a:off x="278339" y="3037013"/>
            <a:ext cx="2213652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Text 27">
            <a:extLst>
              <a:ext uri="{FF2B5EF4-FFF2-40B4-BE49-F238E27FC236}">
                <a16:creationId xmlns:a16="http://schemas.microsoft.com/office/drawing/2014/main" id="{35A419B9-3828-15EF-5B10-C5994437CD36}"/>
              </a:ext>
            </a:extLst>
          </p:cNvPr>
          <p:cNvSpPr/>
          <p:nvPr/>
        </p:nvSpPr>
        <p:spPr>
          <a:xfrm>
            <a:off x="388067" y="3037013"/>
            <a:ext cx="21039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 err="1">
                <a:solidFill>
                  <a:srgbClr val="1B2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売上高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Shape 28">
            <a:extLst>
              <a:ext uri="{FF2B5EF4-FFF2-40B4-BE49-F238E27FC236}">
                <a16:creationId xmlns:a16="http://schemas.microsoft.com/office/drawing/2014/main" id="{E4AC5B9B-4287-3829-F006-BE59C93BB0B1}"/>
              </a:ext>
            </a:extLst>
          </p:cNvPr>
          <p:cNvSpPr/>
          <p:nvPr/>
        </p:nvSpPr>
        <p:spPr>
          <a:xfrm>
            <a:off x="2452805" y="3037013"/>
            <a:ext cx="2407315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Text 29">
            <a:extLst>
              <a:ext uri="{FF2B5EF4-FFF2-40B4-BE49-F238E27FC236}">
                <a16:creationId xmlns:a16="http://schemas.microsoft.com/office/drawing/2014/main" id="{B57F24A2-E1E0-607E-F014-6F057EF95830}"/>
              </a:ext>
            </a:extLst>
          </p:cNvPr>
          <p:cNvSpPr/>
          <p:nvPr/>
        </p:nvSpPr>
        <p:spPr>
          <a:xfrm>
            <a:off x="2562533" y="3037013"/>
            <a:ext cx="2208089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6兆4,581億円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（26年3月期）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Shape 30">
            <a:extLst>
              <a:ext uri="{FF2B5EF4-FFF2-40B4-BE49-F238E27FC236}">
                <a16:creationId xmlns:a16="http://schemas.microsoft.com/office/drawing/2014/main" id="{DDCDEBBB-80A6-B867-6CC0-A8B31314273C}"/>
              </a:ext>
            </a:extLst>
          </p:cNvPr>
          <p:cNvSpPr/>
          <p:nvPr/>
        </p:nvSpPr>
        <p:spPr>
          <a:xfrm>
            <a:off x="4863406" y="3037013"/>
            <a:ext cx="2407315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7" name="Text 31">
            <a:extLst>
              <a:ext uri="{FF2B5EF4-FFF2-40B4-BE49-F238E27FC236}">
                <a16:creationId xmlns:a16="http://schemas.microsoft.com/office/drawing/2014/main" id="{DD958D0C-4F47-CFCA-EF02-19CF45DC364D}"/>
              </a:ext>
            </a:extLst>
          </p:cNvPr>
          <p:cNvSpPr/>
          <p:nvPr/>
        </p:nvSpPr>
        <p:spPr>
          <a:xfrm>
            <a:off x="4973134" y="3037013"/>
            <a:ext cx="2208089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altLang="ja-JP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6</a:t>
            </a:r>
            <a:r>
              <a:rPr lang="ja-JP" alt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兆</a:t>
            </a:r>
            <a:r>
              <a:rPr lang="en-US" altLang="ja-JP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719</a:t>
            </a:r>
            <a:r>
              <a:rPr lang="ja-JP" alt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億円</a:t>
            </a:r>
            <a:endParaRPr lang="en-US" altLang="ja-JP" sz="1400" dirty="0">
              <a:solidFill>
                <a:srgbClr val="3A3A3A"/>
              </a:solidFill>
              <a:latin typeface="Meiryo UI" panose="020B0604030504040204" pitchFamily="50" charset="-128"/>
              <a:ea typeface="Meiryo UI" panose="020B0604030504040204" pitchFamily="50" charset="-128"/>
              <a:cs typeface="Yu Gothic" pitchFamily="34" charset="-12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（2</a:t>
            </a:r>
            <a:r>
              <a:rPr lang="en-US" altLang="ja-JP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6</a:t>
            </a:r>
            <a:r>
              <a:rPr 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年3月期）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Shape 32">
            <a:extLst>
              <a:ext uri="{FF2B5EF4-FFF2-40B4-BE49-F238E27FC236}">
                <a16:creationId xmlns:a16="http://schemas.microsoft.com/office/drawing/2014/main" id="{B28A7031-3A6F-06FA-D384-E82CC6510F68}"/>
              </a:ext>
            </a:extLst>
          </p:cNvPr>
          <p:cNvSpPr/>
          <p:nvPr/>
        </p:nvSpPr>
        <p:spPr>
          <a:xfrm>
            <a:off x="7274008" y="3037013"/>
            <a:ext cx="2407315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Text 33">
            <a:extLst>
              <a:ext uri="{FF2B5EF4-FFF2-40B4-BE49-F238E27FC236}">
                <a16:creationId xmlns:a16="http://schemas.microsoft.com/office/drawing/2014/main" id="{EFB4093D-7AC4-DE78-706C-946D9ECE9033}"/>
              </a:ext>
            </a:extLst>
          </p:cNvPr>
          <p:cNvSpPr/>
          <p:nvPr/>
        </p:nvSpPr>
        <p:spPr>
          <a:xfrm>
            <a:off x="7383736" y="3037013"/>
            <a:ext cx="2208089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7兆387億円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（26年3月期）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Shape 34">
            <a:extLst>
              <a:ext uri="{FF2B5EF4-FFF2-40B4-BE49-F238E27FC236}">
                <a16:creationId xmlns:a16="http://schemas.microsoft.com/office/drawing/2014/main" id="{B8689099-289E-8EB6-4F10-2130F4EC855B}"/>
              </a:ext>
            </a:extLst>
          </p:cNvPr>
          <p:cNvSpPr/>
          <p:nvPr/>
        </p:nvSpPr>
        <p:spPr>
          <a:xfrm>
            <a:off x="278339" y="3658805"/>
            <a:ext cx="221365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Text 35">
            <a:extLst>
              <a:ext uri="{FF2B5EF4-FFF2-40B4-BE49-F238E27FC236}">
                <a16:creationId xmlns:a16="http://schemas.microsoft.com/office/drawing/2014/main" id="{1B65E4DF-816B-FAE8-13C2-4831DD0F966C}"/>
              </a:ext>
            </a:extLst>
          </p:cNvPr>
          <p:cNvSpPr/>
          <p:nvPr/>
        </p:nvSpPr>
        <p:spPr>
          <a:xfrm>
            <a:off x="388067" y="3658805"/>
            <a:ext cx="28895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有利子負債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Shape 36">
            <a:extLst>
              <a:ext uri="{FF2B5EF4-FFF2-40B4-BE49-F238E27FC236}">
                <a16:creationId xmlns:a16="http://schemas.microsoft.com/office/drawing/2014/main" id="{06BECB09-B0FE-1614-4A46-2B62B470999D}"/>
              </a:ext>
            </a:extLst>
          </p:cNvPr>
          <p:cNvSpPr/>
          <p:nvPr/>
        </p:nvSpPr>
        <p:spPr>
          <a:xfrm>
            <a:off x="2452805" y="3658805"/>
            <a:ext cx="2407315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Text 37">
            <a:extLst>
              <a:ext uri="{FF2B5EF4-FFF2-40B4-BE49-F238E27FC236}">
                <a16:creationId xmlns:a16="http://schemas.microsoft.com/office/drawing/2014/main" id="{273C3E9A-E69C-9E48-956C-25E81FDA1F69}"/>
              </a:ext>
            </a:extLst>
          </p:cNvPr>
          <p:cNvSpPr/>
          <p:nvPr/>
        </p:nvSpPr>
        <p:spPr>
          <a:xfrm>
            <a:off x="2452805" y="3658805"/>
            <a:ext cx="240731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520億円</a:t>
            </a:r>
            <a:r>
              <a:rPr lang="en-US" sz="12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（25年3月</a:t>
            </a:r>
            <a:r>
              <a:rPr lang="ja-JP" altLang="en-US" sz="12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期</a:t>
            </a:r>
            <a:r>
              <a:rPr lang="en-US" sz="12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）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NTT15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兆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7,116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億円</a:t>
            </a:r>
            <a:r>
              <a:rPr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26</a:t>
            </a:r>
            <a:r>
              <a:rPr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年３月末）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Shape 38">
            <a:extLst>
              <a:ext uri="{FF2B5EF4-FFF2-40B4-BE49-F238E27FC236}">
                <a16:creationId xmlns:a16="http://schemas.microsoft.com/office/drawing/2014/main" id="{3F8A49D9-15F9-2716-4EEC-C00758522F0C}"/>
              </a:ext>
            </a:extLst>
          </p:cNvPr>
          <p:cNvSpPr/>
          <p:nvPr/>
        </p:nvSpPr>
        <p:spPr>
          <a:xfrm>
            <a:off x="4863406" y="3658805"/>
            <a:ext cx="2407315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5" name="Text 39">
            <a:extLst>
              <a:ext uri="{FF2B5EF4-FFF2-40B4-BE49-F238E27FC236}">
                <a16:creationId xmlns:a16="http://schemas.microsoft.com/office/drawing/2014/main" id="{5E5F8E91-BE80-DFAC-04BC-E0258FD1CF66}"/>
              </a:ext>
            </a:extLst>
          </p:cNvPr>
          <p:cNvSpPr/>
          <p:nvPr/>
        </p:nvSpPr>
        <p:spPr>
          <a:xfrm>
            <a:off x="4973134" y="3658805"/>
            <a:ext cx="2208089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altLang="ja-JP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4</a:t>
            </a:r>
            <a:r>
              <a:rPr lang="ja-JP" alt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兆</a:t>
            </a:r>
            <a:r>
              <a:rPr lang="en-US" altLang="ja-JP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8,681</a:t>
            </a:r>
            <a:r>
              <a:rPr lang="ja-JP" alt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億円</a:t>
            </a:r>
            <a:br>
              <a:rPr lang="en-US" altLang="ja-JP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</a:br>
            <a:r>
              <a:rPr lang="en-US" sz="11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（2</a:t>
            </a:r>
            <a:r>
              <a:rPr lang="en-US" altLang="ja-JP" sz="11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6</a:t>
            </a:r>
            <a:r>
              <a:rPr lang="en-US" sz="11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年</a:t>
            </a:r>
            <a:r>
              <a:rPr lang="en-US" altLang="ja-JP" sz="11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3</a:t>
            </a:r>
            <a:r>
              <a:rPr lang="en-US" sz="11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月</a:t>
            </a:r>
            <a:r>
              <a:rPr lang="ja-JP" altLang="en-US" sz="11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期</a:t>
            </a:r>
            <a:r>
              <a:rPr lang="en-US" sz="11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）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6" name="Shape 40">
            <a:extLst>
              <a:ext uri="{FF2B5EF4-FFF2-40B4-BE49-F238E27FC236}">
                <a16:creationId xmlns:a16="http://schemas.microsoft.com/office/drawing/2014/main" id="{627A25C0-E85A-098C-6D68-65414914CF23}"/>
              </a:ext>
            </a:extLst>
          </p:cNvPr>
          <p:cNvSpPr/>
          <p:nvPr/>
        </p:nvSpPr>
        <p:spPr>
          <a:xfrm>
            <a:off x="7274008" y="3658805"/>
            <a:ext cx="2407315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7" name="Text 41">
            <a:extLst>
              <a:ext uri="{FF2B5EF4-FFF2-40B4-BE49-F238E27FC236}">
                <a16:creationId xmlns:a16="http://schemas.microsoft.com/office/drawing/2014/main" id="{97D299DD-7FC8-800D-E82A-62175AEEB186}"/>
              </a:ext>
            </a:extLst>
          </p:cNvPr>
          <p:cNvSpPr/>
          <p:nvPr/>
        </p:nvSpPr>
        <p:spPr>
          <a:xfrm>
            <a:off x="7383736" y="3658805"/>
            <a:ext cx="2208089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約6兆4,845億円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（26年3月</a:t>
            </a:r>
            <a:r>
              <a:rPr lang="ja-JP" altLang="en-US" sz="11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期</a:t>
            </a:r>
            <a:r>
              <a:rPr lang="en-US" sz="11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）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8" name="Shape 42">
            <a:extLst>
              <a:ext uri="{FF2B5EF4-FFF2-40B4-BE49-F238E27FC236}">
                <a16:creationId xmlns:a16="http://schemas.microsoft.com/office/drawing/2014/main" id="{F1FE9DD4-2825-468A-1A9D-18BF8198C1A0}"/>
              </a:ext>
            </a:extLst>
          </p:cNvPr>
          <p:cNvSpPr/>
          <p:nvPr/>
        </p:nvSpPr>
        <p:spPr>
          <a:xfrm>
            <a:off x="278339" y="4280597"/>
            <a:ext cx="2213652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9" name="Text 43">
            <a:extLst>
              <a:ext uri="{FF2B5EF4-FFF2-40B4-BE49-F238E27FC236}">
                <a16:creationId xmlns:a16="http://schemas.microsoft.com/office/drawing/2014/main" id="{AB800E8E-E624-A8A9-88AE-FC046F4B92D2}"/>
              </a:ext>
            </a:extLst>
          </p:cNvPr>
          <p:cNvSpPr/>
          <p:nvPr/>
        </p:nvSpPr>
        <p:spPr>
          <a:xfrm>
            <a:off x="388067" y="4280597"/>
            <a:ext cx="28895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自己資本比率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0" name="Shape 44">
            <a:extLst>
              <a:ext uri="{FF2B5EF4-FFF2-40B4-BE49-F238E27FC236}">
                <a16:creationId xmlns:a16="http://schemas.microsoft.com/office/drawing/2014/main" id="{759F69CF-E4A0-64D3-BD60-01C2C76CB6FB}"/>
              </a:ext>
            </a:extLst>
          </p:cNvPr>
          <p:cNvSpPr/>
          <p:nvPr/>
        </p:nvSpPr>
        <p:spPr>
          <a:xfrm>
            <a:off x="2452805" y="4280597"/>
            <a:ext cx="2407315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1" name="Text 45">
            <a:extLst>
              <a:ext uri="{FF2B5EF4-FFF2-40B4-BE49-F238E27FC236}">
                <a16:creationId xmlns:a16="http://schemas.microsoft.com/office/drawing/2014/main" id="{79CD528B-A074-7BF5-603A-354F6B4D8D33}"/>
              </a:ext>
            </a:extLst>
          </p:cNvPr>
          <p:cNvSpPr/>
          <p:nvPr/>
        </p:nvSpPr>
        <p:spPr>
          <a:xfrm>
            <a:off x="2562533" y="4280597"/>
            <a:ext cx="2208089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62.4%</a:t>
            </a:r>
            <a:r>
              <a:rPr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lang="en-US" sz="11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25年3月期末）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altLang="ja-JP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NTT</a:t>
            </a:r>
            <a:r>
              <a:rPr 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20.8%</a:t>
            </a:r>
            <a:r>
              <a:rPr lang="ja-JP" altLang="en-US" sz="105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（</a:t>
            </a:r>
            <a:r>
              <a:rPr lang="en-US" altLang="ja-JP" sz="105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26</a:t>
            </a:r>
            <a:r>
              <a:rPr lang="ja-JP" altLang="en-US" sz="105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年３月期）</a:t>
            </a:r>
            <a:endParaRPr lang="en-US" sz="1400" dirty="0">
              <a:solidFill>
                <a:srgbClr val="3A3A3A"/>
              </a:solidFill>
              <a:latin typeface="Meiryo UI" panose="020B0604030504040204" pitchFamily="50" charset="-128"/>
              <a:ea typeface="Meiryo UI" panose="020B0604030504040204" pitchFamily="50" charset="-128"/>
              <a:cs typeface="Yu Gothic" pitchFamily="34" charset="-120"/>
            </a:endParaRPr>
          </a:p>
        </p:txBody>
      </p:sp>
      <p:sp>
        <p:nvSpPr>
          <p:cNvPr id="72" name="Shape 46">
            <a:extLst>
              <a:ext uri="{FF2B5EF4-FFF2-40B4-BE49-F238E27FC236}">
                <a16:creationId xmlns:a16="http://schemas.microsoft.com/office/drawing/2014/main" id="{EFF2357B-7610-F740-9BB0-E8D19E5C3FBC}"/>
              </a:ext>
            </a:extLst>
          </p:cNvPr>
          <p:cNvSpPr/>
          <p:nvPr/>
        </p:nvSpPr>
        <p:spPr>
          <a:xfrm>
            <a:off x="4863406" y="4280597"/>
            <a:ext cx="2407315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Text 47">
            <a:extLst>
              <a:ext uri="{FF2B5EF4-FFF2-40B4-BE49-F238E27FC236}">
                <a16:creationId xmlns:a16="http://schemas.microsoft.com/office/drawing/2014/main" id="{A9ECDEA0-E8E2-BDC5-942D-C8C8360747EE}"/>
              </a:ext>
            </a:extLst>
          </p:cNvPr>
          <p:cNvSpPr/>
          <p:nvPr/>
        </p:nvSpPr>
        <p:spPr>
          <a:xfrm>
            <a:off x="4973134" y="4280597"/>
            <a:ext cx="2208089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23.9%</a:t>
            </a:r>
            <a:r>
              <a:rPr lang="en-US" sz="11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（2</a:t>
            </a:r>
            <a:r>
              <a:rPr lang="en-US" altLang="ja-JP" sz="11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6</a:t>
            </a:r>
            <a:r>
              <a:rPr lang="en-US" sz="11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年3月期）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4" name="Shape 48">
            <a:extLst>
              <a:ext uri="{FF2B5EF4-FFF2-40B4-BE49-F238E27FC236}">
                <a16:creationId xmlns:a16="http://schemas.microsoft.com/office/drawing/2014/main" id="{3E1CDC03-ECC3-F114-9A31-75E1D6398C00}"/>
              </a:ext>
            </a:extLst>
          </p:cNvPr>
          <p:cNvSpPr/>
          <p:nvPr/>
        </p:nvSpPr>
        <p:spPr>
          <a:xfrm>
            <a:off x="7274008" y="4280597"/>
            <a:ext cx="2407315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5" name="Text 49">
            <a:extLst>
              <a:ext uri="{FF2B5EF4-FFF2-40B4-BE49-F238E27FC236}">
                <a16:creationId xmlns:a16="http://schemas.microsoft.com/office/drawing/2014/main" id="{E7693937-B206-176C-5753-FFA3D935724E}"/>
              </a:ext>
            </a:extLst>
          </p:cNvPr>
          <p:cNvSpPr/>
          <p:nvPr/>
        </p:nvSpPr>
        <p:spPr>
          <a:xfrm>
            <a:off x="7383736" y="4280597"/>
            <a:ext cx="2208089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20%台前半とみられる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3" name="Shape 2">
            <a:extLst>
              <a:ext uri="{FF2B5EF4-FFF2-40B4-BE49-F238E27FC236}">
                <a16:creationId xmlns:a16="http://schemas.microsoft.com/office/drawing/2014/main" id="{D2BD7942-1A9A-4BC3-6294-73B0C52E7C38}"/>
              </a:ext>
            </a:extLst>
          </p:cNvPr>
          <p:cNvSpPr/>
          <p:nvPr/>
        </p:nvSpPr>
        <p:spPr>
          <a:xfrm>
            <a:off x="278339" y="5186423"/>
            <a:ext cx="2283991" cy="457200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4" name="Text 3">
            <a:extLst>
              <a:ext uri="{FF2B5EF4-FFF2-40B4-BE49-F238E27FC236}">
                <a16:creationId xmlns:a16="http://schemas.microsoft.com/office/drawing/2014/main" id="{F2A314BA-F5A3-A687-99E8-0A97F1E1BF69}"/>
              </a:ext>
            </a:extLst>
          </p:cNvPr>
          <p:cNvSpPr/>
          <p:nvPr/>
        </p:nvSpPr>
        <p:spPr>
          <a:xfrm>
            <a:off x="278339" y="5186423"/>
            <a:ext cx="228399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指標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5" name="Shape 4">
            <a:extLst>
              <a:ext uri="{FF2B5EF4-FFF2-40B4-BE49-F238E27FC236}">
                <a16:creationId xmlns:a16="http://schemas.microsoft.com/office/drawing/2014/main" id="{3D2BAD76-0052-0E59-59A6-9B74E05F87B6}"/>
              </a:ext>
            </a:extLst>
          </p:cNvPr>
          <p:cNvSpPr/>
          <p:nvPr/>
        </p:nvSpPr>
        <p:spPr>
          <a:xfrm>
            <a:off x="2562330" y="5186423"/>
            <a:ext cx="1907979" cy="457200"/>
          </a:xfrm>
          <a:prstGeom prst="rect">
            <a:avLst/>
          </a:prstGeom>
          <a:solidFill>
            <a:srgbClr val="C7000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6" name="Text 5">
            <a:extLst>
              <a:ext uri="{FF2B5EF4-FFF2-40B4-BE49-F238E27FC236}">
                <a16:creationId xmlns:a16="http://schemas.microsoft.com/office/drawing/2014/main" id="{F90669C6-EB7D-4CD7-6212-9D57A4B2BD29}"/>
              </a:ext>
            </a:extLst>
          </p:cNvPr>
          <p:cNvSpPr/>
          <p:nvPr/>
        </p:nvSpPr>
        <p:spPr>
          <a:xfrm>
            <a:off x="2562330" y="5186423"/>
            <a:ext cx="185974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NTTドコモ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7" name="Shape 6">
            <a:extLst>
              <a:ext uri="{FF2B5EF4-FFF2-40B4-BE49-F238E27FC236}">
                <a16:creationId xmlns:a16="http://schemas.microsoft.com/office/drawing/2014/main" id="{BFE40EEE-C9EF-3CEC-996C-427A6794396B}"/>
              </a:ext>
            </a:extLst>
          </p:cNvPr>
          <p:cNvSpPr/>
          <p:nvPr/>
        </p:nvSpPr>
        <p:spPr>
          <a:xfrm>
            <a:off x="10053912" y="5186423"/>
            <a:ext cx="1859749" cy="457200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8" name="Text 7">
            <a:extLst>
              <a:ext uri="{FF2B5EF4-FFF2-40B4-BE49-F238E27FC236}">
                <a16:creationId xmlns:a16="http://schemas.microsoft.com/office/drawing/2014/main" id="{46103864-3866-0C14-9853-CC8386E00DEF}"/>
              </a:ext>
            </a:extLst>
          </p:cNvPr>
          <p:cNvSpPr/>
          <p:nvPr/>
        </p:nvSpPr>
        <p:spPr>
          <a:xfrm>
            <a:off x="10053912" y="5186423"/>
            <a:ext cx="185974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V</a:t>
            </a:r>
            <a:r>
              <a:rPr lang="ja-JP" altLang="en-US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ポイント</a:t>
            </a:r>
            <a:br>
              <a:rPr lang="en-US" altLang="ja-JP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</a:br>
            <a:r>
              <a:rPr lang="ja-JP" alt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（三井住友カード）</a:t>
            </a:r>
            <a:endParaRPr lang="ja-JP" altLang="en-US" sz="1400" b="1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  <a:cs typeface="Yu Gothic" pitchFamily="34" charset="-120"/>
            </a:endParaRPr>
          </a:p>
        </p:txBody>
      </p:sp>
      <p:sp>
        <p:nvSpPr>
          <p:cNvPr id="111" name="Shape 10">
            <a:extLst>
              <a:ext uri="{FF2B5EF4-FFF2-40B4-BE49-F238E27FC236}">
                <a16:creationId xmlns:a16="http://schemas.microsoft.com/office/drawing/2014/main" id="{7A81EE2E-D27C-5153-2A8E-0EBBB68A8B5B}"/>
              </a:ext>
            </a:extLst>
          </p:cNvPr>
          <p:cNvSpPr/>
          <p:nvPr/>
        </p:nvSpPr>
        <p:spPr>
          <a:xfrm>
            <a:off x="278339" y="5643623"/>
            <a:ext cx="2283991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2" name="Text 11">
            <a:extLst>
              <a:ext uri="{FF2B5EF4-FFF2-40B4-BE49-F238E27FC236}">
                <a16:creationId xmlns:a16="http://schemas.microsoft.com/office/drawing/2014/main" id="{2701B9BB-4E67-9962-5D91-29FB5C0D9CC6}"/>
              </a:ext>
            </a:extLst>
          </p:cNvPr>
          <p:cNvSpPr/>
          <p:nvPr/>
        </p:nvSpPr>
        <p:spPr>
          <a:xfrm>
            <a:off x="388067" y="5643623"/>
            <a:ext cx="28895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1400" b="1" dirty="0">
                <a:solidFill>
                  <a:srgbClr val="1B2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ポイント会員数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3" name="Shape 12">
            <a:extLst>
              <a:ext uri="{FF2B5EF4-FFF2-40B4-BE49-F238E27FC236}">
                <a16:creationId xmlns:a16="http://schemas.microsoft.com/office/drawing/2014/main" id="{2770E7B4-F83D-5CDB-CAB1-B54BF72985FB}"/>
              </a:ext>
            </a:extLst>
          </p:cNvPr>
          <p:cNvSpPr/>
          <p:nvPr/>
        </p:nvSpPr>
        <p:spPr>
          <a:xfrm>
            <a:off x="2562330" y="5643623"/>
            <a:ext cx="1907979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4" name="Text 13">
            <a:extLst>
              <a:ext uri="{FF2B5EF4-FFF2-40B4-BE49-F238E27FC236}">
                <a16:creationId xmlns:a16="http://schemas.microsoft.com/office/drawing/2014/main" id="{4EEBB053-9D79-024F-4784-41F80F17E7C9}"/>
              </a:ext>
            </a:extLst>
          </p:cNvPr>
          <p:cNvSpPr/>
          <p:nvPr/>
        </p:nvSpPr>
        <p:spPr>
          <a:xfrm>
            <a:off x="2672059" y="5643623"/>
            <a:ext cx="156834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altLang="ja-JP" sz="1400" b="1" dirty="0">
                <a:solidFill>
                  <a:srgbClr val="D0021B"/>
                </a:solidFill>
              </a:rPr>
              <a:t>1</a:t>
            </a:r>
            <a:r>
              <a:rPr lang="ja-JP" altLang="en-US" sz="1400" b="1" dirty="0">
                <a:solidFill>
                  <a:srgbClr val="D0021B"/>
                </a:solidFill>
              </a:rPr>
              <a:t>億</a:t>
            </a:r>
            <a:r>
              <a:rPr lang="en-US" altLang="ja-JP" sz="1400" b="1" dirty="0">
                <a:solidFill>
                  <a:srgbClr val="D0021B"/>
                </a:solidFill>
              </a:rPr>
              <a:t>500</a:t>
            </a:r>
            <a:r>
              <a:rPr lang="ja-JP" altLang="en-US" sz="1400" b="1" dirty="0">
                <a:solidFill>
                  <a:srgbClr val="D0021B"/>
                </a:solidFill>
              </a:rPr>
              <a:t>万</a:t>
            </a:r>
          </a:p>
        </p:txBody>
      </p:sp>
      <p:sp>
        <p:nvSpPr>
          <p:cNvPr id="115" name="Shape 14">
            <a:extLst>
              <a:ext uri="{FF2B5EF4-FFF2-40B4-BE49-F238E27FC236}">
                <a16:creationId xmlns:a16="http://schemas.microsoft.com/office/drawing/2014/main" id="{56B7C97A-5BCC-FFD5-00C1-BCB7476188D7}"/>
              </a:ext>
            </a:extLst>
          </p:cNvPr>
          <p:cNvSpPr/>
          <p:nvPr/>
        </p:nvSpPr>
        <p:spPr>
          <a:xfrm>
            <a:off x="10053912" y="5643623"/>
            <a:ext cx="1859749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6" name="Text 15">
            <a:extLst>
              <a:ext uri="{FF2B5EF4-FFF2-40B4-BE49-F238E27FC236}">
                <a16:creationId xmlns:a16="http://schemas.microsoft.com/office/drawing/2014/main" id="{A121AF5E-D37E-0D1F-34DB-F803DBA94587}"/>
              </a:ext>
            </a:extLst>
          </p:cNvPr>
          <p:cNvSpPr/>
          <p:nvPr/>
        </p:nvSpPr>
        <p:spPr>
          <a:xfrm>
            <a:off x="10163640" y="5643623"/>
            <a:ext cx="1604721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altLang="ja-JP" sz="1400" b="1" dirty="0"/>
              <a:t>1</a:t>
            </a:r>
            <a:r>
              <a:rPr lang="ja-JP" altLang="en-US" sz="1400" b="1" dirty="0"/>
              <a:t>億</a:t>
            </a:r>
            <a:r>
              <a:rPr lang="en-US" altLang="ja-JP" sz="1400" b="1" dirty="0"/>
              <a:t>6,000</a:t>
            </a:r>
            <a:r>
              <a:rPr lang="ja-JP" altLang="en-US" sz="1400" b="1" dirty="0"/>
              <a:t>万</a:t>
            </a:r>
          </a:p>
        </p:txBody>
      </p:sp>
      <p:sp>
        <p:nvSpPr>
          <p:cNvPr id="119" name="Shape 6">
            <a:extLst>
              <a:ext uri="{FF2B5EF4-FFF2-40B4-BE49-F238E27FC236}">
                <a16:creationId xmlns:a16="http://schemas.microsoft.com/office/drawing/2014/main" id="{97068D5F-C903-0ECE-0294-290B6126A0F8}"/>
              </a:ext>
            </a:extLst>
          </p:cNvPr>
          <p:cNvSpPr/>
          <p:nvPr/>
        </p:nvSpPr>
        <p:spPr>
          <a:xfrm>
            <a:off x="6334414" y="5189571"/>
            <a:ext cx="1859749" cy="457200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0" name="Text 7">
            <a:extLst>
              <a:ext uri="{FF2B5EF4-FFF2-40B4-BE49-F238E27FC236}">
                <a16:creationId xmlns:a16="http://schemas.microsoft.com/office/drawing/2014/main" id="{EC8F5D5B-7169-418F-3C70-6D0F33DB0D53}"/>
              </a:ext>
            </a:extLst>
          </p:cNvPr>
          <p:cNvSpPr/>
          <p:nvPr/>
        </p:nvSpPr>
        <p:spPr>
          <a:xfrm>
            <a:off x="6334414" y="5189571"/>
            <a:ext cx="185974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PayPay</a:t>
            </a:r>
            <a:r>
              <a:rPr lang="en-US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 PT</a:t>
            </a:r>
          </a:p>
        </p:txBody>
      </p:sp>
      <p:sp>
        <p:nvSpPr>
          <p:cNvPr id="121" name="Shape 14">
            <a:extLst>
              <a:ext uri="{FF2B5EF4-FFF2-40B4-BE49-F238E27FC236}">
                <a16:creationId xmlns:a16="http://schemas.microsoft.com/office/drawing/2014/main" id="{EECA8975-C66D-7B53-0ADE-DD0822C77D5E}"/>
              </a:ext>
            </a:extLst>
          </p:cNvPr>
          <p:cNvSpPr/>
          <p:nvPr/>
        </p:nvSpPr>
        <p:spPr>
          <a:xfrm>
            <a:off x="6334414" y="5646771"/>
            <a:ext cx="1859749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2" name="Text 15">
            <a:extLst>
              <a:ext uri="{FF2B5EF4-FFF2-40B4-BE49-F238E27FC236}">
                <a16:creationId xmlns:a16="http://schemas.microsoft.com/office/drawing/2014/main" id="{EE12282D-C95D-F779-1B01-7FB799CDD4A9}"/>
              </a:ext>
            </a:extLst>
          </p:cNvPr>
          <p:cNvSpPr/>
          <p:nvPr/>
        </p:nvSpPr>
        <p:spPr>
          <a:xfrm>
            <a:off x="6444142" y="5646771"/>
            <a:ext cx="1604721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altLang="ja-JP" sz="1400" b="1" dirty="0"/>
              <a:t>1</a:t>
            </a:r>
            <a:r>
              <a:rPr lang="ja-JP" altLang="en-US" sz="1400" b="1" dirty="0"/>
              <a:t>億以上</a:t>
            </a:r>
          </a:p>
        </p:txBody>
      </p:sp>
      <p:sp>
        <p:nvSpPr>
          <p:cNvPr id="123" name="Shape 6">
            <a:extLst>
              <a:ext uri="{FF2B5EF4-FFF2-40B4-BE49-F238E27FC236}">
                <a16:creationId xmlns:a16="http://schemas.microsoft.com/office/drawing/2014/main" id="{2C41BA31-23CB-E441-712E-9966BF01D949}"/>
              </a:ext>
            </a:extLst>
          </p:cNvPr>
          <p:cNvSpPr/>
          <p:nvPr/>
        </p:nvSpPr>
        <p:spPr>
          <a:xfrm>
            <a:off x="8194163" y="5189571"/>
            <a:ext cx="1859749" cy="457200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4" name="Text 7">
            <a:extLst>
              <a:ext uri="{FF2B5EF4-FFF2-40B4-BE49-F238E27FC236}">
                <a16:creationId xmlns:a16="http://schemas.microsoft.com/office/drawing/2014/main" id="{8FCFFC44-7C42-5C17-122B-DBB286AE8F4D}"/>
              </a:ext>
            </a:extLst>
          </p:cNvPr>
          <p:cNvSpPr/>
          <p:nvPr/>
        </p:nvSpPr>
        <p:spPr>
          <a:xfrm>
            <a:off x="8194163" y="5189571"/>
            <a:ext cx="185974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楽天</a:t>
            </a:r>
            <a:r>
              <a:rPr lang="en-US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PT</a:t>
            </a:r>
          </a:p>
        </p:txBody>
      </p:sp>
      <p:sp>
        <p:nvSpPr>
          <p:cNvPr id="125" name="Shape 14">
            <a:extLst>
              <a:ext uri="{FF2B5EF4-FFF2-40B4-BE49-F238E27FC236}">
                <a16:creationId xmlns:a16="http://schemas.microsoft.com/office/drawing/2014/main" id="{864BD8FE-049C-0823-17C3-AB452A06DB7F}"/>
              </a:ext>
            </a:extLst>
          </p:cNvPr>
          <p:cNvSpPr/>
          <p:nvPr/>
        </p:nvSpPr>
        <p:spPr>
          <a:xfrm>
            <a:off x="8194163" y="5646771"/>
            <a:ext cx="1859749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6" name="Text 15">
            <a:extLst>
              <a:ext uri="{FF2B5EF4-FFF2-40B4-BE49-F238E27FC236}">
                <a16:creationId xmlns:a16="http://schemas.microsoft.com/office/drawing/2014/main" id="{B8411B1F-2B48-8830-1823-AEF176335384}"/>
              </a:ext>
            </a:extLst>
          </p:cNvPr>
          <p:cNvSpPr/>
          <p:nvPr/>
        </p:nvSpPr>
        <p:spPr>
          <a:xfrm>
            <a:off x="8303891" y="5646771"/>
            <a:ext cx="1604721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altLang="ja-JP" sz="1400" b="1" dirty="0"/>
              <a:t>1</a:t>
            </a:r>
            <a:r>
              <a:rPr lang="ja-JP" altLang="en-US" sz="1400" b="1" dirty="0"/>
              <a:t>億以上</a:t>
            </a:r>
          </a:p>
        </p:txBody>
      </p:sp>
      <p:sp>
        <p:nvSpPr>
          <p:cNvPr id="127" name="Shape 6">
            <a:extLst>
              <a:ext uri="{FF2B5EF4-FFF2-40B4-BE49-F238E27FC236}">
                <a16:creationId xmlns:a16="http://schemas.microsoft.com/office/drawing/2014/main" id="{64364802-29D3-573F-1A42-2DA2B9A4A76A}"/>
              </a:ext>
            </a:extLst>
          </p:cNvPr>
          <p:cNvSpPr/>
          <p:nvPr/>
        </p:nvSpPr>
        <p:spPr>
          <a:xfrm>
            <a:off x="4470309" y="5194193"/>
            <a:ext cx="1859749" cy="457200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8" name="Text 7">
            <a:extLst>
              <a:ext uri="{FF2B5EF4-FFF2-40B4-BE49-F238E27FC236}">
                <a16:creationId xmlns:a16="http://schemas.microsoft.com/office/drawing/2014/main" id="{127658D3-330F-EAF7-1F2B-2F27A68C0C1E}"/>
              </a:ext>
            </a:extLst>
          </p:cNvPr>
          <p:cNvSpPr/>
          <p:nvPr/>
        </p:nvSpPr>
        <p:spPr>
          <a:xfrm>
            <a:off x="4470309" y="5194193"/>
            <a:ext cx="185974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Ponta</a:t>
            </a:r>
          </a:p>
        </p:txBody>
      </p:sp>
      <p:sp>
        <p:nvSpPr>
          <p:cNvPr id="129" name="Shape 14">
            <a:extLst>
              <a:ext uri="{FF2B5EF4-FFF2-40B4-BE49-F238E27FC236}">
                <a16:creationId xmlns:a16="http://schemas.microsoft.com/office/drawing/2014/main" id="{CB5D61B8-4559-0A6B-DC8A-35597DB614E9}"/>
              </a:ext>
            </a:extLst>
          </p:cNvPr>
          <p:cNvSpPr/>
          <p:nvPr/>
        </p:nvSpPr>
        <p:spPr>
          <a:xfrm>
            <a:off x="4470309" y="5651393"/>
            <a:ext cx="1859749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0" name="Text 15">
            <a:extLst>
              <a:ext uri="{FF2B5EF4-FFF2-40B4-BE49-F238E27FC236}">
                <a16:creationId xmlns:a16="http://schemas.microsoft.com/office/drawing/2014/main" id="{402D66D9-85D4-C2EE-1404-E9EFCD7A526C}"/>
              </a:ext>
            </a:extLst>
          </p:cNvPr>
          <p:cNvSpPr/>
          <p:nvPr/>
        </p:nvSpPr>
        <p:spPr>
          <a:xfrm>
            <a:off x="4580037" y="5651393"/>
            <a:ext cx="1604721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altLang="ja-JP" sz="1400" b="1" dirty="0"/>
              <a:t>1</a:t>
            </a:r>
            <a:r>
              <a:rPr lang="ja-JP" altLang="en-US" sz="1400" b="1" dirty="0"/>
              <a:t>億以上</a:t>
            </a:r>
          </a:p>
        </p:txBody>
      </p:sp>
      <p:sp>
        <p:nvSpPr>
          <p:cNvPr id="131" name="Shape 0">
            <a:extLst>
              <a:ext uri="{FF2B5EF4-FFF2-40B4-BE49-F238E27FC236}">
                <a16:creationId xmlns:a16="http://schemas.microsoft.com/office/drawing/2014/main" id="{104D39A7-BB4F-08AD-573F-D1532DAA247B}"/>
              </a:ext>
            </a:extLst>
          </p:cNvPr>
          <p:cNvSpPr/>
          <p:nvPr/>
        </p:nvSpPr>
        <p:spPr>
          <a:xfrm>
            <a:off x="0" y="0"/>
            <a:ext cx="12192000" cy="1089241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2" name="Text 2">
            <a:extLst>
              <a:ext uri="{FF2B5EF4-FFF2-40B4-BE49-F238E27FC236}">
                <a16:creationId xmlns:a16="http://schemas.microsoft.com/office/drawing/2014/main" id="{F052DFBB-74D1-F29A-381D-4FC80D686817}"/>
              </a:ext>
            </a:extLst>
          </p:cNvPr>
          <p:cNvSpPr/>
          <p:nvPr/>
        </p:nvSpPr>
        <p:spPr>
          <a:xfrm>
            <a:off x="278339" y="3160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E40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</a:t>
            </a:r>
            <a:r>
              <a:rPr lang="en-US" altLang="ja-JP" sz="1500" b="1" kern="0" spc="200" dirty="0">
                <a:solidFill>
                  <a:srgbClr val="E40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3" name="Text 4">
            <a:extLst>
              <a:ext uri="{FF2B5EF4-FFF2-40B4-BE49-F238E27FC236}">
                <a16:creationId xmlns:a16="http://schemas.microsoft.com/office/drawing/2014/main" id="{E8C88008-F3E3-BFBC-E2C0-989D2D91D8D6}"/>
              </a:ext>
            </a:extLst>
          </p:cNvPr>
          <p:cNvSpPr/>
          <p:nvPr/>
        </p:nvSpPr>
        <p:spPr>
          <a:xfrm>
            <a:off x="2843013" y="99228"/>
            <a:ext cx="9239125" cy="9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ja-JP" alt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競合との基礎数値の比較</a:t>
            </a:r>
          </a:p>
        </p:txBody>
      </p:sp>
      <p:sp>
        <p:nvSpPr>
          <p:cNvPr id="134" name="Shape 3">
            <a:extLst>
              <a:ext uri="{FF2B5EF4-FFF2-40B4-BE49-F238E27FC236}">
                <a16:creationId xmlns:a16="http://schemas.microsoft.com/office/drawing/2014/main" id="{4142574C-8DE3-EB8E-BF7B-8D2B477C89DB}"/>
              </a:ext>
            </a:extLst>
          </p:cNvPr>
          <p:cNvSpPr/>
          <p:nvPr/>
        </p:nvSpPr>
        <p:spPr>
          <a:xfrm>
            <a:off x="1333918" y="17082"/>
            <a:ext cx="1005840" cy="1005840"/>
          </a:xfrm>
          <a:prstGeom prst="ellipse">
            <a:avLst/>
          </a:prstGeom>
          <a:solidFill>
            <a:srgbClr val="E4007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35" name="Image 0" descr="preencoded.png">
            <a:extLst>
              <a:ext uri="{FF2B5EF4-FFF2-40B4-BE49-F238E27FC236}">
                <a16:creationId xmlns:a16="http://schemas.microsoft.com/office/drawing/2014/main" id="{0208A123-958D-7983-EE01-ADA3B01D0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518" y="245682"/>
            <a:ext cx="548640" cy="548640"/>
          </a:xfrm>
          <a:prstGeom prst="rect">
            <a:avLst/>
          </a:prstGeom>
        </p:spPr>
      </p:pic>
      <p:sp>
        <p:nvSpPr>
          <p:cNvPr id="136" name="Shape 8">
            <a:extLst>
              <a:ext uri="{FF2B5EF4-FFF2-40B4-BE49-F238E27FC236}">
                <a16:creationId xmlns:a16="http://schemas.microsoft.com/office/drawing/2014/main" id="{489F8FE4-83E0-CD9D-45CC-9F39C1C45286}"/>
              </a:ext>
            </a:extLst>
          </p:cNvPr>
          <p:cNvSpPr/>
          <p:nvPr/>
        </p:nvSpPr>
        <p:spPr>
          <a:xfrm>
            <a:off x="9664775" y="1334554"/>
            <a:ext cx="2407315" cy="457200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7" name="Text 9">
            <a:extLst>
              <a:ext uri="{FF2B5EF4-FFF2-40B4-BE49-F238E27FC236}">
                <a16:creationId xmlns:a16="http://schemas.microsoft.com/office/drawing/2014/main" id="{964523CA-F50F-6ACE-1373-968EE29E0F76}"/>
              </a:ext>
            </a:extLst>
          </p:cNvPr>
          <p:cNvSpPr/>
          <p:nvPr/>
        </p:nvSpPr>
        <p:spPr>
          <a:xfrm>
            <a:off x="9664775" y="1334554"/>
            <a:ext cx="24073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楽天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8" name="Shape 16">
            <a:extLst>
              <a:ext uri="{FF2B5EF4-FFF2-40B4-BE49-F238E27FC236}">
                <a16:creationId xmlns:a16="http://schemas.microsoft.com/office/drawing/2014/main" id="{546904F5-7D73-F5D2-6357-D6E2CC351BFD}"/>
              </a:ext>
            </a:extLst>
          </p:cNvPr>
          <p:cNvSpPr/>
          <p:nvPr/>
        </p:nvSpPr>
        <p:spPr>
          <a:xfrm>
            <a:off x="9664775" y="1791754"/>
            <a:ext cx="2407315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5C2D00D4-BF8C-4684-74D4-F2675D61CECB}"/>
              </a:ext>
            </a:extLst>
          </p:cNvPr>
          <p:cNvSpPr/>
          <p:nvPr/>
        </p:nvSpPr>
        <p:spPr>
          <a:xfrm>
            <a:off x="9774503" y="1791754"/>
            <a:ext cx="2208089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altLang="ja-JP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933</a:t>
            </a:r>
            <a:r>
              <a:rPr 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万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0" name="Shape 24">
            <a:extLst>
              <a:ext uri="{FF2B5EF4-FFF2-40B4-BE49-F238E27FC236}">
                <a16:creationId xmlns:a16="http://schemas.microsoft.com/office/drawing/2014/main" id="{4E2B46A9-EE60-232C-51D4-A9F029CB5401}"/>
              </a:ext>
            </a:extLst>
          </p:cNvPr>
          <p:cNvSpPr/>
          <p:nvPr/>
        </p:nvSpPr>
        <p:spPr>
          <a:xfrm>
            <a:off x="9664775" y="2413546"/>
            <a:ext cx="2407315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1" name="Text 25">
            <a:extLst>
              <a:ext uri="{FF2B5EF4-FFF2-40B4-BE49-F238E27FC236}">
                <a16:creationId xmlns:a16="http://schemas.microsoft.com/office/drawing/2014/main" id="{9F39EAD3-9F9F-1510-04C2-90FAA7523E92}"/>
              </a:ext>
            </a:extLst>
          </p:cNvPr>
          <p:cNvSpPr/>
          <p:nvPr/>
        </p:nvSpPr>
        <p:spPr>
          <a:xfrm>
            <a:off x="9774503" y="2413546"/>
            <a:ext cx="2208089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4.</a:t>
            </a:r>
            <a:r>
              <a:rPr lang="en-US" altLang="ja-JP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2</a:t>
            </a:r>
            <a:r>
              <a:rPr 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%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2" name="Shape 32">
            <a:extLst>
              <a:ext uri="{FF2B5EF4-FFF2-40B4-BE49-F238E27FC236}">
                <a16:creationId xmlns:a16="http://schemas.microsoft.com/office/drawing/2014/main" id="{D38DCD2D-3ED7-A1C9-481A-83A0FC74008B}"/>
              </a:ext>
            </a:extLst>
          </p:cNvPr>
          <p:cNvSpPr/>
          <p:nvPr/>
        </p:nvSpPr>
        <p:spPr>
          <a:xfrm>
            <a:off x="9664775" y="3035338"/>
            <a:ext cx="2407315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3" name="Text 33">
            <a:extLst>
              <a:ext uri="{FF2B5EF4-FFF2-40B4-BE49-F238E27FC236}">
                <a16:creationId xmlns:a16="http://schemas.microsoft.com/office/drawing/2014/main" id="{66125C3F-353C-A33A-827F-D8D95E718A3C}"/>
              </a:ext>
            </a:extLst>
          </p:cNvPr>
          <p:cNvSpPr/>
          <p:nvPr/>
        </p:nvSpPr>
        <p:spPr>
          <a:xfrm>
            <a:off x="9774503" y="3035338"/>
            <a:ext cx="2208089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altLang="ja-JP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2</a:t>
            </a:r>
            <a:r>
              <a:rPr lang="ja-JP" alt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兆</a:t>
            </a:r>
            <a:r>
              <a:rPr lang="en-US" altLang="ja-JP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4,965</a:t>
            </a:r>
            <a:r>
              <a:rPr lang="ja-JP" alt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億円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ja-JP" altLang="en-US" sz="105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（</a:t>
            </a:r>
            <a:r>
              <a:rPr lang="en-US" altLang="ja-JP" sz="105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25</a:t>
            </a:r>
            <a:r>
              <a:rPr lang="ja-JP" altLang="en-US" sz="105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年</a:t>
            </a:r>
            <a:r>
              <a:rPr lang="en-US" altLang="ja-JP" sz="105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12</a:t>
            </a:r>
            <a:r>
              <a:rPr lang="ja-JP" altLang="en-US" sz="105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月期）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4" name="Shape 40">
            <a:extLst>
              <a:ext uri="{FF2B5EF4-FFF2-40B4-BE49-F238E27FC236}">
                <a16:creationId xmlns:a16="http://schemas.microsoft.com/office/drawing/2014/main" id="{BD7E7CA4-9BAF-0012-28A8-65E3DD011958}"/>
              </a:ext>
            </a:extLst>
          </p:cNvPr>
          <p:cNvSpPr/>
          <p:nvPr/>
        </p:nvSpPr>
        <p:spPr>
          <a:xfrm>
            <a:off x="9664775" y="3657130"/>
            <a:ext cx="2407315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5" name="Text 41">
            <a:extLst>
              <a:ext uri="{FF2B5EF4-FFF2-40B4-BE49-F238E27FC236}">
                <a16:creationId xmlns:a16="http://schemas.microsoft.com/office/drawing/2014/main" id="{20513F9F-C608-E37F-B84D-CF07794C70D6}"/>
              </a:ext>
            </a:extLst>
          </p:cNvPr>
          <p:cNvSpPr/>
          <p:nvPr/>
        </p:nvSpPr>
        <p:spPr>
          <a:xfrm>
            <a:off x="9774503" y="3657130"/>
            <a:ext cx="2208089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altLang="ja-JP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1</a:t>
            </a:r>
            <a:r>
              <a:rPr lang="ja-JP" alt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兆</a:t>
            </a:r>
            <a:r>
              <a:rPr lang="en-US" altLang="ja-JP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5,981</a:t>
            </a:r>
            <a:r>
              <a:rPr lang="ja-JP" alt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億円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ja-JP" altLang="en-US" sz="105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（</a:t>
            </a:r>
            <a:r>
              <a:rPr lang="en-US" altLang="ja-JP" sz="105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25</a:t>
            </a:r>
            <a:r>
              <a:rPr lang="ja-JP" altLang="en-US" sz="105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年</a:t>
            </a:r>
            <a:r>
              <a:rPr lang="en-US" altLang="ja-JP" sz="105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12</a:t>
            </a:r>
            <a:r>
              <a:rPr lang="ja-JP" altLang="en-US" sz="105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月期）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6" name="Shape 48">
            <a:extLst>
              <a:ext uri="{FF2B5EF4-FFF2-40B4-BE49-F238E27FC236}">
                <a16:creationId xmlns:a16="http://schemas.microsoft.com/office/drawing/2014/main" id="{336EC808-7288-A102-0CD8-9B5A3370A2D8}"/>
              </a:ext>
            </a:extLst>
          </p:cNvPr>
          <p:cNvSpPr/>
          <p:nvPr/>
        </p:nvSpPr>
        <p:spPr>
          <a:xfrm>
            <a:off x="9664775" y="4278922"/>
            <a:ext cx="2407315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7" name="Text 49">
            <a:extLst>
              <a:ext uri="{FF2B5EF4-FFF2-40B4-BE49-F238E27FC236}">
                <a16:creationId xmlns:a16="http://schemas.microsoft.com/office/drawing/2014/main" id="{073A96C7-F33B-08BA-66C2-F12D03E841BD}"/>
              </a:ext>
            </a:extLst>
          </p:cNvPr>
          <p:cNvSpPr/>
          <p:nvPr/>
        </p:nvSpPr>
        <p:spPr>
          <a:xfrm>
            <a:off x="9774503" y="4278922"/>
            <a:ext cx="2208089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altLang="ja-JP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2.2%</a:t>
            </a:r>
            <a:r>
              <a:rPr lang="ja-JP" altLang="en-US" sz="105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（</a:t>
            </a:r>
            <a:r>
              <a:rPr lang="en-US" altLang="ja-JP" sz="105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25</a:t>
            </a:r>
            <a:r>
              <a:rPr lang="ja-JP" altLang="en-US" sz="105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年</a:t>
            </a:r>
            <a:r>
              <a:rPr lang="en-US" altLang="ja-JP" sz="105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12</a:t>
            </a:r>
            <a:r>
              <a:rPr lang="ja-JP" altLang="en-US" sz="105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月期）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8279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F7D4F-6A5F-66D6-553D-977B657BA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>
            <a:extLst>
              <a:ext uri="{FF2B5EF4-FFF2-40B4-BE49-F238E27FC236}">
                <a16:creationId xmlns:a16="http://schemas.microsoft.com/office/drawing/2014/main" id="{1A2BBF9A-1990-4018-D985-6E77D261EB10}"/>
              </a:ext>
            </a:extLst>
          </p:cNvPr>
          <p:cNvSpPr/>
          <p:nvPr/>
        </p:nvSpPr>
        <p:spPr>
          <a:xfrm>
            <a:off x="2843013" y="99228"/>
            <a:ext cx="9239125" cy="9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ja-JP" alt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競合との基礎数値の比較</a:t>
            </a:r>
          </a:p>
        </p:txBody>
      </p:sp>
      <p:sp>
        <p:nvSpPr>
          <p:cNvPr id="131" name="Shape 0">
            <a:extLst>
              <a:ext uri="{FF2B5EF4-FFF2-40B4-BE49-F238E27FC236}">
                <a16:creationId xmlns:a16="http://schemas.microsoft.com/office/drawing/2014/main" id="{A2262DEF-37C8-ECD2-0DC6-2BDA7BE59A20}"/>
              </a:ext>
            </a:extLst>
          </p:cNvPr>
          <p:cNvSpPr/>
          <p:nvPr/>
        </p:nvSpPr>
        <p:spPr>
          <a:xfrm>
            <a:off x="0" y="0"/>
            <a:ext cx="12192000" cy="1089241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2" name="Text 2">
            <a:extLst>
              <a:ext uri="{FF2B5EF4-FFF2-40B4-BE49-F238E27FC236}">
                <a16:creationId xmlns:a16="http://schemas.microsoft.com/office/drawing/2014/main" id="{35DB5F97-4EA5-61EA-7BBD-92D601B63DDF}"/>
              </a:ext>
            </a:extLst>
          </p:cNvPr>
          <p:cNvSpPr/>
          <p:nvPr/>
        </p:nvSpPr>
        <p:spPr>
          <a:xfrm>
            <a:off x="278339" y="3160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E40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</a:t>
            </a:r>
            <a:r>
              <a:rPr lang="en-US" altLang="ja-JP" sz="1500" b="1" kern="0" spc="200" dirty="0">
                <a:solidFill>
                  <a:srgbClr val="E40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3" name="Text 4">
            <a:extLst>
              <a:ext uri="{FF2B5EF4-FFF2-40B4-BE49-F238E27FC236}">
                <a16:creationId xmlns:a16="http://schemas.microsoft.com/office/drawing/2014/main" id="{E636071A-8DCD-8BB5-508B-9AE75C6C4A14}"/>
              </a:ext>
            </a:extLst>
          </p:cNvPr>
          <p:cNvSpPr/>
          <p:nvPr/>
        </p:nvSpPr>
        <p:spPr>
          <a:xfrm>
            <a:off x="2843013" y="99228"/>
            <a:ext cx="9239125" cy="9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ja-JP" alt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ドコモの経営環境から望まれること</a:t>
            </a:r>
          </a:p>
        </p:txBody>
      </p:sp>
      <p:sp>
        <p:nvSpPr>
          <p:cNvPr id="134" name="Shape 3">
            <a:extLst>
              <a:ext uri="{FF2B5EF4-FFF2-40B4-BE49-F238E27FC236}">
                <a16:creationId xmlns:a16="http://schemas.microsoft.com/office/drawing/2014/main" id="{4E6E2F56-95F6-CFF1-AB5E-3CCC6ABD542B}"/>
              </a:ext>
            </a:extLst>
          </p:cNvPr>
          <p:cNvSpPr/>
          <p:nvPr/>
        </p:nvSpPr>
        <p:spPr>
          <a:xfrm>
            <a:off x="1333918" y="17082"/>
            <a:ext cx="1005840" cy="1005840"/>
          </a:xfrm>
          <a:prstGeom prst="ellipse">
            <a:avLst/>
          </a:prstGeom>
          <a:solidFill>
            <a:srgbClr val="E4007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35" name="Image 0" descr="preencoded.png">
            <a:extLst>
              <a:ext uri="{FF2B5EF4-FFF2-40B4-BE49-F238E27FC236}">
                <a16:creationId xmlns:a16="http://schemas.microsoft.com/office/drawing/2014/main" id="{DEF26B7E-BB7C-3F1D-BE00-1EFF6E95E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518" y="245682"/>
            <a:ext cx="548640" cy="548640"/>
          </a:xfrm>
          <a:prstGeom prst="rect">
            <a:avLst/>
          </a:prstGeom>
        </p:spPr>
      </p:pic>
      <p:sp>
        <p:nvSpPr>
          <p:cNvPr id="5" name="Shape 4">
            <a:extLst>
              <a:ext uri="{FF2B5EF4-FFF2-40B4-BE49-F238E27FC236}">
                <a16:creationId xmlns:a16="http://schemas.microsoft.com/office/drawing/2014/main" id="{64094B82-5727-E84E-3139-10ACAA2F9EEA}"/>
              </a:ext>
            </a:extLst>
          </p:cNvPr>
          <p:cNvSpPr/>
          <p:nvPr/>
        </p:nvSpPr>
        <p:spPr>
          <a:xfrm>
            <a:off x="1060100" y="1251522"/>
            <a:ext cx="9966960" cy="1089241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B5BB69F2-C158-1E79-348C-A96FC39DBBA3}"/>
              </a:ext>
            </a:extLst>
          </p:cNvPr>
          <p:cNvSpPr/>
          <p:nvPr/>
        </p:nvSpPr>
        <p:spPr>
          <a:xfrm>
            <a:off x="1334420" y="1416114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700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通信事業の防衛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38A1986-971D-0B89-6CB7-ADCF90F224CE}"/>
              </a:ext>
            </a:extLst>
          </p:cNvPr>
          <p:cNvSpPr/>
          <p:nvPr/>
        </p:nvSpPr>
        <p:spPr>
          <a:xfrm>
            <a:off x="1334420" y="1818450"/>
            <a:ext cx="662387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5G基地局整備を計画通り進め、</a:t>
            </a:r>
            <a:r>
              <a:rPr lang="ja-JP" altLang="en-US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通信品質</a:t>
            </a:r>
            <a:r>
              <a:rPr lang="en-US" altLang="ja-JP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No</a:t>
            </a:r>
            <a:r>
              <a:rPr lang="ja-JP" altLang="en-US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１を奪回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5F0A80A-A8D2-1386-77EF-9E74D7DA1B76}"/>
              </a:ext>
            </a:extLst>
          </p:cNvPr>
          <p:cNvSpPr/>
          <p:nvPr/>
        </p:nvSpPr>
        <p:spPr>
          <a:xfrm>
            <a:off x="1060100" y="2494503"/>
            <a:ext cx="9966960" cy="1417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1D81838-C35B-7C62-2412-7B9F0B38FED0}"/>
              </a:ext>
            </a:extLst>
          </p:cNvPr>
          <p:cNvSpPr/>
          <p:nvPr/>
        </p:nvSpPr>
        <p:spPr>
          <a:xfrm>
            <a:off x="1334420" y="2659095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顧客基盤（通信、ｄポイント）の更なる強化</a:t>
            </a:r>
            <a:endParaRPr lang="en-US" b="1" dirty="0">
              <a:solidFill>
                <a:srgbClr val="00206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02ABCEB-0A6C-62E3-0144-E9259585B29A}"/>
              </a:ext>
            </a:extLst>
          </p:cNvPr>
          <p:cNvSpPr/>
          <p:nvPr/>
        </p:nvSpPr>
        <p:spPr>
          <a:xfrm>
            <a:off x="1334420" y="3061431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1億超の会員基盤と「SyncMe」で培うAIエージェント基盤を、他社・パートナーにも開放し、新たな収益源とする余地が大きい。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5D31219-9BB5-6EBA-E10F-3AD84CA682B6}"/>
              </a:ext>
            </a:extLst>
          </p:cNvPr>
          <p:cNvSpPr/>
          <p:nvPr/>
        </p:nvSpPr>
        <p:spPr>
          <a:xfrm>
            <a:off x="1600200" y="5229159"/>
            <a:ext cx="9966960" cy="1417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7265806-5098-9205-0541-5C1B37FF95A9}"/>
              </a:ext>
            </a:extLst>
          </p:cNvPr>
          <p:cNvSpPr/>
          <p:nvPr/>
        </p:nvSpPr>
        <p:spPr>
          <a:xfrm>
            <a:off x="1874520" y="5393751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b="1" dirty="0">
                <a:solidFill>
                  <a:srgbClr val="1E7A4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強みを活用した、事業収益強化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4CFB2E1-33FB-613D-305D-A52EFF3923D6}"/>
              </a:ext>
            </a:extLst>
          </p:cNvPr>
          <p:cNvSpPr/>
          <p:nvPr/>
        </p:nvSpPr>
        <p:spPr>
          <a:xfrm>
            <a:off x="1874520" y="5796087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金融・決済とマーケティングソリューションを中核に、電力・メディカル・XR等の新規領域へリソースを重点配分する必要がある。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矢印: 下 18">
            <a:extLst>
              <a:ext uri="{FF2B5EF4-FFF2-40B4-BE49-F238E27FC236}">
                <a16:creationId xmlns:a16="http://schemas.microsoft.com/office/drawing/2014/main" id="{CD08FC8D-22BC-4829-44F3-2EB9D3E9A429}"/>
              </a:ext>
            </a:extLst>
          </p:cNvPr>
          <p:cNvSpPr/>
          <p:nvPr/>
        </p:nvSpPr>
        <p:spPr>
          <a:xfrm>
            <a:off x="2340595" y="4035717"/>
            <a:ext cx="6120117" cy="5362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2468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9FCD7-458D-4BA9-7364-94DB90533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>
            <a:extLst>
              <a:ext uri="{FF2B5EF4-FFF2-40B4-BE49-F238E27FC236}">
                <a16:creationId xmlns:a16="http://schemas.microsoft.com/office/drawing/2014/main" id="{34DB4BAA-33D7-F173-7038-13A36C771D09}"/>
              </a:ext>
            </a:extLst>
          </p:cNvPr>
          <p:cNvSpPr/>
          <p:nvPr/>
        </p:nvSpPr>
        <p:spPr>
          <a:xfrm>
            <a:off x="2843013" y="99228"/>
            <a:ext cx="9239125" cy="9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ja-JP" alt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競合との基礎数値の比較</a:t>
            </a:r>
          </a:p>
        </p:txBody>
      </p:sp>
      <p:sp>
        <p:nvSpPr>
          <p:cNvPr id="131" name="Shape 0">
            <a:extLst>
              <a:ext uri="{FF2B5EF4-FFF2-40B4-BE49-F238E27FC236}">
                <a16:creationId xmlns:a16="http://schemas.microsoft.com/office/drawing/2014/main" id="{E42CA9D7-E07C-77D7-5D27-DA6F1D199C3B}"/>
              </a:ext>
            </a:extLst>
          </p:cNvPr>
          <p:cNvSpPr/>
          <p:nvPr/>
        </p:nvSpPr>
        <p:spPr>
          <a:xfrm>
            <a:off x="0" y="0"/>
            <a:ext cx="12192000" cy="1089241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2" name="Text 2">
            <a:extLst>
              <a:ext uri="{FF2B5EF4-FFF2-40B4-BE49-F238E27FC236}">
                <a16:creationId xmlns:a16="http://schemas.microsoft.com/office/drawing/2014/main" id="{1BBF21FC-3D89-909E-8469-FEE259631A59}"/>
              </a:ext>
            </a:extLst>
          </p:cNvPr>
          <p:cNvSpPr/>
          <p:nvPr/>
        </p:nvSpPr>
        <p:spPr>
          <a:xfrm>
            <a:off x="278339" y="3160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E40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</a:t>
            </a:r>
            <a:r>
              <a:rPr lang="en-US" altLang="ja-JP" sz="1500" b="1" kern="0" spc="200" dirty="0">
                <a:solidFill>
                  <a:srgbClr val="E40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3" name="Text 4">
            <a:extLst>
              <a:ext uri="{FF2B5EF4-FFF2-40B4-BE49-F238E27FC236}">
                <a16:creationId xmlns:a16="http://schemas.microsoft.com/office/drawing/2014/main" id="{2B9FA6F5-ED05-FCC4-C73B-9084B8512D15}"/>
              </a:ext>
            </a:extLst>
          </p:cNvPr>
          <p:cNvSpPr/>
          <p:nvPr/>
        </p:nvSpPr>
        <p:spPr>
          <a:xfrm>
            <a:off x="2843013" y="99228"/>
            <a:ext cx="9239125" cy="9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ja-JP" alt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競合との優位性分析</a:t>
            </a:r>
          </a:p>
        </p:txBody>
      </p:sp>
      <p:sp>
        <p:nvSpPr>
          <p:cNvPr id="134" name="Shape 3">
            <a:extLst>
              <a:ext uri="{FF2B5EF4-FFF2-40B4-BE49-F238E27FC236}">
                <a16:creationId xmlns:a16="http://schemas.microsoft.com/office/drawing/2014/main" id="{81DB7E76-7892-6412-7009-913ACB2AA026}"/>
              </a:ext>
            </a:extLst>
          </p:cNvPr>
          <p:cNvSpPr/>
          <p:nvPr/>
        </p:nvSpPr>
        <p:spPr>
          <a:xfrm>
            <a:off x="1333918" y="17082"/>
            <a:ext cx="1005840" cy="1005840"/>
          </a:xfrm>
          <a:prstGeom prst="ellipse">
            <a:avLst/>
          </a:prstGeom>
          <a:solidFill>
            <a:srgbClr val="E4007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35" name="Image 0" descr="preencoded.png">
            <a:extLst>
              <a:ext uri="{FF2B5EF4-FFF2-40B4-BE49-F238E27FC236}">
                <a16:creationId xmlns:a16="http://schemas.microsoft.com/office/drawing/2014/main" id="{39CA3A55-BE6A-C6E0-7FD5-9400D82BB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518" y="245682"/>
            <a:ext cx="548640" cy="548640"/>
          </a:xfrm>
          <a:prstGeom prst="rect">
            <a:avLst/>
          </a:prstGeom>
        </p:spPr>
      </p:pic>
      <p:sp>
        <p:nvSpPr>
          <p:cNvPr id="173" name="Shape 2">
            <a:extLst>
              <a:ext uri="{FF2B5EF4-FFF2-40B4-BE49-F238E27FC236}">
                <a16:creationId xmlns:a16="http://schemas.microsoft.com/office/drawing/2014/main" id="{E1C480DA-C8B1-749C-A7CA-E1917FE1DE6C}"/>
              </a:ext>
            </a:extLst>
          </p:cNvPr>
          <p:cNvSpPr/>
          <p:nvPr/>
        </p:nvSpPr>
        <p:spPr>
          <a:xfrm>
            <a:off x="548640" y="1417320"/>
            <a:ext cx="5394960" cy="4846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4" name="Shape 3">
            <a:extLst>
              <a:ext uri="{FF2B5EF4-FFF2-40B4-BE49-F238E27FC236}">
                <a16:creationId xmlns:a16="http://schemas.microsoft.com/office/drawing/2014/main" id="{F2D911E9-A1B4-6911-5C96-A833C8F3EDC2}"/>
              </a:ext>
            </a:extLst>
          </p:cNvPr>
          <p:cNvSpPr/>
          <p:nvPr/>
        </p:nvSpPr>
        <p:spPr>
          <a:xfrm>
            <a:off x="548640" y="1417320"/>
            <a:ext cx="5394960" cy="548640"/>
          </a:xfrm>
          <a:prstGeom prst="rect">
            <a:avLst/>
          </a:prstGeom>
          <a:solidFill>
            <a:srgbClr val="C7000F"/>
          </a:solidFill>
          <a:ln/>
        </p:spPr>
        <p:txBody>
          <a:bodyPr/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5" name="Text 4">
            <a:extLst>
              <a:ext uri="{FF2B5EF4-FFF2-40B4-BE49-F238E27FC236}">
                <a16:creationId xmlns:a16="http://schemas.microsoft.com/office/drawing/2014/main" id="{5DC85420-8804-3338-40AA-365E4BE074D2}"/>
              </a:ext>
            </a:extLst>
          </p:cNvPr>
          <p:cNvSpPr/>
          <p:nvPr/>
        </p:nvSpPr>
        <p:spPr>
          <a:xfrm>
            <a:off x="731520" y="14173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① </a:t>
            </a:r>
            <a:r>
              <a:rPr lang="ja-JP" altLang="en-US" sz="2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モバイルキャリア</a:t>
            </a:r>
            <a:r>
              <a:rPr lang="en-US" sz="2400" b="1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競合</a:t>
            </a:r>
            <a:r>
              <a:rPr lang="ja-JP" altLang="en-US" sz="2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との優位性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6" name="Shape 5">
            <a:extLst>
              <a:ext uri="{FF2B5EF4-FFF2-40B4-BE49-F238E27FC236}">
                <a16:creationId xmlns:a16="http://schemas.microsoft.com/office/drawing/2014/main" id="{2B1C9518-BF00-D176-8CB3-AAF48C186601}"/>
              </a:ext>
            </a:extLst>
          </p:cNvPr>
          <p:cNvSpPr/>
          <p:nvPr/>
        </p:nvSpPr>
        <p:spPr>
          <a:xfrm>
            <a:off x="804672" y="2212848"/>
            <a:ext cx="146304" cy="146304"/>
          </a:xfrm>
          <a:prstGeom prst="ellipse">
            <a:avLst/>
          </a:prstGeom>
          <a:solidFill>
            <a:srgbClr val="C7000F"/>
          </a:solidFill>
          <a:ln/>
        </p:spPr>
        <p:txBody>
          <a:bodyPr/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7" name="Text 6">
            <a:extLst>
              <a:ext uri="{FF2B5EF4-FFF2-40B4-BE49-F238E27FC236}">
                <a16:creationId xmlns:a16="http://schemas.microsoft.com/office/drawing/2014/main" id="{3E33F19B-2DDC-F892-CDE3-E1E2BAD2534F}"/>
              </a:ext>
            </a:extLst>
          </p:cNvPr>
          <p:cNvSpPr/>
          <p:nvPr/>
        </p:nvSpPr>
        <p:spPr>
          <a:xfrm>
            <a:off x="1051560" y="2121408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700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契約者数・シェアの規模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8" name="Text 7">
            <a:extLst>
              <a:ext uri="{FF2B5EF4-FFF2-40B4-BE49-F238E27FC236}">
                <a16:creationId xmlns:a16="http://schemas.microsoft.com/office/drawing/2014/main" id="{F71B9BCC-3BFC-E871-5955-E817F72AC9E4}"/>
              </a:ext>
            </a:extLst>
          </p:cNvPr>
          <p:cNvSpPr/>
          <p:nvPr/>
        </p:nvSpPr>
        <p:spPr>
          <a:xfrm>
            <a:off x="1051560" y="2404872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契約数9,307万・シェア39.7%で首位（KDDI 31.3%、ソフトバンク24.8%）。規模の経済で設備投資効率が優位。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9" name="Shape 8">
            <a:extLst>
              <a:ext uri="{FF2B5EF4-FFF2-40B4-BE49-F238E27FC236}">
                <a16:creationId xmlns:a16="http://schemas.microsoft.com/office/drawing/2014/main" id="{BEAFD74B-C86F-29F1-90CB-D7880ED5796E}"/>
              </a:ext>
            </a:extLst>
          </p:cNvPr>
          <p:cNvSpPr/>
          <p:nvPr/>
        </p:nvSpPr>
        <p:spPr>
          <a:xfrm>
            <a:off x="804672" y="3218688"/>
            <a:ext cx="146304" cy="146304"/>
          </a:xfrm>
          <a:prstGeom prst="ellipse">
            <a:avLst/>
          </a:prstGeom>
          <a:solidFill>
            <a:srgbClr val="C7000F"/>
          </a:solidFill>
          <a:ln/>
        </p:spPr>
        <p:txBody>
          <a:bodyPr/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0" name="Text 9">
            <a:extLst>
              <a:ext uri="{FF2B5EF4-FFF2-40B4-BE49-F238E27FC236}">
                <a16:creationId xmlns:a16="http://schemas.microsoft.com/office/drawing/2014/main" id="{6247A320-1CEF-1C6A-9D08-F1CFA3150DEB}"/>
              </a:ext>
            </a:extLst>
          </p:cNvPr>
          <p:cNvSpPr/>
          <p:nvPr/>
        </p:nvSpPr>
        <p:spPr>
          <a:xfrm>
            <a:off x="1051560" y="3127248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700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圧倒的な財務健全性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1" name="Text 10">
            <a:extLst>
              <a:ext uri="{FF2B5EF4-FFF2-40B4-BE49-F238E27FC236}">
                <a16:creationId xmlns:a16="http://schemas.microsoft.com/office/drawing/2014/main" id="{EB658913-0CD6-2836-0035-982133D8C9D6}"/>
              </a:ext>
            </a:extLst>
          </p:cNvPr>
          <p:cNvSpPr/>
          <p:nvPr/>
        </p:nvSpPr>
        <p:spPr>
          <a:xfrm>
            <a:off x="1051560" y="3410712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長期借入債務わずか520億円の実質無借金体質。KDDIの有利子負債約5兆円等と比べ財務リスクの取り方が根本的に違う。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2" name="Shape 11">
            <a:extLst>
              <a:ext uri="{FF2B5EF4-FFF2-40B4-BE49-F238E27FC236}">
                <a16:creationId xmlns:a16="http://schemas.microsoft.com/office/drawing/2014/main" id="{C8363DAF-8F92-EF83-B84A-05134DE3D83D}"/>
              </a:ext>
            </a:extLst>
          </p:cNvPr>
          <p:cNvSpPr/>
          <p:nvPr/>
        </p:nvSpPr>
        <p:spPr>
          <a:xfrm>
            <a:off x="804672" y="4445591"/>
            <a:ext cx="146304" cy="146304"/>
          </a:xfrm>
          <a:prstGeom prst="ellipse">
            <a:avLst/>
          </a:prstGeom>
          <a:solidFill>
            <a:srgbClr val="C7000F"/>
          </a:solidFill>
          <a:ln/>
        </p:spPr>
        <p:txBody>
          <a:bodyPr/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3" name="Text 12">
            <a:extLst>
              <a:ext uri="{FF2B5EF4-FFF2-40B4-BE49-F238E27FC236}">
                <a16:creationId xmlns:a16="http://schemas.microsoft.com/office/drawing/2014/main" id="{86B214B5-B097-407E-E35B-BBA7D0F25880}"/>
              </a:ext>
            </a:extLst>
          </p:cNvPr>
          <p:cNvSpPr/>
          <p:nvPr/>
        </p:nvSpPr>
        <p:spPr>
          <a:xfrm>
            <a:off x="1051560" y="4354151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700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dポイント経済圏の規模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4" name="Text 13">
            <a:extLst>
              <a:ext uri="{FF2B5EF4-FFF2-40B4-BE49-F238E27FC236}">
                <a16:creationId xmlns:a16="http://schemas.microsoft.com/office/drawing/2014/main" id="{601E4156-3350-3251-6500-E0363B8641FC}"/>
              </a:ext>
            </a:extLst>
          </p:cNvPr>
          <p:cNvSpPr/>
          <p:nvPr/>
        </p:nvSpPr>
        <p:spPr>
          <a:xfrm>
            <a:off x="1051560" y="4637615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会員約9,170万人・パートナー約59万社。通信契約基盤とポイント経済圏の一体化度で最大級。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5" name="Shape 14">
            <a:extLst>
              <a:ext uri="{FF2B5EF4-FFF2-40B4-BE49-F238E27FC236}">
                <a16:creationId xmlns:a16="http://schemas.microsoft.com/office/drawing/2014/main" id="{2FB53B3F-A1CF-1808-46AF-E6077E77ACC6}"/>
              </a:ext>
            </a:extLst>
          </p:cNvPr>
          <p:cNvSpPr/>
          <p:nvPr/>
        </p:nvSpPr>
        <p:spPr>
          <a:xfrm>
            <a:off x="804672" y="5451431"/>
            <a:ext cx="146304" cy="146304"/>
          </a:xfrm>
          <a:prstGeom prst="ellipse">
            <a:avLst/>
          </a:prstGeom>
          <a:solidFill>
            <a:srgbClr val="C7000F"/>
          </a:solidFill>
          <a:ln/>
        </p:spPr>
        <p:txBody>
          <a:bodyPr/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6" name="Text 15">
            <a:extLst>
              <a:ext uri="{FF2B5EF4-FFF2-40B4-BE49-F238E27FC236}">
                <a16:creationId xmlns:a16="http://schemas.microsoft.com/office/drawing/2014/main" id="{7C9AF960-BC7A-0961-9C9E-D488CE898C3E}"/>
              </a:ext>
            </a:extLst>
          </p:cNvPr>
          <p:cNvSpPr/>
          <p:nvPr/>
        </p:nvSpPr>
        <p:spPr>
          <a:xfrm>
            <a:off x="1051560" y="5359991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700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NTTグループとの連携力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7" name="Text 16">
            <a:extLst>
              <a:ext uri="{FF2B5EF4-FFF2-40B4-BE49-F238E27FC236}">
                <a16:creationId xmlns:a16="http://schemas.microsoft.com/office/drawing/2014/main" id="{561EB9EF-EEBF-CAD1-69D2-D14F50EACEFA}"/>
              </a:ext>
            </a:extLst>
          </p:cNvPr>
          <p:cNvSpPr/>
          <p:nvPr/>
        </p:nvSpPr>
        <p:spPr>
          <a:xfrm>
            <a:off x="1051560" y="5643455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NTT研究所（6G・IOWN）等、グループ全体の技術・営業網を活用できる。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8" name="Shape 17">
            <a:extLst>
              <a:ext uri="{FF2B5EF4-FFF2-40B4-BE49-F238E27FC236}">
                <a16:creationId xmlns:a16="http://schemas.microsoft.com/office/drawing/2014/main" id="{326C1094-8E52-253F-18C4-8BEA3C398BDB}"/>
              </a:ext>
            </a:extLst>
          </p:cNvPr>
          <p:cNvSpPr/>
          <p:nvPr/>
        </p:nvSpPr>
        <p:spPr>
          <a:xfrm>
            <a:off x="6263640" y="1417320"/>
            <a:ext cx="5394960" cy="4846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9" name="Shape 18">
            <a:extLst>
              <a:ext uri="{FF2B5EF4-FFF2-40B4-BE49-F238E27FC236}">
                <a16:creationId xmlns:a16="http://schemas.microsoft.com/office/drawing/2014/main" id="{6A81A5C1-C0B9-A752-7EE6-E751DDEB5B62}"/>
              </a:ext>
            </a:extLst>
          </p:cNvPr>
          <p:cNvSpPr/>
          <p:nvPr/>
        </p:nvSpPr>
        <p:spPr>
          <a:xfrm>
            <a:off x="6263640" y="1417320"/>
            <a:ext cx="5394960" cy="5486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0" name="Text 19">
            <a:extLst>
              <a:ext uri="{FF2B5EF4-FFF2-40B4-BE49-F238E27FC236}">
                <a16:creationId xmlns:a16="http://schemas.microsoft.com/office/drawing/2014/main" id="{10E5232B-64A4-9F95-FB3B-3C212BD8B5BB}"/>
              </a:ext>
            </a:extLst>
          </p:cNvPr>
          <p:cNvSpPr/>
          <p:nvPr/>
        </p:nvSpPr>
        <p:spPr>
          <a:xfrm>
            <a:off x="6446520" y="14173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② 他業界との比較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1" name="Shape 20">
            <a:extLst>
              <a:ext uri="{FF2B5EF4-FFF2-40B4-BE49-F238E27FC236}">
                <a16:creationId xmlns:a16="http://schemas.microsoft.com/office/drawing/2014/main" id="{82B1FC84-1697-FFDE-D47C-E604FA7A51E0}"/>
              </a:ext>
            </a:extLst>
          </p:cNvPr>
          <p:cNvSpPr/>
          <p:nvPr/>
        </p:nvSpPr>
        <p:spPr>
          <a:xfrm>
            <a:off x="6519672" y="2212848"/>
            <a:ext cx="146304" cy="146304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2" name="Text 21">
            <a:extLst>
              <a:ext uri="{FF2B5EF4-FFF2-40B4-BE49-F238E27FC236}">
                <a16:creationId xmlns:a16="http://schemas.microsoft.com/office/drawing/2014/main" id="{75D5EAC0-F9FA-253A-8520-0601F1FC43DD}"/>
              </a:ext>
            </a:extLst>
          </p:cNvPr>
          <p:cNvSpPr/>
          <p:nvPr/>
        </p:nvSpPr>
        <p:spPr>
          <a:xfrm>
            <a:off x="6766560" y="2121408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安定したストック型収益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3" name="Text 22">
            <a:extLst>
              <a:ext uri="{FF2B5EF4-FFF2-40B4-BE49-F238E27FC236}">
                <a16:creationId xmlns:a16="http://schemas.microsoft.com/office/drawing/2014/main" id="{8B2F0A48-7C6F-D127-93BC-554CDE2F0433}"/>
              </a:ext>
            </a:extLst>
          </p:cNvPr>
          <p:cNvSpPr/>
          <p:nvPr/>
        </p:nvSpPr>
        <p:spPr>
          <a:xfrm>
            <a:off x="6766560" y="2404872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毎月の通信料収入が自動的に積み上がる収益構造。需要変動リスクが小売・製造業と比べ極めて小さい。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4" name="Shape 23">
            <a:extLst>
              <a:ext uri="{FF2B5EF4-FFF2-40B4-BE49-F238E27FC236}">
                <a16:creationId xmlns:a16="http://schemas.microsoft.com/office/drawing/2014/main" id="{5AF9F8D6-C99F-E308-4B85-0BA5D2604BE0}"/>
              </a:ext>
            </a:extLst>
          </p:cNvPr>
          <p:cNvSpPr/>
          <p:nvPr/>
        </p:nvSpPr>
        <p:spPr>
          <a:xfrm>
            <a:off x="6519672" y="3218688"/>
            <a:ext cx="146304" cy="146304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5" name="Text 24">
            <a:extLst>
              <a:ext uri="{FF2B5EF4-FFF2-40B4-BE49-F238E27FC236}">
                <a16:creationId xmlns:a16="http://schemas.microsoft.com/office/drawing/2014/main" id="{53A53960-3BB4-4E24-FF95-9727503F6734}"/>
              </a:ext>
            </a:extLst>
          </p:cNvPr>
          <p:cNvSpPr/>
          <p:nvPr/>
        </p:nvSpPr>
        <p:spPr>
          <a:xfrm>
            <a:off x="6766560" y="3127248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桁違いの現金創出力（EBITDA）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6" name="Text 25">
            <a:extLst>
              <a:ext uri="{FF2B5EF4-FFF2-40B4-BE49-F238E27FC236}">
                <a16:creationId xmlns:a16="http://schemas.microsoft.com/office/drawing/2014/main" id="{2FC0C385-C89E-81B6-7E15-29417CA7DC8A}"/>
              </a:ext>
            </a:extLst>
          </p:cNvPr>
          <p:cNvSpPr/>
          <p:nvPr/>
        </p:nvSpPr>
        <p:spPr>
          <a:xfrm>
            <a:off x="6766560" y="3410712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2026年3月期EBITDA約1.8兆円。設備投資型産業の中でも利益率の高さが際立つ。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7" name="Shape 26">
            <a:extLst>
              <a:ext uri="{FF2B5EF4-FFF2-40B4-BE49-F238E27FC236}">
                <a16:creationId xmlns:a16="http://schemas.microsoft.com/office/drawing/2014/main" id="{611B436E-8109-C7AD-77E2-5871C695D3EC}"/>
              </a:ext>
            </a:extLst>
          </p:cNvPr>
          <p:cNvSpPr/>
          <p:nvPr/>
        </p:nvSpPr>
        <p:spPr>
          <a:xfrm>
            <a:off x="6519672" y="4224528"/>
            <a:ext cx="146304" cy="146304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8" name="Text 27">
            <a:extLst>
              <a:ext uri="{FF2B5EF4-FFF2-40B4-BE49-F238E27FC236}">
                <a16:creationId xmlns:a16="http://schemas.microsoft.com/office/drawing/2014/main" id="{6F5F0351-248D-86D8-4BF9-0AE867D4A0FC}"/>
              </a:ext>
            </a:extLst>
          </p:cNvPr>
          <p:cNvSpPr/>
          <p:nvPr/>
        </p:nvSpPr>
        <p:spPr>
          <a:xfrm>
            <a:off x="6766560" y="4133088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1億人規模の顧客データ資産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9" name="Text 28">
            <a:extLst>
              <a:ext uri="{FF2B5EF4-FFF2-40B4-BE49-F238E27FC236}">
                <a16:creationId xmlns:a16="http://schemas.microsoft.com/office/drawing/2014/main" id="{428D7D22-55F7-F022-97C0-9D2FD00BFB22}"/>
              </a:ext>
            </a:extLst>
          </p:cNvPr>
          <p:cNvSpPr/>
          <p:nvPr/>
        </p:nvSpPr>
        <p:spPr>
          <a:xfrm>
            <a:off x="6766560" y="4416552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行動データを核に「SyncMe」等AIエージェント事業へ転換。小売・メディア業界にはない顧客接点の広さ。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0" name="Shape 29">
            <a:extLst>
              <a:ext uri="{FF2B5EF4-FFF2-40B4-BE49-F238E27FC236}">
                <a16:creationId xmlns:a16="http://schemas.microsoft.com/office/drawing/2014/main" id="{8BF4D7F5-74F4-35B3-5C37-D69C4F61B470}"/>
              </a:ext>
            </a:extLst>
          </p:cNvPr>
          <p:cNvSpPr/>
          <p:nvPr/>
        </p:nvSpPr>
        <p:spPr>
          <a:xfrm>
            <a:off x="6519672" y="5230368"/>
            <a:ext cx="146304" cy="146304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1" name="Text 30">
            <a:extLst>
              <a:ext uri="{FF2B5EF4-FFF2-40B4-BE49-F238E27FC236}">
                <a16:creationId xmlns:a16="http://schemas.microsoft.com/office/drawing/2014/main" id="{30025E9F-63EF-0DF5-A246-FF012E2882CE}"/>
              </a:ext>
            </a:extLst>
          </p:cNvPr>
          <p:cNvSpPr/>
          <p:nvPr/>
        </p:nvSpPr>
        <p:spPr>
          <a:xfrm>
            <a:off x="6766560" y="5138928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極めて高い参入障壁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2" name="Text 31">
            <a:extLst>
              <a:ext uri="{FF2B5EF4-FFF2-40B4-BE49-F238E27FC236}">
                <a16:creationId xmlns:a16="http://schemas.microsoft.com/office/drawing/2014/main" id="{928614A8-684C-DE2E-D188-898154CCE07D}"/>
              </a:ext>
            </a:extLst>
          </p:cNvPr>
          <p:cNvSpPr/>
          <p:nvPr/>
        </p:nvSpPr>
        <p:spPr>
          <a:xfrm>
            <a:off x="6766560" y="5422392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電波免許・基地局網という物理インフラが新規参入をほぼ阻む（楽天モバイルの苦戦がその証左）。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33379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F2BEC-B6E8-BE6E-992B-7D48E12EF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2B98102-5669-1174-44B6-42748904D632}"/>
              </a:ext>
            </a:extLst>
          </p:cNvPr>
          <p:cNvSpPr/>
          <p:nvPr/>
        </p:nvSpPr>
        <p:spPr>
          <a:xfrm>
            <a:off x="0" y="0"/>
            <a:ext cx="12192000" cy="1089241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8210C7B-E34A-67BD-7467-987414AC6C28}"/>
              </a:ext>
            </a:extLst>
          </p:cNvPr>
          <p:cNvSpPr/>
          <p:nvPr/>
        </p:nvSpPr>
        <p:spPr>
          <a:xfrm>
            <a:off x="278339" y="3160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E40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</a:t>
            </a:r>
            <a:r>
              <a:rPr lang="en-US" altLang="ja-JP" sz="1500" b="1" kern="0" spc="200" dirty="0">
                <a:solidFill>
                  <a:srgbClr val="E40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01FE617-B73B-6ADD-1B39-B23D66230199}"/>
              </a:ext>
            </a:extLst>
          </p:cNvPr>
          <p:cNvSpPr/>
          <p:nvPr/>
        </p:nvSpPr>
        <p:spPr>
          <a:xfrm>
            <a:off x="2843013" y="99228"/>
            <a:ext cx="9239125" cy="9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ja-JP" alt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ニーズ</a:t>
            </a:r>
            <a:r>
              <a:rPr lang="en-US" altLang="ja-JP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r>
              <a:rPr lang="ja-JP" alt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強み　の両方を念頭に、「ドコモの新事業」の</a:t>
            </a:r>
            <a:br>
              <a:rPr lang="ja-JP" alt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ja-JP" alt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テーマを選定する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53E90B8-BC3C-D8FC-409A-7D6EAFE35390}"/>
              </a:ext>
            </a:extLst>
          </p:cNvPr>
          <p:cNvSpPr/>
          <p:nvPr/>
        </p:nvSpPr>
        <p:spPr>
          <a:xfrm>
            <a:off x="1325880" y="71846"/>
            <a:ext cx="1005840" cy="1005840"/>
          </a:xfrm>
          <a:prstGeom prst="ellipse">
            <a:avLst/>
          </a:prstGeom>
          <a:solidFill>
            <a:srgbClr val="E4007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F3A22C12-88C8-235A-9E78-4A7AF1944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300446"/>
            <a:ext cx="548640" cy="548640"/>
          </a:xfrm>
          <a:prstGeom prst="rect">
            <a:avLst/>
          </a:prstGeom>
        </p:spPr>
      </p:pic>
      <p:sp>
        <p:nvSpPr>
          <p:cNvPr id="3" name="タイトル 1">
            <a:extLst>
              <a:ext uri="{FF2B5EF4-FFF2-40B4-BE49-F238E27FC236}">
                <a16:creationId xmlns:a16="http://schemas.microsoft.com/office/drawing/2014/main" id="{BFBAB57D-DC56-38CD-7DCA-93C6733F1DF9}"/>
              </a:ext>
            </a:extLst>
          </p:cNvPr>
          <p:cNvSpPr txBox="1">
            <a:spLocks/>
          </p:cNvSpPr>
          <p:nvPr/>
        </p:nvSpPr>
        <p:spPr>
          <a:xfrm>
            <a:off x="923419" y="1274120"/>
            <a:ext cx="10345162" cy="1019810"/>
          </a:xfrm>
          <a:prstGeom prst="rect">
            <a:avLst/>
          </a:prstGeom>
        </p:spPr>
        <p:txBody>
          <a:bodyPr lIns="0" tIns="0" rIns="0" bIns="0" anchor="t" anchorCtr="0"/>
          <a:lstStyle>
            <a:lvl1pPr algn="ctr" defTabSz="829782" rtl="0" eaLnBrk="1" latinLnBrk="0" hangingPunct="1">
              <a:spcBef>
                <a:spcPct val="0"/>
              </a:spcBef>
              <a:buNone/>
              <a:defRPr kumimoji="1" sz="3978" kern="1200">
                <a:solidFill>
                  <a:schemeClr val="tx1"/>
                </a:solidFill>
                <a:latin typeface="Meiryo" panose="020B0604030504040204" pitchFamily="50" charset="-128"/>
                <a:ea typeface="Meiryo" panose="020B0604030504040204" pitchFamily="50" charset="-128"/>
                <a:cs typeface="+mj-cs"/>
              </a:defRPr>
            </a:lvl1pPr>
          </a:lstStyle>
          <a:p>
            <a:pPr marL="342900" indent="-342900" algn="l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ja-JP" altLang="en-US" sz="2400" dirty="0">
                <a:solidFill>
                  <a:schemeClr val="accent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生活者ニーズ</a:t>
            </a:r>
            <a:r>
              <a:rPr lang="en-US" altLang="ja-JP" sz="2400" dirty="0">
                <a:solidFill>
                  <a:schemeClr val="accent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lang="ja-JP" altLang="en-US" sz="2400" dirty="0">
                <a:solidFill>
                  <a:schemeClr val="accent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ペインと、ドコモの強み　の両面から新事業テーマを検討</a:t>
            </a:r>
            <a:endParaRPr lang="en-US" altLang="ja-JP" sz="2400" dirty="0">
              <a:solidFill>
                <a:schemeClr val="accent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342900" indent="-342900" algn="l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ja-JP" altLang="en-US" sz="2400" dirty="0">
                <a:solidFill>
                  <a:schemeClr val="accent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新事業は、「基盤事業」・「アプリサービス事業」・「料金サービス」に　分類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19457052-5323-221F-3828-0AF78C1022D1}"/>
              </a:ext>
            </a:extLst>
          </p:cNvPr>
          <p:cNvSpPr/>
          <p:nvPr/>
        </p:nvSpPr>
        <p:spPr>
          <a:xfrm>
            <a:off x="332030" y="2406936"/>
            <a:ext cx="3291840" cy="2057400"/>
          </a:xfrm>
          <a:prstGeom prst="roundRect">
            <a:avLst>
              <a:gd name="adj" fmla="val 2778"/>
            </a:avLst>
          </a:prstGeom>
          <a:solidFill>
            <a:srgbClr val="F4F6FB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AF90B21-4210-BAA7-D6D5-884085EF539F}"/>
              </a:ext>
            </a:extLst>
          </p:cNvPr>
          <p:cNvSpPr/>
          <p:nvPr/>
        </p:nvSpPr>
        <p:spPr>
          <a:xfrm>
            <a:off x="560630" y="2589816"/>
            <a:ext cx="1463040" cy="564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01</a:t>
            </a:r>
            <a:endParaRPr lang="en-US" dirty="0">
              <a:solidFill>
                <a:srgbClr val="C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7DAE3E78-2003-8AE2-086F-C58A42C83B7C}"/>
              </a:ext>
            </a:extLst>
          </p:cNvPr>
          <p:cNvSpPr/>
          <p:nvPr/>
        </p:nvSpPr>
        <p:spPr>
          <a:xfrm>
            <a:off x="2572310" y="2681256"/>
            <a:ext cx="777240" cy="68567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A709FB73-0D4F-E553-1D4A-40CF844318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7758" y="2836704"/>
            <a:ext cx="457200" cy="403340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B12C4875-AC39-7FAB-3F20-05613CA3D923}"/>
              </a:ext>
            </a:extLst>
          </p:cNvPr>
          <p:cNvSpPr/>
          <p:nvPr/>
        </p:nvSpPr>
        <p:spPr>
          <a:xfrm>
            <a:off x="507290" y="3587875"/>
            <a:ext cx="2941320" cy="61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生活者視点での便利</a:t>
            </a:r>
            <a:r>
              <a:rPr lang="en-US" altLang="ja-JP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/</a:t>
            </a:r>
            <a:r>
              <a:rPr lang="ja-JP" altLang="en-US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不便</a:t>
            </a:r>
            <a:br>
              <a:rPr lang="en-US" altLang="ja-JP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</a:br>
            <a:r>
              <a:rPr lang="ja-JP" altLang="en-US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から、新事業の種となる</a:t>
            </a:r>
            <a:endParaRPr lang="en-US" altLang="ja-JP" b="1" dirty="0">
              <a:solidFill>
                <a:srgbClr val="1E2761"/>
              </a:solidFill>
              <a:latin typeface="Meiryo UI" panose="020B0604030504040204" pitchFamily="50" charset="-128"/>
              <a:ea typeface="Meiryo UI" panose="020B0604030504040204" pitchFamily="50" charset="-128"/>
              <a:cs typeface="Cambria" pitchFamily="34" charset="-120"/>
            </a:endParaRPr>
          </a:p>
          <a:p>
            <a:pPr marL="0" indent="0">
              <a:buNone/>
            </a:pPr>
            <a:r>
              <a:rPr lang="ja-JP" altLang="en-US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ニーズを洗い出す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7700D105-E5F2-8910-ACC3-8FD9421F76B5}"/>
              </a:ext>
            </a:extLst>
          </p:cNvPr>
          <p:cNvSpPr/>
          <p:nvPr/>
        </p:nvSpPr>
        <p:spPr>
          <a:xfrm>
            <a:off x="3651302" y="3185577"/>
            <a:ext cx="402336" cy="564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b="1" dirty="0">
                <a:solidFill>
                  <a:srgbClr val="E4007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×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72525C05-617F-6E27-6227-6EEFB3E44855}"/>
              </a:ext>
            </a:extLst>
          </p:cNvPr>
          <p:cNvSpPr/>
          <p:nvPr/>
        </p:nvSpPr>
        <p:spPr>
          <a:xfrm>
            <a:off x="4081070" y="2406936"/>
            <a:ext cx="3291840" cy="2057400"/>
          </a:xfrm>
          <a:prstGeom prst="roundRect">
            <a:avLst>
              <a:gd name="adj" fmla="val 2778"/>
            </a:avLst>
          </a:prstGeom>
          <a:solidFill>
            <a:srgbClr val="F4F6FB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E84ADF0D-BE0A-7DCB-26EF-396F6414FFEF}"/>
              </a:ext>
            </a:extLst>
          </p:cNvPr>
          <p:cNvSpPr/>
          <p:nvPr/>
        </p:nvSpPr>
        <p:spPr>
          <a:xfrm>
            <a:off x="4309670" y="2589816"/>
            <a:ext cx="1463040" cy="564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02</a:t>
            </a:r>
            <a:endParaRPr lang="en-US" dirty="0">
              <a:solidFill>
                <a:srgbClr val="C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439AB9D4-6A1F-EAD5-92C7-4245CA309748}"/>
              </a:ext>
            </a:extLst>
          </p:cNvPr>
          <p:cNvSpPr/>
          <p:nvPr/>
        </p:nvSpPr>
        <p:spPr>
          <a:xfrm>
            <a:off x="6321350" y="2681256"/>
            <a:ext cx="777240" cy="68567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2CF83D36-E8B2-60C3-620D-993F162422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6798" y="2836704"/>
            <a:ext cx="457200" cy="403340"/>
          </a:xfrm>
          <a:prstGeom prst="rect">
            <a:avLst/>
          </a:prstGeom>
        </p:spPr>
      </p:pic>
      <p:sp>
        <p:nvSpPr>
          <p:cNvPr id="18" name="Text 13">
            <a:extLst>
              <a:ext uri="{FF2B5EF4-FFF2-40B4-BE49-F238E27FC236}">
                <a16:creationId xmlns:a16="http://schemas.microsoft.com/office/drawing/2014/main" id="{4B1AC8D4-8272-A672-37B2-8EBEE551DF13}"/>
              </a:ext>
            </a:extLst>
          </p:cNvPr>
          <p:cNvSpPr/>
          <p:nvPr/>
        </p:nvSpPr>
        <p:spPr>
          <a:xfrm>
            <a:off x="4219754" y="3442400"/>
            <a:ext cx="3136392" cy="819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ドコモの置かれている経営環境</a:t>
            </a:r>
            <a:br>
              <a:rPr lang="en-US" altLang="ja-JP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</a:br>
            <a:r>
              <a:rPr lang="ja-JP" altLang="en-US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から望まれることや</a:t>
            </a:r>
            <a:br>
              <a:rPr lang="en-US" altLang="ja-JP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</a:br>
            <a:r>
              <a:rPr lang="ja-JP" altLang="en-US" b="1" dirty="0">
                <a:solidFill>
                  <a:srgbClr val="1E27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活かせる強みについて分析する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48A06350-909F-B0B8-7407-07C6E20C6CA5}"/>
              </a:ext>
            </a:extLst>
          </p:cNvPr>
          <p:cNvSpPr/>
          <p:nvPr/>
        </p:nvSpPr>
        <p:spPr>
          <a:xfrm>
            <a:off x="7830110" y="2406936"/>
            <a:ext cx="4042914" cy="1610828"/>
          </a:xfrm>
          <a:prstGeom prst="roundRect">
            <a:avLst>
              <a:gd name="adj" fmla="val 2778"/>
            </a:avLst>
          </a:prstGeom>
          <a:solidFill>
            <a:srgbClr val="F4F6FB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BF45BFFB-DDB4-292B-73BD-25513C94D818}"/>
              </a:ext>
            </a:extLst>
          </p:cNvPr>
          <p:cNvSpPr/>
          <p:nvPr/>
        </p:nvSpPr>
        <p:spPr>
          <a:xfrm>
            <a:off x="8058710" y="2437884"/>
            <a:ext cx="1463040" cy="564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mbria" pitchFamily="34" charset="-120"/>
              </a:rPr>
              <a:t>03</a:t>
            </a:r>
            <a:endParaRPr lang="en-US" dirty="0">
              <a:solidFill>
                <a:srgbClr val="C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9288DDE8-244C-9888-E262-9DC330CE7E84}"/>
              </a:ext>
            </a:extLst>
          </p:cNvPr>
          <p:cNvGrpSpPr/>
          <p:nvPr/>
        </p:nvGrpSpPr>
        <p:grpSpPr>
          <a:xfrm>
            <a:off x="10939070" y="2832431"/>
            <a:ext cx="777240" cy="685678"/>
            <a:chOff x="10144760" y="2452260"/>
            <a:chExt cx="777240" cy="685678"/>
          </a:xfrm>
        </p:grpSpPr>
        <p:sp>
          <p:nvSpPr>
            <p:cNvPr id="22" name="Shape 20">
              <a:extLst>
                <a:ext uri="{FF2B5EF4-FFF2-40B4-BE49-F238E27FC236}">
                  <a16:creationId xmlns:a16="http://schemas.microsoft.com/office/drawing/2014/main" id="{6AA05BC3-568E-CB00-0C58-F73C30FDDE17}"/>
                </a:ext>
              </a:extLst>
            </p:cNvPr>
            <p:cNvSpPr/>
            <p:nvPr/>
          </p:nvSpPr>
          <p:spPr>
            <a:xfrm>
              <a:off x="10144760" y="2452260"/>
              <a:ext cx="777240" cy="685678"/>
            </a:xfrm>
            <a:prstGeom prst="ellipse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pic>
          <p:nvPicPr>
            <p:cNvPr id="23" name="Image 2" descr="preencoded.png">
              <a:extLst>
                <a:ext uri="{FF2B5EF4-FFF2-40B4-BE49-F238E27FC236}">
                  <a16:creationId xmlns:a16="http://schemas.microsoft.com/office/drawing/2014/main" id="{98160391-3101-4A78-469F-F6B0CE222C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00208" y="2607708"/>
              <a:ext cx="457200" cy="403340"/>
            </a:xfrm>
            <a:prstGeom prst="rect">
              <a:avLst/>
            </a:prstGeom>
          </p:spPr>
        </p:pic>
      </p:grpSp>
      <p:sp>
        <p:nvSpPr>
          <p:cNvPr id="24" name="Text 21">
            <a:extLst>
              <a:ext uri="{FF2B5EF4-FFF2-40B4-BE49-F238E27FC236}">
                <a16:creationId xmlns:a16="http://schemas.microsoft.com/office/drawing/2014/main" id="{BB716E45-4042-D6A6-91A4-A29A37B2677C}"/>
              </a:ext>
            </a:extLst>
          </p:cNvPr>
          <p:cNvSpPr/>
          <p:nvPr/>
        </p:nvSpPr>
        <p:spPr>
          <a:xfrm>
            <a:off x="8104430" y="2968792"/>
            <a:ext cx="2834640" cy="847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b="1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「基盤事業」・「サービス事業」</a:t>
            </a:r>
            <a:endParaRPr lang="en-US" altLang="ja-JP" b="1" dirty="0">
              <a:solidFill>
                <a:srgbClr val="00B05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b="1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「料金サービス」のどこを</a:t>
            </a:r>
            <a:endParaRPr lang="en-US" altLang="ja-JP" b="1" dirty="0">
              <a:solidFill>
                <a:srgbClr val="00B05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b="1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狙った事業かを意識</a:t>
            </a:r>
            <a:endParaRPr lang="en-US" altLang="ja-JP" b="1" dirty="0">
              <a:solidFill>
                <a:srgbClr val="00B05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吹き出し: 角を丸めた四角形 24">
            <a:extLst>
              <a:ext uri="{FF2B5EF4-FFF2-40B4-BE49-F238E27FC236}">
                <a16:creationId xmlns:a16="http://schemas.microsoft.com/office/drawing/2014/main" id="{9C5B3BA8-8AA1-0BA7-5713-AA33BBD307B9}"/>
              </a:ext>
            </a:extLst>
          </p:cNvPr>
          <p:cNvSpPr/>
          <p:nvPr/>
        </p:nvSpPr>
        <p:spPr>
          <a:xfrm>
            <a:off x="170236" y="4931696"/>
            <a:ext cx="3278374" cy="1836917"/>
          </a:xfrm>
          <a:prstGeom prst="wedgeRoundRectCallout">
            <a:avLst>
              <a:gd name="adj1" fmla="val -15279"/>
              <a:gd name="adj2" fmla="val -68585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吹き出し: 角を丸めた四角形 25">
            <a:extLst>
              <a:ext uri="{FF2B5EF4-FFF2-40B4-BE49-F238E27FC236}">
                <a16:creationId xmlns:a16="http://schemas.microsoft.com/office/drawing/2014/main" id="{338C861A-0A26-8B63-AD9E-490F52079945}"/>
              </a:ext>
            </a:extLst>
          </p:cNvPr>
          <p:cNvSpPr/>
          <p:nvPr/>
        </p:nvSpPr>
        <p:spPr>
          <a:xfrm>
            <a:off x="4066088" y="4931696"/>
            <a:ext cx="3278374" cy="1836917"/>
          </a:xfrm>
          <a:prstGeom prst="wedgeRoundRectCallout">
            <a:avLst>
              <a:gd name="adj1" fmla="val -15279"/>
              <a:gd name="adj2" fmla="val -68585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タイトル 1">
            <a:extLst>
              <a:ext uri="{FF2B5EF4-FFF2-40B4-BE49-F238E27FC236}">
                <a16:creationId xmlns:a16="http://schemas.microsoft.com/office/drawing/2014/main" id="{6721F93E-D6A1-80FD-B673-C1972B1DDFA1}"/>
              </a:ext>
            </a:extLst>
          </p:cNvPr>
          <p:cNvSpPr txBox="1">
            <a:spLocks/>
          </p:cNvSpPr>
          <p:nvPr/>
        </p:nvSpPr>
        <p:spPr>
          <a:xfrm>
            <a:off x="325045" y="5202584"/>
            <a:ext cx="2859913" cy="1242952"/>
          </a:xfrm>
          <a:prstGeom prst="rect">
            <a:avLst/>
          </a:prstGeom>
        </p:spPr>
        <p:txBody>
          <a:bodyPr lIns="0" tIns="0" rIns="0" bIns="0" anchor="t" anchorCtr="0"/>
          <a:lstStyle>
            <a:lvl1pPr algn="ctr" defTabSz="829782" rtl="0" eaLnBrk="1" latinLnBrk="0" hangingPunct="1">
              <a:spcBef>
                <a:spcPct val="0"/>
              </a:spcBef>
              <a:buNone/>
              <a:defRPr kumimoji="1" sz="3978" kern="1200">
                <a:solidFill>
                  <a:schemeClr val="tx1"/>
                </a:solidFill>
                <a:latin typeface="Meiryo" panose="020B0604030504040204" pitchFamily="50" charset="-128"/>
                <a:ea typeface="Meiryo" panose="020B0604030504040204" pitchFamily="50" charset="-128"/>
                <a:cs typeface="+mj-cs"/>
              </a:defRPr>
            </a:lvl1pPr>
          </a:lstStyle>
          <a:p>
            <a:pPr algn="l"/>
            <a:r>
              <a:rPr lang="ja-JP" altLang="en-US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・生成</a:t>
            </a:r>
            <a:r>
              <a:rPr lang="en-US" altLang="ja-JP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は便利</a:t>
            </a:r>
            <a:br>
              <a:rPr lang="en-US" altLang="ja-JP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・誰もが、日常的に</a:t>
            </a:r>
            <a:br>
              <a:rPr lang="en-US" altLang="ja-JP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使える進化が必要</a:t>
            </a:r>
          </a:p>
        </p:txBody>
      </p:sp>
      <p:sp>
        <p:nvSpPr>
          <p:cNvPr id="28" name="タイトル 1">
            <a:extLst>
              <a:ext uri="{FF2B5EF4-FFF2-40B4-BE49-F238E27FC236}">
                <a16:creationId xmlns:a16="http://schemas.microsoft.com/office/drawing/2014/main" id="{A1B34C08-07CD-4CB4-893B-AA15F430F46C}"/>
              </a:ext>
            </a:extLst>
          </p:cNvPr>
          <p:cNvSpPr txBox="1">
            <a:spLocks/>
          </p:cNvSpPr>
          <p:nvPr/>
        </p:nvSpPr>
        <p:spPr>
          <a:xfrm>
            <a:off x="4253790" y="5199152"/>
            <a:ext cx="2859913" cy="1242952"/>
          </a:xfrm>
          <a:prstGeom prst="rect">
            <a:avLst/>
          </a:prstGeom>
        </p:spPr>
        <p:txBody>
          <a:bodyPr lIns="0" tIns="0" rIns="0" bIns="0" anchor="t" anchorCtr="0"/>
          <a:lstStyle>
            <a:lvl1pPr algn="ctr" defTabSz="829782" rtl="0" eaLnBrk="1" latinLnBrk="0" hangingPunct="1">
              <a:spcBef>
                <a:spcPct val="0"/>
              </a:spcBef>
              <a:buNone/>
              <a:defRPr kumimoji="1" sz="3978" kern="1200">
                <a:solidFill>
                  <a:schemeClr val="tx1"/>
                </a:solidFill>
                <a:latin typeface="Meiryo" panose="020B0604030504040204" pitchFamily="50" charset="-128"/>
                <a:ea typeface="Meiryo" panose="020B0604030504040204" pitchFamily="50" charset="-128"/>
                <a:cs typeface="+mj-cs"/>
              </a:defRPr>
            </a:lvl1pPr>
          </a:lstStyle>
          <a:p>
            <a:pPr algn="l"/>
            <a:r>
              <a:rPr lang="ja-JP" altLang="en-US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・顧客基盤に強み</a:t>
            </a:r>
            <a:br>
              <a:rPr lang="en-US" altLang="ja-JP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r>
              <a:rPr lang="en-US" altLang="ja-JP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SyncMe</a:t>
            </a:r>
            <a:r>
              <a:rPr lang="ja-JP" altLang="en-US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など</a:t>
            </a:r>
            <a:r>
              <a:rPr lang="en-US" altLang="ja-JP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活用</a:t>
            </a:r>
            <a:br>
              <a:rPr lang="en-US" altLang="ja-JP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が成長戦略の柱</a:t>
            </a:r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34751E22-8F1A-CF45-6A3B-38564CF7FD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8990" y="4205291"/>
            <a:ext cx="4185154" cy="258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689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6E71C-4C34-CA52-7672-2A3A0A18C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FFD536-487E-6C99-215D-A5AF4F762774}"/>
              </a:ext>
            </a:extLst>
          </p:cNvPr>
          <p:cNvSpPr/>
          <p:nvPr/>
        </p:nvSpPr>
        <p:spPr>
          <a:xfrm>
            <a:off x="0" y="0"/>
            <a:ext cx="12192000" cy="1089241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E8CCE61-8C6F-EFBC-692E-D3357C4D1315}"/>
              </a:ext>
            </a:extLst>
          </p:cNvPr>
          <p:cNvSpPr/>
          <p:nvPr/>
        </p:nvSpPr>
        <p:spPr>
          <a:xfrm>
            <a:off x="278339" y="3160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E40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</a:t>
            </a:r>
            <a:r>
              <a:rPr lang="en-US" altLang="ja-JP" sz="1500" b="1" kern="0" spc="200" dirty="0">
                <a:solidFill>
                  <a:srgbClr val="E40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89FBC66-64F7-B5FE-186F-1B4370872712}"/>
              </a:ext>
            </a:extLst>
          </p:cNvPr>
          <p:cNvSpPr/>
          <p:nvPr/>
        </p:nvSpPr>
        <p:spPr>
          <a:xfrm>
            <a:off x="2843013" y="99228"/>
            <a:ext cx="9239125" cy="9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ja-JP" alt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ニーズ</a:t>
            </a:r>
            <a:r>
              <a:rPr lang="en-US" altLang="ja-JP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r>
              <a:rPr lang="ja-JP" alt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強み　の両方を念頭に、「ドコモの新事業」の</a:t>
            </a:r>
            <a:br>
              <a:rPr lang="ja-JP" alt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ja-JP" alt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テーマを選定する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DC2C4CA-6B8C-497F-0E98-B264226FCD41}"/>
              </a:ext>
            </a:extLst>
          </p:cNvPr>
          <p:cNvSpPr/>
          <p:nvPr/>
        </p:nvSpPr>
        <p:spPr>
          <a:xfrm>
            <a:off x="1325880" y="71846"/>
            <a:ext cx="1005840" cy="1005840"/>
          </a:xfrm>
          <a:prstGeom prst="ellipse">
            <a:avLst/>
          </a:prstGeom>
          <a:solidFill>
            <a:srgbClr val="E4007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C7B07BE9-68E4-8F55-9A2D-A421EA589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300446"/>
            <a:ext cx="548640" cy="548640"/>
          </a:xfrm>
          <a:prstGeom prst="rect">
            <a:avLst/>
          </a:prstGeom>
        </p:spPr>
      </p:pic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93218B17-45DF-8B9E-1385-95FF8A6CA057}"/>
              </a:ext>
            </a:extLst>
          </p:cNvPr>
          <p:cNvSpPr/>
          <p:nvPr/>
        </p:nvSpPr>
        <p:spPr>
          <a:xfrm>
            <a:off x="480679" y="1546408"/>
            <a:ext cx="10933879" cy="14436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タイトル 1">
            <a:extLst>
              <a:ext uri="{FF2B5EF4-FFF2-40B4-BE49-F238E27FC236}">
                <a16:creationId xmlns:a16="http://schemas.microsoft.com/office/drawing/2014/main" id="{4F33793F-6D70-7730-1416-7F6BD32829A4}"/>
              </a:ext>
            </a:extLst>
          </p:cNvPr>
          <p:cNvSpPr txBox="1">
            <a:spLocks/>
          </p:cNvSpPr>
          <p:nvPr/>
        </p:nvSpPr>
        <p:spPr>
          <a:xfrm>
            <a:off x="917868" y="1740420"/>
            <a:ext cx="10345162" cy="1200083"/>
          </a:xfrm>
          <a:prstGeom prst="rect">
            <a:avLst/>
          </a:prstGeom>
        </p:spPr>
        <p:txBody>
          <a:bodyPr lIns="0" tIns="0" rIns="0" bIns="0" anchor="t" anchorCtr="0"/>
          <a:lstStyle>
            <a:lvl1pPr algn="ctr" defTabSz="829782" rtl="0" eaLnBrk="1" latinLnBrk="0" hangingPunct="1">
              <a:spcBef>
                <a:spcPct val="0"/>
              </a:spcBef>
              <a:buNone/>
              <a:defRPr kumimoji="1" sz="3978" kern="1200">
                <a:solidFill>
                  <a:schemeClr val="tx1"/>
                </a:solidFill>
                <a:latin typeface="Meiryo" panose="020B0604030504040204" pitchFamily="50" charset="-128"/>
                <a:ea typeface="Meiryo" panose="020B0604030504040204" pitchFamily="50" charset="-128"/>
                <a:cs typeface="+mj-cs"/>
              </a:defRPr>
            </a:lvl1pPr>
          </a:lstStyle>
          <a:p>
            <a:pPr marL="342900" indent="-342900" algn="l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ja-JP" altLang="en-US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生活者ニーズ</a:t>
            </a:r>
            <a:r>
              <a:rPr lang="en-US" altLang="ja-JP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lang="ja-JP" altLang="en-US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ペインの視点から、　</a:t>
            </a:r>
            <a:endParaRPr lang="en-US" altLang="ja-JP" sz="3200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>
              <a:spcAft>
                <a:spcPts val="1200"/>
              </a:spcAft>
            </a:pPr>
            <a:r>
              <a:rPr lang="en-US" altLang="ja-JP" sz="32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  『</a:t>
            </a:r>
            <a:r>
              <a:rPr lang="ja-JP" altLang="en-US" sz="32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誰もが生成</a:t>
            </a:r>
            <a:r>
              <a:rPr lang="en-US" altLang="ja-JP" sz="32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sz="32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の恩恵を享受できる社会実現</a:t>
            </a:r>
            <a:r>
              <a:rPr lang="en-US" altLang="ja-JP" sz="32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32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ja-JP" altLang="en-US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を選定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C4C52CFF-9328-EB86-C68C-FC39FBEAA9F6}"/>
              </a:ext>
            </a:extLst>
          </p:cNvPr>
          <p:cNvSpPr/>
          <p:nvPr/>
        </p:nvSpPr>
        <p:spPr>
          <a:xfrm>
            <a:off x="480679" y="3309507"/>
            <a:ext cx="10933879" cy="14436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タイトル 1">
            <a:extLst>
              <a:ext uri="{FF2B5EF4-FFF2-40B4-BE49-F238E27FC236}">
                <a16:creationId xmlns:a16="http://schemas.microsoft.com/office/drawing/2014/main" id="{8746053B-5ADD-B916-9F4E-673ECB95D77C}"/>
              </a:ext>
            </a:extLst>
          </p:cNvPr>
          <p:cNvSpPr txBox="1">
            <a:spLocks/>
          </p:cNvSpPr>
          <p:nvPr/>
        </p:nvSpPr>
        <p:spPr>
          <a:xfrm>
            <a:off x="917868" y="3468042"/>
            <a:ext cx="10345162" cy="1264989"/>
          </a:xfrm>
          <a:prstGeom prst="rect">
            <a:avLst/>
          </a:prstGeom>
        </p:spPr>
        <p:txBody>
          <a:bodyPr lIns="0" tIns="0" rIns="0" bIns="0" anchor="t" anchorCtr="0"/>
          <a:lstStyle>
            <a:lvl1pPr algn="ctr" defTabSz="829782" rtl="0" eaLnBrk="1" latinLnBrk="0" hangingPunct="1">
              <a:spcBef>
                <a:spcPct val="0"/>
              </a:spcBef>
              <a:buNone/>
              <a:defRPr kumimoji="1" sz="3978" kern="1200">
                <a:solidFill>
                  <a:schemeClr val="tx1"/>
                </a:solidFill>
                <a:latin typeface="Meiryo" panose="020B0604030504040204" pitchFamily="50" charset="-128"/>
                <a:ea typeface="Meiryo" panose="020B0604030504040204" pitchFamily="50" charset="-128"/>
                <a:cs typeface="+mj-cs"/>
              </a:defRPr>
            </a:lvl1pPr>
          </a:lstStyle>
          <a:p>
            <a:pPr marL="342900" indent="-342900" algn="l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ja-JP" altLang="en-US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ドコモのアセット活用</a:t>
            </a:r>
            <a:r>
              <a:rPr lang="en-US" altLang="ja-JP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lang="ja-JP" altLang="en-US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強みの活用の視点から、　</a:t>
            </a:r>
            <a:endParaRPr lang="en-US" altLang="ja-JP" sz="3200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>
              <a:spcAft>
                <a:spcPts val="1200"/>
              </a:spcAft>
            </a:pPr>
            <a:r>
              <a:rPr lang="en-US" altLang="ja-JP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  </a:t>
            </a:r>
            <a:r>
              <a:rPr lang="en-US" altLang="ja-JP" sz="32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『SyncMe</a:t>
            </a:r>
            <a:r>
              <a:rPr lang="ja-JP" altLang="en-US" sz="20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（便利）</a:t>
            </a:r>
            <a:r>
              <a:rPr lang="en-US" altLang="ja-JP" sz="32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×</a:t>
            </a:r>
            <a:r>
              <a:rPr lang="ja-JP" altLang="en-US" sz="32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ｄポイント</a:t>
            </a:r>
            <a:r>
              <a:rPr lang="ja-JP" altLang="en-US" sz="20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（お得）</a:t>
            </a:r>
            <a:r>
              <a:rPr lang="en-US" altLang="ja-JP" sz="32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32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ja-JP" altLang="en-US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の相互連関に注目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91F1C762-855D-6E49-19D1-BF5794DE06E6}"/>
              </a:ext>
            </a:extLst>
          </p:cNvPr>
          <p:cNvSpPr/>
          <p:nvPr/>
        </p:nvSpPr>
        <p:spPr>
          <a:xfrm>
            <a:off x="480678" y="5148315"/>
            <a:ext cx="10933879" cy="1443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タイトル 1">
            <a:extLst>
              <a:ext uri="{FF2B5EF4-FFF2-40B4-BE49-F238E27FC236}">
                <a16:creationId xmlns:a16="http://schemas.microsoft.com/office/drawing/2014/main" id="{26C06077-0FE9-FC88-BA15-365B522C3014}"/>
              </a:ext>
            </a:extLst>
          </p:cNvPr>
          <p:cNvSpPr txBox="1">
            <a:spLocks/>
          </p:cNvSpPr>
          <p:nvPr/>
        </p:nvSpPr>
        <p:spPr>
          <a:xfrm>
            <a:off x="861072" y="5373509"/>
            <a:ext cx="10345162" cy="1019810"/>
          </a:xfrm>
          <a:prstGeom prst="rect">
            <a:avLst/>
          </a:prstGeom>
        </p:spPr>
        <p:txBody>
          <a:bodyPr lIns="0" tIns="0" rIns="0" bIns="0" anchor="t" anchorCtr="0"/>
          <a:lstStyle>
            <a:lvl1pPr algn="ctr" defTabSz="829782" rtl="0" eaLnBrk="1" latinLnBrk="0" hangingPunct="1">
              <a:spcBef>
                <a:spcPct val="0"/>
              </a:spcBef>
              <a:buNone/>
              <a:defRPr kumimoji="1" sz="3978" kern="1200">
                <a:solidFill>
                  <a:schemeClr val="tx1"/>
                </a:solidFill>
                <a:latin typeface="Meiryo" panose="020B0604030504040204" pitchFamily="50" charset="-128"/>
                <a:ea typeface="Meiryo" panose="020B0604030504040204" pitchFamily="50" charset="-128"/>
                <a:cs typeface="+mj-cs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ja-JP" altLang="en-US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新事業は、「基盤事業」「アプリサービス事業」「料金サービス」に　分類できると考えるが、　</a:t>
            </a:r>
            <a:r>
              <a:rPr lang="ja-JP" altLang="en-US" sz="32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基盤が重要と考え</a:t>
            </a:r>
            <a:r>
              <a:rPr lang="ja-JP" altLang="en-US" sz="32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選定</a:t>
            </a:r>
            <a:endParaRPr lang="en-US" altLang="ja-JP" sz="3200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ja-JP" altLang="en-US" sz="3200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33718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1263</Words>
  <Application>Microsoft Office PowerPoint</Application>
  <PresentationFormat>ワイド画面</PresentationFormat>
  <Paragraphs>200</Paragraphs>
  <Slides>11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8" baseType="lpstr">
      <vt:lpstr>Meiryo UI</vt:lpstr>
      <vt:lpstr>Yu Gothic</vt:lpstr>
      <vt:lpstr>Arial</vt:lpstr>
      <vt:lpstr>Calibri</vt:lpstr>
      <vt:lpstr>Cambria</vt:lpstr>
      <vt:lpstr>Wingdings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和徳 那須</cp:lastModifiedBy>
  <cp:revision>22</cp:revision>
  <dcterms:created xsi:type="dcterms:W3CDTF">2026-07-28T09:59:20Z</dcterms:created>
  <dcterms:modified xsi:type="dcterms:W3CDTF">2026-08-02T11:10:21Z</dcterms:modified>
</cp:coreProperties>
</file>