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000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補強① ｜ なぜ生成AIに行動データが必要か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生成AIに「リアル行動データ」が必要な理由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「あなたに合わせた」回答をするには、あなたを知る方法が要る。その方法は、実は2つしかない。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5455768" cy="1965960"/>
          </a:xfrm>
          <a:prstGeom prst="roundRect">
            <a:avLst>
              <a:gd name="adj" fmla="val 3721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892808"/>
            <a:ext cx="457200" cy="457200"/>
          </a:xfrm>
          <a:prstGeom prst="ellipse">
            <a:avLst/>
          </a:prstGeom>
          <a:solidFill>
            <a:srgbClr val="6E6E6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874520"/>
            <a:ext cx="440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プロンプトで自己申告する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468880"/>
            <a:ext cx="490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自分の状況や要望を、言葉にして入力する必要がある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使いこなせるのは、ITリテラシー・言語化力が高い人だけ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200400"/>
            <a:ext cx="490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000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生成AIの恩恵が、一部の人に偏る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78728" y="1691640"/>
            <a:ext cx="5455768" cy="1965960"/>
          </a:xfrm>
          <a:prstGeom prst="roundRect">
            <a:avLst>
              <a:gd name="adj" fmla="val 3721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07328" y="1892808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650732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101688" y="1874520"/>
            <a:ext cx="440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行動データから自動的に伝わる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53048" y="2468880"/>
            <a:ext cx="490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購買・移動・決済等の行動履歴があれば、入力の手間なく「その人」が伝わる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リテラシーに関係なく、誰もが恩恵を受けられる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53048" y="3200400"/>
            <a:ext cx="490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しかし、今の生成AIはこの行動データを持っていない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11277295" cy="914400"/>
          </a:xfrm>
          <a:prstGeom prst="roundRect">
            <a:avLst>
              <a:gd name="adj" fmla="val 8000"/>
            </a:avLst>
          </a:prstGeom>
          <a:solidFill>
            <a:srgbClr val="F0D9D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995928"/>
            <a:ext cx="1054577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8E000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なぜ、生成AIは行動データを持っていないのか
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生成AIはインターネット上のテキストを学習している。しかし、日常の購買・来店・移動といった行動は、そもそもテキスト化されてネット上に存在しない。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51206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行動データ＝生成AIの民主化のカギ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8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dアカウント／dポイントを通じて数千万人分の行動データを蓄積するドコモだからこそ、誰もが生成AIの恩恵を受けられる社会を実現できる。ここが、OpenAIやClaudeに対する決定的な差別化資源になる。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d-pointホワイトレーベル提案｜補強資料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441887" y="623620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1441887" y="6236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000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補強② ｜ dポイント事業の収益構造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dポイント事業の収益モデル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会員基盤1億人超を土台にした3本柱構造。収益の主力は「手数料」より「データ活用」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606394" cy="1874520"/>
          </a:xfrm>
          <a:prstGeom prst="roundRect">
            <a:avLst>
              <a:gd name="adj" fmla="val 3902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892808"/>
            <a:ext cx="26005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ポイント発行手数料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468880"/>
            <a:ext cx="305775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加盟店はポイントを「1pt＝1円＋α」でドコモから購入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差額（α）が手数料収入。料率は加盟店ごとの個別契約で非公開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92194" y="1691640"/>
            <a:ext cx="3606394" cy="1874520"/>
          </a:xfrm>
          <a:prstGeom prst="roundRect">
            <a:avLst>
              <a:gd name="adj" fmla="val 3902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0794" y="1920240"/>
            <a:ext cx="457200" cy="457200"/>
          </a:xfrm>
          <a:prstGeom prst="ellipse">
            <a:avLst/>
          </a:prstGeom>
          <a:solidFill>
            <a:srgbClr val="C7000F"/>
          </a:solidFill>
          <a:ln/>
        </p:spPr>
      </p:sp>
      <p:sp>
        <p:nvSpPr>
          <p:cNvPr id="12" name="Text 10"/>
          <p:cNvSpPr/>
          <p:nvPr/>
        </p:nvSpPr>
        <p:spPr>
          <a:xfrm>
            <a:off x="4520794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15154" y="1892808"/>
            <a:ext cx="26005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決済手数料（d払い）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66514" y="2468880"/>
            <a:ext cx="305775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決済額に応じて加盟店から徴収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目安2.00%〜（決済代行経由、要個別見積り）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27187" y="1691640"/>
            <a:ext cx="3606394" cy="1874520"/>
          </a:xfrm>
          <a:prstGeom prst="roundRect">
            <a:avLst>
              <a:gd name="adj" fmla="val 3902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5787" y="1920240"/>
            <a:ext cx="457200" cy="457200"/>
          </a:xfrm>
          <a:prstGeom prst="ellipse">
            <a:avLst/>
          </a:prstGeom>
          <a:solidFill>
            <a:srgbClr val="1E7A4C"/>
          </a:solidFill>
          <a:ln/>
        </p:spPr>
      </p:sp>
      <p:sp>
        <p:nvSpPr>
          <p:cNvPr id="17" name="Text 15"/>
          <p:cNvSpPr/>
          <p:nvPr/>
        </p:nvSpPr>
        <p:spPr>
          <a:xfrm>
            <a:off x="8355787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950147" y="1892808"/>
            <a:ext cx="26005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マーケティングソリューション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01507" y="2468880"/>
            <a:ext cx="305775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購買・行動データを活用した広告配信・CRM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docomo Sense等のデータ分析基盤を提供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現時点で収益の主力と推定される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3794760"/>
            <a:ext cx="2681935" cy="1051560"/>
          </a:xfrm>
          <a:prstGeom prst="roundRect">
            <a:avLst>
              <a:gd name="adj" fmla="val 6957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94360" y="3904488"/>
            <a:ext cx="2407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1億人超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594360" y="4361688"/>
            <a:ext cx="2407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E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dポイントクラブ会員数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322015" y="3794760"/>
            <a:ext cx="2681935" cy="1051560"/>
          </a:xfrm>
          <a:prstGeom prst="roundRect">
            <a:avLst>
              <a:gd name="adj" fmla="val 6957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59175" y="3904488"/>
            <a:ext cx="2407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約3,344億pt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3459175" y="4361688"/>
            <a:ext cx="2407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E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年間ポイント進呈量（額面相当）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86830" y="3794760"/>
            <a:ext cx="2681935" cy="1051560"/>
          </a:xfrm>
          <a:prstGeom prst="roundRect">
            <a:avLst>
              <a:gd name="adj" fmla="val 6957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23990" y="3904488"/>
            <a:ext cx="2407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5,965億円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323990" y="4361688"/>
            <a:ext cx="2407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E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金融事業収益 2030年度目標1.2兆円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051646" y="3794760"/>
            <a:ext cx="2681935" cy="1051560"/>
          </a:xfrm>
          <a:prstGeom prst="roundRect">
            <a:avLst>
              <a:gd name="adj" fmla="val 6957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88806" y="3904488"/>
            <a:ext cx="2407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約1,500億円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9188806" y="4361688"/>
            <a:ext cx="24076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E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マーケティングソリューション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E6E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事業収益（年換算）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</p:sp>
      <p:sp>
        <p:nvSpPr>
          <p:cNvPr id="33" name="Text 31"/>
          <p:cNvSpPr/>
          <p:nvPr/>
        </p:nvSpPr>
        <p:spPr>
          <a:xfrm>
            <a:off x="822960" y="51206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収益の重心は「ポイントを貸す」ことより「データを乗せる」こと
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8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行手数料だけを積み上げても、料率20%想定で最大約669億円。実際のマーケティングソリューション事業収益（年換算約1,500億円規模）とは明らかなギャップがあり、広告配信・データ活用収益が収益の大半を占めると考えられる。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45720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d-pointホワイトレーベル提案｜補強資料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1441887" y="623620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36" name="Text 34"/>
          <p:cNvSpPr/>
          <p:nvPr/>
        </p:nvSpPr>
        <p:spPr>
          <a:xfrm>
            <a:off x="11441887" y="6236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000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補強③ ｜ 新事業がもたらす効果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新事業がドコモにもたらす効果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dポイント・ホワイトレーベルは、単なる新サービスではなく、経営資産を4方向で強化する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8745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データ資産の質向上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31520" y="24231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非ドコモ層の行動データを獲得し、SyncMeの精度を底上げ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OpenAI・Claudeに対する決定的な差別化資源を強化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8095" y="169164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6695" y="1920240"/>
            <a:ext cx="457200" cy="457200"/>
          </a:xfrm>
          <a:prstGeom prst="ellipse">
            <a:avLst/>
          </a:prstGeom>
          <a:solidFill>
            <a:srgbClr val="C7000F"/>
          </a:solidFill>
          <a:ln/>
        </p:spPr>
      </p:sp>
      <p:sp>
        <p:nvSpPr>
          <p:cNvPr id="12" name="Text 10"/>
          <p:cNvSpPr/>
          <p:nvPr/>
        </p:nvSpPr>
        <p:spPr>
          <a:xfrm>
            <a:off x="6476695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71055" y="18745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顧客基盤の拡大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522415" y="24231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若年層・他キャリアユーザーとの新規接点を創出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年間10兆円超のdポイント経済圏への取り込みを加速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5800" y="3657600"/>
            <a:ext cx="457200" cy="457200"/>
          </a:xfrm>
          <a:prstGeom prst="ellipse">
            <a:avLst/>
          </a:prstGeom>
          <a:solidFill>
            <a:srgbClr val="1E7A4C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36118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収益への貢献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31520" y="41605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交換レートの目減り分が新たな収益源に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手数料収入拡大が金融事業「2030年度1.2兆円」目標を後押し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48095" y="342900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76695" y="36576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6476695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71055" y="36118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経営戦略との整合性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6522415" y="41605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2026年6月のahamoホワイトレーベルの延長線上の一手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「顧客接点は握るが裏方に回る」という経営判断と整合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5166360"/>
            <a:ext cx="11277295" cy="777240"/>
          </a:xfrm>
          <a:prstGeom prst="roundRect">
            <a:avLst>
              <a:gd name="adj" fmla="val 9412"/>
            </a:avLst>
          </a:prstGeom>
          <a:solidFill>
            <a:srgbClr val="1B2A4A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基盤こそドコモ！　</a:t>
            </a:r>
            <a:pPr indent="0" marL="0">
              <a:buNone/>
            </a:pPr>
            <a:r>
              <a:rPr lang="en-US" sz="1300" dirty="0">
                <a:solidFill>
                  <a:srgbClr val="D8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生成AIの民主化を支える「データ基盤」としての新たな一歩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d-pointホワイトレーベル提案｜補強資料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1441887" y="623620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9" name="Text 27"/>
          <p:cNvSpPr/>
          <p:nvPr/>
        </p:nvSpPr>
        <p:spPr>
          <a:xfrm>
            <a:off x="11441887" y="6236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000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補強④ ｜ 新事業のリスク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新事業のリスク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dポイント・ホワイトレーベルを進める上で、想定される4つのリスク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C7000F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8745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データ・プライバシーへの懸念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31520" y="24231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行動データの収集・活用に対する個人情報保護法対応の負荷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顧客の抵抗感や「監視されている」という炎上リスク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8095" y="169164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6695" y="1920240"/>
            <a:ext cx="457200" cy="457200"/>
          </a:xfrm>
          <a:prstGeom prst="ellipse">
            <a:avLst/>
          </a:prstGeom>
          <a:solidFill>
            <a:srgbClr val="C7000F"/>
          </a:solidFill>
          <a:ln/>
        </p:spPr>
      </p:sp>
      <p:sp>
        <p:nvSpPr>
          <p:cNvPr id="12" name="Text 10"/>
          <p:cNvSpPr/>
          <p:nvPr/>
        </p:nvSpPr>
        <p:spPr>
          <a:xfrm>
            <a:off x="6476695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71055" y="18745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複層ポイント設計による顧客の混乱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22415" y="24231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「通常dポイント」との違いが伝わりにくい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既存の期間・用途限定ポイントも浸透していない実態がある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5800" y="3657600"/>
            <a:ext cx="457200" cy="457200"/>
          </a:xfrm>
          <a:prstGeom prst="ellipse">
            <a:avLst/>
          </a:prstGeom>
          <a:solidFill>
            <a:srgbClr val="C7000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36118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交換レート設計の板挟み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31520" y="41605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レートが高すぎれば囲い込み効果が毀損しパートナーが離反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低すぎれば評判が悪化し、収益も不足する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48095" y="342900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76695" y="3657600"/>
            <a:ext cx="457200" cy="457200"/>
          </a:xfrm>
          <a:prstGeom prst="ellipse">
            <a:avLst/>
          </a:prstGeom>
          <a:solidFill>
            <a:srgbClr val="C7000F"/>
          </a:solidFill>
          <a:ln/>
        </p:spPr>
      </p:sp>
      <p:sp>
        <p:nvSpPr>
          <p:cNvPr id="22" name="Text 20"/>
          <p:cNvSpPr/>
          <p:nvPr/>
        </p:nvSpPr>
        <p:spPr>
          <a:xfrm>
            <a:off x="6476695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71055" y="36118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加盟店の移行障壁と競合激化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522415" y="41605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独自ポイント運営企業にとってのスイッチングコスト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楽天・Ponta・PayPay等、既存共通ポイントとの獲得競争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5166360"/>
            <a:ext cx="11277295" cy="777240"/>
          </a:xfrm>
          <a:prstGeom prst="roundRect">
            <a:avLst>
              <a:gd name="adj" fmla="val 9412"/>
            </a:avLst>
          </a:prstGeom>
          <a:solidFill>
            <a:srgbClr val="1B2A4A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対応の方向性：</a:t>
            </a:r>
            <a:pPr indent="0" marL="0">
              <a:buNone/>
            </a:pPr>
            <a:r>
              <a:rPr lang="en-US" sz="1250" dirty="0">
                <a:solidFill>
                  <a:srgbClr val="D8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小規模パートナーでの実証実験からレート・UIを検証し、段階的に拡大する。リスクを織り込んだ設計こそ、基盤事業としての信頼につながる。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d-pointホワイトレーベル提案｜補強資料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1441887" y="623620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9" name="Text 27"/>
          <p:cNvSpPr/>
          <p:nvPr/>
        </p:nvSpPr>
        <p:spPr>
          <a:xfrm>
            <a:off x="11441887" y="6236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2026-08-02T07:53:59Z</dcterms:created>
  <dcterms:modified xsi:type="dcterms:W3CDTF">2026-08-02T07:53:59Z</dcterms:modified>
</cp:coreProperties>
</file>