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3.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2.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2.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2.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icon_chart_gray.png">    </p:cNvPr>
          <p:cNvPicPr>
            <a:picLocks noChangeAspect="1"/>
          </p:cNvPicPr>
          <p:nvPr/>
        </p:nvPicPr>
        <p:blipFill>
          <a:blip r:embed="rId1"/>
          <a:stretch>
            <a:fillRect/>
          </a:stretch>
        </p:blipFill>
        <p:spPr>
          <a:xfrm>
            <a:off x="8778240" y="3931920"/>
            <a:ext cx="3291840" cy="3291840"/>
          </a:xfrm>
          <a:prstGeom prst="rect">
            <a:avLst/>
          </a:prstGeom>
        </p:spPr>
      </p:pic>
      <p:sp>
        <p:nvSpPr>
          <p:cNvPr id="3" name="Text 0"/>
          <p:cNvSpPr/>
          <p:nvPr/>
        </p:nvSpPr>
        <p:spPr>
          <a:xfrm>
            <a:off x="822960" y="1600200"/>
            <a:ext cx="9601200" cy="1737360"/>
          </a:xfrm>
          <a:prstGeom prst="rect">
            <a:avLst/>
          </a:prstGeom>
          <a:noFill/>
          <a:ln/>
        </p:spPr>
        <p:txBody>
          <a:bodyPr wrap="square" rtlCol="0" anchor="ctr"/>
          <a:lstStyle/>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信託銀行における</a:t>
            </a:r>
            <a:endParaRPr lang="en-US" sz="4000" dirty="0"/>
          </a:p>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キャリア形成モデル</a:t>
            </a:r>
            <a:endParaRPr lang="en-US" sz="4000" dirty="0"/>
          </a:p>
        </p:txBody>
      </p:sp>
      <p:sp>
        <p:nvSpPr>
          <p:cNvPr id="4" name="Text 1"/>
          <p:cNvSpPr/>
          <p:nvPr/>
        </p:nvSpPr>
        <p:spPr>
          <a:xfrm>
            <a:off x="822960" y="3429000"/>
            <a:ext cx="8961120" cy="548640"/>
          </a:xfrm>
          <a:prstGeom prst="rect">
            <a:avLst/>
          </a:prstGeom>
          <a:noFill/>
          <a:ln/>
        </p:spPr>
        <p:txBody>
          <a:bodyPr wrap="square" rtlCol="0" anchor="ctr"/>
          <a:lstStyle/>
          <a:p>
            <a:pPr indent="0" marL="0">
              <a:buNone/>
            </a:pPr>
            <a:r>
              <a:rPr lang="en-US" sz="1800" dirty="0">
                <a:solidFill>
                  <a:srgbClr val="000000"/>
                </a:solidFill>
                <a:latin typeface="Meiryo UI" pitchFamily="34" charset="0"/>
                <a:ea typeface="Meiryo UI" pitchFamily="34" charset="-122"/>
                <a:cs typeface="Meiryo UI" pitchFamily="34" charset="-120"/>
              </a:rPr>
              <a:t>「私は、何のプロになりたいか」を軸に考える、信吾さんの成長ロードマップ</a:t>
            </a:r>
            <a:endParaRPr lang="en-US" sz="1800" dirty="0"/>
          </a:p>
        </p:txBody>
      </p:sp>
      <p:sp>
        <p:nvSpPr>
          <p:cNvPr id="5" name="Text 2"/>
          <p:cNvSpPr/>
          <p:nvPr/>
        </p:nvSpPr>
        <p:spPr>
          <a:xfrm>
            <a:off x="914400" y="4160520"/>
            <a:ext cx="8229600" cy="1371600"/>
          </a:xfrm>
          <a:prstGeom prst="rect">
            <a:avLst/>
          </a:prstGeom>
          <a:noFill/>
          <a:ln/>
        </p:spPr>
        <p:txBody>
          <a:bodyPr wrap="square" rtlCol="0" anchor="ctr"/>
          <a:lstStyle/>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①信託資金で資産形成を支えるプロになる</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②助言で企業経営を支えるプロになる</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③融資・自己資金運用で企業を支えるプロになる</a:t>
            </a:r>
            <a:endParaRPr lang="en-US" sz="1600" dirty="0"/>
          </a:p>
        </p:txBody>
      </p:sp>
      <p:sp>
        <p:nvSpPr>
          <p:cNvPr id="6" name="Text 3"/>
          <p:cNvSpPr/>
          <p:nvPr/>
        </p:nvSpPr>
        <p:spPr>
          <a:xfrm>
            <a:off x="822960" y="6126480"/>
            <a:ext cx="5486400" cy="36576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2026年8月時点の想定モデル案</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信吾さんの強み — 3つの柱</a:t>
            </a:r>
            <a:endParaRPr lang="en-US" sz="30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どのパターンを選んでも、この3つの強みをどの部署で・どの順番で鍛えるかが軸になります。</a:t>
            </a:r>
            <a:endParaRPr lang="en-US" sz="1400" dirty="0"/>
          </a:p>
        </p:txBody>
      </p:sp>
      <p:sp>
        <p:nvSpPr>
          <p:cNvPr id="4" name="Shape 2"/>
          <p:cNvSpPr/>
          <p:nvPr/>
        </p:nvSpPr>
        <p:spPr>
          <a:xfrm>
            <a:off x="640080" y="1965960"/>
            <a:ext cx="3520440" cy="3429000"/>
          </a:xfrm>
          <a:prstGeom prst="roundRect">
            <a:avLst>
              <a:gd name="adj" fmla="val 2667"/>
            </a:avLst>
          </a:prstGeom>
          <a:solidFill>
            <a:srgbClr val="FFFFFF"/>
          </a:solidFill>
          <a:ln w="12700">
            <a:solidFill>
              <a:srgbClr val="D0D5DD"/>
            </a:solidFill>
            <a:prstDash val="solid"/>
          </a:ln>
        </p:spPr>
      </p:sp>
      <p:sp>
        <p:nvSpPr>
          <p:cNvPr id="5" name="Shape 3"/>
          <p:cNvSpPr/>
          <p:nvPr/>
        </p:nvSpPr>
        <p:spPr>
          <a:xfrm>
            <a:off x="1920240" y="2286000"/>
            <a:ext cx="960120" cy="960120"/>
          </a:xfrm>
          <a:prstGeom prst="ellipse">
            <a:avLst/>
          </a:prstGeom>
          <a:solidFill>
            <a:srgbClr val="1E2761"/>
          </a:solidFill>
          <a:ln/>
        </p:spPr>
      </p:sp>
      <p:pic>
        <p:nvPicPr>
          <p:cNvPr id="6" name="Image 0" descr="icon_chart.png">    </p:cNvPr>
          <p:cNvPicPr>
            <a:picLocks noChangeAspect="1"/>
          </p:cNvPicPr>
          <p:nvPr/>
        </p:nvPicPr>
        <p:blipFill>
          <a:blip r:embed="rId1"/>
          <a:stretch>
            <a:fillRect/>
          </a:stretch>
        </p:blipFill>
        <p:spPr>
          <a:xfrm>
            <a:off x="2139696" y="2505456"/>
            <a:ext cx="521208" cy="521208"/>
          </a:xfrm>
          <a:prstGeom prst="rect">
            <a:avLst/>
          </a:prstGeom>
        </p:spPr>
      </p:pic>
      <p:sp>
        <p:nvSpPr>
          <p:cNvPr id="7" name="Text 4"/>
          <p:cNvSpPr/>
          <p:nvPr/>
        </p:nvSpPr>
        <p:spPr>
          <a:xfrm>
            <a:off x="86868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財務諸表分析力</a:t>
            </a:r>
            <a:endParaRPr lang="en-US" sz="1700" dirty="0"/>
          </a:p>
        </p:txBody>
      </p:sp>
      <p:sp>
        <p:nvSpPr>
          <p:cNvPr id="8" name="Text 5"/>
          <p:cNvSpPr/>
          <p:nvPr/>
        </p:nvSpPr>
        <p:spPr>
          <a:xfrm>
            <a:off x="91440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簿記1級取得。りそな銀行インターンのグループワークで「財務諸表を読めるのは自分だけ」という強みを実証済み。</a:t>
            </a:r>
            <a:endParaRPr lang="en-US" sz="1400" dirty="0"/>
          </a:p>
        </p:txBody>
      </p:sp>
      <p:sp>
        <p:nvSpPr>
          <p:cNvPr id="9" name="Shape 6"/>
          <p:cNvSpPr/>
          <p:nvPr/>
        </p:nvSpPr>
        <p:spPr>
          <a:xfrm>
            <a:off x="4480560" y="1965960"/>
            <a:ext cx="3520440" cy="3429000"/>
          </a:xfrm>
          <a:prstGeom prst="roundRect">
            <a:avLst>
              <a:gd name="adj" fmla="val 2667"/>
            </a:avLst>
          </a:prstGeom>
          <a:solidFill>
            <a:srgbClr val="FFFFFF"/>
          </a:solidFill>
          <a:ln w="12700">
            <a:solidFill>
              <a:srgbClr val="D0D5DD"/>
            </a:solidFill>
            <a:prstDash val="solid"/>
          </a:ln>
        </p:spPr>
      </p:sp>
      <p:sp>
        <p:nvSpPr>
          <p:cNvPr id="10" name="Shape 7"/>
          <p:cNvSpPr/>
          <p:nvPr/>
        </p:nvSpPr>
        <p:spPr>
          <a:xfrm>
            <a:off x="5760720" y="2286000"/>
            <a:ext cx="960120" cy="960120"/>
          </a:xfrm>
          <a:prstGeom prst="ellipse">
            <a:avLst/>
          </a:prstGeom>
          <a:solidFill>
            <a:srgbClr val="1E2761"/>
          </a:solidFill>
          <a:ln/>
        </p:spPr>
      </p:sp>
      <p:pic>
        <p:nvPicPr>
          <p:cNvPr id="11" name="Image 1" descr="icon_law.png">    </p:cNvPr>
          <p:cNvPicPr>
            <a:picLocks noChangeAspect="1"/>
          </p:cNvPicPr>
          <p:nvPr/>
        </p:nvPicPr>
        <p:blipFill>
          <a:blip r:embed="rId2"/>
          <a:stretch>
            <a:fillRect/>
          </a:stretch>
        </p:blipFill>
        <p:spPr>
          <a:xfrm>
            <a:off x="5980176" y="2505456"/>
            <a:ext cx="521208" cy="521208"/>
          </a:xfrm>
          <a:prstGeom prst="rect">
            <a:avLst/>
          </a:prstGeom>
        </p:spPr>
      </p:pic>
      <p:sp>
        <p:nvSpPr>
          <p:cNvPr id="12" name="Text 8"/>
          <p:cNvSpPr/>
          <p:nvPr/>
        </p:nvSpPr>
        <p:spPr>
          <a:xfrm>
            <a:off x="470916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企業法の知識</a:t>
            </a:r>
            <a:endParaRPr lang="en-US" sz="1700" dirty="0"/>
          </a:p>
        </p:txBody>
      </p:sp>
      <p:sp>
        <p:nvSpPr>
          <p:cNvPr id="13" name="Text 9"/>
          <p:cNvSpPr/>
          <p:nvPr/>
        </p:nvSpPr>
        <p:spPr>
          <a:xfrm>
            <a:off x="475488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中央大学法学部・企業法ゼミ所属。財務分析と法律知識の両輪が必要という発想から選択した専門領域。</a:t>
            </a:r>
            <a:endParaRPr lang="en-US" sz="1400" dirty="0"/>
          </a:p>
        </p:txBody>
      </p:sp>
      <p:sp>
        <p:nvSpPr>
          <p:cNvPr id="14" name="Shape 10"/>
          <p:cNvSpPr/>
          <p:nvPr/>
        </p:nvSpPr>
        <p:spPr>
          <a:xfrm>
            <a:off x="8321040" y="1965960"/>
            <a:ext cx="3520440" cy="3429000"/>
          </a:xfrm>
          <a:prstGeom prst="roundRect">
            <a:avLst>
              <a:gd name="adj" fmla="val 2667"/>
            </a:avLst>
          </a:prstGeom>
          <a:solidFill>
            <a:srgbClr val="FFFFFF"/>
          </a:solidFill>
          <a:ln w="12700">
            <a:solidFill>
              <a:srgbClr val="D0D5DD"/>
            </a:solidFill>
            <a:prstDash val="solid"/>
          </a:ln>
        </p:spPr>
      </p:sp>
      <p:sp>
        <p:nvSpPr>
          <p:cNvPr id="15" name="Shape 11"/>
          <p:cNvSpPr/>
          <p:nvPr/>
        </p:nvSpPr>
        <p:spPr>
          <a:xfrm>
            <a:off x="9601200" y="2286000"/>
            <a:ext cx="960120" cy="960120"/>
          </a:xfrm>
          <a:prstGeom prst="ellipse">
            <a:avLst/>
          </a:prstGeom>
          <a:solidFill>
            <a:srgbClr val="1E2761"/>
          </a:solidFill>
          <a:ln/>
        </p:spPr>
      </p:sp>
      <p:pic>
        <p:nvPicPr>
          <p:cNvPr id="16" name="Image 2" descr="icon_pdca.png">    </p:cNvPr>
          <p:cNvPicPr>
            <a:picLocks noChangeAspect="1"/>
          </p:cNvPicPr>
          <p:nvPr/>
        </p:nvPicPr>
        <p:blipFill>
          <a:blip r:embed="rId3"/>
          <a:stretch>
            <a:fillRect/>
          </a:stretch>
        </p:blipFill>
        <p:spPr>
          <a:xfrm>
            <a:off x="9820656" y="2505456"/>
            <a:ext cx="521208" cy="521208"/>
          </a:xfrm>
          <a:prstGeom prst="rect">
            <a:avLst/>
          </a:prstGeom>
        </p:spPr>
      </p:pic>
      <p:sp>
        <p:nvSpPr>
          <p:cNvPr id="17" name="Text 12"/>
          <p:cNvSpPr/>
          <p:nvPr/>
        </p:nvSpPr>
        <p:spPr>
          <a:xfrm>
            <a:off x="854964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原因分析・改善力(PDCA)</a:t>
            </a:r>
            <a:endParaRPr lang="en-US" sz="1700" dirty="0"/>
          </a:p>
        </p:txBody>
      </p:sp>
      <p:sp>
        <p:nvSpPr>
          <p:cNvPr id="18" name="Text 13"/>
          <p:cNvSpPr/>
          <p:nvPr/>
        </p:nvSpPr>
        <p:spPr>
          <a:xfrm>
            <a:off x="859536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公認会計士試験の学習で正答率20%台から60%台後半まで改善。原因分析→仮説検証→実行のサイクルが持ち味。</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2800" b="1" dirty="0">
                <a:solidFill>
                  <a:srgbClr val="000000"/>
                </a:solidFill>
                <a:latin typeface="Meiryo UI" pitchFamily="34" charset="0"/>
                <a:ea typeface="Meiryo UI" pitchFamily="34" charset="-122"/>
                <a:cs typeface="Meiryo UI" pitchFamily="34" charset="-120"/>
              </a:rPr>
              <a:t>考え方の軸：「私は、何のプロになりたいか」</a:t>
            </a:r>
            <a:endParaRPr lang="en-US" sz="28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会社・部署の名前で選ぶのではなく、「何の専門性を鍛えたいか」を先に決め、そのための職場を選ぶという考え方。</a:t>
            </a:r>
            <a:endParaRPr lang="en-US" sz="1400" dirty="0"/>
          </a:p>
        </p:txBody>
      </p:sp>
      <p:sp>
        <p:nvSpPr>
          <p:cNvPr id="4" name="Shape 2"/>
          <p:cNvSpPr/>
          <p:nvPr/>
        </p:nvSpPr>
        <p:spPr>
          <a:xfrm>
            <a:off x="640080" y="1691640"/>
            <a:ext cx="10881360" cy="1737360"/>
          </a:xfrm>
          <a:prstGeom prst="roundRect">
            <a:avLst>
              <a:gd name="adj" fmla="val 5263"/>
            </a:avLst>
          </a:prstGeom>
          <a:solidFill>
            <a:srgbClr val="FFFFFF"/>
          </a:solidFill>
          <a:ln w="15875">
            <a:solidFill>
              <a:srgbClr val="1E2761"/>
            </a:solidFill>
            <a:prstDash val="solid"/>
          </a:ln>
        </p:spPr>
      </p:sp>
      <p:sp>
        <p:nvSpPr>
          <p:cNvPr id="5" name="Text 3"/>
          <p:cNvSpPr/>
          <p:nvPr/>
        </p:nvSpPr>
        <p:spPr>
          <a:xfrm>
            <a:off x="914400" y="1874520"/>
            <a:ext cx="10332720" cy="365760"/>
          </a:xfrm>
          <a:prstGeom prst="rect">
            <a:avLst/>
          </a:prstGeom>
          <a:noFill/>
          <a:ln/>
        </p:spPr>
        <p:txBody>
          <a:bodyPr wrap="square" rtlCol="0" anchor="ctr"/>
          <a:lstStyle/>
          <a:p>
            <a:pPr indent="0" marL="0">
              <a:buNone/>
            </a:pPr>
            <a:r>
              <a:rPr lang="en-US" sz="1600" b="1" dirty="0">
                <a:solidFill>
                  <a:srgbClr val="1E2761"/>
                </a:solidFill>
                <a:latin typeface="Meiryo UI" pitchFamily="34" charset="0"/>
                <a:ea typeface="Meiryo UI" pitchFamily="34" charset="-122"/>
                <a:cs typeface="Meiryo UI" pitchFamily="34" charset="-120"/>
              </a:rPr>
              <a:t>「運用」とは何か？　―　2つの問いに分解できる</a:t>
            </a:r>
            <a:endParaRPr lang="en-US" sz="1600" dirty="0"/>
          </a:p>
        </p:txBody>
      </p:sp>
      <p:sp>
        <p:nvSpPr>
          <p:cNvPr id="6" name="Text 4"/>
          <p:cNvSpPr/>
          <p:nvPr/>
        </p:nvSpPr>
        <p:spPr>
          <a:xfrm>
            <a:off x="914400" y="2331720"/>
            <a:ext cx="5074920" cy="1005840"/>
          </a:xfrm>
          <a:prstGeom prst="rect">
            <a:avLst/>
          </a:prstGeom>
          <a:noFill/>
          <a:ln/>
        </p:spPr>
        <p:txBody>
          <a:bodyPr wrap="square" rtlCol="0" anchor="ctr"/>
          <a:lstStyle/>
          <a:p>
            <a:pPr indent="0" marL="0">
              <a:lnSpc>
                <a:spcPct val="120000"/>
              </a:lnSpc>
              <a:buNone/>
            </a:pPr>
            <a:r>
              <a:rPr lang="en-US" sz="1400" b="1" dirty="0">
                <a:solidFill>
                  <a:srgbClr val="1E2761"/>
                </a:solidFill>
                <a:latin typeface="Meiryo UI" pitchFamily="34" charset="0"/>
                <a:ea typeface="Meiryo UI" pitchFamily="34" charset="-122"/>
                <a:cs typeface="Meiryo UI" pitchFamily="34" charset="-120"/>
              </a:rPr>
              <a:t>①頭脳　</a:t>
            </a:r>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誰が「何を買うか・売るか」を判断するのか</a:t>
            </a:r>
            <a:endParaRPr lang="en-US" sz="1400" dirty="0"/>
          </a:p>
          <a:p>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　自分自身か／他社（運用を委託する相手）か</a:t>
            </a:r>
            <a:endParaRPr lang="en-US" sz="1400" dirty="0"/>
          </a:p>
        </p:txBody>
      </p:sp>
      <p:sp>
        <p:nvSpPr>
          <p:cNvPr id="7" name="Text 5"/>
          <p:cNvSpPr/>
          <p:nvPr/>
        </p:nvSpPr>
        <p:spPr>
          <a:xfrm>
            <a:off x="6263640" y="2331720"/>
            <a:ext cx="5074920" cy="1005840"/>
          </a:xfrm>
          <a:prstGeom prst="rect">
            <a:avLst/>
          </a:prstGeom>
          <a:noFill/>
          <a:ln/>
        </p:spPr>
        <p:txBody>
          <a:bodyPr wrap="square" rtlCol="0" anchor="ctr"/>
          <a:lstStyle/>
          <a:p>
            <a:pPr indent="0" marL="0">
              <a:lnSpc>
                <a:spcPct val="120000"/>
              </a:lnSpc>
              <a:buNone/>
            </a:pPr>
            <a:r>
              <a:rPr lang="en-US" sz="1400" b="1" dirty="0">
                <a:solidFill>
                  <a:srgbClr val="1E2761"/>
                </a:solidFill>
                <a:latin typeface="Meiryo UI" pitchFamily="34" charset="0"/>
                <a:ea typeface="Meiryo UI" pitchFamily="34" charset="-122"/>
                <a:cs typeface="Meiryo UI" pitchFamily="34" charset="-120"/>
              </a:rPr>
              <a:t>②投資対象　</a:t>
            </a:r>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何に投資するのか、誰の資金なのか</a:t>
            </a:r>
            <a:endParaRPr lang="en-US" sz="1400" dirty="0"/>
          </a:p>
          <a:p>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　顧客の信託資金か／銀行自身の資金か。伝統資産かオルタナティブか</a:t>
            </a:r>
            <a:endParaRPr lang="en-US" sz="1400" dirty="0"/>
          </a:p>
        </p:txBody>
      </p:sp>
      <p:sp>
        <p:nvSpPr>
          <p:cNvPr id="8" name="Text 6"/>
          <p:cNvSpPr/>
          <p:nvPr/>
        </p:nvSpPr>
        <p:spPr>
          <a:xfrm>
            <a:off x="640080" y="3611880"/>
            <a:ext cx="10881360" cy="45720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この2つの掛け合わせと、「運用そのものではなく企業への助言を極める」という第三の道を合わせ、3つの「なりたいプロ」を設定する。</a:t>
            </a:r>
            <a:endParaRPr lang="en-US" sz="1400" dirty="0"/>
          </a:p>
        </p:txBody>
      </p:sp>
      <p:sp>
        <p:nvSpPr>
          <p:cNvPr id="9" name="Shape 7"/>
          <p:cNvSpPr/>
          <p:nvPr/>
        </p:nvSpPr>
        <p:spPr>
          <a:xfrm>
            <a:off x="548640" y="4206240"/>
            <a:ext cx="3566160" cy="1920240"/>
          </a:xfrm>
          <a:prstGeom prst="roundRect">
            <a:avLst>
              <a:gd name="adj" fmla="val 4762"/>
            </a:avLst>
          </a:prstGeom>
          <a:solidFill>
            <a:srgbClr val="FFFFFF"/>
          </a:solidFill>
          <a:ln w="15875">
            <a:solidFill>
              <a:srgbClr val="1E2761"/>
            </a:solidFill>
            <a:prstDash val="solid"/>
          </a:ln>
        </p:spPr>
      </p:sp>
      <p:sp>
        <p:nvSpPr>
          <p:cNvPr id="10" name="Shape 8"/>
          <p:cNvSpPr/>
          <p:nvPr/>
        </p:nvSpPr>
        <p:spPr>
          <a:xfrm>
            <a:off x="731520" y="4370832"/>
            <a:ext cx="438912" cy="347472"/>
          </a:xfrm>
          <a:prstGeom prst="roundRect">
            <a:avLst>
              <a:gd name="adj" fmla="val 18421"/>
            </a:avLst>
          </a:prstGeom>
          <a:solidFill>
            <a:srgbClr val="1E2761"/>
          </a:solidFill>
          <a:ln/>
        </p:spPr>
      </p:sp>
      <p:sp>
        <p:nvSpPr>
          <p:cNvPr id="11" name="Text 9"/>
          <p:cNvSpPr/>
          <p:nvPr/>
        </p:nvSpPr>
        <p:spPr>
          <a:xfrm>
            <a:off x="73152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①</a:t>
            </a:r>
            <a:endParaRPr lang="en-US" sz="1400" dirty="0"/>
          </a:p>
        </p:txBody>
      </p:sp>
      <p:sp>
        <p:nvSpPr>
          <p:cNvPr id="12" name="Text 10"/>
          <p:cNvSpPr/>
          <p:nvPr/>
        </p:nvSpPr>
        <p:spPr>
          <a:xfrm>
            <a:off x="123444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信託資金で資産形成を支えるプロ</a:t>
            </a:r>
            <a:endParaRPr lang="en-US" sz="1350" dirty="0"/>
          </a:p>
        </p:txBody>
      </p:sp>
      <p:sp>
        <p:nvSpPr>
          <p:cNvPr id="13" name="Text 11"/>
          <p:cNvSpPr/>
          <p:nvPr/>
        </p:nvSpPr>
        <p:spPr>
          <a:xfrm>
            <a:off x="777240" y="4983480"/>
            <a:ext cx="3108960" cy="365760"/>
          </a:xfrm>
          <a:prstGeom prst="rect">
            <a:avLst/>
          </a:prstGeom>
          <a:noFill/>
          <a:ln/>
        </p:spPr>
        <p:txBody>
          <a:bodyPr wrap="square" rtlCol="0" anchor="ctr"/>
          <a:lstStyle/>
          <a:p>
            <a:pPr indent="0" marL="0">
              <a:buNone/>
            </a:pPr>
            <a:r>
              <a:rPr lang="en-US" sz="1300" b="1" dirty="0">
                <a:solidFill>
                  <a:srgbClr val="1E2761"/>
                </a:solidFill>
                <a:latin typeface="Meiryo UI" pitchFamily="34" charset="0"/>
                <a:ea typeface="Meiryo UI" pitchFamily="34" charset="-122"/>
                <a:cs typeface="Meiryo UI" pitchFamily="34" charset="-120"/>
              </a:rPr>
              <a:t>頭脳＝自分</a:t>
            </a:r>
            <a:endParaRPr lang="en-US" sz="1300" dirty="0"/>
          </a:p>
        </p:txBody>
      </p:sp>
      <p:sp>
        <p:nvSpPr>
          <p:cNvPr id="14" name="Text 12"/>
          <p:cNvSpPr/>
          <p:nvPr/>
        </p:nvSpPr>
        <p:spPr>
          <a:xfrm>
            <a:off x="77724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対象＝顧客の信託資金／幅広い資産（公募投信・年金・オルタナティブ等）</a:t>
            </a:r>
            <a:endParaRPr lang="en-US" sz="1250" dirty="0"/>
          </a:p>
        </p:txBody>
      </p:sp>
      <p:sp>
        <p:nvSpPr>
          <p:cNvPr id="15" name="Shape 13"/>
          <p:cNvSpPr/>
          <p:nvPr/>
        </p:nvSpPr>
        <p:spPr>
          <a:xfrm>
            <a:off x="4389120" y="4206240"/>
            <a:ext cx="3566160" cy="1920240"/>
          </a:xfrm>
          <a:prstGeom prst="roundRect">
            <a:avLst>
              <a:gd name="adj" fmla="val 4762"/>
            </a:avLst>
          </a:prstGeom>
          <a:solidFill>
            <a:srgbClr val="FFFFFF"/>
          </a:solidFill>
          <a:ln w="15875">
            <a:solidFill>
              <a:srgbClr val="2E6F52"/>
            </a:solidFill>
            <a:prstDash val="solid"/>
          </a:ln>
        </p:spPr>
      </p:sp>
      <p:sp>
        <p:nvSpPr>
          <p:cNvPr id="16" name="Shape 14"/>
          <p:cNvSpPr/>
          <p:nvPr/>
        </p:nvSpPr>
        <p:spPr>
          <a:xfrm>
            <a:off x="4572000" y="4370832"/>
            <a:ext cx="438912" cy="347472"/>
          </a:xfrm>
          <a:prstGeom prst="roundRect">
            <a:avLst>
              <a:gd name="adj" fmla="val 18421"/>
            </a:avLst>
          </a:prstGeom>
          <a:solidFill>
            <a:srgbClr val="2E6F52"/>
          </a:solidFill>
          <a:ln/>
        </p:spPr>
      </p:sp>
      <p:sp>
        <p:nvSpPr>
          <p:cNvPr id="17" name="Text 15"/>
          <p:cNvSpPr/>
          <p:nvPr/>
        </p:nvSpPr>
        <p:spPr>
          <a:xfrm>
            <a:off x="457200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②</a:t>
            </a:r>
            <a:endParaRPr lang="en-US" sz="1400" dirty="0"/>
          </a:p>
        </p:txBody>
      </p:sp>
      <p:sp>
        <p:nvSpPr>
          <p:cNvPr id="18" name="Text 16"/>
          <p:cNvSpPr/>
          <p:nvPr/>
        </p:nvSpPr>
        <p:spPr>
          <a:xfrm>
            <a:off x="507492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助言で企業経営を支えるプロ</a:t>
            </a:r>
            <a:endParaRPr lang="en-US" sz="1350" dirty="0"/>
          </a:p>
        </p:txBody>
      </p:sp>
      <p:sp>
        <p:nvSpPr>
          <p:cNvPr id="19" name="Text 17"/>
          <p:cNvSpPr/>
          <p:nvPr/>
        </p:nvSpPr>
        <p:spPr>
          <a:xfrm>
            <a:off x="4617720" y="4983480"/>
            <a:ext cx="3108960" cy="365760"/>
          </a:xfrm>
          <a:prstGeom prst="rect">
            <a:avLst/>
          </a:prstGeom>
          <a:noFill/>
          <a:ln/>
        </p:spPr>
        <p:txBody>
          <a:bodyPr wrap="square" rtlCol="0" anchor="ctr"/>
          <a:lstStyle/>
          <a:p>
            <a:pPr indent="0" marL="0">
              <a:buNone/>
            </a:pPr>
            <a:r>
              <a:rPr lang="en-US" sz="1300" b="1" dirty="0">
                <a:solidFill>
                  <a:srgbClr val="2E6F52"/>
                </a:solidFill>
                <a:latin typeface="Meiryo UI" pitchFamily="34" charset="0"/>
                <a:ea typeface="Meiryo UI" pitchFamily="34" charset="-122"/>
                <a:cs typeface="Meiryo UI" pitchFamily="34" charset="-120"/>
              </a:rPr>
              <a:t>頭脳＝運用ではなく助言</a:t>
            </a:r>
            <a:endParaRPr lang="en-US" sz="1300" dirty="0"/>
          </a:p>
        </p:txBody>
      </p:sp>
      <p:sp>
        <p:nvSpPr>
          <p:cNvPr id="20" name="Text 18"/>
          <p:cNvSpPr/>
          <p:nvPr/>
        </p:nvSpPr>
        <p:spPr>
          <a:xfrm>
            <a:off x="461772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対象＝企業のガバナンス・株主総会・株主対応</a:t>
            </a:r>
            <a:endParaRPr lang="en-US" sz="1250" dirty="0"/>
          </a:p>
        </p:txBody>
      </p:sp>
      <p:sp>
        <p:nvSpPr>
          <p:cNvPr id="21" name="Shape 19"/>
          <p:cNvSpPr/>
          <p:nvPr/>
        </p:nvSpPr>
        <p:spPr>
          <a:xfrm>
            <a:off x="8229600" y="4206240"/>
            <a:ext cx="3566160" cy="1920240"/>
          </a:xfrm>
          <a:prstGeom prst="roundRect">
            <a:avLst>
              <a:gd name="adj" fmla="val 4762"/>
            </a:avLst>
          </a:prstGeom>
          <a:solidFill>
            <a:srgbClr val="FFFFFF"/>
          </a:solidFill>
          <a:ln w="15875">
            <a:solidFill>
              <a:srgbClr val="8A4B1E"/>
            </a:solidFill>
            <a:prstDash val="solid"/>
          </a:ln>
        </p:spPr>
      </p:sp>
      <p:sp>
        <p:nvSpPr>
          <p:cNvPr id="22" name="Shape 20"/>
          <p:cNvSpPr/>
          <p:nvPr/>
        </p:nvSpPr>
        <p:spPr>
          <a:xfrm>
            <a:off x="8412480" y="4370832"/>
            <a:ext cx="438912" cy="347472"/>
          </a:xfrm>
          <a:prstGeom prst="roundRect">
            <a:avLst>
              <a:gd name="adj" fmla="val 18421"/>
            </a:avLst>
          </a:prstGeom>
          <a:solidFill>
            <a:srgbClr val="8A4B1E"/>
          </a:solidFill>
          <a:ln/>
        </p:spPr>
      </p:sp>
      <p:sp>
        <p:nvSpPr>
          <p:cNvPr id="23" name="Text 21"/>
          <p:cNvSpPr/>
          <p:nvPr/>
        </p:nvSpPr>
        <p:spPr>
          <a:xfrm>
            <a:off x="841248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③</a:t>
            </a:r>
            <a:endParaRPr lang="en-US" sz="1400" dirty="0"/>
          </a:p>
        </p:txBody>
      </p:sp>
      <p:sp>
        <p:nvSpPr>
          <p:cNvPr id="24" name="Text 22"/>
          <p:cNvSpPr/>
          <p:nvPr/>
        </p:nvSpPr>
        <p:spPr>
          <a:xfrm>
            <a:off x="891540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融資・自己資金運用で企業を支えるプロ</a:t>
            </a:r>
            <a:endParaRPr lang="en-US" sz="1350" dirty="0"/>
          </a:p>
        </p:txBody>
      </p:sp>
      <p:sp>
        <p:nvSpPr>
          <p:cNvPr id="25" name="Text 23"/>
          <p:cNvSpPr/>
          <p:nvPr/>
        </p:nvSpPr>
        <p:spPr>
          <a:xfrm>
            <a:off x="8458200" y="4983480"/>
            <a:ext cx="3108960" cy="365760"/>
          </a:xfrm>
          <a:prstGeom prst="rect">
            <a:avLst/>
          </a:prstGeom>
          <a:noFill/>
          <a:ln/>
        </p:spPr>
        <p:txBody>
          <a:bodyPr wrap="square" rtlCol="0" anchor="ctr"/>
          <a:lstStyle/>
          <a:p>
            <a:pPr indent="0" marL="0">
              <a:buNone/>
            </a:pPr>
            <a:r>
              <a:rPr lang="en-US" sz="1300" b="1" dirty="0">
                <a:solidFill>
                  <a:srgbClr val="8A4B1E"/>
                </a:solidFill>
                <a:latin typeface="Meiryo UI" pitchFamily="34" charset="0"/>
                <a:ea typeface="Meiryo UI" pitchFamily="34" charset="-122"/>
                <a:cs typeface="Meiryo UI" pitchFamily="34" charset="-120"/>
              </a:rPr>
              <a:t>頭脳＝自分</a:t>
            </a:r>
            <a:endParaRPr lang="en-US" sz="1300" dirty="0"/>
          </a:p>
        </p:txBody>
      </p:sp>
      <p:sp>
        <p:nvSpPr>
          <p:cNvPr id="26" name="Text 24"/>
          <p:cNvSpPr/>
          <p:nvPr/>
        </p:nvSpPr>
        <p:spPr>
          <a:xfrm>
            <a:off x="845820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対象＝銀行自身の資金。融資（デット）から自己勘定投資・PE（エクイティ）まで</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3つのキャリアパターン全体像</a:t>
            </a:r>
            <a:endParaRPr lang="en-US" sz="3000" dirty="0"/>
          </a:p>
        </p:txBody>
      </p:sp>
      <p:sp>
        <p:nvSpPr>
          <p:cNvPr id="3" name="Text 1"/>
          <p:cNvSpPr/>
          <p:nvPr/>
        </p:nvSpPr>
        <p:spPr>
          <a:xfrm>
            <a:off x="640080" y="100584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「何のプロになりたいか」で選び、それぞれに合った職場を経験していく3パターン。</a:t>
            </a:r>
            <a:endParaRPr lang="en-US" sz="1400" dirty="0"/>
          </a:p>
        </p:txBody>
      </p:sp>
      <p:sp>
        <p:nvSpPr>
          <p:cNvPr id="4" name="Shape 2"/>
          <p:cNvSpPr/>
          <p:nvPr/>
        </p:nvSpPr>
        <p:spPr>
          <a:xfrm>
            <a:off x="548640" y="1600200"/>
            <a:ext cx="3566160" cy="4892040"/>
          </a:xfrm>
          <a:prstGeom prst="roundRect">
            <a:avLst>
              <a:gd name="adj" fmla="val 2564"/>
            </a:avLst>
          </a:prstGeom>
          <a:solidFill>
            <a:srgbClr val="FFFFFF"/>
          </a:solidFill>
          <a:ln w="19050">
            <a:solidFill>
              <a:srgbClr val="1E2761"/>
            </a:solidFill>
            <a:prstDash val="solid"/>
          </a:ln>
        </p:spPr>
      </p:sp>
      <p:sp>
        <p:nvSpPr>
          <p:cNvPr id="5" name="Shape 3"/>
          <p:cNvSpPr/>
          <p:nvPr/>
        </p:nvSpPr>
        <p:spPr>
          <a:xfrm>
            <a:off x="777240" y="1801368"/>
            <a:ext cx="502920" cy="384048"/>
          </a:xfrm>
          <a:prstGeom prst="roundRect">
            <a:avLst>
              <a:gd name="adj" fmla="val 19048"/>
            </a:avLst>
          </a:prstGeom>
          <a:solidFill>
            <a:srgbClr val="1E2761"/>
          </a:solidFill>
          <a:ln/>
        </p:spPr>
      </p:sp>
      <p:sp>
        <p:nvSpPr>
          <p:cNvPr id="6" name="Text 4"/>
          <p:cNvSpPr/>
          <p:nvPr/>
        </p:nvSpPr>
        <p:spPr>
          <a:xfrm>
            <a:off x="77724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1</a:t>
            </a:r>
            <a:endParaRPr lang="en-US" sz="1600" dirty="0"/>
          </a:p>
        </p:txBody>
      </p:sp>
      <p:sp>
        <p:nvSpPr>
          <p:cNvPr id="7" name="Text 5"/>
          <p:cNvSpPr/>
          <p:nvPr/>
        </p:nvSpPr>
        <p:spPr>
          <a:xfrm>
            <a:off x="141732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信託資金で資産形成を支えるプロになる</a:t>
            </a:r>
            <a:endParaRPr lang="en-US" sz="1500" dirty="0"/>
          </a:p>
        </p:txBody>
      </p:sp>
      <p:sp>
        <p:nvSpPr>
          <p:cNvPr id="8" name="Shape 6"/>
          <p:cNvSpPr/>
          <p:nvPr/>
        </p:nvSpPr>
        <p:spPr>
          <a:xfrm>
            <a:off x="804672" y="2468880"/>
            <a:ext cx="566928" cy="566928"/>
          </a:xfrm>
          <a:prstGeom prst="ellipse">
            <a:avLst/>
          </a:prstGeom>
          <a:solidFill>
            <a:srgbClr val="1E2761"/>
          </a:solidFill>
          <a:ln/>
        </p:spPr>
      </p:sp>
      <p:pic>
        <p:nvPicPr>
          <p:cNvPr id="9" name="Image 0" descr="icon_building.png">    </p:cNvPr>
          <p:cNvPicPr>
            <a:picLocks noChangeAspect="1"/>
          </p:cNvPicPr>
          <p:nvPr/>
        </p:nvPicPr>
        <p:blipFill>
          <a:blip r:embed="rId1"/>
          <a:stretch>
            <a:fillRect/>
          </a:stretch>
        </p:blipFill>
        <p:spPr>
          <a:xfrm>
            <a:off x="923544" y="2587752"/>
            <a:ext cx="329184" cy="329184"/>
          </a:xfrm>
          <a:prstGeom prst="rect">
            <a:avLst/>
          </a:prstGeom>
        </p:spPr>
      </p:pic>
      <p:sp>
        <p:nvSpPr>
          <p:cNvPr id="10" name="Text 7"/>
          <p:cNvSpPr/>
          <p:nvPr/>
        </p:nvSpPr>
        <p:spPr>
          <a:xfrm>
            <a:off x="150876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11" name="Text 8"/>
          <p:cNvSpPr/>
          <p:nvPr/>
        </p:nvSpPr>
        <p:spPr>
          <a:xfrm>
            <a:off x="150876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資産運用部門</a:t>
            </a:r>
            <a:endParaRPr lang="en-US" sz="1400" dirty="0"/>
          </a:p>
        </p:txBody>
      </p:sp>
      <p:sp>
        <p:nvSpPr>
          <p:cNvPr id="12" name="Text 9"/>
          <p:cNvSpPr/>
          <p:nvPr/>
        </p:nvSpPr>
        <p:spPr>
          <a:xfrm>
            <a:off x="804672" y="3035808"/>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3" name="Shape 10"/>
          <p:cNvSpPr/>
          <p:nvPr/>
        </p:nvSpPr>
        <p:spPr>
          <a:xfrm>
            <a:off x="804672" y="3328416"/>
            <a:ext cx="566928" cy="566928"/>
          </a:xfrm>
          <a:prstGeom prst="ellipse">
            <a:avLst/>
          </a:prstGeom>
          <a:solidFill>
            <a:srgbClr val="1E2761"/>
          </a:solidFill>
          <a:ln/>
        </p:spPr>
      </p:sp>
      <p:pic>
        <p:nvPicPr>
          <p:cNvPr id="14" name="Image 1" descr="icon_exchange.png">    </p:cNvPr>
          <p:cNvPicPr>
            <a:picLocks noChangeAspect="1"/>
          </p:cNvPicPr>
          <p:nvPr/>
        </p:nvPicPr>
        <p:blipFill>
          <a:blip r:embed="rId2"/>
          <a:stretch>
            <a:fillRect/>
          </a:stretch>
        </p:blipFill>
        <p:spPr>
          <a:xfrm>
            <a:off x="923544" y="3447288"/>
            <a:ext cx="329184" cy="329184"/>
          </a:xfrm>
          <a:prstGeom prst="rect">
            <a:avLst/>
          </a:prstGeom>
        </p:spPr>
      </p:pic>
      <p:sp>
        <p:nvSpPr>
          <p:cNvPr id="15" name="Text 11"/>
          <p:cNvSpPr/>
          <p:nvPr/>
        </p:nvSpPr>
        <p:spPr>
          <a:xfrm>
            <a:off x="150876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16" name="Text 12"/>
          <p:cNvSpPr/>
          <p:nvPr/>
        </p:nvSpPr>
        <p:spPr>
          <a:xfrm>
            <a:off x="150876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グループAM会社へ</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出向・転籍</a:t>
            </a:r>
            <a:endParaRPr lang="en-US" sz="1400" dirty="0"/>
          </a:p>
        </p:txBody>
      </p:sp>
      <p:sp>
        <p:nvSpPr>
          <p:cNvPr id="17" name="Text 13"/>
          <p:cNvSpPr/>
          <p:nvPr/>
        </p:nvSpPr>
        <p:spPr>
          <a:xfrm>
            <a:off x="804672" y="3895344"/>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8" name="Shape 14"/>
          <p:cNvSpPr/>
          <p:nvPr/>
        </p:nvSpPr>
        <p:spPr>
          <a:xfrm>
            <a:off x="804672" y="4187952"/>
            <a:ext cx="566928" cy="566928"/>
          </a:xfrm>
          <a:prstGeom prst="ellipse">
            <a:avLst/>
          </a:prstGeom>
          <a:solidFill>
            <a:srgbClr val="1E2761"/>
          </a:solidFill>
          <a:ln/>
        </p:spPr>
      </p:sp>
      <p:pic>
        <p:nvPicPr>
          <p:cNvPr id="19" name="Image 2" descr="icon_crown.png">    </p:cNvPr>
          <p:cNvPicPr>
            <a:picLocks noChangeAspect="1"/>
          </p:cNvPicPr>
          <p:nvPr/>
        </p:nvPicPr>
        <p:blipFill>
          <a:blip r:embed="rId3"/>
          <a:stretch>
            <a:fillRect/>
          </a:stretch>
        </p:blipFill>
        <p:spPr>
          <a:xfrm>
            <a:off x="923544" y="4306824"/>
            <a:ext cx="329184" cy="329184"/>
          </a:xfrm>
          <a:prstGeom prst="rect">
            <a:avLst/>
          </a:prstGeom>
        </p:spPr>
      </p:pic>
      <p:sp>
        <p:nvSpPr>
          <p:cNvPr id="20" name="Text 15"/>
          <p:cNvSpPr/>
          <p:nvPr/>
        </p:nvSpPr>
        <p:spPr>
          <a:xfrm>
            <a:off x="150876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21" name="Text 16"/>
          <p:cNvSpPr/>
          <p:nvPr/>
        </p:nvSpPr>
        <p:spPr>
          <a:xfrm>
            <a:off x="150876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信託銀行復帰 or</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AM会社の上級職</a:t>
            </a:r>
            <a:endParaRPr lang="en-US" sz="1400" dirty="0"/>
          </a:p>
        </p:txBody>
      </p:sp>
      <p:sp>
        <p:nvSpPr>
          <p:cNvPr id="22" name="Shape 17"/>
          <p:cNvSpPr/>
          <p:nvPr/>
        </p:nvSpPr>
        <p:spPr>
          <a:xfrm>
            <a:off x="685800" y="5513832"/>
            <a:ext cx="3291840" cy="822960"/>
          </a:xfrm>
          <a:prstGeom prst="roundRect">
            <a:avLst>
              <a:gd name="adj" fmla="val 11111"/>
            </a:avLst>
          </a:prstGeom>
          <a:solidFill>
            <a:srgbClr val="FFFFFF"/>
          </a:solidFill>
          <a:ln w="12700">
            <a:solidFill>
              <a:srgbClr val="1E2761"/>
            </a:solidFill>
            <a:prstDash val="solid"/>
          </a:ln>
        </p:spPr>
      </p:sp>
      <p:sp>
        <p:nvSpPr>
          <p:cNvPr id="23" name="Text 18"/>
          <p:cNvSpPr/>
          <p:nvPr/>
        </p:nvSpPr>
        <p:spPr>
          <a:xfrm>
            <a:off x="822960" y="5577840"/>
            <a:ext cx="3017520" cy="713232"/>
          </a:xfrm>
          <a:prstGeom prst="rect">
            <a:avLst/>
          </a:prstGeom>
          <a:noFill/>
          <a:ln/>
        </p:spPr>
        <p:txBody>
          <a:bodyPr wrap="square" rtlCol="0" anchor="ctr"/>
          <a:lstStyle/>
          <a:p>
            <a:pPr indent="0" marL="0">
              <a:lnSpc>
                <a:spcPct val="115000"/>
              </a:lnSpc>
              <a:buNone/>
            </a:pPr>
            <a:r>
              <a:rPr lang="en-US" sz="1400" b="1" dirty="0">
                <a:solidFill>
                  <a:srgbClr val="1E2761"/>
                </a:solidFill>
                <a:latin typeface="Meiryo UI" pitchFamily="34" charset="0"/>
                <a:ea typeface="Meiryo UI" pitchFamily="34" charset="-122"/>
                <a:cs typeface="Meiryo UI" pitchFamily="34" charset="-120"/>
              </a:rPr>
              <a:t>頭脳＝自分で、顧客の信託資金による幅広い資産の運用を極める</a:t>
            </a:r>
            <a:endParaRPr lang="en-US" sz="1400" dirty="0"/>
          </a:p>
        </p:txBody>
      </p:sp>
      <p:sp>
        <p:nvSpPr>
          <p:cNvPr id="24" name="Shape 19"/>
          <p:cNvSpPr/>
          <p:nvPr/>
        </p:nvSpPr>
        <p:spPr>
          <a:xfrm>
            <a:off x="4389120" y="1600200"/>
            <a:ext cx="3566160" cy="4892040"/>
          </a:xfrm>
          <a:prstGeom prst="roundRect">
            <a:avLst>
              <a:gd name="adj" fmla="val 2564"/>
            </a:avLst>
          </a:prstGeom>
          <a:solidFill>
            <a:srgbClr val="FFFFFF"/>
          </a:solidFill>
          <a:ln w="19050">
            <a:solidFill>
              <a:srgbClr val="2E6F52"/>
            </a:solidFill>
            <a:prstDash val="solid"/>
          </a:ln>
        </p:spPr>
      </p:sp>
      <p:sp>
        <p:nvSpPr>
          <p:cNvPr id="25" name="Shape 20"/>
          <p:cNvSpPr/>
          <p:nvPr/>
        </p:nvSpPr>
        <p:spPr>
          <a:xfrm>
            <a:off x="4617720" y="1801368"/>
            <a:ext cx="502920" cy="384048"/>
          </a:xfrm>
          <a:prstGeom prst="roundRect">
            <a:avLst>
              <a:gd name="adj" fmla="val 19048"/>
            </a:avLst>
          </a:prstGeom>
          <a:solidFill>
            <a:srgbClr val="2E6F52"/>
          </a:solidFill>
          <a:ln/>
        </p:spPr>
      </p:sp>
      <p:sp>
        <p:nvSpPr>
          <p:cNvPr id="26" name="Text 21"/>
          <p:cNvSpPr/>
          <p:nvPr/>
        </p:nvSpPr>
        <p:spPr>
          <a:xfrm>
            <a:off x="461772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2</a:t>
            </a:r>
            <a:endParaRPr lang="en-US" sz="1600" dirty="0"/>
          </a:p>
        </p:txBody>
      </p:sp>
      <p:sp>
        <p:nvSpPr>
          <p:cNvPr id="27" name="Text 22"/>
          <p:cNvSpPr/>
          <p:nvPr/>
        </p:nvSpPr>
        <p:spPr>
          <a:xfrm>
            <a:off x="525780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助言で企業経営を支えるプロになる</a:t>
            </a:r>
            <a:endParaRPr lang="en-US" sz="1500" dirty="0"/>
          </a:p>
        </p:txBody>
      </p:sp>
      <p:sp>
        <p:nvSpPr>
          <p:cNvPr id="28" name="Shape 23"/>
          <p:cNvSpPr/>
          <p:nvPr/>
        </p:nvSpPr>
        <p:spPr>
          <a:xfrm>
            <a:off x="4645152" y="2468880"/>
            <a:ext cx="566928" cy="566928"/>
          </a:xfrm>
          <a:prstGeom prst="ellipse">
            <a:avLst/>
          </a:prstGeom>
          <a:solidFill>
            <a:srgbClr val="2E6F52"/>
          </a:solidFill>
          <a:ln/>
        </p:spPr>
      </p:sp>
      <p:pic>
        <p:nvPicPr>
          <p:cNvPr id="29" name="Image 3" descr="icon_contract.png">    </p:cNvPr>
          <p:cNvPicPr>
            <a:picLocks noChangeAspect="1"/>
          </p:cNvPicPr>
          <p:nvPr/>
        </p:nvPicPr>
        <p:blipFill>
          <a:blip r:embed="rId4"/>
          <a:stretch>
            <a:fillRect/>
          </a:stretch>
        </p:blipFill>
        <p:spPr>
          <a:xfrm>
            <a:off x="4764024" y="2587752"/>
            <a:ext cx="329184" cy="329184"/>
          </a:xfrm>
          <a:prstGeom prst="rect">
            <a:avLst/>
          </a:prstGeom>
        </p:spPr>
      </p:pic>
      <p:sp>
        <p:nvSpPr>
          <p:cNvPr id="30" name="Text 24"/>
          <p:cNvSpPr/>
          <p:nvPr/>
        </p:nvSpPr>
        <p:spPr>
          <a:xfrm>
            <a:off x="534924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入行後</a:t>
            </a:r>
            <a:endParaRPr lang="en-US" sz="1300" dirty="0"/>
          </a:p>
        </p:txBody>
      </p:sp>
      <p:sp>
        <p:nvSpPr>
          <p:cNvPr id="31" name="Text 25"/>
          <p:cNvSpPr/>
          <p:nvPr/>
        </p:nvSpPr>
        <p:spPr>
          <a:xfrm>
            <a:off x="534924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証券代行部門</a:t>
            </a:r>
            <a:endParaRPr lang="en-US" sz="1400" dirty="0"/>
          </a:p>
        </p:txBody>
      </p:sp>
      <p:sp>
        <p:nvSpPr>
          <p:cNvPr id="32" name="Text 26"/>
          <p:cNvSpPr/>
          <p:nvPr/>
        </p:nvSpPr>
        <p:spPr>
          <a:xfrm>
            <a:off x="4645152" y="3035808"/>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3" name="Shape 27"/>
          <p:cNvSpPr/>
          <p:nvPr/>
        </p:nvSpPr>
        <p:spPr>
          <a:xfrm>
            <a:off x="4645152" y="3328416"/>
            <a:ext cx="566928" cy="566928"/>
          </a:xfrm>
          <a:prstGeom prst="ellipse">
            <a:avLst/>
          </a:prstGeom>
          <a:solidFill>
            <a:srgbClr val="2E6F52"/>
          </a:solidFill>
          <a:ln/>
        </p:spPr>
      </p:sp>
      <p:pic>
        <p:nvPicPr>
          <p:cNvPr id="34" name="Image 4" descr="icon_law.png">    </p:cNvPr>
          <p:cNvPicPr>
            <a:picLocks noChangeAspect="1"/>
          </p:cNvPicPr>
          <p:nvPr/>
        </p:nvPicPr>
        <p:blipFill>
          <a:blip r:embed="rId5"/>
          <a:stretch>
            <a:fillRect/>
          </a:stretch>
        </p:blipFill>
        <p:spPr>
          <a:xfrm>
            <a:off x="4764024" y="3447288"/>
            <a:ext cx="329184" cy="329184"/>
          </a:xfrm>
          <a:prstGeom prst="rect">
            <a:avLst/>
          </a:prstGeom>
        </p:spPr>
      </p:pic>
      <p:sp>
        <p:nvSpPr>
          <p:cNvPr id="35" name="Text 28"/>
          <p:cNvSpPr/>
          <p:nvPr/>
        </p:nvSpPr>
        <p:spPr>
          <a:xfrm>
            <a:off x="534924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経験を積んだ後</a:t>
            </a:r>
            <a:endParaRPr lang="en-US" sz="1300" dirty="0"/>
          </a:p>
        </p:txBody>
      </p:sp>
      <p:sp>
        <p:nvSpPr>
          <p:cNvPr id="36" name="Text 29"/>
          <p:cNvSpPr/>
          <p:nvPr/>
        </p:nvSpPr>
        <p:spPr>
          <a:xfrm>
            <a:off x="534924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部門内の</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ガバナンスコンサルティングチーム</a:t>
            </a:r>
            <a:endParaRPr lang="en-US" sz="1400" dirty="0"/>
          </a:p>
        </p:txBody>
      </p:sp>
      <p:sp>
        <p:nvSpPr>
          <p:cNvPr id="37" name="Text 30"/>
          <p:cNvSpPr/>
          <p:nvPr/>
        </p:nvSpPr>
        <p:spPr>
          <a:xfrm>
            <a:off x="4645152" y="3895344"/>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8" name="Shape 31"/>
          <p:cNvSpPr/>
          <p:nvPr/>
        </p:nvSpPr>
        <p:spPr>
          <a:xfrm>
            <a:off x="4645152" y="4187952"/>
            <a:ext cx="566928" cy="566928"/>
          </a:xfrm>
          <a:prstGeom prst="ellipse">
            <a:avLst/>
          </a:prstGeom>
          <a:solidFill>
            <a:srgbClr val="2E6F52"/>
          </a:solidFill>
          <a:ln/>
        </p:spPr>
      </p:sp>
      <p:pic>
        <p:nvPicPr>
          <p:cNvPr id="39" name="Image 5" descr="icon_usertie.png">    </p:cNvPr>
          <p:cNvPicPr>
            <a:picLocks noChangeAspect="1"/>
          </p:cNvPicPr>
          <p:nvPr/>
        </p:nvPicPr>
        <p:blipFill>
          <a:blip r:embed="rId6"/>
          <a:stretch>
            <a:fillRect/>
          </a:stretch>
        </p:blipFill>
        <p:spPr>
          <a:xfrm>
            <a:off x="4764024" y="4306824"/>
            <a:ext cx="329184" cy="329184"/>
          </a:xfrm>
          <a:prstGeom prst="rect">
            <a:avLst/>
          </a:prstGeom>
        </p:spPr>
      </p:pic>
      <p:sp>
        <p:nvSpPr>
          <p:cNvPr id="40" name="Text 32"/>
          <p:cNvSpPr/>
          <p:nvPr/>
        </p:nvSpPr>
        <p:spPr>
          <a:xfrm>
            <a:off x="534924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将来的に</a:t>
            </a:r>
            <a:endParaRPr lang="en-US" sz="1300" dirty="0"/>
          </a:p>
        </p:txBody>
      </p:sp>
      <p:sp>
        <p:nvSpPr>
          <p:cNvPr id="41" name="Text 33"/>
          <p:cNvSpPr/>
          <p:nvPr/>
        </p:nvSpPr>
        <p:spPr>
          <a:xfrm>
            <a:off x="534924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シニアコンサルタント</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または管理職</a:t>
            </a:r>
            <a:endParaRPr lang="en-US" sz="1400" dirty="0"/>
          </a:p>
        </p:txBody>
      </p:sp>
      <p:sp>
        <p:nvSpPr>
          <p:cNvPr id="42" name="Shape 34"/>
          <p:cNvSpPr/>
          <p:nvPr/>
        </p:nvSpPr>
        <p:spPr>
          <a:xfrm>
            <a:off x="4526280" y="5513832"/>
            <a:ext cx="3291840" cy="822960"/>
          </a:xfrm>
          <a:prstGeom prst="roundRect">
            <a:avLst>
              <a:gd name="adj" fmla="val 11111"/>
            </a:avLst>
          </a:prstGeom>
          <a:solidFill>
            <a:srgbClr val="FFFFFF"/>
          </a:solidFill>
          <a:ln w="12700">
            <a:solidFill>
              <a:srgbClr val="2E6F52"/>
            </a:solidFill>
            <a:prstDash val="solid"/>
          </a:ln>
        </p:spPr>
      </p:sp>
      <p:sp>
        <p:nvSpPr>
          <p:cNvPr id="43" name="Text 35"/>
          <p:cNvSpPr/>
          <p:nvPr/>
        </p:nvSpPr>
        <p:spPr>
          <a:xfrm>
            <a:off x="4663440" y="5577840"/>
            <a:ext cx="3017520" cy="713232"/>
          </a:xfrm>
          <a:prstGeom prst="rect">
            <a:avLst/>
          </a:prstGeom>
          <a:noFill/>
          <a:ln/>
        </p:spPr>
        <p:txBody>
          <a:bodyPr wrap="square" rtlCol="0" anchor="ctr"/>
          <a:lstStyle/>
          <a:p>
            <a:pPr indent="0" marL="0">
              <a:lnSpc>
                <a:spcPct val="115000"/>
              </a:lnSpc>
              <a:buNone/>
            </a:pPr>
            <a:r>
              <a:rPr lang="en-US" sz="1400" b="1" dirty="0">
                <a:solidFill>
                  <a:srgbClr val="2E6F52"/>
                </a:solidFill>
                <a:latin typeface="Meiryo UI" pitchFamily="34" charset="0"/>
                <a:ea typeface="Meiryo UI" pitchFamily="34" charset="-122"/>
                <a:cs typeface="Meiryo UI" pitchFamily="34" charset="-120"/>
              </a:rPr>
              <a:t>運用ではなく企業経営への助言を極める。証券代行部門が起点</a:t>
            </a:r>
            <a:endParaRPr lang="en-US" sz="1400" dirty="0"/>
          </a:p>
        </p:txBody>
      </p:sp>
      <p:sp>
        <p:nvSpPr>
          <p:cNvPr id="44" name="Shape 36"/>
          <p:cNvSpPr/>
          <p:nvPr/>
        </p:nvSpPr>
        <p:spPr>
          <a:xfrm>
            <a:off x="8229600" y="1600200"/>
            <a:ext cx="3566160" cy="4892040"/>
          </a:xfrm>
          <a:prstGeom prst="roundRect">
            <a:avLst>
              <a:gd name="adj" fmla="val 2564"/>
            </a:avLst>
          </a:prstGeom>
          <a:solidFill>
            <a:srgbClr val="FFFFFF"/>
          </a:solidFill>
          <a:ln w="19050">
            <a:solidFill>
              <a:srgbClr val="8A4B1E"/>
            </a:solidFill>
            <a:prstDash val="solid"/>
          </a:ln>
        </p:spPr>
      </p:sp>
      <p:sp>
        <p:nvSpPr>
          <p:cNvPr id="45" name="Shape 37"/>
          <p:cNvSpPr/>
          <p:nvPr/>
        </p:nvSpPr>
        <p:spPr>
          <a:xfrm>
            <a:off x="8458200" y="1801368"/>
            <a:ext cx="502920" cy="384048"/>
          </a:xfrm>
          <a:prstGeom prst="roundRect">
            <a:avLst>
              <a:gd name="adj" fmla="val 19048"/>
            </a:avLst>
          </a:prstGeom>
          <a:solidFill>
            <a:srgbClr val="8A4B1E"/>
          </a:solidFill>
          <a:ln/>
        </p:spPr>
      </p:sp>
      <p:sp>
        <p:nvSpPr>
          <p:cNvPr id="46" name="Text 38"/>
          <p:cNvSpPr/>
          <p:nvPr/>
        </p:nvSpPr>
        <p:spPr>
          <a:xfrm>
            <a:off x="845820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3</a:t>
            </a:r>
            <a:endParaRPr lang="en-US" sz="1600" dirty="0"/>
          </a:p>
        </p:txBody>
      </p:sp>
      <p:sp>
        <p:nvSpPr>
          <p:cNvPr id="47" name="Text 39"/>
          <p:cNvSpPr/>
          <p:nvPr/>
        </p:nvSpPr>
        <p:spPr>
          <a:xfrm>
            <a:off x="909828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融資・自己資金運用で企業を支えるプロになる</a:t>
            </a:r>
            <a:endParaRPr lang="en-US" sz="1500" dirty="0"/>
          </a:p>
        </p:txBody>
      </p:sp>
      <p:sp>
        <p:nvSpPr>
          <p:cNvPr id="48" name="Shape 40"/>
          <p:cNvSpPr/>
          <p:nvPr/>
        </p:nvSpPr>
        <p:spPr>
          <a:xfrm>
            <a:off x="8485632" y="2468880"/>
            <a:ext cx="566928" cy="566928"/>
          </a:xfrm>
          <a:prstGeom prst="ellipse">
            <a:avLst/>
          </a:prstGeom>
          <a:solidFill>
            <a:srgbClr val="8A4B1E"/>
          </a:solidFill>
          <a:ln/>
        </p:spPr>
      </p:sp>
      <p:pic>
        <p:nvPicPr>
          <p:cNvPr id="49" name="Image 6" descr="icon_landmark.png">    </p:cNvPr>
          <p:cNvPicPr>
            <a:picLocks noChangeAspect="1"/>
          </p:cNvPicPr>
          <p:nvPr/>
        </p:nvPicPr>
        <p:blipFill>
          <a:blip r:embed="rId7"/>
          <a:stretch>
            <a:fillRect/>
          </a:stretch>
        </p:blipFill>
        <p:spPr>
          <a:xfrm>
            <a:off x="8604504" y="2587752"/>
            <a:ext cx="329184" cy="329184"/>
          </a:xfrm>
          <a:prstGeom prst="rect">
            <a:avLst/>
          </a:prstGeom>
        </p:spPr>
      </p:pic>
      <p:sp>
        <p:nvSpPr>
          <p:cNvPr id="50" name="Text 41"/>
          <p:cNvSpPr/>
          <p:nvPr/>
        </p:nvSpPr>
        <p:spPr>
          <a:xfrm>
            <a:off x="918972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51" name="Text 42"/>
          <p:cNvSpPr/>
          <p:nvPr/>
        </p:nvSpPr>
        <p:spPr>
          <a:xfrm>
            <a:off x="918972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法人融資 or 市場運用部門</a:t>
            </a:r>
            <a:endParaRPr lang="en-US" sz="1400" dirty="0"/>
          </a:p>
        </p:txBody>
      </p:sp>
      <p:sp>
        <p:nvSpPr>
          <p:cNvPr id="52" name="Text 43"/>
          <p:cNvSpPr/>
          <p:nvPr/>
        </p:nvSpPr>
        <p:spPr>
          <a:xfrm>
            <a:off x="8485632" y="3035808"/>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3" name="Shape 44"/>
          <p:cNvSpPr/>
          <p:nvPr/>
        </p:nvSpPr>
        <p:spPr>
          <a:xfrm>
            <a:off x="8485632" y="3328416"/>
            <a:ext cx="566928" cy="566928"/>
          </a:xfrm>
          <a:prstGeom prst="ellipse">
            <a:avLst/>
          </a:prstGeom>
          <a:solidFill>
            <a:srgbClr val="8A4B1E"/>
          </a:solidFill>
          <a:ln/>
        </p:spPr>
      </p:sp>
      <p:pic>
        <p:nvPicPr>
          <p:cNvPr id="54" name="Image 7" descr="icon_chartpie.png">    </p:cNvPr>
          <p:cNvPicPr>
            <a:picLocks noChangeAspect="1"/>
          </p:cNvPicPr>
          <p:nvPr/>
        </p:nvPicPr>
        <p:blipFill>
          <a:blip r:embed="rId8"/>
          <a:stretch>
            <a:fillRect/>
          </a:stretch>
        </p:blipFill>
        <p:spPr>
          <a:xfrm>
            <a:off x="8604504" y="3447288"/>
            <a:ext cx="329184" cy="329184"/>
          </a:xfrm>
          <a:prstGeom prst="rect">
            <a:avLst/>
          </a:prstGeom>
        </p:spPr>
      </p:pic>
      <p:sp>
        <p:nvSpPr>
          <p:cNvPr id="55" name="Text 45"/>
          <p:cNvSpPr/>
          <p:nvPr/>
        </p:nvSpPr>
        <p:spPr>
          <a:xfrm>
            <a:off x="918972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56" name="Text 46"/>
          <p:cNvSpPr/>
          <p:nvPr/>
        </p:nvSpPr>
        <p:spPr>
          <a:xfrm>
            <a:off x="918972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与信審査 or 自己勘定投資</a:t>
            </a:r>
            <a:endParaRPr lang="en-US" sz="1400" dirty="0"/>
          </a:p>
        </p:txBody>
      </p:sp>
      <p:sp>
        <p:nvSpPr>
          <p:cNvPr id="57" name="Text 47"/>
          <p:cNvSpPr/>
          <p:nvPr/>
        </p:nvSpPr>
        <p:spPr>
          <a:xfrm>
            <a:off x="8485632" y="3895344"/>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8" name="Shape 48"/>
          <p:cNvSpPr/>
          <p:nvPr/>
        </p:nvSpPr>
        <p:spPr>
          <a:xfrm>
            <a:off x="8485632" y="4187952"/>
            <a:ext cx="566928" cy="566928"/>
          </a:xfrm>
          <a:prstGeom prst="ellipse">
            <a:avLst/>
          </a:prstGeom>
          <a:solidFill>
            <a:srgbClr val="8A4B1E"/>
          </a:solidFill>
          <a:ln/>
        </p:spPr>
      </p:sp>
      <p:pic>
        <p:nvPicPr>
          <p:cNvPr id="59" name="Image 8" descr="icon_crown.png">    </p:cNvPr>
          <p:cNvPicPr>
            <a:picLocks noChangeAspect="1"/>
          </p:cNvPicPr>
          <p:nvPr/>
        </p:nvPicPr>
        <p:blipFill>
          <a:blip r:embed="rId9"/>
          <a:stretch>
            <a:fillRect/>
          </a:stretch>
        </p:blipFill>
        <p:spPr>
          <a:xfrm>
            <a:off x="8604504" y="4306824"/>
            <a:ext cx="329184" cy="329184"/>
          </a:xfrm>
          <a:prstGeom prst="rect">
            <a:avLst/>
          </a:prstGeom>
        </p:spPr>
      </p:pic>
      <p:sp>
        <p:nvSpPr>
          <p:cNvPr id="60" name="Text 49"/>
          <p:cNvSpPr/>
          <p:nvPr/>
        </p:nvSpPr>
        <p:spPr>
          <a:xfrm>
            <a:off x="918972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61" name="Text 50"/>
          <p:cNvSpPr/>
          <p:nvPr/>
        </p:nvSpPr>
        <p:spPr>
          <a:xfrm>
            <a:off x="918972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融資・運用部門の管理職</a:t>
            </a:r>
            <a:endParaRPr lang="en-US" sz="1400" dirty="0"/>
          </a:p>
        </p:txBody>
      </p:sp>
      <p:sp>
        <p:nvSpPr>
          <p:cNvPr id="62" name="Shape 51"/>
          <p:cNvSpPr/>
          <p:nvPr/>
        </p:nvSpPr>
        <p:spPr>
          <a:xfrm>
            <a:off x="8366760" y="5513832"/>
            <a:ext cx="3291840" cy="822960"/>
          </a:xfrm>
          <a:prstGeom prst="roundRect">
            <a:avLst>
              <a:gd name="adj" fmla="val 11111"/>
            </a:avLst>
          </a:prstGeom>
          <a:solidFill>
            <a:srgbClr val="FFFFFF"/>
          </a:solidFill>
          <a:ln w="12700">
            <a:solidFill>
              <a:srgbClr val="8A4B1E"/>
            </a:solidFill>
            <a:prstDash val="solid"/>
          </a:ln>
        </p:spPr>
      </p:sp>
      <p:sp>
        <p:nvSpPr>
          <p:cNvPr id="63" name="Text 52"/>
          <p:cNvSpPr/>
          <p:nvPr/>
        </p:nvSpPr>
        <p:spPr>
          <a:xfrm>
            <a:off x="8503920" y="5577840"/>
            <a:ext cx="3017520" cy="713232"/>
          </a:xfrm>
          <a:prstGeom prst="rect">
            <a:avLst/>
          </a:prstGeom>
          <a:noFill/>
          <a:ln/>
        </p:spPr>
        <p:txBody>
          <a:bodyPr wrap="square" rtlCol="0" anchor="ctr"/>
          <a:lstStyle/>
          <a:p>
            <a:pPr indent="0" marL="0">
              <a:lnSpc>
                <a:spcPct val="115000"/>
              </a:lnSpc>
              <a:buNone/>
            </a:pPr>
            <a:r>
              <a:rPr lang="en-US" sz="1400" b="1" dirty="0">
                <a:solidFill>
                  <a:srgbClr val="8A4B1E"/>
                </a:solidFill>
                <a:latin typeface="Meiryo UI" pitchFamily="34" charset="0"/>
                <a:ea typeface="Meiryo UI" pitchFamily="34" charset="-122"/>
                <a:cs typeface="Meiryo UI" pitchFamily="34" charset="-120"/>
              </a:rPr>
              <a:t>頭脳＝自分で、銀行自身の資金（デット・エクイティ両方）を企業の成長に振り向ける</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1E2761"/>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①</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信託資金で資産形成を支えるプロになる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頭脳＝自分。顧客の信託資金をもとに、幅広い資産に投資判断を下す専門性を極める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1E2761"/>
            </a:solidFill>
            <a:prstDash val="solid"/>
          </a:ln>
        </p:spPr>
      </p:sp>
      <p:sp>
        <p:nvSpPr>
          <p:cNvPr id="7" name="Shape 5"/>
          <p:cNvSpPr/>
          <p:nvPr/>
        </p:nvSpPr>
        <p:spPr>
          <a:xfrm>
            <a:off x="749808" y="1691640"/>
            <a:ext cx="868680" cy="868680"/>
          </a:xfrm>
          <a:prstGeom prst="ellipse">
            <a:avLst/>
          </a:prstGeom>
          <a:solidFill>
            <a:srgbClr val="1E2761"/>
          </a:solidFill>
          <a:ln/>
        </p:spPr>
      </p:sp>
      <p:pic>
        <p:nvPicPr>
          <p:cNvPr id="8" name="Image 0" descr="icon_building.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資産運用部門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特定金銭信託・年金信託等の運用実務、商品組成、マーケット分析の基礎を、信託銀行の運用担当としてOJTで習得する。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マーケットを見る目と運用商品の基本構造の理解、財務諸表分析力を投資判断に応用する初期経験。</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1E2761"/>
            </a:solidFill>
            <a:prstDash val="solid"/>
          </a:ln>
        </p:spPr>
      </p:sp>
      <p:sp>
        <p:nvSpPr>
          <p:cNvPr id="15" name="Shape 11"/>
          <p:cNvSpPr/>
          <p:nvPr/>
        </p:nvSpPr>
        <p:spPr>
          <a:xfrm>
            <a:off x="4590288" y="1691640"/>
            <a:ext cx="868680" cy="868680"/>
          </a:xfrm>
          <a:prstGeom prst="ellipse">
            <a:avLst/>
          </a:prstGeom>
          <a:solidFill>
            <a:srgbClr val="1E2761"/>
          </a:solidFill>
          <a:ln/>
        </p:spPr>
      </p:sp>
      <p:pic>
        <p:nvPicPr>
          <p:cNvPr id="16" name="Image 2" descr="icon_exchang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グループAM会社へ</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出向・転籍</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ファンドマネージャー／アナリストとして「何を買うか」を決める運用の頭脳側を担当。公募投信や年金運用等、幅広い資産クラスで運用を受託する側の実務を経験する。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投資判断力・リサーチ力を、財務諸表分析力を武器に磨き上げ、運用会社ならではの専門性を確立する。</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1E2761"/>
            </a:solidFill>
            <a:prstDash val="solid"/>
          </a:ln>
        </p:spPr>
      </p:sp>
      <p:sp>
        <p:nvSpPr>
          <p:cNvPr id="23" name="Shape 17"/>
          <p:cNvSpPr/>
          <p:nvPr/>
        </p:nvSpPr>
        <p:spPr>
          <a:xfrm>
            <a:off x="8430768" y="1691640"/>
            <a:ext cx="868680" cy="868680"/>
          </a:xfrm>
          <a:prstGeom prst="ellipse">
            <a:avLst/>
          </a:prstGeom>
          <a:solidFill>
            <a:srgbClr val="1E2761"/>
          </a:solidFill>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信託銀行復帰 or</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AM会社の上級職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信託銀行の運用企画部門で外部運用会社を評価・選定する視点も併せ持つマネージャー、またはAM会社のシニアファンドマネージャー・運用部門責任者。</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「頭脳」と「金庫」双方の実務を知る、グループ内でも希少な人材としての専門性。</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2E6F52"/>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②</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助言で企業経営を支えるプロになる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頭脳の対象は「運用」ではなく「企業経営」。証券代行部門を起点に、ガバナンス領域の専門性を深める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2E6F52"/>
            </a:solidFill>
            <a:prstDash val="solid"/>
          </a:ln>
        </p:spPr>
      </p:sp>
      <p:sp>
        <p:nvSpPr>
          <p:cNvPr id="7" name="Shape 5"/>
          <p:cNvSpPr/>
          <p:nvPr/>
        </p:nvSpPr>
        <p:spPr>
          <a:xfrm>
            <a:off x="749808" y="1691640"/>
            <a:ext cx="868680" cy="868680"/>
          </a:xfrm>
          <a:prstGeom prst="ellipse">
            <a:avLst/>
          </a:prstGeom>
          <a:solidFill>
            <a:srgbClr val="2E6F52"/>
          </a:solidFill>
          <a:ln/>
        </p:spPr>
      </p:sp>
      <p:pic>
        <p:nvPicPr>
          <p:cNvPr id="8" name="Image 0" descr="icon_contract.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入行後</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証券代行部門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株主名簿管理・株主総会運営支援等、証券代行業務の実務を通じて、会社法・金融商品取引法の実務知識を習得する。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企業法ゼミで学んだ会社法の知識を実務に接続する経験、株主総会実務への理解。</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2E6F52"/>
            </a:solidFill>
            <a:prstDash val="solid"/>
          </a:ln>
        </p:spPr>
      </p:sp>
      <p:sp>
        <p:nvSpPr>
          <p:cNvPr id="15" name="Shape 11"/>
          <p:cNvSpPr/>
          <p:nvPr/>
        </p:nvSpPr>
        <p:spPr>
          <a:xfrm>
            <a:off x="4590288" y="1691640"/>
            <a:ext cx="868680" cy="868680"/>
          </a:xfrm>
          <a:prstGeom prst="ellipse">
            <a:avLst/>
          </a:prstGeom>
          <a:solidFill>
            <a:srgbClr val="2E6F52"/>
          </a:solidFill>
          <a:ln/>
        </p:spPr>
      </p:sp>
      <p:pic>
        <p:nvPicPr>
          <p:cNvPr id="16" name="Image 2" descr="icon_law.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経験を積んだ後</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部門内の</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ガバナンスコンサルティングチーム</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IR・SRコンサルティング、ガバナンスコンサルティング、指名・報酬コンサルティング等、証券代行部門が提供する企業向けの経営助言業務を担当する。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企業法の知識を武器に、財務諸表分析力も組み合わせてガバナンス課題を分析・助言する力。</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2E6F52"/>
            </a:solidFill>
            <a:prstDash val="solid"/>
          </a:ln>
        </p:spPr>
      </p:sp>
      <p:sp>
        <p:nvSpPr>
          <p:cNvPr id="23" name="Shape 17"/>
          <p:cNvSpPr/>
          <p:nvPr/>
        </p:nvSpPr>
        <p:spPr>
          <a:xfrm>
            <a:off x="8430768" y="1691640"/>
            <a:ext cx="868680" cy="868680"/>
          </a:xfrm>
          <a:prstGeom prst="ellipse">
            <a:avLst/>
          </a:prstGeom>
          <a:solidFill>
            <a:srgbClr val="2E6F52"/>
          </a:solidFill>
          <a:ln/>
        </p:spPr>
      </p:sp>
      <p:pic>
        <p:nvPicPr>
          <p:cNvPr id="24" name="Image 4" descr="icon_usertie.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将来的に</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シニアコンサルタント</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または管理職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買収防衛策アドバイザリーやアクティビスト対応など、より高度な経営課題への助言をリードする、または部門のマネジメントを担う。</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企業法の専門性を軸に、企業経営そのものへの助言力を持つ、信託銀行ならではの人材としての専門性。</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8A4B1E"/>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③</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融資・自己資金運用で企業を支えるプロになる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頭脳＝自分。銀行自身の資金（デット・エクイティ）で企業の成長を支える専門性を極める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8A4B1E"/>
            </a:solidFill>
            <a:prstDash val="solid"/>
          </a:ln>
        </p:spPr>
      </p:sp>
      <p:sp>
        <p:nvSpPr>
          <p:cNvPr id="7" name="Shape 5"/>
          <p:cNvSpPr/>
          <p:nvPr/>
        </p:nvSpPr>
        <p:spPr>
          <a:xfrm>
            <a:off x="749808" y="1691640"/>
            <a:ext cx="868680" cy="868680"/>
          </a:xfrm>
          <a:prstGeom prst="ellipse">
            <a:avLst/>
          </a:prstGeom>
          <a:solidFill>
            <a:srgbClr val="8A4B1E"/>
          </a:solidFill>
          <a:ln/>
        </p:spPr>
      </p:sp>
      <p:pic>
        <p:nvPicPr>
          <p:cNvPr id="8" name="Image 0" descr="icon_landmark.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法人融資 or 市場運用部門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法人融資部門なら企業への与信審査・貸出実務、市場運用部門なら債券・株式等の市場調査やディーリング実務の基礎を習得する。ゆうちょ銀行は市場運用（国債等）が収益の柱であり、代表的な配属先の一つ。</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融資なら財務諸表分析力を与信判断に応用する経験、市場運用ならマーケットを継続的に追う力。銀行自身の資金でリスクを取る感覚を養う。</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8A4B1E"/>
            </a:solidFill>
            <a:prstDash val="solid"/>
          </a:ln>
        </p:spPr>
      </p:sp>
      <p:sp>
        <p:nvSpPr>
          <p:cNvPr id="15" name="Shape 11"/>
          <p:cNvSpPr/>
          <p:nvPr/>
        </p:nvSpPr>
        <p:spPr>
          <a:xfrm>
            <a:off x="4590288" y="1691640"/>
            <a:ext cx="868680" cy="868680"/>
          </a:xfrm>
          <a:prstGeom prst="ellipse">
            <a:avLst/>
          </a:prstGeom>
          <a:solidFill>
            <a:srgbClr val="8A4B1E"/>
          </a:solidFill>
          <a:ln/>
        </p:spPr>
      </p:sp>
      <p:pic>
        <p:nvPicPr>
          <p:cNvPr id="16" name="Image 2" descr="icon_chartpi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与信審査 or 自己勘定投資</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融資（デット）なら大口・プロジェクト融資の審査、自己勘定投資（エクイティ）なら債券・株式・PE等の運用を、ALM（資産負債管理）と連携しつつ頭脳役として担う。ゆうちょ銀行は自己資金PE投資でも国内最大級（2025年9月末時点で7.6兆円）。</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財務分析力を活かした与信・投資判断力、PDCAによる審査・運用改善力。</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8A4B1E"/>
            </a:solidFill>
            <a:prstDash val="solid"/>
          </a:ln>
        </p:spPr>
      </p:sp>
      <p:sp>
        <p:nvSpPr>
          <p:cNvPr id="23" name="Shape 17"/>
          <p:cNvSpPr/>
          <p:nvPr/>
        </p:nvSpPr>
        <p:spPr>
          <a:xfrm>
            <a:off x="8430768" y="1691640"/>
            <a:ext cx="868680" cy="868680"/>
          </a:xfrm>
          <a:prstGeom prst="ellipse">
            <a:avLst/>
          </a:prstGeom>
          <a:solidFill>
            <a:srgbClr val="8A4B1E"/>
          </a:solidFill>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融資・運用部門の管理職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銀行全体の融資方針・自己勘定運用方針の立案や部門の統括を担当。頭脳と金庫が同一組織内で完結する体制の中核を担う。ゆうちょ銀行のプライベートエクイティ投資部は2026年4月の組織再編後も市場部門内に存続しており、自社の資金を自社で判断し企業に振り向ける体制が続く。</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デット・エクイティ双方の視点から資金配分戦略を描く視座、他部門を巻き込む統括力。</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548640"/>
          </a:xfrm>
          <a:prstGeom prst="rect">
            <a:avLst/>
          </a:prstGeom>
          <a:noFill/>
          <a:ln/>
        </p:spPr>
        <p:txBody>
          <a:bodyPr wrap="square" rtlCol="0" anchor="ctr"/>
          <a:lstStyle/>
          <a:p>
            <a:pPr indent="0" marL="0">
              <a:buNone/>
            </a:pPr>
            <a:r>
              <a:rPr lang="en-US" sz="2800" b="1" dirty="0">
                <a:solidFill>
                  <a:srgbClr val="000000"/>
                </a:solidFill>
                <a:latin typeface="Meiryo UI" pitchFamily="34" charset="0"/>
                <a:ea typeface="Meiryo UI" pitchFamily="34" charset="-122"/>
                <a:cs typeface="Meiryo UI" pitchFamily="34" charset="-120"/>
              </a:rPr>
              <a:t>3パターンの比較と次の一歩</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2880360"/>
        </p:xfrm>
        <a:graphic>
          <a:graphicData uri="http://schemas.openxmlformats.org/drawingml/2006/table">
            <a:tbl>
              <a:tblPr/>
              <a:tblGrid>
                <a:gridCol w="1920240"/>
                <a:gridCol w="3044952"/>
                <a:gridCol w="3044952"/>
                <a:gridCol w="3054096"/>
              </a:tblGrid>
              <a:tr h="576072">
                <a:tc>
                  <a:txBody>
                    <a:bodyPr/>
                    <a:lstStyle/>
                    <a:p>
                      <a:pPr indent="0" marL="0">
                        <a:buNone/>
                      </a:pPr>
                      <a:endParaRPr lang="en-US" sz="1200" dirty="0">
                        <a:latin typeface="Meiryo UI" charset="0"/>
                        <a:ea typeface="Meiryo UI" charset="0"/>
                        <a:cs typeface="Meiryo UI" charset="0"/>
                      </a:endParaRPr>
                    </a:p>
                  </a:txBody>
                  <a:tcPr marL="91440" marR="91440" marT="45720" marB="45720">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信託資金で資産形成を支えるプロになる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1E2761"/>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助言で企業経営を支えるプロになる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2E6F52"/>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融資・自己資金運用で企業を支えるプロになる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8A4B1E"/>
                    </a:solidFill>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頭脳の対象</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顧客の信託資金・幅広い資産</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運用ではなく企業経営への助言</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銀行自身の資金（デット・エクイティ）</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主な職場</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 資産運用部門</a:t>
                      </a:r>
                      <a:endParaRPr lang="en-US" sz="1300" dirty="0">
                        <a:latin typeface="Meiryo UI" charset="0"/>
                        <a:ea typeface="Meiryo UI" charset="0"/>
                        <a:cs typeface="Meiryo UI" charset="0"/>
                      </a:endParaRPr>
                    </a:p>
                    <a:p>
                      <a:pPr algn="l" indent="0" marL="0">
                        <a:buNone/>
                      </a:pPr>
                      <a:r>
                        <a:rPr lang="en-US" sz="1300" dirty="0">
                          <a:solidFill>
                            <a:srgbClr val="000000"/>
                          </a:solidFill>
                          <a:latin typeface="Meiryo UI" pitchFamily="34" charset="0"/>
                          <a:ea typeface="Meiryo UI" pitchFamily="34" charset="-122"/>
                          <a:cs typeface="Meiryo UI" pitchFamily="34" charset="-120"/>
                        </a:rPr>
                        <a:t>→グループAM会社</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 証券代行部門</a:t>
                      </a:r>
                      <a:endParaRPr lang="en-US" sz="1300" dirty="0">
                        <a:latin typeface="Meiryo UI" charset="0"/>
                        <a:ea typeface="Meiryo UI" charset="0"/>
                        <a:cs typeface="Meiryo UI" charset="0"/>
                      </a:endParaRPr>
                    </a:p>
                    <a:p>
                      <a:pPr algn="l" indent="0" marL="0">
                        <a:buNone/>
                      </a:pPr>
                      <a:r>
                        <a:rPr lang="en-US" sz="1300" dirty="0">
                          <a:solidFill>
                            <a:srgbClr val="000000"/>
                          </a:solidFill>
                          <a:latin typeface="Meiryo UI" pitchFamily="34" charset="0"/>
                          <a:ea typeface="Meiryo UI" pitchFamily="34" charset="-122"/>
                          <a:cs typeface="Meiryo UI" pitchFamily="34" charset="-120"/>
                        </a:rPr>
                        <a:t>→ガバナンスコンサルティング</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銀行 法人融資部門 or 市場運用部門（内で完結）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強みとの接続</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財務分析力→投資判断に直結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企業法知識→ガバナンス助言に直結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財務分析力→与信・投資判断に直結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向いている人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幅広い資産の運用判断を極めたい人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企業法・ガバナンスを軸にしたい人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融資・投資の両面で企業を支えたい人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bl>
          </a:graphicData>
        </a:graphic>
      </p:graphicFrame>
      <p:sp>
        <p:nvSpPr>
          <p:cNvPr id="4" name="Shape 1"/>
          <p:cNvSpPr/>
          <p:nvPr/>
        </p:nvSpPr>
        <p:spPr>
          <a:xfrm>
            <a:off x="548640" y="4114800"/>
            <a:ext cx="11064240" cy="2514600"/>
          </a:xfrm>
          <a:prstGeom prst="roundRect">
            <a:avLst>
              <a:gd name="adj" fmla="val 3636"/>
            </a:avLst>
          </a:prstGeom>
          <a:solidFill>
            <a:srgbClr val="FFFFFF"/>
          </a:solidFill>
          <a:ln w="19050">
            <a:solidFill>
              <a:srgbClr val="C9A227"/>
            </a:solidFill>
            <a:prstDash val="solid"/>
          </a:ln>
        </p:spPr>
      </p:sp>
      <p:sp>
        <p:nvSpPr>
          <p:cNvPr id="5" name="Text 2"/>
          <p:cNvSpPr/>
          <p:nvPr/>
        </p:nvSpPr>
        <p:spPr>
          <a:xfrm>
            <a:off x="822960" y="4279392"/>
            <a:ext cx="10424160" cy="32004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次の一歩（就活で意識したいこと）</a:t>
            </a:r>
            <a:endParaRPr lang="en-US" sz="1600" dirty="0"/>
          </a:p>
        </p:txBody>
      </p:sp>
      <p:sp>
        <p:nvSpPr>
          <p:cNvPr id="6" name="Text 3"/>
          <p:cNvSpPr/>
          <p:nvPr/>
        </p:nvSpPr>
        <p:spPr>
          <a:xfrm>
            <a:off x="960120" y="4709160"/>
            <a:ext cx="10332720" cy="1828800"/>
          </a:xfrm>
          <a:prstGeom prst="rect">
            <a:avLst/>
          </a:prstGeom>
          <a:noFill/>
          <a:ln/>
        </p:spPr>
        <p:txBody>
          <a:bodyPr wrap="square" rtlCol="0" anchor="ctr"/>
          <a:lstStyle/>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3パターンとも「入行後まず信託銀行の実務を経験する」点は共通。面接では、どのパターンでも通用する「財務諸表を読める」強みをまず語る</a:t>
            </a:r>
            <a:endParaRPr lang="en-US" sz="1350" dirty="0"/>
          </a:p>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「幅広い資産の運用判断を極めたい／企業法・ガバナンスを軸にしたい／融資と自己勘定投資の両面で企業を支えたい」のどれに一番惹かれるかを整理し、志望動機に反映する</a:t>
            </a:r>
            <a:endParaRPr lang="en-US" sz="1350" dirty="0"/>
          </a:p>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説明会・面接で「グループAM会社への出向・転籍の実態」「証券代行部門からガバナンスコンサルティングへの異動の実態」「法人融資部門と市場運用部門の異動の実態」を具体的に質問し、パターンの解像度を上げる</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2026-08-23T05:26:32Z</dcterms:created>
  <dcterms:modified xsi:type="dcterms:W3CDTF">2026-08-23T05:26:32Z</dcterms:modified>
</cp:coreProperties>
</file>