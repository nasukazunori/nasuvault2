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2.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1.png"/><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pic>
        <p:nvPicPr>
          <p:cNvPr id="2" name="Image 0" descr="icon_chart.png">    </p:cNvPr>
          <p:cNvPicPr>
            <a:picLocks noChangeAspect="1"/>
          </p:cNvPicPr>
          <p:nvPr/>
        </p:nvPicPr>
        <p:blipFill>
          <a:blip r:embed="rId1">
            <a:alphaModFix amt="12000"/>
          </a:blip>
          <a:stretch>
            <a:fillRect/>
          </a:stretch>
        </p:blipFill>
        <p:spPr>
          <a:xfrm>
            <a:off x="8778240" y="3931920"/>
            <a:ext cx="3291840" cy="3291840"/>
          </a:xfrm>
          <a:prstGeom prst="rect">
            <a:avLst/>
          </a:prstGeom>
        </p:spPr>
      </p:pic>
      <p:sp>
        <p:nvSpPr>
          <p:cNvPr id="3" name="Text 0"/>
          <p:cNvSpPr/>
          <p:nvPr/>
        </p:nvSpPr>
        <p:spPr>
          <a:xfrm>
            <a:off x="822960" y="1965960"/>
            <a:ext cx="9601200" cy="1737360"/>
          </a:xfrm>
          <a:prstGeom prst="rect">
            <a:avLst/>
          </a:prstGeom>
          <a:noFill/>
          <a:ln/>
        </p:spPr>
        <p:txBody>
          <a:bodyPr wrap="square" rtlCol="0" anchor="ctr"/>
          <a:lstStyle/>
          <a:p>
            <a:pPr indent="0" marL="0">
              <a:lnSpc>
                <a:spcPct val="115000"/>
              </a:lnSpc>
              <a:buNone/>
            </a:pPr>
            <a:r>
              <a:rPr lang="en-US" sz="4000" b="1" dirty="0">
                <a:solidFill>
                  <a:srgbClr val="FFFFFF"/>
                </a:solidFill>
                <a:latin typeface="Cambria" pitchFamily="34" charset="0"/>
                <a:ea typeface="Cambria" pitchFamily="34" charset="-122"/>
                <a:cs typeface="Cambria" pitchFamily="34" charset="-120"/>
              </a:rPr>
              <a:t>信託銀行における</a:t>
            </a:r>
            <a:endParaRPr lang="en-US" sz="4000" dirty="0"/>
          </a:p>
          <a:p>
            <a:pPr indent="0" marL="0">
              <a:lnSpc>
                <a:spcPct val="115000"/>
              </a:lnSpc>
              <a:buNone/>
            </a:pPr>
            <a:r>
              <a:rPr lang="en-US" sz="4000" b="1" dirty="0">
                <a:solidFill>
                  <a:srgbClr val="FFFFFF"/>
                </a:solidFill>
                <a:latin typeface="Cambria" pitchFamily="34" charset="0"/>
                <a:ea typeface="Cambria" pitchFamily="34" charset="-122"/>
                <a:cs typeface="Cambria" pitchFamily="34" charset="-120"/>
              </a:rPr>
              <a:t>キャリア形成モデル</a:t>
            </a:r>
            <a:endParaRPr lang="en-US" sz="4000" dirty="0"/>
          </a:p>
        </p:txBody>
      </p:sp>
      <p:sp>
        <p:nvSpPr>
          <p:cNvPr id="4" name="Text 1"/>
          <p:cNvSpPr/>
          <p:nvPr/>
        </p:nvSpPr>
        <p:spPr>
          <a:xfrm>
            <a:off x="822960" y="3794760"/>
            <a:ext cx="8961120" cy="54864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財務分析力と企業法の知識を掛け合わせて伸ばす、信吾さんの成長ロードマップ</a:t>
            </a:r>
            <a:endParaRPr lang="en-US" sz="1800" dirty="0"/>
          </a:p>
        </p:txBody>
      </p:sp>
      <p:sp>
        <p:nvSpPr>
          <p:cNvPr id="5" name="Text 2"/>
          <p:cNvSpPr/>
          <p:nvPr/>
        </p:nvSpPr>
        <p:spPr>
          <a:xfrm>
            <a:off x="822960" y="6126480"/>
            <a:ext cx="5486400" cy="365760"/>
          </a:xfrm>
          <a:prstGeom prst="rect">
            <a:avLst/>
          </a:prstGeom>
          <a:noFill/>
          <a:ln/>
        </p:spPr>
        <p:txBody>
          <a:bodyPr wrap="square" rtlCol="0" anchor="ctr"/>
          <a:lstStyle/>
          <a:p>
            <a:pPr indent="0" marL="0">
              <a:buNone/>
            </a:pPr>
            <a:r>
              <a:rPr lang="en-US" sz="1100" dirty="0">
                <a:solidFill>
                  <a:srgbClr val="8896C4"/>
                </a:solidFill>
                <a:latin typeface="Calibri" pitchFamily="34" charset="0"/>
                <a:ea typeface="Calibri" pitchFamily="34" charset="-122"/>
                <a:cs typeface="Calibri" pitchFamily="34" charset="-120"/>
              </a:rPr>
              <a:t>2026年8月時点の想定モデル案</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信吾さんの強み — 3つの柱</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6B7280"/>
                </a:solidFill>
                <a:latin typeface="Calibri" pitchFamily="34" charset="0"/>
                <a:ea typeface="Calibri" pitchFamily="34" charset="-122"/>
                <a:cs typeface="Calibri" pitchFamily="34" charset="-120"/>
              </a:rPr>
              <a:t>このモデルは、次の3つの強みをどの順番で・どの部署で鍛えるかを軸に設計しています。</a:t>
            </a:r>
            <a:endParaRPr lang="en-US" sz="1400" dirty="0"/>
          </a:p>
        </p:txBody>
      </p:sp>
      <p:sp>
        <p:nvSpPr>
          <p:cNvPr id="4" name="Shape 2"/>
          <p:cNvSpPr/>
          <p:nvPr/>
        </p:nvSpPr>
        <p:spPr>
          <a:xfrm>
            <a:off x="640080" y="1965960"/>
            <a:ext cx="3520440" cy="3246120"/>
          </a:xfrm>
          <a:prstGeom prst="roundRect">
            <a:avLst>
              <a:gd name="adj" fmla="val 3380"/>
            </a:avLst>
          </a:prstGeom>
          <a:solidFill>
            <a:srgbClr val="F4F6FB"/>
          </a:solidFill>
          <a:ln/>
        </p:spPr>
      </p:sp>
      <p:sp>
        <p:nvSpPr>
          <p:cNvPr id="5" name="Shape 3"/>
          <p:cNvSpPr/>
          <p:nvPr/>
        </p:nvSpPr>
        <p:spPr>
          <a:xfrm>
            <a:off x="1920240" y="2286000"/>
            <a:ext cx="960120" cy="960120"/>
          </a:xfrm>
          <a:prstGeom prst="ellipse">
            <a:avLst/>
          </a:prstGeom>
          <a:solidFill>
            <a:srgbClr val="1E2761"/>
          </a:solidFill>
          <a:ln/>
        </p:spPr>
      </p:sp>
      <p:pic>
        <p:nvPicPr>
          <p:cNvPr id="6" name="Image 0" descr="icon_chart.png">    </p:cNvPr>
          <p:cNvPicPr>
            <a:picLocks noChangeAspect="1"/>
          </p:cNvPicPr>
          <p:nvPr/>
        </p:nvPicPr>
        <p:blipFill>
          <a:blip r:embed="rId1"/>
          <a:stretch>
            <a:fillRect/>
          </a:stretch>
        </p:blipFill>
        <p:spPr>
          <a:xfrm>
            <a:off x="2139696" y="2505456"/>
            <a:ext cx="521208" cy="521208"/>
          </a:xfrm>
          <a:prstGeom prst="rect">
            <a:avLst/>
          </a:prstGeom>
        </p:spPr>
      </p:pic>
      <p:sp>
        <p:nvSpPr>
          <p:cNvPr id="7" name="Text 4"/>
          <p:cNvSpPr/>
          <p:nvPr/>
        </p:nvSpPr>
        <p:spPr>
          <a:xfrm>
            <a:off x="868680" y="3474720"/>
            <a:ext cx="3063240" cy="594360"/>
          </a:xfrm>
          <a:prstGeom prst="rect">
            <a:avLst/>
          </a:prstGeom>
          <a:noFill/>
          <a:ln/>
        </p:spPr>
        <p:txBody>
          <a:bodyPr wrap="square"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財務諸表分析力</a:t>
            </a:r>
            <a:endParaRPr lang="en-US" sz="1700" dirty="0"/>
          </a:p>
        </p:txBody>
      </p:sp>
      <p:sp>
        <p:nvSpPr>
          <p:cNvPr id="8" name="Text 5"/>
          <p:cNvSpPr/>
          <p:nvPr/>
        </p:nvSpPr>
        <p:spPr>
          <a:xfrm>
            <a:off x="914400" y="4069080"/>
            <a:ext cx="2971800" cy="1051560"/>
          </a:xfrm>
          <a:prstGeom prst="rect">
            <a:avLst/>
          </a:prstGeom>
          <a:noFill/>
          <a:ln/>
        </p:spPr>
        <p:txBody>
          <a:bodyPr wrap="square" rtlCol="0" anchor="ctr"/>
          <a:lstStyle/>
          <a:p>
            <a:pPr algn="ctr" indent="0" marL="0">
              <a:lnSpc>
                <a:spcPct val="115000"/>
              </a:lnSpc>
              <a:buNone/>
            </a:pPr>
            <a:r>
              <a:rPr lang="en-US" sz="1200" dirty="0">
                <a:solidFill>
                  <a:srgbClr val="333333"/>
                </a:solidFill>
                <a:latin typeface="Calibri" pitchFamily="34" charset="0"/>
                <a:ea typeface="Calibri" pitchFamily="34" charset="-122"/>
                <a:cs typeface="Calibri" pitchFamily="34" charset="-120"/>
              </a:rPr>
              <a:t>簿記1級取得。りそな銀行インターンのグループワークで「財務諸表を読めるのは自分だけ」という強みを実証済み。</a:t>
            </a:r>
            <a:endParaRPr lang="en-US" sz="1200" dirty="0"/>
          </a:p>
        </p:txBody>
      </p:sp>
      <p:sp>
        <p:nvSpPr>
          <p:cNvPr id="9" name="Shape 6"/>
          <p:cNvSpPr/>
          <p:nvPr/>
        </p:nvSpPr>
        <p:spPr>
          <a:xfrm>
            <a:off x="4480560" y="1965960"/>
            <a:ext cx="3520440" cy="3246120"/>
          </a:xfrm>
          <a:prstGeom prst="roundRect">
            <a:avLst>
              <a:gd name="adj" fmla="val 3380"/>
            </a:avLst>
          </a:prstGeom>
          <a:solidFill>
            <a:srgbClr val="F4F6FB"/>
          </a:solidFill>
          <a:ln/>
        </p:spPr>
      </p:sp>
      <p:sp>
        <p:nvSpPr>
          <p:cNvPr id="10" name="Shape 7"/>
          <p:cNvSpPr/>
          <p:nvPr/>
        </p:nvSpPr>
        <p:spPr>
          <a:xfrm>
            <a:off x="5760720" y="2286000"/>
            <a:ext cx="960120" cy="960120"/>
          </a:xfrm>
          <a:prstGeom prst="ellipse">
            <a:avLst/>
          </a:prstGeom>
          <a:solidFill>
            <a:srgbClr val="1E2761"/>
          </a:solidFill>
          <a:ln/>
        </p:spPr>
      </p:sp>
      <p:pic>
        <p:nvPicPr>
          <p:cNvPr id="11" name="Image 1" descr="icon_law.png">    </p:cNvPr>
          <p:cNvPicPr>
            <a:picLocks noChangeAspect="1"/>
          </p:cNvPicPr>
          <p:nvPr/>
        </p:nvPicPr>
        <p:blipFill>
          <a:blip r:embed="rId2"/>
          <a:stretch>
            <a:fillRect/>
          </a:stretch>
        </p:blipFill>
        <p:spPr>
          <a:xfrm>
            <a:off x="5980176" y="2505456"/>
            <a:ext cx="521208" cy="521208"/>
          </a:xfrm>
          <a:prstGeom prst="rect">
            <a:avLst/>
          </a:prstGeom>
        </p:spPr>
      </p:pic>
      <p:sp>
        <p:nvSpPr>
          <p:cNvPr id="12" name="Text 8"/>
          <p:cNvSpPr/>
          <p:nvPr/>
        </p:nvSpPr>
        <p:spPr>
          <a:xfrm>
            <a:off x="4709160" y="3474720"/>
            <a:ext cx="3063240" cy="594360"/>
          </a:xfrm>
          <a:prstGeom prst="rect">
            <a:avLst/>
          </a:prstGeom>
          <a:noFill/>
          <a:ln/>
        </p:spPr>
        <p:txBody>
          <a:bodyPr wrap="square"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企業法の知識</a:t>
            </a:r>
            <a:endParaRPr lang="en-US" sz="1700" dirty="0"/>
          </a:p>
        </p:txBody>
      </p:sp>
      <p:sp>
        <p:nvSpPr>
          <p:cNvPr id="13" name="Text 9"/>
          <p:cNvSpPr/>
          <p:nvPr/>
        </p:nvSpPr>
        <p:spPr>
          <a:xfrm>
            <a:off x="4754880" y="4069080"/>
            <a:ext cx="2971800" cy="1051560"/>
          </a:xfrm>
          <a:prstGeom prst="rect">
            <a:avLst/>
          </a:prstGeom>
          <a:noFill/>
          <a:ln/>
        </p:spPr>
        <p:txBody>
          <a:bodyPr wrap="square" rtlCol="0" anchor="ctr"/>
          <a:lstStyle/>
          <a:p>
            <a:pPr algn="ctr" indent="0" marL="0">
              <a:lnSpc>
                <a:spcPct val="115000"/>
              </a:lnSpc>
              <a:buNone/>
            </a:pPr>
            <a:r>
              <a:rPr lang="en-US" sz="1200" dirty="0">
                <a:solidFill>
                  <a:srgbClr val="333333"/>
                </a:solidFill>
                <a:latin typeface="Calibri" pitchFamily="34" charset="0"/>
                <a:ea typeface="Calibri" pitchFamily="34" charset="-122"/>
                <a:cs typeface="Calibri" pitchFamily="34" charset="-120"/>
              </a:rPr>
              <a:t>中央大学法学部・企業法ゼミ所属。財務分析と法律知識の両輪が必要という発想から選択した専門領域。</a:t>
            </a:r>
            <a:endParaRPr lang="en-US" sz="1200" dirty="0"/>
          </a:p>
        </p:txBody>
      </p:sp>
      <p:sp>
        <p:nvSpPr>
          <p:cNvPr id="14" name="Shape 10"/>
          <p:cNvSpPr/>
          <p:nvPr/>
        </p:nvSpPr>
        <p:spPr>
          <a:xfrm>
            <a:off x="8321040" y="1965960"/>
            <a:ext cx="3520440" cy="3246120"/>
          </a:xfrm>
          <a:prstGeom prst="roundRect">
            <a:avLst>
              <a:gd name="adj" fmla="val 3380"/>
            </a:avLst>
          </a:prstGeom>
          <a:solidFill>
            <a:srgbClr val="F4F6FB"/>
          </a:solidFill>
          <a:ln/>
        </p:spPr>
      </p:sp>
      <p:sp>
        <p:nvSpPr>
          <p:cNvPr id="15" name="Shape 11"/>
          <p:cNvSpPr/>
          <p:nvPr/>
        </p:nvSpPr>
        <p:spPr>
          <a:xfrm>
            <a:off x="9601200" y="2286000"/>
            <a:ext cx="960120" cy="960120"/>
          </a:xfrm>
          <a:prstGeom prst="ellipse">
            <a:avLst/>
          </a:prstGeom>
          <a:solidFill>
            <a:srgbClr val="1E2761"/>
          </a:solidFill>
          <a:ln/>
        </p:spPr>
      </p:sp>
      <p:pic>
        <p:nvPicPr>
          <p:cNvPr id="16" name="Image 2" descr="icon_pdca.png">    </p:cNvPr>
          <p:cNvPicPr>
            <a:picLocks noChangeAspect="1"/>
          </p:cNvPicPr>
          <p:nvPr/>
        </p:nvPicPr>
        <p:blipFill>
          <a:blip r:embed="rId3"/>
          <a:stretch>
            <a:fillRect/>
          </a:stretch>
        </p:blipFill>
        <p:spPr>
          <a:xfrm>
            <a:off x="9820656" y="2505456"/>
            <a:ext cx="521208" cy="521208"/>
          </a:xfrm>
          <a:prstGeom prst="rect">
            <a:avLst/>
          </a:prstGeom>
        </p:spPr>
      </p:pic>
      <p:sp>
        <p:nvSpPr>
          <p:cNvPr id="17" name="Text 12"/>
          <p:cNvSpPr/>
          <p:nvPr/>
        </p:nvSpPr>
        <p:spPr>
          <a:xfrm>
            <a:off x="8549640" y="3474720"/>
            <a:ext cx="3063240" cy="594360"/>
          </a:xfrm>
          <a:prstGeom prst="rect">
            <a:avLst/>
          </a:prstGeom>
          <a:noFill/>
          <a:ln/>
        </p:spPr>
        <p:txBody>
          <a:bodyPr wrap="square"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原因分析・改善力(PDCA)</a:t>
            </a:r>
            <a:endParaRPr lang="en-US" sz="1700" dirty="0"/>
          </a:p>
        </p:txBody>
      </p:sp>
      <p:sp>
        <p:nvSpPr>
          <p:cNvPr id="18" name="Text 13"/>
          <p:cNvSpPr/>
          <p:nvPr/>
        </p:nvSpPr>
        <p:spPr>
          <a:xfrm>
            <a:off x="8595360" y="4069080"/>
            <a:ext cx="2971800" cy="1051560"/>
          </a:xfrm>
          <a:prstGeom prst="rect">
            <a:avLst/>
          </a:prstGeom>
          <a:noFill/>
          <a:ln/>
        </p:spPr>
        <p:txBody>
          <a:bodyPr wrap="square" rtlCol="0" anchor="ctr"/>
          <a:lstStyle/>
          <a:p>
            <a:pPr algn="ctr" indent="0" marL="0">
              <a:lnSpc>
                <a:spcPct val="115000"/>
              </a:lnSpc>
              <a:buNone/>
            </a:pPr>
            <a:r>
              <a:rPr lang="en-US" sz="1200" dirty="0">
                <a:solidFill>
                  <a:srgbClr val="333333"/>
                </a:solidFill>
                <a:latin typeface="Calibri" pitchFamily="34" charset="0"/>
                <a:ea typeface="Calibri" pitchFamily="34" charset="-122"/>
                <a:cs typeface="Calibri" pitchFamily="34" charset="-120"/>
              </a:rPr>
              <a:t>公認会計士試験の学習で正答率20%台から60%台後半まで改善。原因分析→仮説検証→実行のサイクルが持ち味。</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72800" cy="640080"/>
          </a:xfrm>
          <a:prstGeom prst="rect">
            <a:avLst/>
          </a:prstGeom>
          <a:noFill/>
          <a:ln/>
        </p:spPr>
        <p:txBody>
          <a:bodyPr wrap="square"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キャリアロードマップ全体像</a:t>
            </a:r>
            <a:endParaRPr lang="en-US" sz="3000" dirty="0"/>
          </a:p>
        </p:txBody>
      </p:sp>
      <p:sp>
        <p:nvSpPr>
          <p:cNvPr id="3" name="Text 1"/>
          <p:cNvSpPr/>
          <p:nvPr/>
        </p:nvSpPr>
        <p:spPr>
          <a:xfrm>
            <a:off x="640080" y="1097280"/>
            <a:ext cx="10972800" cy="411480"/>
          </a:xfrm>
          <a:prstGeom prst="rect">
            <a:avLst/>
          </a:prstGeom>
          <a:noFill/>
          <a:ln/>
        </p:spPr>
        <p:txBody>
          <a:bodyPr wrap="square" rtlCol="0" anchor="ctr"/>
          <a:lstStyle/>
          <a:p>
            <a:pPr indent="0" marL="0">
              <a:buNone/>
            </a:pPr>
            <a:r>
              <a:rPr lang="en-US" sz="1400" dirty="0">
                <a:solidFill>
                  <a:srgbClr val="6B7280"/>
                </a:solidFill>
                <a:latin typeface="Calibri" pitchFamily="34" charset="0"/>
                <a:ea typeface="Calibri" pitchFamily="34" charset="-122"/>
                <a:cs typeface="Calibri" pitchFamily="34" charset="-120"/>
              </a:rPr>
              <a:t>強みを「実践 → 専門性 → 統合 → 集大成」の順で積み上げる4フェーズ構成です。</a:t>
            </a:r>
            <a:endParaRPr lang="en-US" sz="1400" dirty="0"/>
          </a:p>
        </p:txBody>
      </p:sp>
      <p:sp>
        <p:nvSpPr>
          <p:cNvPr id="4" name="Shape 2"/>
          <p:cNvSpPr/>
          <p:nvPr/>
        </p:nvSpPr>
        <p:spPr>
          <a:xfrm>
            <a:off x="640080" y="2057400"/>
            <a:ext cx="2468880" cy="3794760"/>
          </a:xfrm>
          <a:prstGeom prst="roundRect">
            <a:avLst>
              <a:gd name="adj" fmla="val 3704"/>
            </a:avLst>
          </a:prstGeom>
          <a:solidFill>
            <a:srgbClr val="F4F6FB"/>
          </a:solidFill>
          <a:ln/>
        </p:spPr>
      </p:sp>
      <p:sp>
        <p:nvSpPr>
          <p:cNvPr id="5" name="Shape 3"/>
          <p:cNvSpPr/>
          <p:nvPr/>
        </p:nvSpPr>
        <p:spPr>
          <a:xfrm>
            <a:off x="1371600" y="2313432"/>
            <a:ext cx="1005840" cy="365760"/>
          </a:xfrm>
          <a:prstGeom prst="roundRect">
            <a:avLst>
              <a:gd name="adj" fmla="val 20000"/>
            </a:avLst>
          </a:prstGeom>
          <a:solidFill>
            <a:srgbClr val="C9A227"/>
          </a:solidFill>
          <a:ln/>
        </p:spPr>
      </p:sp>
      <p:sp>
        <p:nvSpPr>
          <p:cNvPr id="6" name="Text 4"/>
          <p:cNvSpPr/>
          <p:nvPr/>
        </p:nvSpPr>
        <p:spPr>
          <a:xfrm>
            <a:off x="1371600" y="2313432"/>
            <a:ext cx="100584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1</a:t>
            </a:r>
            <a:endParaRPr lang="en-US" sz="1200" dirty="0"/>
          </a:p>
        </p:txBody>
      </p:sp>
      <p:sp>
        <p:nvSpPr>
          <p:cNvPr id="7" name="Shape 5"/>
          <p:cNvSpPr/>
          <p:nvPr/>
        </p:nvSpPr>
        <p:spPr>
          <a:xfrm>
            <a:off x="1463040" y="2834640"/>
            <a:ext cx="822960" cy="822960"/>
          </a:xfrm>
          <a:prstGeom prst="ellipse">
            <a:avLst/>
          </a:prstGeom>
          <a:solidFill>
            <a:srgbClr val="1E2761"/>
          </a:solidFill>
          <a:ln/>
        </p:spPr>
      </p:sp>
      <p:pic>
        <p:nvPicPr>
          <p:cNvPr id="8" name="Image 0" descr="icon_building.png">    </p:cNvPr>
          <p:cNvPicPr>
            <a:picLocks noChangeAspect="1"/>
          </p:cNvPicPr>
          <p:nvPr/>
        </p:nvPicPr>
        <p:blipFill>
          <a:blip r:embed="rId1"/>
          <a:stretch>
            <a:fillRect/>
          </a:stretch>
        </p:blipFill>
        <p:spPr>
          <a:xfrm>
            <a:off x="1682496" y="3054096"/>
            <a:ext cx="384048" cy="384048"/>
          </a:xfrm>
          <a:prstGeom prst="rect">
            <a:avLst/>
          </a:prstGeom>
        </p:spPr>
      </p:pic>
      <p:sp>
        <p:nvSpPr>
          <p:cNvPr id="9" name="Text 6"/>
          <p:cNvSpPr/>
          <p:nvPr/>
        </p:nvSpPr>
        <p:spPr>
          <a:xfrm>
            <a:off x="777240" y="3794760"/>
            <a:ext cx="2194560" cy="320040"/>
          </a:xfrm>
          <a:prstGeom prst="rect">
            <a:avLst/>
          </a:prstGeom>
          <a:noFill/>
          <a:ln/>
        </p:spPr>
        <p:txBody>
          <a:bodyPr wrap="square" rtlCol="0" anchor="ctr"/>
          <a:lstStyle/>
          <a:p>
            <a:pPr algn="ctr" indent="0" marL="0">
              <a:buNone/>
            </a:pPr>
            <a:r>
              <a:rPr lang="en-US" sz="1200" b="1" dirty="0">
                <a:solidFill>
                  <a:srgbClr val="6B7280"/>
                </a:solidFill>
                <a:latin typeface="Calibri" pitchFamily="34" charset="0"/>
                <a:ea typeface="Calibri" pitchFamily="34" charset="-122"/>
                <a:cs typeface="Calibri" pitchFamily="34" charset="-120"/>
              </a:rPr>
              <a:t>入行〜5年目</a:t>
            </a:r>
            <a:endParaRPr lang="en-US" sz="1200" dirty="0"/>
          </a:p>
        </p:txBody>
      </p:sp>
      <p:sp>
        <p:nvSpPr>
          <p:cNvPr id="10" name="Text 7"/>
          <p:cNvSpPr/>
          <p:nvPr/>
        </p:nvSpPr>
        <p:spPr>
          <a:xfrm>
            <a:off x="777240" y="4114800"/>
            <a:ext cx="2194560" cy="777240"/>
          </a:xfrm>
          <a:prstGeom prst="rect">
            <a:avLst/>
          </a:prstGeom>
          <a:noFill/>
          <a:ln/>
        </p:spPr>
        <p:txBody>
          <a:bodyPr wrap="square" rtlCol="0" anchor="ctr"/>
          <a:lstStyle/>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法人業務部門</a:t>
            </a:r>
            <a:endParaRPr lang="en-US" sz="1400" dirty="0"/>
          </a:p>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（法人融資・法人渉外）</a:t>
            </a:r>
            <a:endParaRPr lang="en-US" sz="1400" dirty="0"/>
          </a:p>
        </p:txBody>
      </p:sp>
      <p:sp>
        <p:nvSpPr>
          <p:cNvPr id="11" name="Text 8"/>
          <p:cNvSpPr/>
          <p:nvPr/>
        </p:nvSpPr>
        <p:spPr>
          <a:xfrm>
            <a:off x="822960" y="4937760"/>
            <a:ext cx="2103120" cy="777240"/>
          </a:xfrm>
          <a:prstGeom prst="rect">
            <a:avLst/>
          </a:prstGeom>
          <a:noFill/>
          <a:ln/>
        </p:spPr>
        <p:txBody>
          <a:bodyPr wrap="square" rtlCol="0" anchor="ctr"/>
          <a:lstStyle/>
          <a:p>
            <a:pPr algn="ctr" indent="0" marL="0">
              <a:lnSpc>
                <a:spcPct val="115000"/>
              </a:lnSpc>
              <a:buNone/>
            </a:pPr>
            <a:r>
              <a:rPr lang="en-US" sz="1100" dirty="0">
                <a:solidFill>
                  <a:srgbClr val="333333"/>
                </a:solidFill>
                <a:latin typeface="Calibri" pitchFamily="34" charset="0"/>
                <a:ea typeface="Calibri" pitchFamily="34" charset="-122"/>
                <a:cs typeface="Calibri" pitchFamily="34" charset="-120"/>
              </a:rPr>
              <a:t>財務分析力を実務で鍛える</a:t>
            </a:r>
            <a:endParaRPr lang="en-US" sz="1100" dirty="0"/>
          </a:p>
        </p:txBody>
      </p:sp>
      <p:pic>
        <p:nvPicPr>
          <p:cNvPr id="12" name="Image 1" descr="icon_arrow.png">    </p:cNvPr>
          <p:cNvPicPr>
            <a:picLocks noChangeAspect="1"/>
          </p:cNvPicPr>
          <p:nvPr/>
        </p:nvPicPr>
        <p:blipFill>
          <a:blip r:embed="rId2">
            <a:alphaModFix amt="60000"/>
          </a:blip>
          <a:stretch>
            <a:fillRect/>
          </a:stretch>
        </p:blipFill>
        <p:spPr>
          <a:xfrm>
            <a:off x="3127248" y="3808476"/>
            <a:ext cx="219456" cy="292608"/>
          </a:xfrm>
          <a:prstGeom prst="rect">
            <a:avLst/>
          </a:prstGeom>
        </p:spPr>
      </p:pic>
      <p:sp>
        <p:nvSpPr>
          <p:cNvPr id="13" name="Shape 9"/>
          <p:cNvSpPr/>
          <p:nvPr/>
        </p:nvSpPr>
        <p:spPr>
          <a:xfrm>
            <a:off x="3364992" y="2057400"/>
            <a:ext cx="2468880" cy="3794760"/>
          </a:xfrm>
          <a:prstGeom prst="roundRect">
            <a:avLst>
              <a:gd name="adj" fmla="val 3704"/>
            </a:avLst>
          </a:prstGeom>
          <a:solidFill>
            <a:srgbClr val="F4F6FB"/>
          </a:solidFill>
          <a:ln/>
        </p:spPr>
      </p:sp>
      <p:sp>
        <p:nvSpPr>
          <p:cNvPr id="14" name="Shape 10"/>
          <p:cNvSpPr/>
          <p:nvPr/>
        </p:nvSpPr>
        <p:spPr>
          <a:xfrm>
            <a:off x="4096512" y="2313432"/>
            <a:ext cx="1005840" cy="365760"/>
          </a:xfrm>
          <a:prstGeom prst="roundRect">
            <a:avLst>
              <a:gd name="adj" fmla="val 20000"/>
            </a:avLst>
          </a:prstGeom>
          <a:solidFill>
            <a:srgbClr val="C9A227"/>
          </a:solidFill>
          <a:ln/>
        </p:spPr>
      </p:sp>
      <p:sp>
        <p:nvSpPr>
          <p:cNvPr id="15" name="Text 11"/>
          <p:cNvSpPr/>
          <p:nvPr/>
        </p:nvSpPr>
        <p:spPr>
          <a:xfrm>
            <a:off x="4096512" y="2313432"/>
            <a:ext cx="100584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2</a:t>
            </a:r>
            <a:endParaRPr lang="en-US" sz="1200" dirty="0"/>
          </a:p>
        </p:txBody>
      </p:sp>
      <p:sp>
        <p:nvSpPr>
          <p:cNvPr id="16" name="Shape 12"/>
          <p:cNvSpPr/>
          <p:nvPr/>
        </p:nvSpPr>
        <p:spPr>
          <a:xfrm>
            <a:off x="4187952" y="2834640"/>
            <a:ext cx="822960" cy="822960"/>
          </a:xfrm>
          <a:prstGeom prst="ellipse">
            <a:avLst/>
          </a:prstGeom>
          <a:solidFill>
            <a:srgbClr val="1E2761"/>
          </a:solidFill>
          <a:ln/>
        </p:spPr>
      </p:sp>
      <p:pic>
        <p:nvPicPr>
          <p:cNvPr id="17" name="Image 2" descr="icon_contract.png">    </p:cNvPr>
          <p:cNvPicPr>
            <a:picLocks noChangeAspect="1"/>
          </p:cNvPicPr>
          <p:nvPr/>
        </p:nvPicPr>
        <p:blipFill>
          <a:blip r:embed="rId3"/>
          <a:stretch>
            <a:fillRect/>
          </a:stretch>
        </p:blipFill>
        <p:spPr>
          <a:xfrm>
            <a:off x="4407408" y="3054096"/>
            <a:ext cx="384048" cy="384048"/>
          </a:xfrm>
          <a:prstGeom prst="rect">
            <a:avLst/>
          </a:prstGeom>
        </p:spPr>
      </p:pic>
      <p:sp>
        <p:nvSpPr>
          <p:cNvPr id="18" name="Text 13"/>
          <p:cNvSpPr/>
          <p:nvPr/>
        </p:nvSpPr>
        <p:spPr>
          <a:xfrm>
            <a:off x="3502152" y="3794760"/>
            <a:ext cx="2194560" cy="320040"/>
          </a:xfrm>
          <a:prstGeom prst="rect">
            <a:avLst/>
          </a:prstGeom>
          <a:noFill/>
          <a:ln/>
        </p:spPr>
        <p:txBody>
          <a:bodyPr wrap="square" rtlCol="0" anchor="ctr"/>
          <a:lstStyle/>
          <a:p>
            <a:pPr algn="ctr" indent="0" marL="0">
              <a:buNone/>
            </a:pPr>
            <a:r>
              <a:rPr lang="en-US" sz="1200" b="1" dirty="0">
                <a:solidFill>
                  <a:srgbClr val="6B7280"/>
                </a:solidFill>
                <a:latin typeface="Calibri" pitchFamily="34" charset="0"/>
                <a:ea typeface="Calibri" pitchFamily="34" charset="-122"/>
                <a:cs typeface="Calibri" pitchFamily="34" charset="-120"/>
              </a:rPr>
              <a:t>6〜10年目</a:t>
            </a:r>
            <a:endParaRPr lang="en-US" sz="1200" dirty="0"/>
          </a:p>
        </p:txBody>
      </p:sp>
      <p:sp>
        <p:nvSpPr>
          <p:cNvPr id="19" name="Text 14"/>
          <p:cNvSpPr/>
          <p:nvPr/>
        </p:nvSpPr>
        <p:spPr>
          <a:xfrm>
            <a:off x="3502152" y="4114800"/>
            <a:ext cx="2194560" cy="777240"/>
          </a:xfrm>
          <a:prstGeom prst="rect">
            <a:avLst/>
          </a:prstGeom>
          <a:noFill/>
          <a:ln/>
        </p:spPr>
        <p:txBody>
          <a:bodyPr wrap="square" rtlCol="0" anchor="ctr"/>
          <a:lstStyle/>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証券代行・</a:t>
            </a:r>
            <a:endParaRPr lang="en-US" sz="1400" dirty="0"/>
          </a:p>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年金信託業務部門</a:t>
            </a:r>
            <a:endParaRPr lang="en-US" sz="1400" dirty="0"/>
          </a:p>
        </p:txBody>
      </p:sp>
      <p:sp>
        <p:nvSpPr>
          <p:cNvPr id="20" name="Text 15"/>
          <p:cNvSpPr/>
          <p:nvPr/>
        </p:nvSpPr>
        <p:spPr>
          <a:xfrm>
            <a:off x="3547872" y="4937760"/>
            <a:ext cx="2103120" cy="777240"/>
          </a:xfrm>
          <a:prstGeom prst="rect">
            <a:avLst/>
          </a:prstGeom>
          <a:noFill/>
          <a:ln/>
        </p:spPr>
        <p:txBody>
          <a:bodyPr wrap="square" rtlCol="0" anchor="ctr"/>
          <a:lstStyle/>
          <a:p>
            <a:pPr algn="ctr" indent="0" marL="0">
              <a:lnSpc>
                <a:spcPct val="115000"/>
              </a:lnSpc>
              <a:buNone/>
            </a:pPr>
            <a:r>
              <a:rPr lang="en-US" sz="1100" dirty="0">
                <a:solidFill>
                  <a:srgbClr val="333333"/>
                </a:solidFill>
                <a:latin typeface="Calibri" pitchFamily="34" charset="0"/>
                <a:ea typeface="Calibri" pitchFamily="34" charset="-122"/>
                <a:cs typeface="Calibri" pitchFamily="34" charset="-120"/>
              </a:rPr>
              <a:t>企業法知識を専門性に変える</a:t>
            </a:r>
            <a:endParaRPr lang="en-US" sz="1100" dirty="0"/>
          </a:p>
        </p:txBody>
      </p:sp>
      <p:pic>
        <p:nvPicPr>
          <p:cNvPr id="21" name="Image 3" descr="icon_arrow.png">    </p:cNvPr>
          <p:cNvPicPr>
            <a:picLocks noChangeAspect="1"/>
          </p:cNvPicPr>
          <p:nvPr/>
        </p:nvPicPr>
        <p:blipFill>
          <a:blip r:embed="rId4">
            <a:alphaModFix amt="60000"/>
          </a:blip>
          <a:stretch>
            <a:fillRect/>
          </a:stretch>
        </p:blipFill>
        <p:spPr>
          <a:xfrm>
            <a:off x="5852160" y="3808476"/>
            <a:ext cx="219456" cy="292608"/>
          </a:xfrm>
          <a:prstGeom prst="rect">
            <a:avLst/>
          </a:prstGeom>
        </p:spPr>
      </p:pic>
      <p:sp>
        <p:nvSpPr>
          <p:cNvPr id="22" name="Shape 16"/>
          <p:cNvSpPr/>
          <p:nvPr/>
        </p:nvSpPr>
        <p:spPr>
          <a:xfrm>
            <a:off x="6089904" y="2057400"/>
            <a:ext cx="2468880" cy="3794760"/>
          </a:xfrm>
          <a:prstGeom prst="roundRect">
            <a:avLst>
              <a:gd name="adj" fmla="val 3704"/>
            </a:avLst>
          </a:prstGeom>
          <a:solidFill>
            <a:srgbClr val="EFE6CE"/>
          </a:solidFill>
          <a:ln/>
        </p:spPr>
      </p:sp>
      <p:sp>
        <p:nvSpPr>
          <p:cNvPr id="23" name="Shape 17"/>
          <p:cNvSpPr/>
          <p:nvPr/>
        </p:nvSpPr>
        <p:spPr>
          <a:xfrm>
            <a:off x="6821424" y="2313432"/>
            <a:ext cx="1005840" cy="365760"/>
          </a:xfrm>
          <a:prstGeom prst="roundRect">
            <a:avLst>
              <a:gd name="adj" fmla="val 20000"/>
            </a:avLst>
          </a:prstGeom>
          <a:solidFill>
            <a:srgbClr val="C9A227"/>
          </a:solidFill>
          <a:ln/>
        </p:spPr>
      </p:sp>
      <p:sp>
        <p:nvSpPr>
          <p:cNvPr id="24" name="Text 18"/>
          <p:cNvSpPr/>
          <p:nvPr/>
        </p:nvSpPr>
        <p:spPr>
          <a:xfrm>
            <a:off x="6821424" y="2313432"/>
            <a:ext cx="100584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3</a:t>
            </a:r>
            <a:endParaRPr lang="en-US" sz="1200" dirty="0"/>
          </a:p>
        </p:txBody>
      </p:sp>
      <p:sp>
        <p:nvSpPr>
          <p:cNvPr id="25" name="Shape 19"/>
          <p:cNvSpPr/>
          <p:nvPr/>
        </p:nvSpPr>
        <p:spPr>
          <a:xfrm>
            <a:off x="6912864" y="2834640"/>
            <a:ext cx="822960" cy="822960"/>
          </a:xfrm>
          <a:prstGeom prst="ellipse">
            <a:avLst/>
          </a:prstGeom>
          <a:solidFill>
            <a:srgbClr val="1E2761"/>
          </a:solidFill>
          <a:ln/>
        </p:spPr>
      </p:sp>
      <p:pic>
        <p:nvPicPr>
          <p:cNvPr id="26" name="Image 4" descr="icon_handshake.png">    </p:cNvPr>
          <p:cNvPicPr>
            <a:picLocks noChangeAspect="1"/>
          </p:cNvPicPr>
          <p:nvPr/>
        </p:nvPicPr>
        <p:blipFill>
          <a:blip r:embed="rId5"/>
          <a:stretch>
            <a:fillRect/>
          </a:stretch>
        </p:blipFill>
        <p:spPr>
          <a:xfrm>
            <a:off x="7132320" y="3054096"/>
            <a:ext cx="384048" cy="384048"/>
          </a:xfrm>
          <a:prstGeom prst="rect">
            <a:avLst/>
          </a:prstGeom>
        </p:spPr>
      </p:pic>
      <p:sp>
        <p:nvSpPr>
          <p:cNvPr id="27" name="Text 20"/>
          <p:cNvSpPr/>
          <p:nvPr/>
        </p:nvSpPr>
        <p:spPr>
          <a:xfrm>
            <a:off x="6227064" y="3794760"/>
            <a:ext cx="2194560" cy="320040"/>
          </a:xfrm>
          <a:prstGeom prst="rect">
            <a:avLst/>
          </a:prstGeom>
          <a:noFill/>
          <a:ln/>
        </p:spPr>
        <p:txBody>
          <a:bodyPr wrap="square" rtlCol="0" anchor="ctr"/>
          <a:lstStyle/>
          <a:p>
            <a:pPr algn="ctr" indent="0" marL="0">
              <a:buNone/>
            </a:pPr>
            <a:r>
              <a:rPr lang="en-US" sz="1200" b="1" dirty="0">
                <a:solidFill>
                  <a:srgbClr val="6B7280"/>
                </a:solidFill>
                <a:latin typeface="Calibri" pitchFamily="34" charset="0"/>
                <a:ea typeface="Calibri" pitchFamily="34" charset="-122"/>
                <a:cs typeface="Calibri" pitchFamily="34" charset="-120"/>
              </a:rPr>
              <a:t>11〜15年目</a:t>
            </a:r>
            <a:endParaRPr lang="en-US" sz="1200" dirty="0"/>
          </a:p>
        </p:txBody>
      </p:sp>
      <p:sp>
        <p:nvSpPr>
          <p:cNvPr id="28" name="Text 21"/>
          <p:cNvSpPr/>
          <p:nvPr/>
        </p:nvSpPr>
        <p:spPr>
          <a:xfrm>
            <a:off x="6227064" y="4114800"/>
            <a:ext cx="2194560" cy="777240"/>
          </a:xfrm>
          <a:prstGeom prst="rect">
            <a:avLst/>
          </a:prstGeom>
          <a:noFill/>
          <a:ln/>
        </p:spPr>
        <p:txBody>
          <a:bodyPr wrap="square" rtlCol="0" anchor="ctr"/>
          <a:lstStyle/>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事業承継・</a:t>
            </a:r>
            <a:endParaRPr lang="en-US" sz="1400" dirty="0"/>
          </a:p>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M&amp;Aアドバイザリー</a:t>
            </a:r>
            <a:endParaRPr lang="en-US" sz="1400" dirty="0"/>
          </a:p>
        </p:txBody>
      </p:sp>
      <p:sp>
        <p:nvSpPr>
          <p:cNvPr id="29" name="Text 22"/>
          <p:cNvSpPr/>
          <p:nvPr/>
        </p:nvSpPr>
        <p:spPr>
          <a:xfrm>
            <a:off x="6272784" y="4937760"/>
            <a:ext cx="2103120" cy="777240"/>
          </a:xfrm>
          <a:prstGeom prst="rect">
            <a:avLst/>
          </a:prstGeom>
          <a:noFill/>
          <a:ln/>
        </p:spPr>
        <p:txBody>
          <a:bodyPr wrap="square" rtlCol="0" anchor="ctr"/>
          <a:lstStyle/>
          <a:p>
            <a:pPr algn="ctr" indent="0" marL="0">
              <a:lnSpc>
                <a:spcPct val="115000"/>
              </a:lnSpc>
              <a:buNone/>
            </a:pPr>
            <a:r>
              <a:rPr lang="en-US" sz="1100" dirty="0">
                <a:solidFill>
                  <a:srgbClr val="333333"/>
                </a:solidFill>
                <a:latin typeface="Calibri" pitchFamily="34" charset="0"/>
                <a:ea typeface="Calibri" pitchFamily="34" charset="-122"/>
                <a:cs typeface="Calibri" pitchFamily="34" charset="-120"/>
              </a:rPr>
              <a:t>財務×法務を統合する差別化ポイント</a:t>
            </a:r>
            <a:endParaRPr lang="en-US" sz="1100" dirty="0"/>
          </a:p>
        </p:txBody>
      </p:sp>
      <p:pic>
        <p:nvPicPr>
          <p:cNvPr id="30" name="Image 5" descr="icon_arrow.png">    </p:cNvPr>
          <p:cNvPicPr>
            <a:picLocks noChangeAspect="1"/>
          </p:cNvPicPr>
          <p:nvPr/>
        </p:nvPicPr>
        <p:blipFill>
          <a:blip r:embed="rId6">
            <a:alphaModFix amt="60000"/>
          </a:blip>
          <a:stretch>
            <a:fillRect/>
          </a:stretch>
        </p:blipFill>
        <p:spPr>
          <a:xfrm>
            <a:off x="8577072" y="3808476"/>
            <a:ext cx="219456" cy="292608"/>
          </a:xfrm>
          <a:prstGeom prst="rect">
            <a:avLst/>
          </a:prstGeom>
        </p:spPr>
      </p:pic>
      <p:sp>
        <p:nvSpPr>
          <p:cNvPr id="31" name="Shape 23"/>
          <p:cNvSpPr/>
          <p:nvPr/>
        </p:nvSpPr>
        <p:spPr>
          <a:xfrm>
            <a:off x="8814816" y="2057400"/>
            <a:ext cx="2468880" cy="3794760"/>
          </a:xfrm>
          <a:prstGeom prst="roundRect">
            <a:avLst>
              <a:gd name="adj" fmla="val 3704"/>
            </a:avLst>
          </a:prstGeom>
          <a:solidFill>
            <a:srgbClr val="F4F6FB"/>
          </a:solidFill>
          <a:ln/>
        </p:spPr>
      </p:sp>
      <p:sp>
        <p:nvSpPr>
          <p:cNvPr id="32" name="Shape 24"/>
          <p:cNvSpPr/>
          <p:nvPr/>
        </p:nvSpPr>
        <p:spPr>
          <a:xfrm>
            <a:off x="9546336" y="2313432"/>
            <a:ext cx="1005840" cy="365760"/>
          </a:xfrm>
          <a:prstGeom prst="roundRect">
            <a:avLst>
              <a:gd name="adj" fmla="val 20000"/>
            </a:avLst>
          </a:prstGeom>
          <a:solidFill>
            <a:srgbClr val="C9A227"/>
          </a:solidFill>
          <a:ln/>
        </p:spPr>
      </p:sp>
      <p:sp>
        <p:nvSpPr>
          <p:cNvPr id="33" name="Text 25"/>
          <p:cNvSpPr/>
          <p:nvPr/>
        </p:nvSpPr>
        <p:spPr>
          <a:xfrm>
            <a:off x="9546336" y="2313432"/>
            <a:ext cx="1005840" cy="36576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Phase 4</a:t>
            </a:r>
            <a:endParaRPr lang="en-US" sz="1200" dirty="0"/>
          </a:p>
        </p:txBody>
      </p:sp>
      <p:sp>
        <p:nvSpPr>
          <p:cNvPr id="34" name="Shape 26"/>
          <p:cNvSpPr/>
          <p:nvPr/>
        </p:nvSpPr>
        <p:spPr>
          <a:xfrm>
            <a:off x="9637776" y="2834640"/>
            <a:ext cx="822960" cy="822960"/>
          </a:xfrm>
          <a:prstGeom prst="ellipse">
            <a:avLst/>
          </a:prstGeom>
          <a:solidFill>
            <a:srgbClr val="1E2761"/>
          </a:solidFill>
          <a:ln/>
        </p:spPr>
      </p:sp>
      <p:pic>
        <p:nvPicPr>
          <p:cNvPr id="35" name="Image 6" descr="icon_crown.png">    </p:cNvPr>
          <p:cNvPicPr>
            <a:picLocks noChangeAspect="1"/>
          </p:cNvPicPr>
          <p:nvPr/>
        </p:nvPicPr>
        <p:blipFill>
          <a:blip r:embed="rId7"/>
          <a:stretch>
            <a:fillRect/>
          </a:stretch>
        </p:blipFill>
        <p:spPr>
          <a:xfrm>
            <a:off x="9857232" y="3054096"/>
            <a:ext cx="384048" cy="384048"/>
          </a:xfrm>
          <a:prstGeom prst="rect">
            <a:avLst/>
          </a:prstGeom>
        </p:spPr>
      </p:pic>
      <p:sp>
        <p:nvSpPr>
          <p:cNvPr id="36" name="Text 27"/>
          <p:cNvSpPr/>
          <p:nvPr/>
        </p:nvSpPr>
        <p:spPr>
          <a:xfrm>
            <a:off x="8951976" y="3794760"/>
            <a:ext cx="2194560" cy="320040"/>
          </a:xfrm>
          <a:prstGeom prst="rect">
            <a:avLst/>
          </a:prstGeom>
          <a:noFill/>
          <a:ln/>
        </p:spPr>
        <p:txBody>
          <a:bodyPr wrap="square" rtlCol="0" anchor="ctr"/>
          <a:lstStyle/>
          <a:p>
            <a:pPr algn="ctr" indent="0" marL="0">
              <a:buNone/>
            </a:pPr>
            <a:r>
              <a:rPr lang="en-US" sz="1200" b="1" dirty="0">
                <a:solidFill>
                  <a:srgbClr val="6B7280"/>
                </a:solidFill>
                <a:latin typeface="Calibri" pitchFamily="34" charset="0"/>
                <a:ea typeface="Calibri" pitchFamily="34" charset="-122"/>
                <a:cs typeface="Calibri" pitchFamily="34" charset="-120"/>
              </a:rPr>
              <a:t>16年目〜</a:t>
            </a:r>
            <a:endParaRPr lang="en-US" sz="1200" dirty="0"/>
          </a:p>
        </p:txBody>
      </p:sp>
      <p:sp>
        <p:nvSpPr>
          <p:cNvPr id="37" name="Text 28"/>
          <p:cNvSpPr/>
          <p:nvPr/>
        </p:nvSpPr>
        <p:spPr>
          <a:xfrm>
            <a:off x="8951976" y="4114800"/>
            <a:ext cx="2194560" cy="777240"/>
          </a:xfrm>
          <a:prstGeom prst="rect">
            <a:avLst/>
          </a:prstGeom>
          <a:noFill/>
          <a:ln/>
        </p:spPr>
        <p:txBody>
          <a:bodyPr wrap="square" rtlCol="0" anchor="ctr"/>
          <a:lstStyle/>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プライベートバンキング／</a:t>
            </a:r>
            <a:endParaRPr lang="en-US" sz="1400" dirty="0"/>
          </a:p>
          <a:p>
            <a:pPr algn="ctr" indent="0" marL="0">
              <a:lnSpc>
                <a:spcPct val="110000"/>
              </a:lnSpc>
              <a:buNone/>
            </a:pPr>
            <a:r>
              <a:rPr lang="en-US" sz="1400" b="1" dirty="0">
                <a:solidFill>
                  <a:srgbClr val="1E2761"/>
                </a:solidFill>
                <a:latin typeface="Calibri" pitchFamily="34" charset="0"/>
                <a:ea typeface="Calibri" pitchFamily="34" charset="-122"/>
                <a:cs typeface="Calibri" pitchFamily="34" charset="-120"/>
              </a:rPr>
              <a:t>資産運用会社</a:t>
            </a:r>
            <a:endParaRPr lang="en-US" sz="1400" dirty="0"/>
          </a:p>
        </p:txBody>
      </p:sp>
      <p:sp>
        <p:nvSpPr>
          <p:cNvPr id="38" name="Text 29"/>
          <p:cNvSpPr/>
          <p:nvPr/>
        </p:nvSpPr>
        <p:spPr>
          <a:xfrm>
            <a:off x="8997696" y="4937760"/>
            <a:ext cx="2103120" cy="777240"/>
          </a:xfrm>
          <a:prstGeom prst="rect">
            <a:avLst/>
          </a:prstGeom>
          <a:noFill/>
          <a:ln/>
        </p:spPr>
        <p:txBody>
          <a:bodyPr wrap="square" rtlCol="0" anchor="ctr"/>
          <a:lstStyle/>
          <a:p>
            <a:pPr algn="ctr" indent="0" marL="0">
              <a:lnSpc>
                <a:spcPct val="115000"/>
              </a:lnSpc>
              <a:buNone/>
            </a:pPr>
            <a:r>
              <a:rPr lang="en-US" sz="1100" dirty="0">
                <a:solidFill>
                  <a:srgbClr val="333333"/>
                </a:solidFill>
                <a:latin typeface="Calibri" pitchFamily="34" charset="0"/>
                <a:ea typeface="Calibri" pitchFamily="34" charset="-122"/>
                <a:cs typeface="Calibri" pitchFamily="34" charset="-120"/>
              </a:rPr>
              <a:t>顧客の資産全体を長期的に支える集大成</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1E2761"/>
          </a:solidFill>
          <a:ln/>
        </p:spPr>
      </p:sp>
      <p:sp>
        <p:nvSpPr>
          <p:cNvPr id="3" name="Shape 1"/>
          <p:cNvSpPr/>
          <p:nvPr/>
        </p:nvSpPr>
        <p:spPr>
          <a:xfrm>
            <a:off x="777240" y="777240"/>
            <a:ext cx="1143000" cy="411480"/>
          </a:xfrm>
          <a:prstGeom prst="roundRect">
            <a:avLst>
              <a:gd name="adj" fmla="val 17778"/>
            </a:avLst>
          </a:prstGeom>
          <a:solidFill>
            <a:srgbClr val="C9A227"/>
          </a:solidFill>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1</a:t>
            </a:r>
            <a:endParaRPr lang="en-US" sz="1300" dirty="0"/>
          </a:p>
        </p:txBody>
      </p:sp>
      <p:sp>
        <p:nvSpPr>
          <p:cNvPr id="5" name="Shape 3"/>
          <p:cNvSpPr/>
          <p:nvPr/>
        </p:nvSpPr>
        <p:spPr>
          <a:xfrm>
            <a:off x="777240" y="1508760"/>
            <a:ext cx="1371600" cy="1371600"/>
          </a:xfrm>
          <a:prstGeom prst="ellipse">
            <a:avLst/>
          </a:prstGeom>
          <a:solidFill>
            <a:srgbClr val="2A3A8C"/>
          </a:solidFill>
          <a:ln/>
        </p:spPr>
      </p:sp>
      <p:pic>
        <p:nvPicPr>
          <p:cNvPr id="6" name="Image 0" descr="icon_building.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入行〜5年目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法人業務部門</a:t>
            </a:r>
            <a:endParaRPr lang="en-US" sz="2400" dirty="0"/>
          </a:p>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（法人融資・法人渉外）</a:t>
            </a:r>
            <a:endParaRPr lang="en-US" sz="2400" dirty="0"/>
          </a:p>
        </p:txBody>
      </p:sp>
      <p:sp>
        <p:nvSpPr>
          <p:cNvPr id="9" name="Text 6"/>
          <p:cNvSpPr/>
          <p:nvPr/>
        </p:nvSpPr>
        <p:spPr>
          <a:xfrm>
            <a:off x="777240" y="5029200"/>
            <a:ext cx="2788920" cy="1280160"/>
          </a:xfrm>
          <a:prstGeom prst="rect">
            <a:avLst/>
          </a:prstGeom>
          <a:noFill/>
          <a:ln/>
        </p:spPr>
        <p:txBody>
          <a:bodyPr wrap="square" rtlCol="0" anchor="ctr"/>
          <a:lstStyle/>
          <a:p>
            <a:pPr indent="0" marL="0">
              <a:lnSpc>
                <a:spcPct val="125000"/>
              </a:lnSpc>
              <a:buNone/>
            </a:pPr>
            <a:r>
              <a:rPr lang="en-US" sz="1250" i="1" dirty="0">
                <a:solidFill>
                  <a:srgbClr val="CADCFC"/>
                </a:solidFill>
                <a:latin typeface="Calibri" pitchFamily="34" charset="0"/>
                <a:ea typeface="Calibri" pitchFamily="34" charset="-122"/>
                <a:cs typeface="Calibri" pitchFamily="34" charset="-120"/>
              </a:rPr>
              <a:t>財務諸表を「読む」力を、与信判断という実務で鍛える最初のステージ</a:t>
            </a:r>
            <a:endParaRPr lang="en-US" sz="1250" dirty="0"/>
          </a:p>
        </p:txBody>
      </p:sp>
      <p:sp>
        <p:nvSpPr>
          <p:cNvPr id="10" name="Shape 7"/>
          <p:cNvSpPr/>
          <p:nvPr/>
        </p:nvSpPr>
        <p:spPr>
          <a:xfrm>
            <a:off x="4325112" y="685800"/>
            <a:ext cx="146304" cy="146304"/>
          </a:xfrm>
          <a:prstGeom prst="roundRect">
            <a:avLst>
              <a:gd name="adj" fmla="val 50000"/>
            </a:avLst>
          </a:prstGeom>
          <a:solidFill>
            <a:srgbClr val="C9A227"/>
          </a:solidFill>
          <a:ln/>
        </p:spPr>
      </p:sp>
      <p:sp>
        <p:nvSpPr>
          <p:cNvPr id="11" name="Text 8"/>
          <p:cNvSpPr/>
          <p:nvPr/>
        </p:nvSpPr>
        <p:spPr>
          <a:xfrm>
            <a:off x="4617720" y="61264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業務内容</a:t>
            </a:r>
            <a:endParaRPr lang="en-US" sz="1600" dirty="0"/>
          </a:p>
        </p:txBody>
      </p:sp>
      <p:sp>
        <p:nvSpPr>
          <p:cNvPr id="12" name="Text 9"/>
          <p:cNvSpPr/>
          <p:nvPr/>
        </p:nvSpPr>
        <p:spPr>
          <a:xfrm>
            <a:off x="4361688" y="106984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取引先企業への与信審査、財務諸表分析に基づく融資判断、法人渉外を通じた企業とのリレーション構築を担当。信託銀行も普通銀行業務を兼営しており、若手が財務分析の基礎体力をつける代表的な配属先。</a:t>
            </a:r>
            <a:endParaRPr lang="en-US" sz="1300" dirty="0"/>
          </a:p>
        </p:txBody>
      </p:sp>
      <p:sp>
        <p:nvSpPr>
          <p:cNvPr id="13" name="Shape 10"/>
          <p:cNvSpPr/>
          <p:nvPr/>
        </p:nvSpPr>
        <p:spPr>
          <a:xfrm>
            <a:off x="4325112" y="2606040"/>
            <a:ext cx="146304" cy="146304"/>
          </a:xfrm>
          <a:prstGeom prst="roundRect">
            <a:avLst>
              <a:gd name="adj" fmla="val 50000"/>
            </a:avLst>
          </a:prstGeom>
          <a:solidFill>
            <a:srgbClr val="C9A227"/>
          </a:solidFill>
          <a:ln/>
        </p:spPr>
      </p:sp>
      <p:sp>
        <p:nvSpPr>
          <p:cNvPr id="14" name="Text 11"/>
          <p:cNvSpPr/>
          <p:nvPr/>
        </p:nvSpPr>
        <p:spPr>
          <a:xfrm>
            <a:off x="4617720" y="253288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身につく力</a:t>
            </a:r>
            <a:endParaRPr lang="en-US" sz="1600" dirty="0"/>
          </a:p>
        </p:txBody>
      </p:sp>
      <p:sp>
        <p:nvSpPr>
          <p:cNvPr id="15" name="Text 12"/>
          <p:cNvSpPr/>
          <p:nvPr/>
        </p:nvSpPr>
        <p:spPr>
          <a:xfrm>
            <a:off x="4361688" y="299008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決算書を「読める」だけでなく、与信判断や提案に「使う」実践力。企業への説明力・折衝力も同時に磨かれる。</a:t>
            </a:r>
            <a:endParaRPr lang="en-US" sz="1300" dirty="0"/>
          </a:p>
        </p:txBody>
      </p:sp>
      <p:sp>
        <p:nvSpPr>
          <p:cNvPr id="16" name="Shape 13"/>
          <p:cNvSpPr/>
          <p:nvPr/>
        </p:nvSpPr>
        <p:spPr>
          <a:xfrm>
            <a:off x="4325112" y="4526280"/>
            <a:ext cx="146304" cy="146304"/>
          </a:xfrm>
          <a:prstGeom prst="roundRect">
            <a:avLst>
              <a:gd name="adj" fmla="val 50000"/>
            </a:avLst>
          </a:prstGeom>
          <a:solidFill>
            <a:srgbClr val="C9A227"/>
          </a:solidFill>
          <a:ln/>
        </p:spPr>
      </p:sp>
      <p:sp>
        <p:nvSpPr>
          <p:cNvPr id="17" name="Text 14"/>
          <p:cNvSpPr/>
          <p:nvPr/>
        </p:nvSpPr>
        <p:spPr>
          <a:xfrm>
            <a:off x="4617720" y="445312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強みとの接続</a:t>
            </a:r>
            <a:endParaRPr lang="en-US" sz="1600" dirty="0"/>
          </a:p>
        </p:txBody>
      </p:sp>
      <p:sp>
        <p:nvSpPr>
          <p:cNvPr id="18" name="Text 15"/>
          <p:cNvSpPr/>
          <p:nvPr/>
        </p:nvSpPr>
        <p:spPr>
          <a:xfrm>
            <a:off x="4361688" y="491032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簿記1級で培った会計知識と、りそな銀行インターンで実証済みの「財務諸表を読める」強みを、実務レベルまで鍛え上げるフェーズ。</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1E2761"/>
          </a:solidFill>
          <a:ln/>
        </p:spPr>
      </p:sp>
      <p:sp>
        <p:nvSpPr>
          <p:cNvPr id="3" name="Shape 1"/>
          <p:cNvSpPr/>
          <p:nvPr/>
        </p:nvSpPr>
        <p:spPr>
          <a:xfrm>
            <a:off x="777240" y="777240"/>
            <a:ext cx="1143000" cy="411480"/>
          </a:xfrm>
          <a:prstGeom prst="roundRect">
            <a:avLst>
              <a:gd name="adj" fmla="val 17778"/>
            </a:avLst>
          </a:prstGeom>
          <a:solidFill>
            <a:srgbClr val="C9A227"/>
          </a:solidFill>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2</a:t>
            </a:r>
            <a:endParaRPr lang="en-US" sz="1300" dirty="0"/>
          </a:p>
        </p:txBody>
      </p:sp>
      <p:sp>
        <p:nvSpPr>
          <p:cNvPr id="5" name="Shape 3"/>
          <p:cNvSpPr/>
          <p:nvPr/>
        </p:nvSpPr>
        <p:spPr>
          <a:xfrm>
            <a:off x="777240" y="1508760"/>
            <a:ext cx="1371600" cy="1371600"/>
          </a:xfrm>
          <a:prstGeom prst="ellipse">
            <a:avLst/>
          </a:prstGeom>
          <a:solidFill>
            <a:srgbClr val="2A3A8C"/>
          </a:solidFill>
          <a:ln/>
        </p:spPr>
      </p:sp>
      <p:pic>
        <p:nvPicPr>
          <p:cNvPr id="6" name="Image 0" descr="icon_contract.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6〜10年目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証券代行・</a:t>
            </a:r>
            <a:endParaRPr lang="en-US" sz="2400" dirty="0"/>
          </a:p>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年金信託業務部門</a:t>
            </a:r>
            <a:endParaRPr lang="en-US" sz="2400" dirty="0"/>
          </a:p>
        </p:txBody>
      </p:sp>
      <p:sp>
        <p:nvSpPr>
          <p:cNvPr id="9" name="Text 6"/>
          <p:cNvSpPr/>
          <p:nvPr/>
        </p:nvSpPr>
        <p:spPr>
          <a:xfrm>
            <a:off x="777240" y="5029200"/>
            <a:ext cx="2788920" cy="1280160"/>
          </a:xfrm>
          <a:prstGeom prst="rect">
            <a:avLst/>
          </a:prstGeom>
          <a:noFill/>
          <a:ln/>
        </p:spPr>
        <p:txBody>
          <a:bodyPr wrap="square" rtlCol="0" anchor="ctr"/>
          <a:lstStyle/>
          <a:p>
            <a:pPr indent="0" marL="0">
              <a:lnSpc>
                <a:spcPct val="125000"/>
              </a:lnSpc>
              <a:buNone/>
            </a:pPr>
            <a:r>
              <a:rPr lang="en-US" sz="1250" i="1" dirty="0">
                <a:solidFill>
                  <a:srgbClr val="CADCFC"/>
                </a:solidFill>
                <a:latin typeface="Calibri" pitchFamily="34" charset="0"/>
                <a:ea typeface="Calibri" pitchFamily="34" charset="-122"/>
                <a:cs typeface="Calibri" pitchFamily="34" charset="-120"/>
              </a:rPr>
              <a:t>企業法ゼミで培った法律知識を、信託銀行ならではの専門業務で磨く</a:t>
            </a:r>
            <a:endParaRPr lang="en-US" sz="1250" dirty="0"/>
          </a:p>
        </p:txBody>
      </p:sp>
      <p:sp>
        <p:nvSpPr>
          <p:cNvPr id="10" name="Shape 7"/>
          <p:cNvSpPr/>
          <p:nvPr/>
        </p:nvSpPr>
        <p:spPr>
          <a:xfrm>
            <a:off x="4325112" y="685800"/>
            <a:ext cx="146304" cy="146304"/>
          </a:xfrm>
          <a:prstGeom prst="roundRect">
            <a:avLst>
              <a:gd name="adj" fmla="val 50000"/>
            </a:avLst>
          </a:prstGeom>
          <a:solidFill>
            <a:srgbClr val="C9A227"/>
          </a:solidFill>
          <a:ln/>
        </p:spPr>
      </p:sp>
      <p:sp>
        <p:nvSpPr>
          <p:cNvPr id="11" name="Text 8"/>
          <p:cNvSpPr/>
          <p:nvPr/>
        </p:nvSpPr>
        <p:spPr>
          <a:xfrm>
            <a:off x="4617720" y="61264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業務内容</a:t>
            </a:r>
            <a:endParaRPr lang="en-US" sz="1600" dirty="0"/>
          </a:p>
        </p:txBody>
      </p:sp>
      <p:sp>
        <p:nvSpPr>
          <p:cNvPr id="12" name="Text 9"/>
          <p:cNvSpPr/>
          <p:nvPr/>
        </p:nvSpPr>
        <p:spPr>
          <a:xfrm>
            <a:off x="4361688" y="106984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証券代行業務（株主名簿管理、株主総会運営支援、コーポレートガバナンス関連アドバイザリー）または年金信託業務（企業年金の資産運用・給付設計）を担当。いずれも大手信託銀行など一部の会社しか担えない専門領域。</a:t>
            </a:r>
            <a:endParaRPr lang="en-US" sz="1300" dirty="0"/>
          </a:p>
        </p:txBody>
      </p:sp>
      <p:sp>
        <p:nvSpPr>
          <p:cNvPr id="13" name="Shape 10"/>
          <p:cNvSpPr/>
          <p:nvPr/>
        </p:nvSpPr>
        <p:spPr>
          <a:xfrm>
            <a:off x="4325112" y="2606040"/>
            <a:ext cx="146304" cy="146304"/>
          </a:xfrm>
          <a:prstGeom prst="roundRect">
            <a:avLst>
              <a:gd name="adj" fmla="val 50000"/>
            </a:avLst>
          </a:prstGeom>
          <a:solidFill>
            <a:srgbClr val="C9A227"/>
          </a:solidFill>
          <a:ln/>
        </p:spPr>
      </p:sp>
      <p:sp>
        <p:nvSpPr>
          <p:cNvPr id="14" name="Text 11"/>
          <p:cNvSpPr/>
          <p:nvPr/>
        </p:nvSpPr>
        <p:spPr>
          <a:xfrm>
            <a:off x="4617720" y="253288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身につく力</a:t>
            </a:r>
            <a:endParaRPr lang="en-US" sz="1600" dirty="0"/>
          </a:p>
        </p:txBody>
      </p:sp>
      <p:sp>
        <p:nvSpPr>
          <p:cNvPr id="15" name="Text 12"/>
          <p:cNvSpPr/>
          <p:nvPr/>
        </p:nvSpPr>
        <p:spPr>
          <a:xfrm>
            <a:off x="4361688" y="299008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会社法・金融商品取引法等の実務知識、法人顧客に対する高度な専門アドバイザリー力。</a:t>
            </a:r>
            <a:endParaRPr lang="en-US" sz="1300" dirty="0"/>
          </a:p>
        </p:txBody>
      </p:sp>
      <p:sp>
        <p:nvSpPr>
          <p:cNvPr id="16" name="Shape 13"/>
          <p:cNvSpPr/>
          <p:nvPr/>
        </p:nvSpPr>
        <p:spPr>
          <a:xfrm>
            <a:off x="4325112" y="4526280"/>
            <a:ext cx="146304" cy="146304"/>
          </a:xfrm>
          <a:prstGeom prst="roundRect">
            <a:avLst>
              <a:gd name="adj" fmla="val 50000"/>
            </a:avLst>
          </a:prstGeom>
          <a:solidFill>
            <a:srgbClr val="C9A227"/>
          </a:solidFill>
          <a:ln/>
        </p:spPr>
      </p:sp>
      <p:sp>
        <p:nvSpPr>
          <p:cNvPr id="17" name="Text 14"/>
          <p:cNvSpPr/>
          <p:nvPr/>
        </p:nvSpPr>
        <p:spPr>
          <a:xfrm>
            <a:off x="4617720" y="445312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強みとの接続</a:t>
            </a:r>
            <a:endParaRPr lang="en-US" sz="1600" dirty="0"/>
          </a:p>
        </p:txBody>
      </p:sp>
      <p:sp>
        <p:nvSpPr>
          <p:cNvPr id="18" name="Text 15"/>
          <p:cNvSpPr/>
          <p:nvPr/>
        </p:nvSpPr>
        <p:spPr>
          <a:xfrm>
            <a:off x="4361688" y="491032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中央大学法学部・企業法ゼミで培った法律知識を、信託銀行にしかない業務を通じて実務の専門性に転換するフェーズ。</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1E2761"/>
          </a:solidFill>
          <a:ln/>
        </p:spPr>
      </p:sp>
      <p:sp>
        <p:nvSpPr>
          <p:cNvPr id="3" name="Shape 1"/>
          <p:cNvSpPr/>
          <p:nvPr/>
        </p:nvSpPr>
        <p:spPr>
          <a:xfrm>
            <a:off x="777240" y="777240"/>
            <a:ext cx="1143000" cy="411480"/>
          </a:xfrm>
          <a:prstGeom prst="roundRect">
            <a:avLst>
              <a:gd name="adj" fmla="val 17778"/>
            </a:avLst>
          </a:prstGeom>
          <a:solidFill>
            <a:srgbClr val="C9A227"/>
          </a:solidFill>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3</a:t>
            </a:r>
            <a:endParaRPr lang="en-US" sz="1300" dirty="0"/>
          </a:p>
        </p:txBody>
      </p:sp>
      <p:sp>
        <p:nvSpPr>
          <p:cNvPr id="5" name="Shape 3"/>
          <p:cNvSpPr/>
          <p:nvPr/>
        </p:nvSpPr>
        <p:spPr>
          <a:xfrm>
            <a:off x="777240" y="1508760"/>
            <a:ext cx="1371600" cy="1371600"/>
          </a:xfrm>
          <a:prstGeom prst="ellipse">
            <a:avLst/>
          </a:prstGeom>
          <a:solidFill>
            <a:srgbClr val="2A3A8C"/>
          </a:solidFill>
          <a:ln/>
        </p:spPr>
      </p:sp>
      <p:pic>
        <p:nvPicPr>
          <p:cNvPr id="6" name="Image 0" descr="icon_handshake.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11〜15年目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事業承継・</a:t>
            </a:r>
            <a:endParaRPr lang="en-US" sz="2400" dirty="0"/>
          </a:p>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M&amp;Aアドバイザリー</a:t>
            </a:r>
            <a:endParaRPr lang="en-US" sz="2400" dirty="0"/>
          </a:p>
        </p:txBody>
      </p:sp>
      <p:sp>
        <p:nvSpPr>
          <p:cNvPr id="9" name="Text 6"/>
          <p:cNvSpPr/>
          <p:nvPr/>
        </p:nvSpPr>
        <p:spPr>
          <a:xfrm>
            <a:off x="777240" y="5029200"/>
            <a:ext cx="2788920" cy="1280160"/>
          </a:xfrm>
          <a:prstGeom prst="rect">
            <a:avLst/>
          </a:prstGeom>
          <a:noFill/>
          <a:ln/>
        </p:spPr>
        <p:txBody>
          <a:bodyPr wrap="square" rtlCol="0" anchor="ctr"/>
          <a:lstStyle/>
          <a:p>
            <a:pPr indent="0" marL="0">
              <a:lnSpc>
                <a:spcPct val="125000"/>
              </a:lnSpc>
              <a:buNone/>
            </a:pPr>
            <a:r>
              <a:rPr lang="en-US" sz="1250" i="1" dirty="0">
                <a:solidFill>
                  <a:srgbClr val="CADCFC"/>
                </a:solidFill>
                <a:latin typeface="Calibri" pitchFamily="34" charset="0"/>
                <a:ea typeface="Calibri" pitchFamily="34" charset="-122"/>
                <a:cs typeface="Calibri" pitchFamily="34" charset="-120"/>
              </a:rPr>
              <a:t>財務分析力と企業法知識、2つの強みが初めて統合される差別化ポイント</a:t>
            </a:r>
            <a:endParaRPr lang="en-US" sz="1250" dirty="0"/>
          </a:p>
        </p:txBody>
      </p:sp>
      <p:sp>
        <p:nvSpPr>
          <p:cNvPr id="10" name="Shape 7"/>
          <p:cNvSpPr/>
          <p:nvPr/>
        </p:nvSpPr>
        <p:spPr>
          <a:xfrm>
            <a:off x="4325112" y="685800"/>
            <a:ext cx="146304" cy="146304"/>
          </a:xfrm>
          <a:prstGeom prst="roundRect">
            <a:avLst>
              <a:gd name="adj" fmla="val 50000"/>
            </a:avLst>
          </a:prstGeom>
          <a:solidFill>
            <a:srgbClr val="C9A227"/>
          </a:solidFill>
          <a:ln/>
        </p:spPr>
      </p:sp>
      <p:sp>
        <p:nvSpPr>
          <p:cNvPr id="11" name="Text 8"/>
          <p:cNvSpPr/>
          <p:nvPr/>
        </p:nvSpPr>
        <p:spPr>
          <a:xfrm>
            <a:off x="4617720" y="61264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業務内容</a:t>
            </a:r>
            <a:endParaRPr lang="en-US" sz="1600" dirty="0"/>
          </a:p>
        </p:txBody>
      </p:sp>
      <p:sp>
        <p:nvSpPr>
          <p:cNvPr id="12" name="Text 9"/>
          <p:cNvSpPr/>
          <p:nvPr/>
        </p:nvSpPr>
        <p:spPr>
          <a:xfrm>
            <a:off x="4361688" y="106984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中小企業オーナーの事業承継設計、M&amp;Aマッチング・助言、遺言信託を組み合わせた資産承継提案など、信託銀行ならではの複合的なソリューションを提供。</a:t>
            </a:r>
            <a:endParaRPr lang="en-US" sz="1300" dirty="0"/>
          </a:p>
        </p:txBody>
      </p:sp>
      <p:sp>
        <p:nvSpPr>
          <p:cNvPr id="13" name="Shape 10"/>
          <p:cNvSpPr/>
          <p:nvPr/>
        </p:nvSpPr>
        <p:spPr>
          <a:xfrm>
            <a:off x="4325112" y="2606040"/>
            <a:ext cx="146304" cy="146304"/>
          </a:xfrm>
          <a:prstGeom prst="roundRect">
            <a:avLst>
              <a:gd name="adj" fmla="val 50000"/>
            </a:avLst>
          </a:prstGeom>
          <a:solidFill>
            <a:srgbClr val="C9A227"/>
          </a:solidFill>
          <a:ln/>
        </p:spPr>
      </p:sp>
      <p:sp>
        <p:nvSpPr>
          <p:cNvPr id="14" name="Text 11"/>
          <p:cNvSpPr/>
          <p:nvPr/>
        </p:nvSpPr>
        <p:spPr>
          <a:xfrm>
            <a:off x="4617720" y="253288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身につく力</a:t>
            </a:r>
            <a:endParaRPr lang="en-US" sz="1600" dirty="0"/>
          </a:p>
        </p:txBody>
      </p:sp>
      <p:sp>
        <p:nvSpPr>
          <p:cNvPr id="15" name="Text 12"/>
          <p:cNvSpPr/>
          <p:nvPr/>
        </p:nvSpPr>
        <p:spPr>
          <a:xfrm>
            <a:off x="4361688" y="299008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財務分析力と法務知識を掛け合わせた統合コンサルティング力。経営者との長期的な信頼関係構築力。</a:t>
            </a:r>
            <a:endParaRPr lang="en-US" sz="1300" dirty="0"/>
          </a:p>
        </p:txBody>
      </p:sp>
      <p:sp>
        <p:nvSpPr>
          <p:cNvPr id="16" name="Shape 13"/>
          <p:cNvSpPr/>
          <p:nvPr/>
        </p:nvSpPr>
        <p:spPr>
          <a:xfrm>
            <a:off x="4325112" y="4526280"/>
            <a:ext cx="146304" cy="146304"/>
          </a:xfrm>
          <a:prstGeom prst="roundRect">
            <a:avLst>
              <a:gd name="adj" fmla="val 50000"/>
            </a:avLst>
          </a:prstGeom>
          <a:solidFill>
            <a:srgbClr val="C9A227"/>
          </a:solidFill>
          <a:ln/>
        </p:spPr>
      </p:sp>
      <p:sp>
        <p:nvSpPr>
          <p:cNvPr id="17" name="Text 14"/>
          <p:cNvSpPr/>
          <p:nvPr/>
        </p:nvSpPr>
        <p:spPr>
          <a:xfrm>
            <a:off x="4617720" y="445312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強みとの接続</a:t>
            </a:r>
            <a:endParaRPr lang="en-US" sz="1600" dirty="0"/>
          </a:p>
        </p:txBody>
      </p:sp>
      <p:sp>
        <p:nvSpPr>
          <p:cNvPr id="18" name="Text 15"/>
          <p:cNvSpPr/>
          <p:nvPr/>
        </p:nvSpPr>
        <p:spPr>
          <a:xfrm>
            <a:off x="4361688" y="491032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Phase1で鍛えた財務分析力とPhase2で確立した企業法の専門性を統合し、他行にはまねしにくい独自のキャリアポジションを確立するフェーズ。</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1E2761"/>
          </a:solidFill>
          <a:ln/>
        </p:spPr>
      </p:sp>
      <p:sp>
        <p:nvSpPr>
          <p:cNvPr id="3" name="Shape 1"/>
          <p:cNvSpPr/>
          <p:nvPr/>
        </p:nvSpPr>
        <p:spPr>
          <a:xfrm>
            <a:off x="777240" y="777240"/>
            <a:ext cx="1143000" cy="411480"/>
          </a:xfrm>
          <a:prstGeom prst="roundRect">
            <a:avLst>
              <a:gd name="adj" fmla="val 17778"/>
            </a:avLst>
          </a:prstGeom>
          <a:solidFill>
            <a:srgbClr val="C9A227"/>
          </a:solidFill>
          <a:ln/>
        </p:spPr>
      </p:sp>
      <p:sp>
        <p:nvSpPr>
          <p:cNvPr id="4" name="Text 2"/>
          <p:cNvSpPr/>
          <p:nvPr/>
        </p:nvSpPr>
        <p:spPr>
          <a:xfrm>
            <a:off x="777240" y="777240"/>
            <a:ext cx="1143000" cy="411480"/>
          </a:xfrm>
          <a:prstGeom prst="rect">
            <a:avLst/>
          </a:prstGeom>
          <a:noFill/>
          <a:ln/>
        </p:spPr>
        <p:txBody>
          <a:bodyPr wrap="square"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PHASE 4</a:t>
            </a:r>
            <a:endParaRPr lang="en-US" sz="1300" dirty="0"/>
          </a:p>
        </p:txBody>
      </p:sp>
      <p:sp>
        <p:nvSpPr>
          <p:cNvPr id="5" name="Shape 3"/>
          <p:cNvSpPr/>
          <p:nvPr/>
        </p:nvSpPr>
        <p:spPr>
          <a:xfrm>
            <a:off x="777240" y="1508760"/>
            <a:ext cx="1371600" cy="1371600"/>
          </a:xfrm>
          <a:prstGeom prst="ellipse">
            <a:avLst/>
          </a:prstGeom>
          <a:solidFill>
            <a:srgbClr val="2A3A8C"/>
          </a:solidFill>
          <a:ln/>
        </p:spPr>
      </p:sp>
      <p:pic>
        <p:nvPicPr>
          <p:cNvPr id="6" name="Image 0" descr="icon_crown.png">    </p:cNvPr>
          <p:cNvPicPr>
            <a:picLocks noChangeAspect="1"/>
          </p:cNvPicPr>
          <p:nvPr/>
        </p:nvPicPr>
        <p:blipFill>
          <a:blip r:embed="rId1"/>
          <a:stretch>
            <a:fillRect/>
          </a:stretch>
        </p:blipFill>
        <p:spPr>
          <a:xfrm>
            <a:off x="1069848" y="1801368"/>
            <a:ext cx="786384" cy="786384"/>
          </a:xfrm>
          <a:prstGeom prst="rect">
            <a:avLst/>
          </a:prstGeom>
        </p:spPr>
      </p:pic>
      <p:sp>
        <p:nvSpPr>
          <p:cNvPr id="7" name="Text 4"/>
          <p:cNvSpPr/>
          <p:nvPr/>
        </p:nvSpPr>
        <p:spPr>
          <a:xfrm>
            <a:off x="777240" y="3108960"/>
            <a:ext cx="2743200" cy="365760"/>
          </a:xfrm>
          <a:prstGeom prst="rect">
            <a:avLst/>
          </a:prstGeom>
          <a:noFill/>
          <a:ln/>
        </p:spPr>
        <p:txBody>
          <a:bodyPr wrap="square" rtlCol="0" anchor="ctr"/>
          <a:lstStyle/>
          <a:p>
            <a:pPr indent="0" marL="0">
              <a:buNone/>
            </a:pPr>
            <a:r>
              <a:rPr lang="en-US" sz="1400" b="1" dirty="0">
                <a:solidFill>
                  <a:srgbClr val="CADCFC"/>
                </a:solidFill>
                <a:latin typeface="Calibri" pitchFamily="34" charset="0"/>
                <a:ea typeface="Calibri" pitchFamily="34" charset="-122"/>
                <a:cs typeface="Calibri" pitchFamily="34" charset="-120"/>
              </a:rPr>
              <a:t>16年目〜</a:t>
            </a:r>
            <a:endParaRPr lang="en-US" sz="1400" dirty="0"/>
          </a:p>
        </p:txBody>
      </p:sp>
      <p:sp>
        <p:nvSpPr>
          <p:cNvPr id="8" name="Text 5"/>
          <p:cNvSpPr/>
          <p:nvPr/>
        </p:nvSpPr>
        <p:spPr>
          <a:xfrm>
            <a:off x="777240" y="3520440"/>
            <a:ext cx="2788920" cy="1280160"/>
          </a:xfrm>
          <a:prstGeom prst="rect">
            <a:avLst/>
          </a:prstGeom>
          <a:noFill/>
          <a:ln/>
        </p:spPr>
        <p:txBody>
          <a:bodyPr wrap="square" rtlCol="0" anchor="ctr"/>
          <a:lstStyle/>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プライベートバンキング／</a:t>
            </a:r>
            <a:endParaRPr lang="en-US" sz="2400" dirty="0"/>
          </a:p>
          <a:p>
            <a:pPr indent="0" marL="0">
              <a:lnSpc>
                <a:spcPct val="115000"/>
              </a:lnSpc>
              <a:buNone/>
            </a:pPr>
            <a:r>
              <a:rPr lang="en-US" sz="2400" b="1" dirty="0">
                <a:solidFill>
                  <a:srgbClr val="FFFFFF"/>
                </a:solidFill>
                <a:latin typeface="Cambria" pitchFamily="34" charset="0"/>
                <a:ea typeface="Cambria" pitchFamily="34" charset="-122"/>
                <a:cs typeface="Cambria" pitchFamily="34" charset="-120"/>
              </a:rPr>
              <a:t>資産運用会社</a:t>
            </a:r>
            <a:endParaRPr lang="en-US" sz="2400" dirty="0"/>
          </a:p>
        </p:txBody>
      </p:sp>
      <p:sp>
        <p:nvSpPr>
          <p:cNvPr id="9" name="Text 6"/>
          <p:cNvSpPr/>
          <p:nvPr/>
        </p:nvSpPr>
        <p:spPr>
          <a:xfrm>
            <a:off x="777240" y="5029200"/>
            <a:ext cx="2788920" cy="1280160"/>
          </a:xfrm>
          <a:prstGeom prst="rect">
            <a:avLst/>
          </a:prstGeom>
          <a:noFill/>
          <a:ln/>
        </p:spPr>
        <p:txBody>
          <a:bodyPr wrap="square" rtlCol="0" anchor="ctr"/>
          <a:lstStyle/>
          <a:p>
            <a:pPr indent="0" marL="0">
              <a:lnSpc>
                <a:spcPct val="125000"/>
              </a:lnSpc>
              <a:buNone/>
            </a:pPr>
            <a:r>
              <a:rPr lang="en-US" sz="1250" i="1" dirty="0">
                <a:solidFill>
                  <a:srgbClr val="CADCFC"/>
                </a:solidFill>
                <a:latin typeface="Calibri" pitchFamily="34" charset="0"/>
                <a:ea typeface="Calibri" pitchFamily="34" charset="-122"/>
                <a:cs typeface="Calibri" pitchFamily="34" charset="-120"/>
              </a:rPr>
              <a:t>顧客の資産・企業のライフサイクル全体を俯瞰する集大成のステージ</a:t>
            </a:r>
            <a:endParaRPr lang="en-US" sz="1250" dirty="0"/>
          </a:p>
        </p:txBody>
      </p:sp>
      <p:sp>
        <p:nvSpPr>
          <p:cNvPr id="10" name="Shape 7"/>
          <p:cNvSpPr/>
          <p:nvPr/>
        </p:nvSpPr>
        <p:spPr>
          <a:xfrm>
            <a:off x="4325112" y="685800"/>
            <a:ext cx="146304" cy="146304"/>
          </a:xfrm>
          <a:prstGeom prst="roundRect">
            <a:avLst>
              <a:gd name="adj" fmla="val 50000"/>
            </a:avLst>
          </a:prstGeom>
          <a:solidFill>
            <a:srgbClr val="C9A227"/>
          </a:solidFill>
          <a:ln/>
        </p:spPr>
      </p:sp>
      <p:sp>
        <p:nvSpPr>
          <p:cNvPr id="11" name="Text 8"/>
          <p:cNvSpPr/>
          <p:nvPr/>
        </p:nvSpPr>
        <p:spPr>
          <a:xfrm>
            <a:off x="4617720" y="61264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業務内容</a:t>
            </a:r>
            <a:endParaRPr lang="en-US" sz="1600" dirty="0"/>
          </a:p>
        </p:txBody>
      </p:sp>
      <p:sp>
        <p:nvSpPr>
          <p:cNvPr id="12" name="Text 9"/>
          <p:cNvSpPr/>
          <p:nvPr/>
        </p:nvSpPr>
        <p:spPr>
          <a:xfrm>
            <a:off x="4361688" y="106984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富裕層・オーナー経営者に対する資産運用・資産承継・事業承継を統合的にサポートする最上流のコンサルティング、またはグループ資産運用会社への出向によるアセットマネジメント業務。</a:t>
            </a:r>
            <a:endParaRPr lang="en-US" sz="1300" dirty="0"/>
          </a:p>
        </p:txBody>
      </p:sp>
      <p:sp>
        <p:nvSpPr>
          <p:cNvPr id="13" name="Shape 10"/>
          <p:cNvSpPr/>
          <p:nvPr/>
        </p:nvSpPr>
        <p:spPr>
          <a:xfrm>
            <a:off x="4325112" y="2606040"/>
            <a:ext cx="146304" cy="146304"/>
          </a:xfrm>
          <a:prstGeom prst="roundRect">
            <a:avLst>
              <a:gd name="adj" fmla="val 50000"/>
            </a:avLst>
          </a:prstGeom>
          <a:solidFill>
            <a:srgbClr val="C9A227"/>
          </a:solidFill>
          <a:ln/>
        </p:spPr>
      </p:sp>
      <p:sp>
        <p:nvSpPr>
          <p:cNvPr id="14" name="Text 11"/>
          <p:cNvSpPr/>
          <p:nvPr/>
        </p:nvSpPr>
        <p:spPr>
          <a:xfrm>
            <a:off x="4617720" y="253288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身につく力</a:t>
            </a:r>
            <a:endParaRPr lang="en-US" sz="1600" dirty="0"/>
          </a:p>
        </p:txBody>
      </p:sp>
      <p:sp>
        <p:nvSpPr>
          <p:cNvPr id="15" name="Text 12"/>
          <p:cNvSpPr/>
          <p:nvPr/>
        </p:nvSpPr>
        <p:spPr>
          <a:xfrm>
            <a:off x="4361688" y="299008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顧客の一生涯・企業の世代交代までを見通す視座と、社内外の専門家を束ねる統括力。</a:t>
            </a:r>
            <a:endParaRPr lang="en-US" sz="1300" dirty="0"/>
          </a:p>
        </p:txBody>
      </p:sp>
      <p:sp>
        <p:nvSpPr>
          <p:cNvPr id="16" name="Shape 13"/>
          <p:cNvSpPr/>
          <p:nvPr/>
        </p:nvSpPr>
        <p:spPr>
          <a:xfrm>
            <a:off x="4325112" y="4526280"/>
            <a:ext cx="146304" cy="146304"/>
          </a:xfrm>
          <a:prstGeom prst="roundRect">
            <a:avLst>
              <a:gd name="adj" fmla="val 50000"/>
            </a:avLst>
          </a:prstGeom>
          <a:solidFill>
            <a:srgbClr val="C9A227"/>
          </a:solidFill>
          <a:ln/>
        </p:spPr>
      </p:sp>
      <p:sp>
        <p:nvSpPr>
          <p:cNvPr id="17" name="Text 14"/>
          <p:cNvSpPr/>
          <p:nvPr/>
        </p:nvSpPr>
        <p:spPr>
          <a:xfrm>
            <a:off x="4617720" y="4453128"/>
            <a:ext cx="7132320" cy="36576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強みとの接続</a:t>
            </a:r>
            <a:endParaRPr lang="en-US" sz="1600" dirty="0"/>
          </a:p>
        </p:txBody>
      </p:sp>
      <p:sp>
        <p:nvSpPr>
          <p:cNvPr id="18" name="Text 15"/>
          <p:cNvSpPr/>
          <p:nvPr/>
        </p:nvSpPr>
        <p:spPr>
          <a:xfrm>
            <a:off x="4361688" y="4910328"/>
            <a:ext cx="7406640" cy="1417320"/>
          </a:xfrm>
          <a:prstGeom prst="rect">
            <a:avLst/>
          </a:prstGeom>
          <a:noFill/>
          <a:ln/>
        </p:spPr>
        <p:txBody>
          <a:bodyPr wrap="square" rtlCol="0" anchor="ctr"/>
          <a:lstStyle/>
          <a:p>
            <a:pPr indent="0" marL="0">
              <a:lnSpc>
                <a:spcPct val="135000"/>
              </a:lnSpc>
              <a:buNone/>
            </a:pPr>
            <a:r>
              <a:rPr lang="en-US" sz="1300" dirty="0">
                <a:solidFill>
                  <a:srgbClr val="333333"/>
                </a:solidFill>
                <a:latin typeface="Calibri" pitchFamily="34" charset="0"/>
                <a:ea typeface="Calibri" pitchFamily="34" charset="-122"/>
                <a:cs typeface="Calibri" pitchFamily="34" charset="-120"/>
              </a:rPr>
              <a:t>財務分析力・企業法知識・PDCAで磨いた改善力、これまで積み上げた全ての強みを統合し、顧客との長期的な信頼関係を築く集大成のポジション。</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640080" y="502920"/>
            <a:ext cx="10972800" cy="640080"/>
          </a:xfrm>
          <a:prstGeom prst="rect">
            <a:avLst/>
          </a:prstGeom>
          <a:noFill/>
          <a:ln/>
        </p:spPr>
        <p:txBody>
          <a:bodyPr wrap="square"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まとめ：強みを掛け算するキャリア</a:t>
            </a:r>
            <a:endParaRPr lang="en-US" sz="3000" dirty="0"/>
          </a:p>
        </p:txBody>
      </p:sp>
      <p:sp>
        <p:nvSpPr>
          <p:cNvPr id="3" name="Text 1"/>
          <p:cNvSpPr/>
          <p:nvPr/>
        </p:nvSpPr>
        <p:spPr>
          <a:xfrm>
            <a:off x="640080" y="1188720"/>
            <a:ext cx="10789920" cy="457200"/>
          </a:xfrm>
          <a:prstGeom prst="rect">
            <a:avLst/>
          </a:prstGeom>
          <a:noFill/>
          <a:ln/>
        </p:spPr>
        <p:txBody>
          <a:bodyPr wrap="square" rtlCol="0" anchor="ctr"/>
          <a:lstStyle/>
          <a:p>
            <a:pPr indent="0" marL="0">
              <a:buNone/>
            </a:pPr>
            <a:r>
              <a:rPr lang="en-US" sz="1400" dirty="0">
                <a:solidFill>
                  <a:srgbClr val="CADCFC"/>
                </a:solidFill>
                <a:latin typeface="Calibri" pitchFamily="34" charset="0"/>
                <a:ea typeface="Calibri" pitchFamily="34" charset="-122"/>
                <a:cs typeface="Calibri" pitchFamily="34" charset="-120"/>
              </a:rPr>
              <a:t>財務分析力と企業法知識を、直列でなく段階的に掛け合わせていくことで、信託銀行ならではの独自ポジションに到達するモデルです。</a:t>
            </a:r>
            <a:endParaRPr lang="en-US" sz="1400" dirty="0"/>
          </a:p>
        </p:txBody>
      </p:sp>
      <p:sp>
        <p:nvSpPr>
          <p:cNvPr id="4" name="Shape 2"/>
          <p:cNvSpPr/>
          <p:nvPr/>
        </p:nvSpPr>
        <p:spPr>
          <a:xfrm>
            <a:off x="640080" y="1965960"/>
            <a:ext cx="2468880" cy="1417320"/>
          </a:xfrm>
          <a:prstGeom prst="roundRect">
            <a:avLst>
              <a:gd name="adj" fmla="val 6452"/>
            </a:avLst>
          </a:prstGeom>
          <a:solidFill>
            <a:srgbClr val="2A3A8C"/>
          </a:solidFill>
          <a:ln/>
        </p:spPr>
      </p:sp>
      <p:sp>
        <p:nvSpPr>
          <p:cNvPr id="5" name="Text 3"/>
          <p:cNvSpPr/>
          <p:nvPr/>
        </p:nvSpPr>
        <p:spPr>
          <a:xfrm>
            <a:off x="804672" y="2112264"/>
            <a:ext cx="2139696" cy="320040"/>
          </a:xfrm>
          <a:prstGeom prst="rect">
            <a:avLst/>
          </a:prstGeom>
          <a:noFill/>
          <a:ln/>
        </p:spPr>
        <p:txBody>
          <a:bodyPr wrap="square" rtlCol="0" anchor="ctr"/>
          <a:lstStyle/>
          <a:p>
            <a:pPr indent="0" marL="0">
              <a:buNone/>
            </a:pPr>
            <a:r>
              <a:rPr lang="en-US" sz="1100" b="1" dirty="0">
                <a:solidFill>
                  <a:srgbClr val="C9A227"/>
                </a:solidFill>
                <a:latin typeface="Calibri" pitchFamily="34" charset="0"/>
                <a:ea typeface="Calibri" pitchFamily="34" charset="-122"/>
                <a:cs typeface="Calibri" pitchFamily="34" charset="-120"/>
              </a:rPr>
              <a:t>Phase 1　入行〜5年目</a:t>
            </a:r>
            <a:endParaRPr lang="en-US" sz="1100" dirty="0"/>
          </a:p>
        </p:txBody>
      </p:sp>
      <p:sp>
        <p:nvSpPr>
          <p:cNvPr id="6" name="Text 4"/>
          <p:cNvSpPr/>
          <p:nvPr/>
        </p:nvSpPr>
        <p:spPr>
          <a:xfrm>
            <a:off x="804672" y="2423160"/>
            <a:ext cx="2139696" cy="868680"/>
          </a:xfrm>
          <a:prstGeom prst="rect">
            <a:avLst/>
          </a:prstGeom>
          <a:noFill/>
          <a:ln/>
        </p:spPr>
        <p:txBody>
          <a:bodyPr wrap="square"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法人業務部門</a:t>
            </a:r>
            <a:endParaRPr lang="en-US" sz="1300" dirty="0"/>
          </a:p>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（法人融資・法人渉外）</a:t>
            </a:r>
            <a:endParaRPr lang="en-US" sz="1300" dirty="0"/>
          </a:p>
        </p:txBody>
      </p:sp>
      <p:pic>
        <p:nvPicPr>
          <p:cNvPr id="7" name="Image 0" descr="icon_arrow.png">    </p:cNvPr>
          <p:cNvPicPr>
            <a:picLocks noChangeAspect="1"/>
          </p:cNvPicPr>
          <p:nvPr/>
        </p:nvPicPr>
        <p:blipFill>
          <a:blip r:embed="rId1">
            <a:alphaModFix amt="75000"/>
          </a:blip>
          <a:stretch>
            <a:fillRect/>
          </a:stretch>
        </p:blipFill>
        <p:spPr>
          <a:xfrm>
            <a:off x="3127248" y="2546604"/>
            <a:ext cx="219456" cy="256032"/>
          </a:xfrm>
          <a:prstGeom prst="rect">
            <a:avLst/>
          </a:prstGeom>
        </p:spPr>
      </p:pic>
      <p:sp>
        <p:nvSpPr>
          <p:cNvPr id="8" name="Shape 5"/>
          <p:cNvSpPr/>
          <p:nvPr/>
        </p:nvSpPr>
        <p:spPr>
          <a:xfrm>
            <a:off x="3364992" y="1965960"/>
            <a:ext cx="2468880" cy="1417320"/>
          </a:xfrm>
          <a:prstGeom prst="roundRect">
            <a:avLst>
              <a:gd name="adj" fmla="val 6452"/>
            </a:avLst>
          </a:prstGeom>
          <a:solidFill>
            <a:srgbClr val="2A3A8C"/>
          </a:solidFill>
          <a:ln/>
        </p:spPr>
      </p:sp>
      <p:sp>
        <p:nvSpPr>
          <p:cNvPr id="9" name="Text 6"/>
          <p:cNvSpPr/>
          <p:nvPr/>
        </p:nvSpPr>
        <p:spPr>
          <a:xfrm>
            <a:off x="3529584" y="2112264"/>
            <a:ext cx="2139696" cy="320040"/>
          </a:xfrm>
          <a:prstGeom prst="rect">
            <a:avLst/>
          </a:prstGeom>
          <a:noFill/>
          <a:ln/>
        </p:spPr>
        <p:txBody>
          <a:bodyPr wrap="square" rtlCol="0" anchor="ctr"/>
          <a:lstStyle/>
          <a:p>
            <a:pPr indent="0" marL="0">
              <a:buNone/>
            </a:pPr>
            <a:r>
              <a:rPr lang="en-US" sz="1100" b="1" dirty="0">
                <a:solidFill>
                  <a:srgbClr val="C9A227"/>
                </a:solidFill>
                <a:latin typeface="Calibri" pitchFamily="34" charset="0"/>
                <a:ea typeface="Calibri" pitchFamily="34" charset="-122"/>
                <a:cs typeface="Calibri" pitchFamily="34" charset="-120"/>
              </a:rPr>
              <a:t>Phase 2　6〜10年目</a:t>
            </a:r>
            <a:endParaRPr lang="en-US" sz="1100" dirty="0"/>
          </a:p>
        </p:txBody>
      </p:sp>
      <p:sp>
        <p:nvSpPr>
          <p:cNvPr id="10" name="Text 7"/>
          <p:cNvSpPr/>
          <p:nvPr/>
        </p:nvSpPr>
        <p:spPr>
          <a:xfrm>
            <a:off x="3529584" y="2423160"/>
            <a:ext cx="2139696" cy="868680"/>
          </a:xfrm>
          <a:prstGeom prst="rect">
            <a:avLst/>
          </a:prstGeom>
          <a:noFill/>
          <a:ln/>
        </p:spPr>
        <p:txBody>
          <a:bodyPr wrap="square"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証券代行・</a:t>
            </a:r>
            <a:endParaRPr lang="en-US" sz="1300" dirty="0"/>
          </a:p>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年金信託業務部門</a:t>
            </a:r>
            <a:endParaRPr lang="en-US" sz="1300" dirty="0"/>
          </a:p>
        </p:txBody>
      </p:sp>
      <p:pic>
        <p:nvPicPr>
          <p:cNvPr id="11" name="Image 1" descr="icon_arrow.png">    </p:cNvPr>
          <p:cNvPicPr>
            <a:picLocks noChangeAspect="1"/>
          </p:cNvPicPr>
          <p:nvPr/>
        </p:nvPicPr>
        <p:blipFill>
          <a:blip r:embed="rId2">
            <a:alphaModFix amt="75000"/>
          </a:blip>
          <a:stretch>
            <a:fillRect/>
          </a:stretch>
        </p:blipFill>
        <p:spPr>
          <a:xfrm>
            <a:off x="5852160" y="2546604"/>
            <a:ext cx="219456" cy="256032"/>
          </a:xfrm>
          <a:prstGeom prst="rect">
            <a:avLst/>
          </a:prstGeom>
        </p:spPr>
      </p:pic>
      <p:sp>
        <p:nvSpPr>
          <p:cNvPr id="12" name="Shape 8"/>
          <p:cNvSpPr/>
          <p:nvPr/>
        </p:nvSpPr>
        <p:spPr>
          <a:xfrm>
            <a:off x="6089904" y="1965960"/>
            <a:ext cx="2468880" cy="1417320"/>
          </a:xfrm>
          <a:prstGeom prst="roundRect">
            <a:avLst>
              <a:gd name="adj" fmla="val 6452"/>
            </a:avLst>
          </a:prstGeom>
          <a:solidFill>
            <a:srgbClr val="2A3A8C"/>
          </a:solidFill>
          <a:ln/>
        </p:spPr>
      </p:sp>
      <p:sp>
        <p:nvSpPr>
          <p:cNvPr id="13" name="Text 9"/>
          <p:cNvSpPr/>
          <p:nvPr/>
        </p:nvSpPr>
        <p:spPr>
          <a:xfrm>
            <a:off x="6254496" y="2112264"/>
            <a:ext cx="2139696" cy="320040"/>
          </a:xfrm>
          <a:prstGeom prst="rect">
            <a:avLst/>
          </a:prstGeom>
          <a:noFill/>
          <a:ln/>
        </p:spPr>
        <p:txBody>
          <a:bodyPr wrap="square" rtlCol="0" anchor="ctr"/>
          <a:lstStyle/>
          <a:p>
            <a:pPr indent="0" marL="0">
              <a:buNone/>
            </a:pPr>
            <a:r>
              <a:rPr lang="en-US" sz="1100" b="1" dirty="0">
                <a:solidFill>
                  <a:srgbClr val="C9A227"/>
                </a:solidFill>
                <a:latin typeface="Calibri" pitchFamily="34" charset="0"/>
                <a:ea typeface="Calibri" pitchFamily="34" charset="-122"/>
                <a:cs typeface="Calibri" pitchFamily="34" charset="-120"/>
              </a:rPr>
              <a:t>Phase 3　11〜15年目</a:t>
            </a:r>
            <a:endParaRPr lang="en-US" sz="1100" dirty="0"/>
          </a:p>
        </p:txBody>
      </p:sp>
      <p:sp>
        <p:nvSpPr>
          <p:cNvPr id="14" name="Text 10"/>
          <p:cNvSpPr/>
          <p:nvPr/>
        </p:nvSpPr>
        <p:spPr>
          <a:xfrm>
            <a:off x="6254496" y="2423160"/>
            <a:ext cx="2139696" cy="868680"/>
          </a:xfrm>
          <a:prstGeom prst="rect">
            <a:avLst/>
          </a:prstGeom>
          <a:noFill/>
          <a:ln/>
        </p:spPr>
        <p:txBody>
          <a:bodyPr wrap="square"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事業承継・</a:t>
            </a:r>
            <a:endParaRPr lang="en-US" sz="1300" dirty="0"/>
          </a:p>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M&amp;Aアドバイザリー</a:t>
            </a:r>
            <a:endParaRPr lang="en-US" sz="1300" dirty="0"/>
          </a:p>
        </p:txBody>
      </p:sp>
      <p:pic>
        <p:nvPicPr>
          <p:cNvPr id="15" name="Image 2" descr="icon_arrow.png">    </p:cNvPr>
          <p:cNvPicPr>
            <a:picLocks noChangeAspect="1"/>
          </p:cNvPicPr>
          <p:nvPr/>
        </p:nvPicPr>
        <p:blipFill>
          <a:blip r:embed="rId3">
            <a:alphaModFix amt="75000"/>
          </a:blip>
          <a:stretch>
            <a:fillRect/>
          </a:stretch>
        </p:blipFill>
        <p:spPr>
          <a:xfrm>
            <a:off x="8577072" y="2546604"/>
            <a:ext cx="219456" cy="256032"/>
          </a:xfrm>
          <a:prstGeom prst="rect">
            <a:avLst/>
          </a:prstGeom>
        </p:spPr>
      </p:pic>
      <p:sp>
        <p:nvSpPr>
          <p:cNvPr id="16" name="Shape 11"/>
          <p:cNvSpPr/>
          <p:nvPr/>
        </p:nvSpPr>
        <p:spPr>
          <a:xfrm>
            <a:off x="8814816" y="1965960"/>
            <a:ext cx="2468880" cy="1417320"/>
          </a:xfrm>
          <a:prstGeom prst="roundRect">
            <a:avLst>
              <a:gd name="adj" fmla="val 6452"/>
            </a:avLst>
          </a:prstGeom>
          <a:solidFill>
            <a:srgbClr val="2A3A8C"/>
          </a:solidFill>
          <a:ln/>
        </p:spPr>
      </p:sp>
      <p:sp>
        <p:nvSpPr>
          <p:cNvPr id="17" name="Text 12"/>
          <p:cNvSpPr/>
          <p:nvPr/>
        </p:nvSpPr>
        <p:spPr>
          <a:xfrm>
            <a:off x="8979408" y="2112264"/>
            <a:ext cx="2139696" cy="320040"/>
          </a:xfrm>
          <a:prstGeom prst="rect">
            <a:avLst/>
          </a:prstGeom>
          <a:noFill/>
          <a:ln/>
        </p:spPr>
        <p:txBody>
          <a:bodyPr wrap="square" rtlCol="0" anchor="ctr"/>
          <a:lstStyle/>
          <a:p>
            <a:pPr indent="0" marL="0">
              <a:buNone/>
            </a:pPr>
            <a:r>
              <a:rPr lang="en-US" sz="1100" b="1" dirty="0">
                <a:solidFill>
                  <a:srgbClr val="C9A227"/>
                </a:solidFill>
                <a:latin typeface="Calibri" pitchFamily="34" charset="0"/>
                <a:ea typeface="Calibri" pitchFamily="34" charset="-122"/>
                <a:cs typeface="Calibri" pitchFamily="34" charset="-120"/>
              </a:rPr>
              <a:t>Phase 4　16年目〜</a:t>
            </a:r>
            <a:endParaRPr lang="en-US" sz="1100" dirty="0"/>
          </a:p>
        </p:txBody>
      </p:sp>
      <p:sp>
        <p:nvSpPr>
          <p:cNvPr id="18" name="Text 13"/>
          <p:cNvSpPr/>
          <p:nvPr/>
        </p:nvSpPr>
        <p:spPr>
          <a:xfrm>
            <a:off x="8979408" y="2423160"/>
            <a:ext cx="2139696" cy="868680"/>
          </a:xfrm>
          <a:prstGeom prst="rect">
            <a:avLst/>
          </a:prstGeom>
          <a:noFill/>
          <a:ln/>
        </p:spPr>
        <p:txBody>
          <a:bodyPr wrap="square" rtlCol="0" anchor="ctr"/>
          <a:lstStyle/>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プライベートバンキング／</a:t>
            </a:r>
            <a:endParaRPr lang="en-US" sz="1300" dirty="0"/>
          </a:p>
          <a:p>
            <a:pPr indent="0" marL="0">
              <a:lnSpc>
                <a:spcPct val="110000"/>
              </a:lnSpc>
              <a:buNone/>
            </a:pPr>
            <a:r>
              <a:rPr lang="en-US" sz="1300" b="1" dirty="0">
                <a:solidFill>
                  <a:srgbClr val="FFFFFF"/>
                </a:solidFill>
                <a:latin typeface="Calibri" pitchFamily="34" charset="0"/>
                <a:ea typeface="Calibri" pitchFamily="34" charset="-122"/>
                <a:cs typeface="Calibri" pitchFamily="34" charset="-120"/>
              </a:rPr>
              <a:t>資産運用会社</a:t>
            </a:r>
            <a:endParaRPr lang="en-US" sz="1300" dirty="0"/>
          </a:p>
        </p:txBody>
      </p:sp>
      <p:sp>
        <p:nvSpPr>
          <p:cNvPr id="19" name="Shape 14"/>
          <p:cNvSpPr/>
          <p:nvPr/>
        </p:nvSpPr>
        <p:spPr>
          <a:xfrm>
            <a:off x="640080" y="3749040"/>
            <a:ext cx="10881360" cy="2331720"/>
          </a:xfrm>
          <a:prstGeom prst="roundRect">
            <a:avLst>
              <a:gd name="adj" fmla="val 4706"/>
            </a:avLst>
          </a:prstGeom>
          <a:solidFill>
            <a:srgbClr val="16204F"/>
          </a:solidFill>
          <a:ln/>
        </p:spPr>
      </p:sp>
      <p:sp>
        <p:nvSpPr>
          <p:cNvPr id="20" name="Text 15"/>
          <p:cNvSpPr/>
          <p:nvPr/>
        </p:nvSpPr>
        <p:spPr>
          <a:xfrm>
            <a:off x="914400" y="3977640"/>
            <a:ext cx="10241280" cy="365760"/>
          </a:xfrm>
          <a:prstGeom prst="rect">
            <a:avLst/>
          </a:prstGeom>
          <a:noFill/>
          <a:ln/>
        </p:spPr>
        <p:txBody>
          <a:bodyPr wrap="square" rtlCol="0" anchor="ctr"/>
          <a:lstStyle/>
          <a:p>
            <a:pPr indent="0" marL="0">
              <a:buNone/>
            </a:pPr>
            <a:r>
              <a:rPr lang="en-US" sz="1600" b="1" dirty="0">
                <a:solidFill>
                  <a:srgbClr val="C9A227"/>
                </a:solidFill>
                <a:latin typeface="Calibri" pitchFamily="34" charset="0"/>
                <a:ea typeface="Calibri" pitchFamily="34" charset="-122"/>
                <a:cs typeface="Calibri" pitchFamily="34" charset="-120"/>
              </a:rPr>
              <a:t>次の一歩（就活で意識したいこと）</a:t>
            </a:r>
            <a:endParaRPr lang="en-US" sz="1600" dirty="0"/>
          </a:p>
        </p:txBody>
      </p:sp>
      <p:sp>
        <p:nvSpPr>
          <p:cNvPr id="21" name="Text 16"/>
          <p:cNvSpPr/>
          <p:nvPr/>
        </p:nvSpPr>
        <p:spPr>
          <a:xfrm>
            <a:off x="1051560" y="4434840"/>
            <a:ext cx="10149840" cy="1554480"/>
          </a:xfrm>
          <a:prstGeom prst="rect">
            <a:avLst/>
          </a:prstGeom>
          <a:noFill/>
          <a:ln/>
        </p:spPr>
        <p:txBody>
          <a:bodyPr wrap="square" rtlCol="0" anchor="ctr"/>
          <a:lstStyle/>
          <a:p>
            <a:pPr marL="342900" indent="-342900">
              <a:lnSpc>
                <a:spcPct val="130000"/>
              </a:lnSpc>
              <a:spcAft>
                <a:spcPts val="800"/>
              </a:spcAft>
              <a:buSzPct val="100000"/>
              <a:buChar char="•"/>
            </a:pPr>
            <a:r>
              <a:rPr lang="en-US" sz="1300" dirty="0">
                <a:solidFill>
                  <a:srgbClr val="CADCFC"/>
                </a:solidFill>
                <a:latin typeface="Calibri" pitchFamily="34" charset="0"/>
                <a:ea typeface="Calibri" pitchFamily="34" charset="-122"/>
                <a:cs typeface="Calibri" pitchFamily="34" charset="-120"/>
              </a:rPr>
              <a:t>面接・ESでは「財務諸表を読める強み」を、まず法人融資・与信審査の場面でどう活かすかを具体的に語る</a:t>
            </a:r>
            <a:endParaRPr lang="en-US" sz="1300" dirty="0"/>
          </a:p>
          <a:p>
            <a:pPr marL="342900" indent="-342900">
              <a:lnSpc>
                <a:spcPct val="130000"/>
              </a:lnSpc>
              <a:spcAft>
                <a:spcPts val="800"/>
              </a:spcAft>
              <a:buSzPct val="100000"/>
              <a:buChar char="•"/>
            </a:pPr>
            <a:r>
              <a:rPr lang="en-US" sz="1300" dirty="0">
                <a:solidFill>
                  <a:srgbClr val="CADCFC"/>
                </a:solidFill>
                <a:latin typeface="Calibri" pitchFamily="34" charset="0"/>
                <a:ea typeface="Calibri" pitchFamily="34" charset="-122"/>
                <a:cs typeface="Calibri" pitchFamily="34" charset="-120"/>
              </a:rPr>
              <a:t>企業法ゼミでの学びを、証券代行・年金信託といった信託銀行特有の業務にどう接続できるかを調べて言語化しておく</a:t>
            </a:r>
            <a:endParaRPr lang="en-US" sz="1300" dirty="0"/>
          </a:p>
          <a:p>
            <a:pPr marL="342900" indent="-342900">
              <a:lnSpc>
                <a:spcPct val="130000"/>
              </a:lnSpc>
              <a:spcAft>
                <a:spcPts val="800"/>
              </a:spcAft>
              <a:buSzPct val="100000"/>
              <a:buChar char="•"/>
            </a:pPr>
            <a:r>
              <a:rPr lang="en-US" sz="1300" dirty="0">
                <a:solidFill>
                  <a:srgbClr val="CADCFC"/>
                </a:solidFill>
                <a:latin typeface="Calibri" pitchFamily="34" charset="0"/>
                <a:ea typeface="Calibri" pitchFamily="34" charset="-122"/>
                <a:cs typeface="Calibri" pitchFamily="34" charset="-120"/>
              </a:rPr>
              <a:t>将来的に「財務分析×法務」を掛け合わせた事業承継・M&amp;Aアドバイザリーを志向している、という一貫したストーリーを準備する</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2026-08-22T21:56:35Z</dcterms:created>
  <dcterms:modified xsi:type="dcterms:W3CDTF">2026-08-22T21:56:35Z</dcterms:modified>
</cp:coreProperties>
</file>