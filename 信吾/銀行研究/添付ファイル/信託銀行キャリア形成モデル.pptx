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2.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3.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2.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icon_chart_gray.png">    </p:cNvPr>
          <p:cNvPicPr>
            <a:picLocks noChangeAspect="1"/>
          </p:cNvPicPr>
          <p:nvPr/>
        </p:nvPicPr>
        <p:blipFill>
          <a:blip r:embed="rId1"/>
          <a:stretch>
            <a:fillRect/>
          </a:stretch>
        </p:blipFill>
        <p:spPr>
          <a:xfrm>
            <a:off x="8778240" y="3931920"/>
            <a:ext cx="3291840" cy="3291840"/>
          </a:xfrm>
          <a:prstGeom prst="rect">
            <a:avLst/>
          </a:prstGeom>
        </p:spPr>
      </p:pic>
      <p:sp>
        <p:nvSpPr>
          <p:cNvPr id="3" name="Text 0"/>
          <p:cNvSpPr/>
          <p:nvPr/>
        </p:nvSpPr>
        <p:spPr>
          <a:xfrm>
            <a:off x="822960" y="1600200"/>
            <a:ext cx="9601200" cy="1737360"/>
          </a:xfrm>
          <a:prstGeom prst="rect">
            <a:avLst/>
          </a:prstGeom>
          <a:noFill/>
          <a:ln/>
        </p:spPr>
        <p:txBody>
          <a:bodyPr wrap="square" rtlCol="0" anchor="ctr"/>
          <a:lstStyle/>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信託銀行における</a:t>
            </a:r>
            <a:endParaRPr lang="en-US" sz="4000" dirty="0"/>
          </a:p>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キャリア形成モデル</a:t>
            </a:r>
            <a:endParaRPr lang="en-US" sz="4000" dirty="0"/>
          </a:p>
        </p:txBody>
      </p:sp>
      <p:sp>
        <p:nvSpPr>
          <p:cNvPr id="4" name="Text 1"/>
          <p:cNvSpPr/>
          <p:nvPr/>
        </p:nvSpPr>
        <p:spPr>
          <a:xfrm>
            <a:off x="822960" y="3429000"/>
            <a:ext cx="8961120" cy="548640"/>
          </a:xfrm>
          <a:prstGeom prst="rect">
            <a:avLst/>
          </a:prstGeom>
          <a:noFill/>
          <a:ln/>
        </p:spPr>
        <p:txBody>
          <a:bodyPr wrap="square" rtlCol="0" anchor="ctr"/>
          <a:lstStyle/>
          <a:p>
            <a:pPr indent="0" marL="0">
              <a:buNone/>
            </a:pPr>
            <a:r>
              <a:rPr lang="en-US" sz="1800" dirty="0">
                <a:solidFill>
                  <a:srgbClr val="000000"/>
                </a:solidFill>
                <a:latin typeface="Meiryo UI" pitchFamily="34" charset="0"/>
                <a:ea typeface="Meiryo UI" pitchFamily="34" charset="-122"/>
                <a:cs typeface="Meiryo UI" pitchFamily="34" charset="-120"/>
              </a:rPr>
              <a:t>「運用」に関わる3つのキャリアパターンで考える、信吾さんの成長ロードマップ</a:t>
            </a:r>
            <a:endParaRPr lang="en-US" sz="1800" dirty="0"/>
          </a:p>
        </p:txBody>
      </p:sp>
      <p:sp>
        <p:nvSpPr>
          <p:cNvPr id="5" name="Text 2"/>
          <p:cNvSpPr/>
          <p:nvPr/>
        </p:nvSpPr>
        <p:spPr>
          <a:xfrm>
            <a:off x="914400" y="4160520"/>
            <a:ext cx="8229600" cy="1371600"/>
          </a:xfrm>
          <a:prstGeom prst="rect">
            <a:avLst/>
          </a:prstGeom>
          <a:noFill/>
          <a:ln/>
        </p:spPr>
        <p:txBody>
          <a:bodyPr wrap="square" rtlCol="0" anchor="ctr"/>
          <a:lstStyle/>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①アセットマネジメント業務を中心とするキャリア</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②信託銀行の運用業務を中心とするキャリア</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③銀行の自己勘定運用（マーケット業務）を中心とするキャリア</a:t>
            </a:r>
            <a:endParaRPr lang="en-US" sz="1600" dirty="0"/>
          </a:p>
        </p:txBody>
      </p:sp>
      <p:sp>
        <p:nvSpPr>
          <p:cNvPr id="6" name="Text 3"/>
          <p:cNvSpPr/>
          <p:nvPr/>
        </p:nvSpPr>
        <p:spPr>
          <a:xfrm>
            <a:off x="822960" y="6126480"/>
            <a:ext cx="5486400" cy="36576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2026年8月時点の想定モデル案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どのパターンを選んでも、この3つの強みをどの部署で・どの順番で鍛えるかが軸になります。</a:t>
            </a:r>
            <a:endParaRPr lang="en-US" sz="1400" dirty="0"/>
          </a:p>
        </p:txBody>
      </p:sp>
      <p:sp>
        <p:nvSpPr>
          <p:cNvPr id="4" name="Shape 2"/>
          <p:cNvSpPr/>
          <p:nvPr/>
        </p:nvSpPr>
        <p:spPr>
          <a:xfrm>
            <a:off x="640080" y="1965960"/>
            <a:ext cx="3520440" cy="3429000"/>
          </a:xfrm>
          <a:prstGeom prst="roundRect">
            <a:avLst>
              <a:gd name="adj" fmla="val 2667"/>
            </a:avLst>
          </a:prstGeom>
          <a:solidFill>
            <a:srgbClr val="FFFFFF"/>
          </a:solidFill>
          <a:ln w="12700">
            <a:solidFill>
              <a:srgbClr val="D0D5DD"/>
            </a:solidFill>
            <a:prstDash val="solid"/>
          </a:ln>
        </p:spPr>
      </p:sp>
      <p:sp>
        <p:nvSpPr>
          <p:cNvPr id="5" name="Shape 3"/>
          <p:cNvSpPr/>
          <p:nvPr/>
        </p:nvSpPr>
        <p:spPr>
          <a:xfrm>
            <a:off x="1920240" y="2286000"/>
            <a:ext cx="960120" cy="960120"/>
          </a:xfrm>
          <a:prstGeom prst="ellipse">
            <a:avLst/>
          </a:prstGeom>
          <a:solidFill>
            <a:srgbClr val="1E2761"/>
          </a:solidFill>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財務諸表分析力</a:t>
            </a:r>
            <a:endParaRPr lang="en-US" sz="1700" dirty="0"/>
          </a:p>
        </p:txBody>
      </p:sp>
      <p:sp>
        <p:nvSpPr>
          <p:cNvPr id="8" name="Text 5"/>
          <p:cNvSpPr/>
          <p:nvPr/>
        </p:nvSpPr>
        <p:spPr>
          <a:xfrm>
            <a:off x="91440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簿記1級取得。りそな銀行インターンのグループワークで「財務諸表を読めるのは自分だけ」という強みを実証済み。</a:t>
            </a:r>
            <a:endParaRPr lang="en-US" sz="1400" dirty="0"/>
          </a:p>
        </p:txBody>
      </p:sp>
      <p:sp>
        <p:nvSpPr>
          <p:cNvPr id="9" name="Shape 6"/>
          <p:cNvSpPr/>
          <p:nvPr/>
        </p:nvSpPr>
        <p:spPr>
          <a:xfrm>
            <a:off x="4480560" y="1965960"/>
            <a:ext cx="3520440" cy="3429000"/>
          </a:xfrm>
          <a:prstGeom prst="roundRect">
            <a:avLst>
              <a:gd name="adj" fmla="val 2667"/>
            </a:avLst>
          </a:prstGeom>
          <a:solidFill>
            <a:srgbClr val="FFFFFF"/>
          </a:solidFill>
          <a:ln w="12700">
            <a:solidFill>
              <a:srgbClr val="D0D5DD"/>
            </a:solidFill>
            <a:prstDash val="solid"/>
          </a:ln>
        </p:spPr>
      </p:sp>
      <p:sp>
        <p:nvSpPr>
          <p:cNvPr id="10" name="Shape 7"/>
          <p:cNvSpPr/>
          <p:nvPr/>
        </p:nvSpPr>
        <p:spPr>
          <a:xfrm>
            <a:off x="5760720" y="2286000"/>
            <a:ext cx="960120" cy="960120"/>
          </a:xfrm>
          <a:prstGeom prst="ellipse">
            <a:avLst/>
          </a:prstGeom>
          <a:solidFill>
            <a:srgbClr val="1E2761"/>
          </a:solidFill>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企業法の知識</a:t>
            </a:r>
            <a:endParaRPr lang="en-US" sz="1700" dirty="0"/>
          </a:p>
        </p:txBody>
      </p:sp>
      <p:sp>
        <p:nvSpPr>
          <p:cNvPr id="13" name="Text 9"/>
          <p:cNvSpPr/>
          <p:nvPr/>
        </p:nvSpPr>
        <p:spPr>
          <a:xfrm>
            <a:off x="475488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中央大学法学部・企業法ゼミ所属。財務分析と法律知識の両輪が必要という発想から選択した専門領域。</a:t>
            </a:r>
            <a:endParaRPr lang="en-US" sz="1400" dirty="0"/>
          </a:p>
        </p:txBody>
      </p:sp>
      <p:sp>
        <p:nvSpPr>
          <p:cNvPr id="14" name="Shape 10"/>
          <p:cNvSpPr/>
          <p:nvPr/>
        </p:nvSpPr>
        <p:spPr>
          <a:xfrm>
            <a:off x="8321040" y="1965960"/>
            <a:ext cx="3520440" cy="3429000"/>
          </a:xfrm>
          <a:prstGeom prst="roundRect">
            <a:avLst>
              <a:gd name="adj" fmla="val 2667"/>
            </a:avLst>
          </a:prstGeom>
          <a:solidFill>
            <a:srgbClr val="FFFFFF"/>
          </a:solidFill>
          <a:ln w="12700">
            <a:solidFill>
              <a:srgbClr val="D0D5DD"/>
            </a:solidFill>
            <a:prstDash val="solid"/>
          </a:ln>
        </p:spPr>
      </p:sp>
      <p:sp>
        <p:nvSpPr>
          <p:cNvPr id="15" name="Shape 11"/>
          <p:cNvSpPr/>
          <p:nvPr/>
        </p:nvSpPr>
        <p:spPr>
          <a:xfrm>
            <a:off x="9601200" y="2286000"/>
            <a:ext cx="960120" cy="960120"/>
          </a:xfrm>
          <a:prstGeom prst="ellipse">
            <a:avLst/>
          </a:prstGeom>
          <a:solidFill>
            <a:srgbClr val="1E2761"/>
          </a:solidFill>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原因分析・改善力(PDCA)</a:t>
            </a:r>
            <a:endParaRPr lang="en-US" sz="1700" dirty="0"/>
          </a:p>
        </p:txBody>
      </p:sp>
      <p:sp>
        <p:nvSpPr>
          <p:cNvPr id="18" name="Text 13"/>
          <p:cNvSpPr/>
          <p:nvPr/>
        </p:nvSpPr>
        <p:spPr>
          <a:xfrm>
            <a:off x="859536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公認会計士試験の学習で正答率20%台から60%台後半まで改善。原因分析→仮説検証→実行のサイクルが持ち味。</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3つのキャリアパターン全体像</a:t>
            </a:r>
            <a:endParaRPr lang="en-US" sz="3000" dirty="0"/>
          </a:p>
        </p:txBody>
      </p:sp>
      <p:sp>
        <p:nvSpPr>
          <p:cNvPr id="3" name="Text 1"/>
          <p:cNvSpPr/>
          <p:nvPr/>
        </p:nvSpPr>
        <p:spPr>
          <a:xfrm>
            <a:off x="640080" y="100584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「運用の頭脳をどこで担うか」「別会社に異動するか、銀行内で完結するか」で3パターンに分かれます。</a:t>
            </a:r>
            <a:endParaRPr lang="en-US" sz="1400" dirty="0"/>
          </a:p>
        </p:txBody>
      </p:sp>
      <p:sp>
        <p:nvSpPr>
          <p:cNvPr id="4" name="Shape 2"/>
          <p:cNvSpPr/>
          <p:nvPr/>
        </p:nvSpPr>
        <p:spPr>
          <a:xfrm>
            <a:off x="548640" y="1600200"/>
            <a:ext cx="3566160" cy="4892040"/>
          </a:xfrm>
          <a:prstGeom prst="roundRect">
            <a:avLst>
              <a:gd name="adj" fmla="val 2564"/>
            </a:avLst>
          </a:prstGeom>
          <a:solidFill>
            <a:srgbClr val="FFFFFF"/>
          </a:solidFill>
          <a:ln w="19050">
            <a:solidFill>
              <a:srgbClr val="1E2761"/>
            </a:solidFill>
            <a:prstDash val="solid"/>
          </a:ln>
        </p:spPr>
      </p:sp>
      <p:sp>
        <p:nvSpPr>
          <p:cNvPr id="5" name="Shape 3"/>
          <p:cNvSpPr/>
          <p:nvPr/>
        </p:nvSpPr>
        <p:spPr>
          <a:xfrm>
            <a:off x="777240" y="1801368"/>
            <a:ext cx="502920" cy="384048"/>
          </a:xfrm>
          <a:prstGeom prst="roundRect">
            <a:avLst>
              <a:gd name="adj" fmla="val 19048"/>
            </a:avLst>
          </a:prstGeom>
          <a:solidFill>
            <a:srgbClr val="1E2761"/>
          </a:solidFill>
          <a:ln/>
        </p:spPr>
      </p:sp>
      <p:sp>
        <p:nvSpPr>
          <p:cNvPr id="6" name="Text 4"/>
          <p:cNvSpPr/>
          <p:nvPr/>
        </p:nvSpPr>
        <p:spPr>
          <a:xfrm>
            <a:off x="77724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1</a:t>
            </a:r>
            <a:endParaRPr lang="en-US" sz="1600" dirty="0"/>
          </a:p>
        </p:txBody>
      </p:sp>
      <p:sp>
        <p:nvSpPr>
          <p:cNvPr id="7" name="Text 5"/>
          <p:cNvSpPr/>
          <p:nvPr/>
        </p:nvSpPr>
        <p:spPr>
          <a:xfrm>
            <a:off x="141732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アセットマネジメント業務を中心とするキャリア</a:t>
            </a:r>
            <a:endParaRPr lang="en-US" sz="1500" dirty="0"/>
          </a:p>
        </p:txBody>
      </p:sp>
      <p:sp>
        <p:nvSpPr>
          <p:cNvPr id="8" name="Shape 6"/>
          <p:cNvSpPr/>
          <p:nvPr/>
        </p:nvSpPr>
        <p:spPr>
          <a:xfrm>
            <a:off x="804672" y="2468880"/>
            <a:ext cx="566928" cy="566928"/>
          </a:xfrm>
          <a:prstGeom prst="ellipse">
            <a:avLst/>
          </a:prstGeom>
          <a:solidFill>
            <a:srgbClr val="1E2761"/>
          </a:solidFill>
          <a:ln/>
        </p:spPr>
      </p:sp>
      <p:pic>
        <p:nvPicPr>
          <p:cNvPr id="9" name="Image 0" descr="icon_building.png">    </p:cNvPr>
          <p:cNvPicPr>
            <a:picLocks noChangeAspect="1"/>
          </p:cNvPicPr>
          <p:nvPr/>
        </p:nvPicPr>
        <p:blipFill>
          <a:blip r:embed="rId1"/>
          <a:stretch>
            <a:fillRect/>
          </a:stretch>
        </p:blipFill>
        <p:spPr>
          <a:xfrm>
            <a:off x="923544" y="2587752"/>
            <a:ext cx="329184" cy="329184"/>
          </a:xfrm>
          <a:prstGeom prst="rect">
            <a:avLst/>
          </a:prstGeom>
        </p:spPr>
      </p:pic>
      <p:sp>
        <p:nvSpPr>
          <p:cNvPr id="10" name="Text 7"/>
          <p:cNvSpPr/>
          <p:nvPr/>
        </p:nvSpPr>
        <p:spPr>
          <a:xfrm>
            <a:off x="150876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11" name="Text 8"/>
          <p:cNvSpPr/>
          <p:nvPr/>
        </p:nvSpPr>
        <p:spPr>
          <a:xfrm>
            <a:off x="150876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a:t>
            </a:r>
            <a:endParaRPr lang="en-US" sz="1400" dirty="0"/>
          </a:p>
        </p:txBody>
      </p:sp>
      <p:sp>
        <p:nvSpPr>
          <p:cNvPr id="12" name="Text 9"/>
          <p:cNvSpPr/>
          <p:nvPr/>
        </p:nvSpPr>
        <p:spPr>
          <a:xfrm>
            <a:off x="804672" y="3035808"/>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3" name="Shape 10"/>
          <p:cNvSpPr/>
          <p:nvPr/>
        </p:nvSpPr>
        <p:spPr>
          <a:xfrm>
            <a:off x="804672" y="3328416"/>
            <a:ext cx="566928" cy="566928"/>
          </a:xfrm>
          <a:prstGeom prst="ellipse">
            <a:avLst/>
          </a:prstGeom>
          <a:solidFill>
            <a:srgbClr val="1E2761"/>
          </a:solidFill>
          <a:ln/>
        </p:spPr>
      </p:sp>
      <p:pic>
        <p:nvPicPr>
          <p:cNvPr id="14" name="Image 1" descr="icon_exchange.png">    </p:cNvPr>
          <p:cNvPicPr>
            <a:picLocks noChangeAspect="1"/>
          </p:cNvPicPr>
          <p:nvPr/>
        </p:nvPicPr>
        <p:blipFill>
          <a:blip r:embed="rId2"/>
          <a:stretch>
            <a:fillRect/>
          </a:stretch>
        </p:blipFill>
        <p:spPr>
          <a:xfrm>
            <a:off x="923544" y="3447288"/>
            <a:ext cx="329184" cy="329184"/>
          </a:xfrm>
          <a:prstGeom prst="rect">
            <a:avLst/>
          </a:prstGeom>
        </p:spPr>
      </p:pic>
      <p:sp>
        <p:nvSpPr>
          <p:cNvPr id="15" name="Text 11"/>
          <p:cNvSpPr/>
          <p:nvPr/>
        </p:nvSpPr>
        <p:spPr>
          <a:xfrm>
            <a:off x="150876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16" name="Text 12"/>
          <p:cNvSpPr/>
          <p:nvPr/>
        </p:nvSpPr>
        <p:spPr>
          <a:xfrm>
            <a:off x="150876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出向・転籍</a:t>
            </a:r>
            <a:endParaRPr lang="en-US" sz="1400" dirty="0"/>
          </a:p>
        </p:txBody>
      </p:sp>
      <p:sp>
        <p:nvSpPr>
          <p:cNvPr id="17" name="Text 13"/>
          <p:cNvSpPr/>
          <p:nvPr/>
        </p:nvSpPr>
        <p:spPr>
          <a:xfrm>
            <a:off x="804672" y="3895344"/>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8" name="Shape 14"/>
          <p:cNvSpPr/>
          <p:nvPr/>
        </p:nvSpPr>
        <p:spPr>
          <a:xfrm>
            <a:off x="804672" y="4187952"/>
            <a:ext cx="566928" cy="566928"/>
          </a:xfrm>
          <a:prstGeom prst="ellipse">
            <a:avLst/>
          </a:prstGeom>
          <a:solidFill>
            <a:srgbClr val="1E2761"/>
          </a:solidFill>
          <a:ln/>
        </p:spPr>
      </p:sp>
      <p:pic>
        <p:nvPicPr>
          <p:cNvPr id="19" name="Image 2" descr="icon_crown.png">    </p:cNvPr>
          <p:cNvPicPr>
            <a:picLocks noChangeAspect="1"/>
          </p:cNvPicPr>
          <p:nvPr/>
        </p:nvPicPr>
        <p:blipFill>
          <a:blip r:embed="rId3"/>
          <a:stretch>
            <a:fillRect/>
          </a:stretch>
        </p:blipFill>
        <p:spPr>
          <a:xfrm>
            <a:off x="923544" y="4306824"/>
            <a:ext cx="329184" cy="329184"/>
          </a:xfrm>
          <a:prstGeom prst="rect">
            <a:avLst/>
          </a:prstGeom>
        </p:spPr>
      </p:pic>
      <p:sp>
        <p:nvSpPr>
          <p:cNvPr id="20" name="Text 15"/>
          <p:cNvSpPr/>
          <p:nvPr/>
        </p:nvSpPr>
        <p:spPr>
          <a:xfrm>
            <a:off x="150876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21" name="Text 16"/>
          <p:cNvSpPr/>
          <p:nvPr/>
        </p:nvSpPr>
        <p:spPr>
          <a:xfrm>
            <a:off x="150876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信託銀行復帰 or</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AM会社の上級職</a:t>
            </a:r>
            <a:endParaRPr lang="en-US" sz="1400" dirty="0"/>
          </a:p>
        </p:txBody>
      </p:sp>
      <p:sp>
        <p:nvSpPr>
          <p:cNvPr id="22" name="Shape 17"/>
          <p:cNvSpPr/>
          <p:nvPr/>
        </p:nvSpPr>
        <p:spPr>
          <a:xfrm>
            <a:off x="685800" y="5513832"/>
            <a:ext cx="3291840" cy="822960"/>
          </a:xfrm>
          <a:prstGeom prst="roundRect">
            <a:avLst>
              <a:gd name="adj" fmla="val 11111"/>
            </a:avLst>
          </a:prstGeom>
          <a:solidFill>
            <a:srgbClr val="FFFFFF"/>
          </a:solidFill>
          <a:ln w="12700">
            <a:solidFill>
              <a:srgbClr val="1E2761"/>
            </a:solidFill>
            <a:prstDash val="solid"/>
          </a:ln>
        </p:spPr>
      </p:sp>
      <p:sp>
        <p:nvSpPr>
          <p:cNvPr id="23" name="Text 18"/>
          <p:cNvSpPr/>
          <p:nvPr/>
        </p:nvSpPr>
        <p:spPr>
          <a:xfrm>
            <a:off x="822960" y="5577840"/>
            <a:ext cx="3017520" cy="713232"/>
          </a:xfrm>
          <a:prstGeom prst="rect">
            <a:avLst/>
          </a:prstGeom>
          <a:noFill/>
          <a:ln/>
        </p:spPr>
        <p:txBody>
          <a:bodyPr wrap="square" rtlCol="0" anchor="ctr"/>
          <a:lstStyle/>
          <a:p>
            <a:pPr indent="0" marL="0">
              <a:lnSpc>
                <a:spcPct val="115000"/>
              </a:lnSpc>
              <a:buNone/>
            </a:pPr>
            <a:r>
              <a:rPr lang="en-US" sz="1400" b="1" dirty="0">
                <a:solidFill>
                  <a:srgbClr val="1E2761"/>
                </a:solidFill>
                <a:latin typeface="Meiryo UI" pitchFamily="34" charset="0"/>
                <a:ea typeface="Meiryo UI" pitchFamily="34" charset="-122"/>
                <a:cs typeface="Meiryo UI" pitchFamily="34" charset="-120"/>
              </a:rPr>
              <a:t>信託銀行とグループAM会社を異動し、運用の「頭脳」を極める</a:t>
            </a:r>
            <a:endParaRPr lang="en-US" sz="1400" dirty="0"/>
          </a:p>
        </p:txBody>
      </p:sp>
      <p:sp>
        <p:nvSpPr>
          <p:cNvPr id="24" name="Shape 19"/>
          <p:cNvSpPr/>
          <p:nvPr/>
        </p:nvSpPr>
        <p:spPr>
          <a:xfrm>
            <a:off x="4389120" y="1600200"/>
            <a:ext cx="3566160" cy="4892040"/>
          </a:xfrm>
          <a:prstGeom prst="roundRect">
            <a:avLst>
              <a:gd name="adj" fmla="val 2564"/>
            </a:avLst>
          </a:prstGeom>
          <a:solidFill>
            <a:srgbClr val="FFFFFF"/>
          </a:solidFill>
          <a:ln w="19050">
            <a:solidFill>
              <a:srgbClr val="2E6F52"/>
            </a:solidFill>
            <a:prstDash val="solid"/>
          </a:ln>
        </p:spPr>
      </p:sp>
      <p:sp>
        <p:nvSpPr>
          <p:cNvPr id="25" name="Shape 20"/>
          <p:cNvSpPr/>
          <p:nvPr/>
        </p:nvSpPr>
        <p:spPr>
          <a:xfrm>
            <a:off x="4617720" y="1801368"/>
            <a:ext cx="502920" cy="384048"/>
          </a:xfrm>
          <a:prstGeom prst="roundRect">
            <a:avLst>
              <a:gd name="adj" fmla="val 19048"/>
            </a:avLst>
          </a:prstGeom>
          <a:solidFill>
            <a:srgbClr val="2E6F52"/>
          </a:solidFill>
          <a:ln/>
        </p:spPr>
      </p:sp>
      <p:sp>
        <p:nvSpPr>
          <p:cNvPr id="26" name="Text 21"/>
          <p:cNvSpPr/>
          <p:nvPr/>
        </p:nvSpPr>
        <p:spPr>
          <a:xfrm>
            <a:off x="461772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2</a:t>
            </a:r>
            <a:endParaRPr lang="en-US" sz="1600" dirty="0"/>
          </a:p>
        </p:txBody>
      </p:sp>
      <p:sp>
        <p:nvSpPr>
          <p:cNvPr id="27" name="Text 22"/>
          <p:cNvSpPr/>
          <p:nvPr/>
        </p:nvSpPr>
        <p:spPr>
          <a:xfrm>
            <a:off x="525780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信託銀行の運用業務を中心とするキャリア</a:t>
            </a:r>
            <a:endParaRPr lang="en-US" sz="1500" dirty="0"/>
          </a:p>
        </p:txBody>
      </p:sp>
      <p:sp>
        <p:nvSpPr>
          <p:cNvPr id="28" name="Shape 23"/>
          <p:cNvSpPr/>
          <p:nvPr/>
        </p:nvSpPr>
        <p:spPr>
          <a:xfrm>
            <a:off x="4645152" y="2468880"/>
            <a:ext cx="566928" cy="566928"/>
          </a:xfrm>
          <a:prstGeom prst="ellipse">
            <a:avLst/>
          </a:prstGeom>
          <a:solidFill>
            <a:srgbClr val="2E6F52"/>
          </a:solidFill>
          <a:ln/>
        </p:spPr>
      </p:sp>
      <p:pic>
        <p:nvPicPr>
          <p:cNvPr id="29" name="Image 3" descr="icon_contract.png">    </p:cNvPr>
          <p:cNvPicPr>
            <a:picLocks noChangeAspect="1"/>
          </p:cNvPicPr>
          <p:nvPr/>
        </p:nvPicPr>
        <p:blipFill>
          <a:blip r:embed="rId4"/>
          <a:stretch>
            <a:fillRect/>
          </a:stretch>
        </p:blipFill>
        <p:spPr>
          <a:xfrm>
            <a:off x="4764024" y="2587752"/>
            <a:ext cx="329184" cy="329184"/>
          </a:xfrm>
          <a:prstGeom prst="rect">
            <a:avLst/>
          </a:prstGeom>
        </p:spPr>
      </p:pic>
      <p:sp>
        <p:nvSpPr>
          <p:cNvPr id="30" name="Text 24"/>
          <p:cNvSpPr/>
          <p:nvPr/>
        </p:nvSpPr>
        <p:spPr>
          <a:xfrm>
            <a:off x="534924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31" name="Text 25"/>
          <p:cNvSpPr/>
          <p:nvPr/>
        </p:nvSpPr>
        <p:spPr>
          <a:xfrm>
            <a:off x="534924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年金信託業務部門</a:t>
            </a:r>
            <a:endParaRPr lang="en-US" sz="1400" dirty="0"/>
          </a:p>
        </p:txBody>
      </p:sp>
      <p:sp>
        <p:nvSpPr>
          <p:cNvPr id="32" name="Text 26"/>
          <p:cNvSpPr/>
          <p:nvPr/>
        </p:nvSpPr>
        <p:spPr>
          <a:xfrm>
            <a:off x="4645152" y="3035808"/>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3" name="Shape 27"/>
          <p:cNvSpPr/>
          <p:nvPr/>
        </p:nvSpPr>
        <p:spPr>
          <a:xfrm>
            <a:off x="4645152" y="3328416"/>
            <a:ext cx="566928" cy="566928"/>
          </a:xfrm>
          <a:prstGeom prst="ellipse">
            <a:avLst/>
          </a:prstGeom>
          <a:solidFill>
            <a:srgbClr val="2E6F52"/>
          </a:solidFill>
          <a:ln/>
        </p:spPr>
      </p:sp>
      <p:pic>
        <p:nvPicPr>
          <p:cNvPr id="34" name="Image 4" descr="icon_exchange.png">    </p:cNvPr>
          <p:cNvPicPr>
            <a:picLocks noChangeAspect="1"/>
          </p:cNvPicPr>
          <p:nvPr/>
        </p:nvPicPr>
        <p:blipFill>
          <a:blip r:embed="rId5"/>
          <a:stretch>
            <a:fillRect/>
          </a:stretch>
        </p:blipFill>
        <p:spPr>
          <a:xfrm>
            <a:off x="4764024" y="3447288"/>
            <a:ext cx="329184" cy="329184"/>
          </a:xfrm>
          <a:prstGeom prst="rect">
            <a:avLst/>
          </a:prstGeom>
        </p:spPr>
      </p:pic>
      <p:sp>
        <p:nvSpPr>
          <p:cNvPr id="35" name="Text 28"/>
          <p:cNvSpPr/>
          <p:nvPr/>
        </p:nvSpPr>
        <p:spPr>
          <a:xfrm>
            <a:off x="534924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6〜10年目</a:t>
            </a:r>
            <a:endParaRPr lang="en-US" sz="1300" dirty="0"/>
          </a:p>
        </p:txBody>
      </p:sp>
      <p:sp>
        <p:nvSpPr>
          <p:cNvPr id="36" name="Text 29"/>
          <p:cNvSpPr/>
          <p:nvPr/>
        </p:nvSpPr>
        <p:spPr>
          <a:xfrm>
            <a:off x="534924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a:t>
            </a:r>
            <a:endParaRPr lang="en-US" sz="1400" dirty="0"/>
          </a:p>
        </p:txBody>
      </p:sp>
      <p:sp>
        <p:nvSpPr>
          <p:cNvPr id="37" name="Text 30"/>
          <p:cNvSpPr/>
          <p:nvPr/>
        </p:nvSpPr>
        <p:spPr>
          <a:xfrm>
            <a:off x="4645152" y="3895344"/>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8" name="Shape 31"/>
          <p:cNvSpPr/>
          <p:nvPr/>
        </p:nvSpPr>
        <p:spPr>
          <a:xfrm>
            <a:off x="4645152" y="4187952"/>
            <a:ext cx="566928" cy="566928"/>
          </a:xfrm>
          <a:prstGeom prst="ellipse">
            <a:avLst/>
          </a:prstGeom>
          <a:solidFill>
            <a:srgbClr val="2E6F52"/>
          </a:solidFill>
          <a:ln/>
        </p:spPr>
      </p:sp>
      <p:pic>
        <p:nvPicPr>
          <p:cNvPr id="39" name="Image 5" descr="icon_usertie.png">    </p:cNvPr>
          <p:cNvPicPr>
            <a:picLocks noChangeAspect="1"/>
          </p:cNvPicPr>
          <p:nvPr/>
        </p:nvPicPr>
        <p:blipFill>
          <a:blip r:embed="rId6"/>
          <a:stretch>
            <a:fillRect/>
          </a:stretch>
        </p:blipFill>
        <p:spPr>
          <a:xfrm>
            <a:off x="4764024" y="4306824"/>
            <a:ext cx="329184" cy="329184"/>
          </a:xfrm>
          <a:prstGeom prst="rect">
            <a:avLst/>
          </a:prstGeom>
        </p:spPr>
      </p:pic>
      <p:sp>
        <p:nvSpPr>
          <p:cNvPr id="40" name="Text 32"/>
          <p:cNvSpPr/>
          <p:nvPr/>
        </p:nvSpPr>
        <p:spPr>
          <a:xfrm>
            <a:off x="534924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11年目〜</a:t>
            </a:r>
            <a:endParaRPr lang="en-US" sz="1300" dirty="0"/>
          </a:p>
        </p:txBody>
      </p:sp>
      <p:sp>
        <p:nvSpPr>
          <p:cNvPr id="41" name="Text 33"/>
          <p:cNvSpPr/>
          <p:nvPr/>
        </p:nvSpPr>
        <p:spPr>
          <a:xfrm>
            <a:off x="534924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資産運用部門管理職</a:t>
            </a:r>
            <a:endParaRPr lang="en-US" sz="1400" dirty="0"/>
          </a:p>
        </p:txBody>
      </p:sp>
      <p:sp>
        <p:nvSpPr>
          <p:cNvPr id="42" name="Shape 34"/>
          <p:cNvSpPr/>
          <p:nvPr/>
        </p:nvSpPr>
        <p:spPr>
          <a:xfrm>
            <a:off x="4526280" y="5513832"/>
            <a:ext cx="3291840" cy="822960"/>
          </a:xfrm>
          <a:prstGeom prst="roundRect">
            <a:avLst>
              <a:gd name="adj" fmla="val 11111"/>
            </a:avLst>
          </a:prstGeom>
          <a:solidFill>
            <a:srgbClr val="FFFFFF"/>
          </a:solidFill>
          <a:ln w="12700">
            <a:solidFill>
              <a:srgbClr val="2E6F52"/>
            </a:solidFill>
            <a:prstDash val="solid"/>
          </a:ln>
        </p:spPr>
      </p:sp>
      <p:sp>
        <p:nvSpPr>
          <p:cNvPr id="43" name="Text 35"/>
          <p:cNvSpPr/>
          <p:nvPr/>
        </p:nvSpPr>
        <p:spPr>
          <a:xfrm>
            <a:off x="4663440" y="5577840"/>
            <a:ext cx="3017520" cy="713232"/>
          </a:xfrm>
          <a:prstGeom prst="rect">
            <a:avLst/>
          </a:prstGeom>
          <a:noFill/>
          <a:ln/>
        </p:spPr>
        <p:txBody>
          <a:bodyPr wrap="square" rtlCol="0" anchor="ctr"/>
          <a:lstStyle/>
          <a:p>
            <a:pPr indent="0" marL="0">
              <a:lnSpc>
                <a:spcPct val="115000"/>
              </a:lnSpc>
              <a:buNone/>
            </a:pPr>
            <a:r>
              <a:rPr lang="en-US" sz="1400" b="1" dirty="0">
                <a:solidFill>
                  <a:srgbClr val="2E6F52"/>
                </a:solidFill>
                <a:latin typeface="Meiryo UI" pitchFamily="34" charset="0"/>
                <a:ea typeface="Meiryo UI" pitchFamily="34" charset="-122"/>
                <a:cs typeface="Meiryo UI" pitchFamily="34" charset="-120"/>
              </a:rPr>
              <a:t>信託銀行に軸足を置きつつ、AM会社を経験し「委託する側」の視点も得る</a:t>
            </a:r>
            <a:endParaRPr lang="en-US" sz="1400" dirty="0"/>
          </a:p>
        </p:txBody>
      </p:sp>
      <p:sp>
        <p:nvSpPr>
          <p:cNvPr id="44" name="Shape 36"/>
          <p:cNvSpPr/>
          <p:nvPr/>
        </p:nvSpPr>
        <p:spPr>
          <a:xfrm>
            <a:off x="8229600" y="1600200"/>
            <a:ext cx="3566160" cy="4892040"/>
          </a:xfrm>
          <a:prstGeom prst="roundRect">
            <a:avLst>
              <a:gd name="adj" fmla="val 2564"/>
            </a:avLst>
          </a:prstGeom>
          <a:solidFill>
            <a:srgbClr val="FFFFFF"/>
          </a:solidFill>
          <a:ln w="19050">
            <a:solidFill>
              <a:srgbClr val="8A4B1E"/>
            </a:solidFill>
            <a:prstDash val="solid"/>
          </a:ln>
        </p:spPr>
      </p:sp>
      <p:sp>
        <p:nvSpPr>
          <p:cNvPr id="45" name="Shape 37"/>
          <p:cNvSpPr/>
          <p:nvPr/>
        </p:nvSpPr>
        <p:spPr>
          <a:xfrm>
            <a:off x="8458200" y="1801368"/>
            <a:ext cx="502920" cy="384048"/>
          </a:xfrm>
          <a:prstGeom prst="roundRect">
            <a:avLst>
              <a:gd name="adj" fmla="val 19048"/>
            </a:avLst>
          </a:prstGeom>
          <a:solidFill>
            <a:srgbClr val="8A4B1E"/>
          </a:solidFill>
          <a:ln/>
        </p:spPr>
      </p:sp>
      <p:sp>
        <p:nvSpPr>
          <p:cNvPr id="46" name="Text 38"/>
          <p:cNvSpPr/>
          <p:nvPr/>
        </p:nvSpPr>
        <p:spPr>
          <a:xfrm>
            <a:off x="845820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3</a:t>
            </a:r>
            <a:endParaRPr lang="en-US" sz="1600" dirty="0"/>
          </a:p>
        </p:txBody>
      </p:sp>
      <p:sp>
        <p:nvSpPr>
          <p:cNvPr id="47" name="Text 39"/>
          <p:cNvSpPr/>
          <p:nvPr/>
        </p:nvSpPr>
        <p:spPr>
          <a:xfrm>
            <a:off x="909828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銀行の自己勘定運用（マーケット業務）を中心とするキャリア</a:t>
            </a:r>
            <a:endParaRPr lang="en-US" sz="1500" dirty="0"/>
          </a:p>
        </p:txBody>
      </p:sp>
      <p:sp>
        <p:nvSpPr>
          <p:cNvPr id="48" name="Shape 40"/>
          <p:cNvSpPr/>
          <p:nvPr/>
        </p:nvSpPr>
        <p:spPr>
          <a:xfrm>
            <a:off x="8485632" y="2468880"/>
            <a:ext cx="566928" cy="566928"/>
          </a:xfrm>
          <a:prstGeom prst="ellipse">
            <a:avLst/>
          </a:prstGeom>
          <a:solidFill>
            <a:srgbClr val="8A4B1E"/>
          </a:solidFill>
          <a:ln/>
        </p:spPr>
      </p:sp>
      <p:pic>
        <p:nvPicPr>
          <p:cNvPr id="49" name="Image 6" descr="icon_landmark.png">    </p:cNvPr>
          <p:cNvPicPr>
            <a:picLocks noChangeAspect="1"/>
          </p:cNvPicPr>
          <p:nvPr/>
        </p:nvPicPr>
        <p:blipFill>
          <a:blip r:embed="rId7"/>
          <a:stretch>
            <a:fillRect/>
          </a:stretch>
        </p:blipFill>
        <p:spPr>
          <a:xfrm>
            <a:off x="8604504" y="2587752"/>
            <a:ext cx="329184" cy="329184"/>
          </a:xfrm>
          <a:prstGeom prst="rect">
            <a:avLst/>
          </a:prstGeom>
        </p:spPr>
      </p:pic>
      <p:sp>
        <p:nvSpPr>
          <p:cNvPr id="50" name="Text 41"/>
          <p:cNvSpPr/>
          <p:nvPr/>
        </p:nvSpPr>
        <p:spPr>
          <a:xfrm>
            <a:off x="918972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51" name="Text 42"/>
          <p:cNvSpPr/>
          <p:nvPr/>
        </p:nvSpPr>
        <p:spPr>
          <a:xfrm>
            <a:off x="918972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市場運用部門</a:t>
            </a:r>
            <a:endParaRPr lang="en-US" sz="1400" dirty="0"/>
          </a:p>
        </p:txBody>
      </p:sp>
      <p:sp>
        <p:nvSpPr>
          <p:cNvPr id="52" name="Text 43"/>
          <p:cNvSpPr/>
          <p:nvPr/>
        </p:nvSpPr>
        <p:spPr>
          <a:xfrm>
            <a:off x="8485632" y="3035808"/>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3" name="Shape 44"/>
          <p:cNvSpPr/>
          <p:nvPr/>
        </p:nvSpPr>
        <p:spPr>
          <a:xfrm>
            <a:off x="8485632" y="3328416"/>
            <a:ext cx="566928" cy="566928"/>
          </a:xfrm>
          <a:prstGeom prst="ellipse">
            <a:avLst/>
          </a:prstGeom>
          <a:solidFill>
            <a:srgbClr val="8A4B1E"/>
          </a:solidFill>
          <a:ln/>
        </p:spPr>
      </p:sp>
      <p:pic>
        <p:nvPicPr>
          <p:cNvPr id="54" name="Image 7" descr="icon_chartpie.png">    </p:cNvPr>
          <p:cNvPicPr>
            <a:picLocks noChangeAspect="1"/>
          </p:cNvPicPr>
          <p:nvPr/>
        </p:nvPicPr>
        <p:blipFill>
          <a:blip r:embed="rId8"/>
          <a:stretch>
            <a:fillRect/>
          </a:stretch>
        </p:blipFill>
        <p:spPr>
          <a:xfrm>
            <a:off x="8604504" y="3447288"/>
            <a:ext cx="329184" cy="329184"/>
          </a:xfrm>
          <a:prstGeom prst="rect">
            <a:avLst/>
          </a:prstGeom>
        </p:spPr>
      </p:pic>
      <p:sp>
        <p:nvSpPr>
          <p:cNvPr id="55" name="Text 45"/>
          <p:cNvSpPr/>
          <p:nvPr/>
        </p:nvSpPr>
        <p:spPr>
          <a:xfrm>
            <a:off x="918972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56" name="Text 46"/>
          <p:cNvSpPr/>
          <p:nvPr/>
        </p:nvSpPr>
        <p:spPr>
          <a:xfrm>
            <a:off x="918972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自己勘定運用の専門職</a:t>
            </a:r>
            <a:endParaRPr lang="en-US" sz="1400" dirty="0"/>
          </a:p>
        </p:txBody>
      </p:sp>
      <p:sp>
        <p:nvSpPr>
          <p:cNvPr id="57" name="Text 47"/>
          <p:cNvSpPr/>
          <p:nvPr/>
        </p:nvSpPr>
        <p:spPr>
          <a:xfrm>
            <a:off x="8485632" y="3895344"/>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8" name="Shape 48"/>
          <p:cNvSpPr/>
          <p:nvPr/>
        </p:nvSpPr>
        <p:spPr>
          <a:xfrm>
            <a:off x="8485632" y="4187952"/>
            <a:ext cx="566928" cy="566928"/>
          </a:xfrm>
          <a:prstGeom prst="ellipse">
            <a:avLst/>
          </a:prstGeom>
          <a:solidFill>
            <a:srgbClr val="8A4B1E"/>
          </a:solidFill>
          <a:ln/>
        </p:spPr>
      </p:sp>
      <p:pic>
        <p:nvPicPr>
          <p:cNvPr id="59" name="Image 8" descr="icon_crown.png">    </p:cNvPr>
          <p:cNvPicPr>
            <a:picLocks noChangeAspect="1"/>
          </p:cNvPicPr>
          <p:nvPr/>
        </p:nvPicPr>
        <p:blipFill>
          <a:blip r:embed="rId9"/>
          <a:stretch>
            <a:fillRect/>
          </a:stretch>
        </p:blipFill>
        <p:spPr>
          <a:xfrm>
            <a:off x="8604504" y="4306824"/>
            <a:ext cx="329184" cy="329184"/>
          </a:xfrm>
          <a:prstGeom prst="rect">
            <a:avLst/>
          </a:prstGeom>
        </p:spPr>
      </p:pic>
      <p:sp>
        <p:nvSpPr>
          <p:cNvPr id="60" name="Text 49"/>
          <p:cNvSpPr/>
          <p:nvPr/>
        </p:nvSpPr>
        <p:spPr>
          <a:xfrm>
            <a:off x="918972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61" name="Text 50"/>
          <p:cNvSpPr/>
          <p:nvPr/>
        </p:nvSpPr>
        <p:spPr>
          <a:xfrm>
            <a:off x="918972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運用部門の管理職</a:t>
            </a:r>
            <a:endParaRPr lang="en-US" sz="1400" dirty="0"/>
          </a:p>
        </p:txBody>
      </p:sp>
      <p:sp>
        <p:nvSpPr>
          <p:cNvPr id="62" name="Shape 51"/>
          <p:cNvSpPr/>
          <p:nvPr/>
        </p:nvSpPr>
        <p:spPr>
          <a:xfrm>
            <a:off x="8366760" y="5513832"/>
            <a:ext cx="3291840" cy="822960"/>
          </a:xfrm>
          <a:prstGeom prst="roundRect">
            <a:avLst>
              <a:gd name="adj" fmla="val 11111"/>
            </a:avLst>
          </a:prstGeom>
          <a:solidFill>
            <a:srgbClr val="FFFFFF"/>
          </a:solidFill>
          <a:ln w="12700">
            <a:solidFill>
              <a:srgbClr val="8A4B1E"/>
            </a:solidFill>
            <a:prstDash val="solid"/>
          </a:ln>
        </p:spPr>
      </p:sp>
      <p:sp>
        <p:nvSpPr>
          <p:cNvPr id="63" name="Text 52"/>
          <p:cNvSpPr/>
          <p:nvPr/>
        </p:nvSpPr>
        <p:spPr>
          <a:xfrm>
            <a:off x="8503920" y="5577840"/>
            <a:ext cx="3017520" cy="713232"/>
          </a:xfrm>
          <a:prstGeom prst="rect">
            <a:avLst/>
          </a:prstGeom>
          <a:noFill/>
          <a:ln/>
        </p:spPr>
        <p:txBody>
          <a:bodyPr wrap="square" rtlCol="0" anchor="ctr"/>
          <a:lstStyle/>
          <a:p>
            <a:pPr indent="0" marL="0">
              <a:lnSpc>
                <a:spcPct val="115000"/>
              </a:lnSpc>
              <a:buNone/>
            </a:pPr>
            <a:r>
              <a:rPr lang="en-US" sz="1400" b="1" dirty="0">
                <a:solidFill>
                  <a:srgbClr val="8A4B1E"/>
                </a:solidFill>
                <a:latin typeface="Meiryo UI" pitchFamily="34" charset="0"/>
                <a:ea typeface="Meiryo UI" pitchFamily="34" charset="-122"/>
                <a:cs typeface="Meiryo UI" pitchFamily="34" charset="-120"/>
              </a:rPr>
              <a:t>別会社に異動せず、銀行自身の資金運用（マーケット業務）に軸足を置く</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1E2761"/>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①</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アセットマネジメント業務を中心とするキャリア</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信託銀行とグループの資産運用会社（AM会社）を行き来しながら、運用の「頭脳」側を極める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1E2761"/>
            </a:solidFill>
            <a:prstDash val="solid"/>
          </a:ln>
        </p:spPr>
      </p:sp>
      <p:sp>
        <p:nvSpPr>
          <p:cNvPr id="7" name="Shape 5"/>
          <p:cNvSpPr/>
          <p:nvPr/>
        </p:nvSpPr>
        <p:spPr>
          <a:xfrm>
            <a:off x="749808" y="1691640"/>
            <a:ext cx="868680" cy="868680"/>
          </a:xfrm>
          <a:prstGeom prst="ellipse">
            <a:avLst/>
          </a:prstGeom>
          <a:solidFill>
            <a:srgbClr val="1E2761"/>
          </a:solidFill>
          <a:ln/>
        </p:spPr>
      </p:sp>
      <p:pic>
        <p:nvPicPr>
          <p:cNvPr id="8" name="Image 0" descr="icon_building.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特定金銭信託・年金信託等の運用実務、商品組成、マーケット分析の基礎を、信託銀行の運用担当としてOJTで習得する。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マーケットを見る目と運用商品の基本構造の理解、財務諸表分析力を投資判断に応用する初期経験。</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1E2761"/>
            </a:solidFill>
            <a:prstDash val="solid"/>
          </a:ln>
        </p:spPr>
      </p:sp>
      <p:sp>
        <p:nvSpPr>
          <p:cNvPr id="15" name="Shape 11"/>
          <p:cNvSpPr/>
          <p:nvPr/>
        </p:nvSpPr>
        <p:spPr>
          <a:xfrm>
            <a:off x="4590288" y="1691640"/>
            <a:ext cx="868680" cy="868680"/>
          </a:xfrm>
          <a:prstGeom prst="ellipse">
            <a:avLst/>
          </a:prstGeom>
          <a:solidFill>
            <a:srgbClr val="1E2761"/>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出向・転籍</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ファンドマネージャー／アナリストとして「何を買うか」を決める運用の頭脳側を担当。マルチマネージャー方式で信託銀行等から運用を受託する側の実務を経験する。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投資判断力・リサーチ力を、財務諸表分析力を武器に磨き上げ、運用会社ならではの専門性を確立する。</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1E2761"/>
            </a:solidFill>
            <a:prstDash val="solid"/>
          </a:ln>
        </p:spPr>
      </p:sp>
      <p:sp>
        <p:nvSpPr>
          <p:cNvPr id="23" name="Shape 17"/>
          <p:cNvSpPr/>
          <p:nvPr/>
        </p:nvSpPr>
        <p:spPr>
          <a:xfrm>
            <a:off x="8430768" y="1691640"/>
            <a:ext cx="868680" cy="868680"/>
          </a:xfrm>
          <a:prstGeom prst="ellipse">
            <a:avLst/>
          </a:prstGeom>
          <a:solidFill>
            <a:srgbClr val="1E2761"/>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信託銀行復帰 or</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AM会社の上級職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信託銀行の運用企画部門で外部運用会社を評価・選定する視点も併せ持つマネージャー、またはAM会社のシニアファンドマネージャー・運用部門責任者。</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「頭脳」と「金庫」双方の実務を知る、グループ内でも希少な人材としての専門性。</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2E6F52"/>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②</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信託銀行の運用業務を中心とするキャリア</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信託銀行側（受託者・金庫側）に軸足を置きながら、グループAM会社との協働も経験する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2E6F52"/>
            </a:solidFill>
            <a:prstDash val="solid"/>
          </a:ln>
        </p:spPr>
      </p:sp>
      <p:sp>
        <p:nvSpPr>
          <p:cNvPr id="7" name="Shape 5"/>
          <p:cNvSpPr/>
          <p:nvPr/>
        </p:nvSpPr>
        <p:spPr>
          <a:xfrm>
            <a:off x="749808" y="1691640"/>
            <a:ext cx="868680" cy="868680"/>
          </a:xfrm>
          <a:prstGeom prst="ellipse">
            <a:avLst/>
          </a:prstGeom>
          <a:solidFill>
            <a:srgbClr val="2E6F52"/>
          </a:solidFill>
          <a:ln/>
        </p:spPr>
      </p:sp>
      <p:pic>
        <p:nvPicPr>
          <p:cNvPr id="8" name="Image 0" descr="icon_contract.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年金信託業務部門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企業年金の年金信託（合同運用）・特定金銭信託の実務、資産の保管・執行・記録という信託銀行本来の「金庫」機能を担当する。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信託の法的構造・受託者としての義務の理解、企業年金顧客への対応力。</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2E6F52"/>
            </a:solidFill>
            <a:prstDash val="solid"/>
          </a:ln>
        </p:spPr>
      </p:sp>
      <p:sp>
        <p:nvSpPr>
          <p:cNvPr id="15" name="Shape 11"/>
          <p:cNvSpPr/>
          <p:nvPr/>
        </p:nvSpPr>
        <p:spPr>
          <a:xfrm>
            <a:off x="4590288" y="1691640"/>
            <a:ext cx="868680" cy="868680"/>
          </a:xfrm>
          <a:prstGeom prst="ellipse">
            <a:avLst/>
          </a:prstGeom>
          <a:solidFill>
            <a:srgbClr val="2E6F52"/>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6〜10年目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マルチマネージャー方式のもとで運用会社を選定・モニタリングする、委託する側の実務を、実際にAM会社に身を置いて経験する。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運用会社の実務・評価軸を内側から理解する視点、パフォーマンス評価力。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2E6F52"/>
            </a:solidFill>
            <a:prstDash val="solid"/>
          </a:ln>
        </p:spPr>
      </p:sp>
      <p:sp>
        <p:nvSpPr>
          <p:cNvPr id="23" name="Shape 17"/>
          <p:cNvSpPr/>
          <p:nvPr/>
        </p:nvSpPr>
        <p:spPr>
          <a:xfrm>
            <a:off x="8430768" y="1691640"/>
            <a:ext cx="868680" cy="868680"/>
          </a:xfrm>
          <a:prstGeom prst="ellipse">
            <a:avLst/>
          </a:prstGeom>
          <a:solidFill>
            <a:srgbClr val="2E6F52"/>
          </a:solidFill>
          <a:ln/>
        </p:spPr>
      </p:sp>
      <p:pic>
        <p:nvPicPr>
          <p:cNvPr id="24" name="Image 4" descr="icon_usertie.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11年目〜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複数の外部運用会社を評価・選定・モニタリングするマネジメント業務、企業年金基金へのコンサルティングを担当する。</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財務分析力と、AM会社経験に基づく目利き力を融合した、信託銀行ならではの運用マネジメント力。</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8A4B1E"/>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③</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銀行の自己勘定運用（マーケット業務）を中心とするキャリア</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別会社を介さず、銀行自身の資金を運用する「マーケット業務」に軸足を置く</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8A4B1E"/>
            </a:solidFill>
            <a:prstDash val="solid"/>
          </a:ln>
        </p:spPr>
      </p:sp>
      <p:sp>
        <p:nvSpPr>
          <p:cNvPr id="7" name="Shape 5"/>
          <p:cNvSpPr/>
          <p:nvPr/>
        </p:nvSpPr>
        <p:spPr>
          <a:xfrm>
            <a:off x="749808" y="1691640"/>
            <a:ext cx="868680" cy="868680"/>
          </a:xfrm>
          <a:prstGeom prst="ellipse">
            <a:avLst/>
          </a:prstGeom>
          <a:solidFill>
            <a:srgbClr val="8A4B1E"/>
          </a:solidFill>
          <a:ln/>
        </p:spPr>
      </p:sp>
      <p:pic>
        <p:nvPicPr>
          <p:cNvPr id="8" name="Image 0" descr="icon_landmark.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市場運用部門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自身の資金（自己勘定・有価証券運用）を対象に、債券・株式等の市場調査やディーリング実務の基礎を習得する。ゆうちょ銀行はこの自己勘定運用（国債等）が収益の柱であり、代表的な配属先とな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マーケットを継続的に追う力、リスク量を意識した投資判断の基礎。</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8A4B1E"/>
            </a:solidFill>
            <a:prstDash val="solid"/>
          </a:ln>
        </p:spPr>
      </p:sp>
      <p:sp>
        <p:nvSpPr>
          <p:cNvPr id="15" name="Shape 11"/>
          <p:cNvSpPr/>
          <p:nvPr/>
        </p:nvSpPr>
        <p:spPr>
          <a:xfrm>
            <a:off x="4590288" y="1691640"/>
            <a:ext cx="868680" cy="868680"/>
          </a:xfrm>
          <a:prstGeom prst="ellipse">
            <a:avLst/>
          </a:prstGeom>
          <a:solidFill>
            <a:srgbClr val="8A4B1E"/>
          </a:solidFill>
          <a:ln/>
        </p:spPr>
      </p:sp>
      <p:pic>
        <p:nvPicPr>
          <p:cNvPr id="16" name="Image 2" descr="icon_chartpi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自己勘定運用の専門職</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債券・株式等の自己勘定運用担当として、ALM（資産負債管理）やリスク管理部門と連携しながら、銀行内で運用の頭脳役を担う。</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財務分析力を活かした投資判断力、PDCAによる運用改善力（検証→仮説修正の繰り返し）。</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8A4B1E"/>
            </a:solidFill>
            <a:prstDash val="solid"/>
          </a:ln>
        </p:spPr>
      </p:sp>
      <p:sp>
        <p:nvSpPr>
          <p:cNvPr id="23" name="Shape 17"/>
          <p:cNvSpPr/>
          <p:nvPr/>
        </p:nvSpPr>
        <p:spPr>
          <a:xfrm>
            <a:off x="8430768" y="1691640"/>
            <a:ext cx="868680" cy="868680"/>
          </a:xfrm>
          <a:prstGeom prst="ellipse">
            <a:avLst/>
          </a:prstGeom>
          <a:solidFill>
            <a:srgbClr val="8A4B1E"/>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運用部門の管理職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全体の自己勘定運用方針の立案・運用部門の統括を担当。頭脳と金庫が同一組織内で完結する体制の中核を担う。※機関投資家向け運用やPE投資等のアセットマネジメント業務は、ゆうちょ銀行では2026年4月発足の「ゆうちょアセットマネジメント」等、グループ別会社が担っており、この完結型キャリアの対象外。</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組織全体の運用戦略を描く視座、社内の他部門を巻き込む統括力。</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3パターンの比較と次の一歩</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2880360"/>
        </p:xfrm>
        <a:graphic>
          <a:graphicData uri="http://schemas.openxmlformats.org/drawingml/2006/table">
            <a:tbl>
              <a:tblPr/>
              <a:tblGrid>
                <a:gridCol w="1920240"/>
                <a:gridCol w="3044952"/>
                <a:gridCol w="3044952"/>
                <a:gridCol w="3054096"/>
              </a:tblGrid>
              <a:tr h="576072">
                <a:tc>
                  <a:txBody>
                    <a:bodyPr/>
                    <a:lstStyle/>
                    <a:p>
                      <a:pPr indent="0" marL="0">
                        <a:buNone/>
                      </a:pPr>
                      <a:endParaRPr lang="en-US" sz="1200" dirty="0">
                        <a:latin typeface="Meiryo UI" charset="0"/>
                        <a:ea typeface="Meiryo UI" charset="0"/>
                        <a:cs typeface="Meiryo UI" charset="0"/>
                      </a:endParaRPr>
                    </a:p>
                  </a:txBody>
                  <a:tcPr marL="91440" marR="91440" marT="45720" marB="45720">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アセットマネジメント業務を中心とするキャリア</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信託銀行の運用業務を中心とするキャリア</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2E6F52"/>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銀行の自己勘定運用（マーケット業務）を中心とするキャリア</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8A4B1E"/>
                    </a:solidFill>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部署の異動</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信託銀行とグループAM会社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信託銀行とグループAM会社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自己勘定運用は銀行内で完結（PE等は別会社）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運用の「頭脳」役</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AM会社で自ら深く担う</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信託銀行側から評価・選定を担う</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銀行内で自己勘定の頭脳と金庫を兼ねる</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強みとの接続</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企業法知識→信託の実務に直結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PDCA力→運用改善サイクルに直結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向いている人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運用実務そのものを極めたい人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信託銀行の専門性を軸にしたい人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異動リスクを抑え一貫性を重視する人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bl>
          </a:graphicData>
        </a:graphic>
      </p:graphicFrame>
      <p:sp>
        <p:nvSpPr>
          <p:cNvPr id="4" name="Shape 1"/>
          <p:cNvSpPr/>
          <p:nvPr/>
        </p:nvSpPr>
        <p:spPr>
          <a:xfrm>
            <a:off x="548640" y="4206240"/>
            <a:ext cx="11064240" cy="2331720"/>
          </a:xfrm>
          <a:prstGeom prst="roundRect">
            <a:avLst>
              <a:gd name="adj" fmla="val 3922"/>
            </a:avLst>
          </a:prstGeom>
          <a:solidFill>
            <a:srgbClr val="FFFFFF"/>
          </a:solidFill>
          <a:ln w="19050">
            <a:solidFill>
              <a:srgbClr val="C9A227"/>
            </a:solidFill>
            <a:prstDash val="solid"/>
          </a:ln>
        </p:spPr>
      </p:sp>
      <p:sp>
        <p:nvSpPr>
          <p:cNvPr id="5" name="Text 2"/>
          <p:cNvSpPr/>
          <p:nvPr/>
        </p:nvSpPr>
        <p:spPr>
          <a:xfrm>
            <a:off x="822960" y="4389120"/>
            <a:ext cx="10424160" cy="32004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次の一歩（就活で意識したいこと）</a:t>
            </a:r>
            <a:endParaRPr lang="en-US" sz="1600" dirty="0"/>
          </a:p>
        </p:txBody>
      </p:sp>
      <p:sp>
        <p:nvSpPr>
          <p:cNvPr id="6" name="Text 3"/>
          <p:cNvSpPr/>
          <p:nvPr/>
        </p:nvSpPr>
        <p:spPr>
          <a:xfrm>
            <a:off x="960120" y="5074920"/>
            <a:ext cx="10332720" cy="1371600"/>
          </a:xfrm>
          <a:prstGeom prst="rect">
            <a:avLst/>
          </a:prstGeom>
          <a:noFill/>
          <a:ln/>
        </p:spPr>
        <p:txBody>
          <a:bodyPr wrap="square" rtlCol="0" anchor="ctr"/>
          <a:lstStyle/>
          <a:p>
            <a:pPr marL="342900" indent="-342900">
              <a:lnSpc>
                <a:spcPct val="125000"/>
              </a:lnSpc>
              <a:spcAft>
                <a:spcPts val="600"/>
              </a:spcAft>
              <a:buSzPct val="100000"/>
              <a:buChar char="•"/>
            </a:pPr>
            <a:r>
              <a:rPr lang="en-US" sz="1400" dirty="0">
                <a:solidFill>
                  <a:srgbClr val="000000"/>
                </a:solidFill>
                <a:latin typeface="Meiryo UI" pitchFamily="34" charset="0"/>
                <a:ea typeface="Meiryo UI" pitchFamily="34" charset="-122"/>
                <a:cs typeface="Meiryo UI" pitchFamily="34" charset="-120"/>
              </a:rPr>
              <a:t>3パターンとも「入行後まず信託銀行の実務を経験する」点は共通。面接では、どのパターンでも通用する「財務諸表を読める」強みをまず語る</a:t>
            </a:r>
            <a:endParaRPr lang="en-US" sz="1400" dirty="0"/>
          </a:p>
          <a:p>
            <a:pPr marL="342900" indent="-342900">
              <a:lnSpc>
                <a:spcPct val="125000"/>
              </a:lnSpc>
              <a:spcAft>
                <a:spcPts val="600"/>
              </a:spcAft>
              <a:buSzPct val="100000"/>
              <a:buChar char="•"/>
            </a:pPr>
            <a:r>
              <a:rPr lang="en-US" sz="1400" dirty="0">
                <a:solidFill>
                  <a:srgbClr val="000000"/>
                </a:solidFill>
                <a:latin typeface="Meiryo UI" pitchFamily="34" charset="0"/>
                <a:ea typeface="Meiryo UI" pitchFamily="34" charset="-122"/>
                <a:cs typeface="Meiryo UI" pitchFamily="34" charset="-120"/>
              </a:rPr>
              <a:t>「運用の頭脳を極めたい／信託銀行の専門性を軸にしたい／異動リスクを抑えたい」のどれに一番惹かれるかを整理し、志望動機に反映する</a:t>
            </a:r>
            <a:endParaRPr lang="en-US" sz="1400" dirty="0"/>
          </a:p>
          <a:p>
            <a:pPr marL="342900" indent="-342900">
              <a:lnSpc>
                <a:spcPct val="125000"/>
              </a:lnSpc>
              <a:spcAft>
                <a:spcPts val="600"/>
              </a:spcAft>
              <a:buSzPct val="100000"/>
              <a:buChar char="•"/>
            </a:pPr>
            <a:r>
              <a:rPr lang="en-US" sz="1400" dirty="0">
                <a:solidFill>
                  <a:srgbClr val="000000"/>
                </a:solidFill>
                <a:latin typeface="Meiryo UI" pitchFamily="34" charset="0"/>
                <a:ea typeface="Meiryo UI" pitchFamily="34" charset="-122"/>
                <a:cs typeface="Meiryo UI" pitchFamily="34" charset="-120"/>
              </a:rPr>
              <a:t>説明会・面接で「グループAM会社への出向・転籍の実態」を具体的に質問し、パターンの解像度を上げる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2026-08-22T23:47:29Z</dcterms:created>
  <dcterms:modified xsi:type="dcterms:W3CDTF">2026-08-22T23:47:29Z</dcterms:modified>
</cp:coreProperties>
</file>