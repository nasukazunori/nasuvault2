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3.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2.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「私は、何のプロになりたいか」を軸に考える、信吾さんの成長ロードマップ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①資産運用のプロになる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②企業法務・ガバナンスのプロになる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③自己勘定運用のプロになる</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考え方の軸：「私は、何のプロになりたいか」</a:t>
            </a:r>
            <a:endParaRPr lang="en-US" sz="28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会社・部署の名前で選ぶのではなく、「何の専門性を鍛えたいか」を先に決め、そのための職場を選ぶという考え方。</a:t>
            </a:r>
            <a:endParaRPr lang="en-US" sz="1400" dirty="0"/>
          </a:p>
        </p:txBody>
      </p:sp>
      <p:sp>
        <p:nvSpPr>
          <p:cNvPr id="4" name="Shape 2"/>
          <p:cNvSpPr/>
          <p:nvPr/>
        </p:nvSpPr>
        <p:spPr>
          <a:xfrm>
            <a:off x="640080" y="1691640"/>
            <a:ext cx="10881360" cy="1737360"/>
          </a:xfrm>
          <a:prstGeom prst="roundRect">
            <a:avLst>
              <a:gd name="adj" fmla="val 5263"/>
            </a:avLst>
          </a:prstGeom>
          <a:solidFill>
            <a:srgbClr val="FFFFFF"/>
          </a:solidFill>
          <a:ln w="15875">
            <a:solidFill>
              <a:srgbClr val="1E2761"/>
            </a:solidFill>
            <a:prstDash val="solid"/>
          </a:ln>
        </p:spPr>
      </p:sp>
      <p:sp>
        <p:nvSpPr>
          <p:cNvPr id="5" name="Text 3"/>
          <p:cNvSpPr/>
          <p:nvPr/>
        </p:nvSpPr>
        <p:spPr>
          <a:xfrm>
            <a:off x="914400" y="1874520"/>
            <a:ext cx="10332720" cy="365760"/>
          </a:xfrm>
          <a:prstGeom prst="rect">
            <a:avLst/>
          </a:prstGeom>
          <a:noFill/>
          <a:ln/>
        </p:spPr>
        <p:txBody>
          <a:bodyPr wrap="square" rtlCol="0" anchor="ctr"/>
          <a:lstStyle/>
          <a:p>
            <a:pPr indent="0" marL="0">
              <a:buNone/>
            </a:pPr>
            <a:r>
              <a:rPr lang="en-US" sz="1600" b="1" dirty="0">
                <a:solidFill>
                  <a:srgbClr val="1E2761"/>
                </a:solidFill>
                <a:latin typeface="Meiryo UI" pitchFamily="34" charset="0"/>
                <a:ea typeface="Meiryo UI" pitchFamily="34" charset="-122"/>
                <a:cs typeface="Meiryo UI" pitchFamily="34" charset="-120"/>
              </a:rPr>
              <a:t>「運用」とは何か？　―　2つの問いに分解できる</a:t>
            </a:r>
            <a:endParaRPr lang="en-US" sz="1600" dirty="0"/>
          </a:p>
        </p:txBody>
      </p:sp>
      <p:sp>
        <p:nvSpPr>
          <p:cNvPr id="6" name="Text 4"/>
          <p:cNvSpPr/>
          <p:nvPr/>
        </p:nvSpPr>
        <p:spPr>
          <a:xfrm>
            <a:off x="91440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①頭脳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誰が「何を買うか・売るか」を判断するのか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自分自身か／他社（運用を委託する相手）か</a:t>
            </a:r>
            <a:endParaRPr lang="en-US" sz="1400" dirty="0"/>
          </a:p>
        </p:txBody>
      </p:sp>
      <p:sp>
        <p:nvSpPr>
          <p:cNvPr id="7" name="Text 5"/>
          <p:cNvSpPr/>
          <p:nvPr/>
        </p:nvSpPr>
        <p:spPr>
          <a:xfrm>
            <a:off x="626364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②投資対象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何に投資するのか、誰の資金なのか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顧客の信託資金か／銀行自身の資金か。伝統資産かオルタナティブか</a:t>
            </a:r>
            <a:endParaRPr lang="en-US" sz="1400" dirty="0"/>
          </a:p>
        </p:txBody>
      </p:sp>
      <p:sp>
        <p:nvSpPr>
          <p:cNvPr id="8" name="Text 6"/>
          <p:cNvSpPr/>
          <p:nvPr/>
        </p:nvSpPr>
        <p:spPr>
          <a:xfrm>
            <a:off x="640080" y="3611880"/>
            <a:ext cx="10881360" cy="45720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この2つの掛け合わせと、「運用そのものではなく企業への助言を極める」という第三の道を合わせ、3つの「なりたいプロ」を設定する。</a:t>
            </a:r>
            <a:endParaRPr lang="en-US" sz="1400" dirty="0"/>
          </a:p>
        </p:txBody>
      </p:sp>
      <p:sp>
        <p:nvSpPr>
          <p:cNvPr id="9" name="Shape 7"/>
          <p:cNvSpPr/>
          <p:nvPr/>
        </p:nvSpPr>
        <p:spPr>
          <a:xfrm>
            <a:off x="548640" y="4206240"/>
            <a:ext cx="3566160" cy="1920240"/>
          </a:xfrm>
          <a:prstGeom prst="roundRect">
            <a:avLst>
              <a:gd name="adj" fmla="val 4762"/>
            </a:avLst>
          </a:prstGeom>
          <a:solidFill>
            <a:srgbClr val="FFFFFF"/>
          </a:solidFill>
          <a:ln w="15875">
            <a:solidFill>
              <a:srgbClr val="1E2761"/>
            </a:solidFill>
            <a:prstDash val="solid"/>
          </a:ln>
        </p:spPr>
      </p:sp>
      <p:sp>
        <p:nvSpPr>
          <p:cNvPr id="10" name="Shape 8"/>
          <p:cNvSpPr/>
          <p:nvPr/>
        </p:nvSpPr>
        <p:spPr>
          <a:xfrm>
            <a:off x="731520" y="4370832"/>
            <a:ext cx="438912" cy="347472"/>
          </a:xfrm>
          <a:prstGeom prst="roundRect">
            <a:avLst>
              <a:gd name="adj" fmla="val 18421"/>
            </a:avLst>
          </a:prstGeom>
          <a:solidFill>
            <a:srgbClr val="1E2761"/>
          </a:solidFill>
          <a:ln/>
        </p:spPr>
      </p:sp>
      <p:sp>
        <p:nvSpPr>
          <p:cNvPr id="11" name="Text 9"/>
          <p:cNvSpPr/>
          <p:nvPr/>
        </p:nvSpPr>
        <p:spPr>
          <a:xfrm>
            <a:off x="73152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①</a:t>
            </a:r>
            <a:endParaRPr lang="en-US" sz="1400" dirty="0"/>
          </a:p>
        </p:txBody>
      </p:sp>
      <p:sp>
        <p:nvSpPr>
          <p:cNvPr id="12" name="Text 10"/>
          <p:cNvSpPr/>
          <p:nvPr/>
        </p:nvSpPr>
        <p:spPr>
          <a:xfrm>
            <a:off x="123444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資産運用のプロ</a:t>
            </a:r>
            <a:endParaRPr lang="en-US" sz="1350" dirty="0"/>
          </a:p>
        </p:txBody>
      </p:sp>
      <p:sp>
        <p:nvSpPr>
          <p:cNvPr id="13" name="Text 11"/>
          <p:cNvSpPr/>
          <p:nvPr/>
        </p:nvSpPr>
        <p:spPr>
          <a:xfrm>
            <a:off x="777240" y="4983480"/>
            <a:ext cx="3108960" cy="365760"/>
          </a:xfrm>
          <a:prstGeom prst="rect">
            <a:avLst/>
          </a:prstGeom>
          <a:noFill/>
          <a:ln/>
        </p:spPr>
        <p:txBody>
          <a:bodyPr wrap="square" rtlCol="0" anchor="ctr"/>
          <a:lstStyle/>
          <a:p>
            <a:pPr indent="0" marL="0">
              <a:buNone/>
            </a:pPr>
            <a:r>
              <a:rPr lang="en-US" sz="1300" b="1" dirty="0">
                <a:solidFill>
                  <a:srgbClr val="1E2761"/>
                </a:solidFill>
                <a:latin typeface="Meiryo UI" pitchFamily="34" charset="0"/>
                <a:ea typeface="Meiryo UI" pitchFamily="34" charset="-122"/>
                <a:cs typeface="Meiryo UI" pitchFamily="34" charset="-120"/>
              </a:rPr>
              <a:t>頭脳＝自分</a:t>
            </a:r>
            <a:endParaRPr lang="en-US" sz="1300" dirty="0"/>
          </a:p>
        </p:txBody>
      </p:sp>
      <p:sp>
        <p:nvSpPr>
          <p:cNvPr id="14" name="Text 12"/>
          <p:cNvSpPr/>
          <p:nvPr/>
        </p:nvSpPr>
        <p:spPr>
          <a:xfrm>
            <a:off x="77724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対象＝顧客の信託資金／幅広い資産（公募投信・年金・オルタナティブ等）</a:t>
            </a:r>
            <a:endParaRPr lang="en-US" sz="1250" dirty="0"/>
          </a:p>
        </p:txBody>
      </p:sp>
      <p:sp>
        <p:nvSpPr>
          <p:cNvPr id="15" name="Shape 13"/>
          <p:cNvSpPr/>
          <p:nvPr/>
        </p:nvSpPr>
        <p:spPr>
          <a:xfrm>
            <a:off x="4389120" y="4206240"/>
            <a:ext cx="3566160" cy="1920240"/>
          </a:xfrm>
          <a:prstGeom prst="roundRect">
            <a:avLst>
              <a:gd name="adj" fmla="val 4762"/>
            </a:avLst>
          </a:prstGeom>
          <a:solidFill>
            <a:srgbClr val="FFFFFF"/>
          </a:solidFill>
          <a:ln w="15875">
            <a:solidFill>
              <a:srgbClr val="2E6F52"/>
            </a:solidFill>
            <a:prstDash val="solid"/>
          </a:ln>
        </p:spPr>
      </p:sp>
      <p:sp>
        <p:nvSpPr>
          <p:cNvPr id="16" name="Shape 14"/>
          <p:cNvSpPr/>
          <p:nvPr/>
        </p:nvSpPr>
        <p:spPr>
          <a:xfrm>
            <a:off x="4572000" y="4370832"/>
            <a:ext cx="438912" cy="347472"/>
          </a:xfrm>
          <a:prstGeom prst="roundRect">
            <a:avLst>
              <a:gd name="adj" fmla="val 18421"/>
            </a:avLst>
          </a:prstGeom>
          <a:solidFill>
            <a:srgbClr val="2E6F52"/>
          </a:solidFill>
          <a:ln/>
        </p:spPr>
      </p:sp>
      <p:sp>
        <p:nvSpPr>
          <p:cNvPr id="17" name="Text 15"/>
          <p:cNvSpPr/>
          <p:nvPr/>
        </p:nvSpPr>
        <p:spPr>
          <a:xfrm>
            <a:off x="457200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②</a:t>
            </a:r>
            <a:endParaRPr lang="en-US" sz="1400" dirty="0"/>
          </a:p>
        </p:txBody>
      </p:sp>
      <p:sp>
        <p:nvSpPr>
          <p:cNvPr id="18" name="Text 16"/>
          <p:cNvSpPr/>
          <p:nvPr/>
        </p:nvSpPr>
        <p:spPr>
          <a:xfrm>
            <a:off x="507492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企業法務・ガバナンスのプロ</a:t>
            </a:r>
            <a:endParaRPr lang="en-US" sz="1350" dirty="0"/>
          </a:p>
        </p:txBody>
      </p:sp>
      <p:sp>
        <p:nvSpPr>
          <p:cNvPr id="19" name="Text 17"/>
          <p:cNvSpPr/>
          <p:nvPr/>
        </p:nvSpPr>
        <p:spPr>
          <a:xfrm>
            <a:off x="4617720" y="4983480"/>
            <a:ext cx="3108960" cy="365760"/>
          </a:xfrm>
          <a:prstGeom prst="rect">
            <a:avLst/>
          </a:prstGeom>
          <a:noFill/>
          <a:ln/>
        </p:spPr>
        <p:txBody>
          <a:bodyPr wrap="square" rtlCol="0" anchor="ctr"/>
          <a:lstStyle/>
          <a:p>
            <a:pPr indent="0" marL="0">
              <a:buNone/>
            </a:pPr>
            <a:r>
              <a:rPr lang="en-US" sz="1300" b="1" dirty="0">
                <a:solidFill>
                  <a:srgbClr val="2E6F52"/>
                </a:solidFill>
                <a:latin typeface="Meiryo UI" pitchFamily="34" charset="0"/>
                <a:ea typeface="Meiryo UI" pitchFamily="34" charset="-122"/>
                <a:cs typeface="Meiryo UI" pitchFamily="34" charset="-120"/>
              </a:rPr>
              <a:t>頭脳＝運用ではなく助言</a:t>
            </a:r>
            <a:endParaRPr lang="en-US" sz="1300" dirty="0"/>
          </a:p>
        </p:txBody>
      </p:sp>
      <p:sp>
        <p:nvSpPr>
          <p:cNvPr id="20" name="Text 18"/>
          <p:cNvSpPr/>
          <p:nvPr/>
        </p:nvSpPr>
        <p:spPr>
          <a:xfrm>
            <a:off x="461772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対象＝企業のガバナンス・株主総会・株主対応</a:t>
            </a:r>
            <a:endParaRPr lang="en-US" sz="1250" dirty="0"/>
          </a:p>
        </p:txBody>
      </p:sp>
      <p:sp>
        <p:nvSpPr>
          <p:cNvPr id="21" name="Shape 19"/>
          <p:cNvSpPr/>
          <p:nvPr/>
        </p:nvSpPr>
        <p:spPr>
          <a:xfrm>
            <a:off x="8229600" y="4206240"/>
            <a:ext cx="3566160" cy="1920240"/>
          </a:xfrm>
          <a:prstGeom prst="roundRect">
            <a:avLst>
              <a:gd name="adj" fmla="val 4762"/>
            </a:avLst>
          </a:prstGeom>
          <a:solidFill>
            <a:srgbClr val="FFFFFF"/>
          </a:solidFill>
          <a:ln w="15875">
            <a:solidFill>
              <a:srgbClr val="8A4B1E"/>
            </a:solidFill>
            <a:prstDash val="solid"/>
          </a:ln>
        </p:spPr>
      </p:sp>
      <p:sp>
        <p:nvSpPr>
          <p:cNvPr id="22" name="Shape 20"/>
          <p:cNvSpPr/>
          <p:nvPr/>
        </p:nvSpPr>
        <p:spPr>
          <a:xfrm>
            <a:off x="8412480" y="4370832"/>
            <a:ext cx="438912" cy="347472"/>
          </a:xfrm>
          <a:prstGeom prst="roundRect">
            <a:avLst>
              <a:gd name="adj" fmla="val 18421"/>
            </a:avLst>
          </a:prstGeom>
          <a:solidFill>
            <a:srgbClr val="8A4B1E"/>
          </a:solidFill>
          <a:ln/>
        </p:spPr>
      </p:sp>
      <p:sp>
        <p:nvSpPr>
          <p:cNvPr id="23" name="Text 21"/>
          <p:cNvSpPr/>
          <p:nvPr/>
        </p:nvSpPr>
        <p:spPr>
          <a:xfrm>
            <a:off x="841248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③</a:t>
            </a:r>
            <a:endParaRPr lang="en-US" sz="1400" dirty="0"/>
          </a:p>
        </p:txBody>
      </p:sp>
      <p:sp>
        <p:nvSpPr>
          <p:cNvPr id="24" name="Text 22"/>
          <p:cNvSpPr/>
          <p:nvPr/>
        </p:nvSpPr>
        <p:spPr>
          <a:xfrm>
            <a:off x="891540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自己勘定運用のプロ</a:t>
            </a:r>
            <a:endParaRPr lang="en-US" sz="1350" dirty="0"/>
          </a:p>
        </p:txBody>
      </p:sp>
      <p:sp>
        <p:nvSpPr>
          <p:cNvPr id="25" name="Text 23"/>
          <p:cNvSpPr/>
          <p:nvPr/>
        </p:nvSpPr>
        <p:spPr>
          <a:xfrm>
            <a:off x="8458200" y="4983480"/>
            <a:ext cx="3108960" cy="365760"/>
          </a:xfrm>
          <a:prstGeom prst="rect">
            <a:avLst/>
          </a:prstGeom>
          <a:noFill/>
          <a:ln/>
        </p:spPr>
        <p:txBody>
          <a:bodyPr wrap="square" rtlCol="0" anchor="ctr"/>
          <a:lstStyle/>
          <a:p>
            <a:pPr indent="0" marL="0">
              <a:buNone/>
            </a:pPr>
            <a:r>
              <a:rPr lang="en-US" sz="1300" b="1" dirty="0">
                <a:solidFill>
                  <a:srgbClr val="8A4B1E"/>
                </a:solidFill>
                <a:latin typeface="Meiryo UI" pitchFamily="34" charset="0"/>
                <a:ea typeface="Meiryo UI" pitchFamily="34" charset="-122"/>
                <a:cs typeface="Meiryo UI" pitchFamily="34" charset="-120"/>
              </a:rPr>
              <a:t>頭脳＝自分</a:t>
            </a:r>
            <a:endParaRPr lang="en-US" sz="1300" dirty="0"/>
          </a:p>
        </p:txBody>
      </p:sp>
      <p:sp>
        <p:nvSpPr>
          <p:cNvPr id="26" name="Text 24"/>
          <p:cNvSpPr/>
          <p:nvPr/>
        </p:nvSpPr>
        <p:spPr>
          <a:xfrm>
            <a:off x="845820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対象＝銀行自身の資金／伝統的資産（国債・為替等）が中心</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「何のプロになりたいか」で選び、それぞれに合った職場を経験していく3パターン。</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資産運用のプロになる</a:t>
            </a:r>
            <a:endParaRPr lang="en-US" sz="1500" dirty="0"/>
          </a:p>
        </p:txBody>
      </p:sp>
      <p:sp>
        <p:nvSpPr>
          <p:cNvPr id="8" name="Shape 6"/>
          <p:cNvSpPr/>
          <p:nvPr/>
        </p:nvSpPr>
        <p:spPr>
          <a:xfrm>
            <a:off x="804672" y="2468880"/>
            <a:ext cx="566928" cy="566928"/>
          </a:xfrm>
          <a:prstGeom prst="ellipse">
            <a:avLst/>
          </a:prstGeom>
          <a:solidFill>
            <a:srgbClr val="1E2761"/>
          </a:solidFill>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1E2761"/>
          </a:solidFill>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1E2761"/>
          </a:solidFill>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頭脳＝自分で、顧客の信託資金による幅広い資産の運用を極める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企業法務・ガバナンスのプロになる</a:t>
            </a:r>
            <a:endParaRPr lang="en-US" sz="1500" dirty="0"/>
          </a:p>
        </p:txBody>
      </p:sp>
      <p:sp>
        <p:nvSpPr>
          <p:cNvPr id="28" name="Shape 23"/>
          <p:cNvSpPr/>
          <p:nvPr/>
        </p:nvSpPr>
        <p:spPr>
          <a:xfrm>
            <a:off x="4645152" y="2468880"/>
            <a:ext cx="566928" cy="566928"/>
          </a:xfrm>
          <a:prstGeom prst="ellipse">
            <a:avLst/>
          </a:prstGeom>
          <a:solidFill>
            <a:srgbClr val="2E6F52"/>
          </a:solidFill>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入行後</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証券代行部門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2E6F52"/>
          </a:solidFill>
          <a:ln/>
        </p:spPr>
      </p:sp>
      <p:pic>
        <p:nvPicPr>
          <p:cNvPr id="34" name="Image 4" descr="icon_law.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経験を積んだ後</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部門内の</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ガバナンスコンサルティングチーム</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2E6F52"/>
          </a:solidFill>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将来的に</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シニアコンサルタント</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または管理職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運用ではなく企業経営への助言を極める。証券代行部門が起点</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自己勘定運用のプロになる</a:t>
            </a:r>
            <a:endParaRPr lang="en-US" sz="1500" dirty="0"/>
          </a:p>
        </p:txBody>
      </p:sp>
      <p:sp>
        <p:nvSpPr>
          <p:cNvPr id="48" name="Shape 40"/>
          <p:cNvSpPr/>
          <p:nvPr/>
        </p:nvSpPr>
        <p:spPr>
          <a:xfrm>
            <a:off x="8485632" y="2468880"/>
            <a:ext cx="566928" cy="566928"/>
          </a:xfrm>
          <a:prstGeom prst="ellipse">
            <a:avLst/>
          </a:prstGeom>
          <a:solidFill>
            <a:srgbClr val="8A4B1E"/>
          </a:solidFill>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8A4B1E"/>
          </a:solidFill>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自己勘定運用の専門職</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8A4B1E"/>
          </a:solidFill>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頭脳＝自分で、銀行自身の資金（伝統的資産中心）の運用を極める</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資産運用のプロになる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頭脳＝自分。顧客の信託資金をもとに、幅広い資産に投資判断を下す専門性を極める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1E2761"/>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ファンドマネージャー／アナリストとして「何を買うか」を決める運用の頭脳側を担当。公募投信や年金運用等、幅広い資産クラスで運用を受託する側の実務を経験する。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1E2761"/>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企業法務・ガバナンスのプロになる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頭脳の対象は「運用」ではなく「企業経営」。証券代行部門を起点に、ガバナンス領域の専門性を深める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2E6F52"/>
          </a:solidFill>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入行後</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証券代行部門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株主名簿管理・株主総会運営支援等、証券代行業務の実務を通じて、会社法・金融商品取引法の実務知識を習得する。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企業法ゼミで学んだ会社法の知識を実務に接続する経験、株主総会実務への理解。</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2E6F52"/>
          </a:solidFill>
          <a:ln/>
        </p:spPr>
      </p:sp>
      <p:pic>
        <p:nvPicPr>
          <p:cNvPr id="16" name="Image 2" descr="icon_law.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経験を積んだ後</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部門内の</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ガバナンスコンサルティングチーム</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IR・SRコンサルティング、ガバナンスコンサルティング、指名・報酬コンサルティング等、証券代行部門が提供する企業向けの経営助言業務を担当する。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企業法の知識を武器に、財務諸表分析力も組み合わせてガバナンス課題を分析・助言する力。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2E6F52"/>
          </a:solidFill>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将来的に</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シニアコンサルタント</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または管理職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買収防衛策アドバイザリーやアクティビスト対応など、より高度な経営課題への助言をリードする、または部門のマネジメントを担う。</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企業法の専門性を軸に、企業経営そのものへの助言力を持つ、信託銀行ならではの人材としての専門性。</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自己勘定運用のプロになる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頭脳＝自分。銀行自身の資金をもとに、国債・為替等の伝統的資産を中心に運用判断力を極める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8A4B1E"/>
          </a:solidFill>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自身の資金（自己勘定・有価証券運用）を対象に、債券・株式等の市場調査やディーリング実務の基礎を習得する。ゆうちょ銀行はこの自己勘定運用（国債等）が収益の柱であり、代表的な配属先とな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マーケットを継続的に追う力、リスク量を意識した投資判断の基礎。</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8A4B1E"/>
          </a:solidFill>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自己勘定運用の専門職</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債券・株式等に加え、PE・不動産等オルタナティブ資産への自己資金配分も含めた自己勘定運用の専門職として、ALM（資産負債管理）やリスク管理部門と連携しながら銀行内で運用の頭脳役を担う。ゆうちょ銀行は自己資金によるPE投資でも国内最大級（2025年9月末時点で7.6兆円）であり、この分野の代表例といえ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財務分析力を活かした投資判断力、PDCAによる運用改善力（検証→仮説修正の繰り返し）。</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8A4B1E"/>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自己勘定運用方針の立案・運用部門の統括を担当。頭脳と金庫が同一組織内で完結する体制の中核を担う。ゆうちょ銀行のプライベートエクイティ投資部は2026年4月の組織再編後も市場部門内に存続しており、機関投資家など外部の資金を預かる一般的な「アセットマネジメント業務」とは異なり、自社の資金を自社で判断・運用する体制が続いている。</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組織全体の運用戦略を描く視座、社内の他部門を巻き込む統括力。</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資産運用のプロになる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企業法務・ガバナンスのプロになる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自己勘定運用のプロになる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頭脳の対象</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顧客の信託資金・幅広い資産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運用ではなく企業経営への助言</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銀行自身の資金・伝統的資産中心</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主な職場</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資産運用部門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証券代行部門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→ガバナンスコンサルティング</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 マーケット部門（内で完結）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企業法知識→ガバナンス助言に直結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PDCA力→運用改善サイクルに直結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幅広い資産の運用判断を極めたい人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企業法・ガバナンスを軸にしたい人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異動リスクを抑え一貫性を重視する人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114800"/>
            <a:ext cx="11064240" cy="2514600"/>
          </a:xfrm>
          <a:prstGeom prst="roundRect">
            <a:avLst>
              <a:gd name="adj" fmla="val 3636"/>
            </a:avLst>
          </a:prstGeom>
          <a:solidFill>
            <a:srgbClr val="FFFFFF"/>
          </a:solidFill>
          <a:ln w="19050">
            <a:solidFill>
              <a:srgbClr val="C9A227"/>
            </a:solidFill>
            <a:prstDash val="solid"/>
          </a:ln>
        </p:spPr>
      </p:sp>
      <p:sp>
        <p:nvSpPr>
          <p:cNvPr id="5" name="Text 2"/>
          <p:cNvSpPr/>
          <p:nvPr/>
        </p:nvSpPr>
        <p:spPr>
          <a:xfrm>
            <a:off x="822960" y="4279392"/>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4709160"/>
            <a:ext cx="10332720" cy="1828800"/>
          </a:xfrm>
          <a:prstGeom prst="rect">
            <a:avLst/>
          </a:prstGeom>
          <a:noFill/>
          <a:ln/>
        </p:spPr>
        <p:txBody>
          <a:bodyPr wrap="square" rtlCol="0" anchor="ctr"/>
          <a:lstStyle/>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「幅広い資産の運用判断を極めたい／企業法・ガバナンスを軸にしたい／自己勘定運用に一貫して取り組みたい」のどれに一番惹かれるかを整理し、志望動機に反映する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説明会・面接で「グループAM会社への出向・転籍の実態」「証券代行部門からガバナンスコンサルティングへの異動の実態」を具体的に質問し、パターンの解像度を上げる</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2026-08-23T04:52:46Z</dcterms:created>
  <dcterms:modified xsi:type="dcterms:W3CDTF">2026-08-23T04:52:46Z</dcterms:modified>
</cp:coreProperties>
</file>