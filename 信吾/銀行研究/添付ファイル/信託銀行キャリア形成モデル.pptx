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3.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2.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「私は、何のプロになりたいか」を軸に考える、信吾さんの成長ロードマップ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①信託資金で資産形成を支えるプロになる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②助言で企業経営を支えるプロになる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③融資・自己資金運用で企業を支えるプロになる</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DCE1F0"/>
          </a:solidFill>
          <a:ln w="12700">
            <a:solidFill>
              <a:srgbClr val="1E2761"/>
            </a:solidFill>
            <a:prstDash val="solid"/>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DCE1F0"/>
          </a:solidFill>
          <a:ln w="12700">
            <a:solidFill>
              <a:srgbClr val="1E2761"/>
            </a:solidFill>
            <a:prstDash val="solid"/>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DCE1F0"/>
          </a:solidFill>
          <a:ln w="12700">
            <a:solidFill>
              <a:srgbClr val="1E2761"/>
            </a:solidFill>
            <a:prstDash val="solid"/>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考え方の軸：「私は、何のプロになりたいか」</a:t>
            </a:r>
            <a:endParaRPr lang="en-US" sz="28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会社・部署の名前で選ぶのではなく、「何の専門性を鍛えたいか」を先に決め、そのための職場を選ぶという考え方。</a:t>
            </a:r>
            <a:endParaRPr lang="en-US" sz="1400" dirty="0"/>
          </a:p>
        </p:txBody>
      </p:sp>
      <p:sp>
        <p:nvSpPr>
          <p:cNvPr id="4" name="Shape 2"/>
          <p:cNvSpPr/>
          <p:nvPr/>
        </p:nvSpPr>
        <p:spPr>
          <a:xfrm>
            <a:off x="640080" y="1691640"/>
            <a:ext cx="10881360" cy="1737360"/>
          </a:xfrm>
          <a:prstGeom prst="roundRect">
            <a:avLst>
              <a:gd name="adj" fmla="val 5263"/>
            </a:avLst>
          </a:prstGeom>
          <a:solidFill>
            <a:srgbClr val="FFFFFF"/>
          </a:solidFill>
          <a:ln w="15875">
            <a:solidFill>
              <a:srgbClr val="1E2761"/>
            </a:solidFill>
            <a:prstDash val="solid"/>
          </a:ln>
        </p:spPr>
      </p:sp>
      <p:sp>
        <p:nvSpPr>
          <p:cNvPr id="5" name="Text 3"/>
          <p:cNvSpPr/>
          <p:nvPr/>
        </p:nvSpPr>
        <p:spPr>
          <a:xfrm>
            <a:off x="914400" y="1874520"/>
            <a:ext cx="10332720" cy="365760"/>
          </a:xfrm>
          <a:prstGeom prst="rect">
            <a:avLst/>
          </a:prstGeom>
          <a:noFill/>
          <a:ln/>
        </p:spPr>
        <p:txBody>
          <a:bodyPr wrap="square" rtlCol="0" anchor="ctr"/>
          <a:lstStyle/>
          <a:p>
            <a:pPr indent="0" marL="0">
              <a:buNone/>
            </a:pPr>
            <a:r>
              <a:rPr lang="en-US" sz="1600" b="1" dirty="0">
                <a:solidFill>
                  <a:srgbClr val="1E2761"/>
                </a:solidFill>
                <a:latin typeface="Meiryo UI" pitchFamily="34" charset="0"/>
                <a:ea typeface="Meiryo UI" pitchFamily="34" charset="-122"/>
                <a:cs typeface="Meiryo UI" pitchFamily="34" charset="-120"/>
              </a:rPr>
              <a:t>「運用」とは何か？　―　2つの問いに分解できる</a:t>
            </a:r>
            <a:endParaRPr lang="en-US" sz="1600" dirty="0"/>
          </a:p>
        </p:txBody>
      </p:sp>
      <p:sp>
        <p:nvSpPr>
          <p:cNvPr id="6" name="Text 4"/>
          <p:cNvSpPr/>
          <p:nvPr/>
        </p:nvSpPr>
        <p:spPr>
          <a:xfrm>
            <a:off x="91440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①頭脳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誰が「何を買うか・売るか」を判断するのか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自分自身か／他社（運用を委託する相手）か</a:t>
            </a:r>
            <a:endParaRPr lang="en-US" sz="1400" dirty="0"/>
          </a:p>
        </p:txBody>
      </p:sp>
      <p:sp>
        <p:nvSpPr>
          <p:cNvPr id="7" name="Text 5"/>
          <p:cNvSpPr/>
          <p:nvPr/>
        </p:nvSpPr>
        <p:spPr>
          <a:xfrm>
            <a:off x="626364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②投資対象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何に投資するのか、誰の資金なのか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顧客の信託資金か／銀行自身の資金か。伝統資産かオルタナティブか</a:t>
            </a:r>
            <a:endParaRPr lang="en-US" sz="1400" dirty="0"/>
          </a:p>
        </p:txBody>
      </p:sp>
      <p:sp>
        <p:nvSpPr>
          <p:cNvPr id="8" name="Text 6"/>
          <p:cNvSpPr/>
          <p:nvPr/>
        </p:nvSpPr>
        <p:spPr>
          <a:xfrm>
            <a:off x="640080" y="3611880"/>
            <a:ext cx="10881360" cy="45720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この2つの掛け合わせと、「運用そのものではなく企業への助言を極める」という第三の道を合わせ、3つの「なりたいプロ」を設定する。</a:t>
            </a:r>
            <a:endParaRPr lang="en-US" sz="1400" dirty="0"/>
          </a:p>
        </p:txBody>
      </p:sp>
      <p:sp>
        <p:nvSpPr>
          <p:cNvPr id="9" name="Shape 7"/>
          <p:cNvSpPr/>
          <p:nvPr/>
        </p:nvSpPr>
        <p:spPr>
          <a:xfrm>
            <a:off x="548640" y="4206240"/>
            <a:ext cx="3566160" cy="1920240"/>
          </a:xfrm>
          <a:prstGeom prst="roundRect">
            <a:avLst>
              <a:gd name="adj" fmla="val 4762"/>
            </a:avLst>
          </a:prstGeom>
          <a:solidFill>
            <a:srgbClr val="FFFFFF"/>
          </a:solidFill>
          <a:ln w="15875">
            <a:solidFill>
              <a:srgbClr val="1E2761"/>
            </a:solidFill>
            <a:prstDash val="solid"/>
          </a:ln>
        </p:spPr>
      </p:sp>
      <p:sp>
        <p:nvSpPr>
          <p:cNvPr id="10" name="Shape 8"/>
          <p:cNvSpPr/>
          <p:nvPr/>
        </p:nvSpPr>
        <p:spPr>
          <a:xfrm>
            <a:off x="731520" y="4370832"/>
            <a:ext cx="438912" cy="347472"/>
          </a:xfrm>
          <a:prstGeom prst="roundRect">
            <a:avLst>
              <a:gd name="adj" fmla="val 18421"/>
            </a:avLst>
          </a:prstGeom>
          <a:solidFill>
            <a:srgbClr val="1E2761"/>
          </a:solidFill>
          <a:ln/>
        </p:spPr>
      </p:sp>
      <p:sp>
        <p:nvSpPr>
          <p:cNvPr id="11" name="Text 9"/>
          <p:cNvSpPr/>
          <p:nvPr/>
        </p:nvSpPr>
        <p:spPr>
          <a:xfrm>
            <a:off x="73152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①</a:t>
            </a:r>
            <a:endParaRPr lang="en-US" sz="1400" dirty="0"/>
          </a:p>
        </p:txBody>
      </p:sp>
      <p:sp>
        <p:nvSpPr>
          <p:cNvPr id="12" name="Text 10"/>
          <p:cNvSpPr/>
          <p:nvPr/>
        </p:nvSpPr>
        <p:spPr>
          <a:xfrm>
            <a:off x="123444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信託資金で資産形成を支えるプロ</a:t>
            </a:r>
            <a:endParaRPr lang="en-US" sz="1350" dirty="0"/>
          </a:p>
        </p:txBody>
      </p:sp>
      <p:sp>
        <p:nvSpPr>
          <p:cNvPr id="13" name="Text 11"/>
          <p:cNvSpPr/>
          <p:nvPr/>
        </p:nvSpPr>
        <p:spPr>
          <a:xfrm>
            <a:off x="777240" y="4983480"/>
            <a:ext cx="3108960" cy="365760"/>
          </a:xfrm>
          <a:prstGeom prst="rect">
            <a:avLst/>
          </a:prstGeom>
          <a:noFill/>
          <a:ln/>
        </p:spPr>
        <p:txBody>
          <a:bodyPr wrap="square" rtlCol="0" anchor="ctr"/>
          <a:lstStyle/>
          <a:p>
            <a:pPr indent="0" marL="0">
              <a:buNone/>
            </a:pPr>
            <a:r>
              <a:rPr lang="en-US" sz="1300" b="1" dirty="0">
                <a:solidFill>
                  <a:srgbClr val="1E2761"/>
                </a:solidFill>
                <a:latin typeface="Meiryo UI" pitchFamily="34" charset="0"/>
                <a:ea typeface="Meiryo UI" pitchFamily="34" charset="-122"/>
                <a:cs typeface="Meiryo UI" pitchFamily="34" charset="-120"/>
              </a:rPr>
              <a:t>頭脳＝自分</a:t>
            </a:r>
            <a:endParaRPr lang="en-US" sz="1300" dirty="0"/>
          </a:p>
        </p:txBody>
      </p:sp>
      <p:sp>
        <p:nvSpPr>
          <p:cNvPr id="14" name="Text 12"/>
          <p:cNvSpPr/>
          <p:nvPr/>
        </p:nvSpPr>
        <p:spPr>
          <a:xfrm>
            <a:off x="77724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対象＝顧客の信託資金／幅広い資産（公募投信・年金・オルタナティブ等）</a:t>
            </a:r>
            <a:endParaRPr lang="en-US" sz="1250" dirty="0"/>
          </a:p>
        </p:txBody>
      </p:sp>
      <p:sp>
        <p:nvSpPr>
          <p:cNvPr id="15" name="Shape 13"/>
          <p:cNvSpPr/>
          <p:nvPr/>
        </p:nvSpPr>
        <p:spPr>
          <a:xfrm>
            <a:off x="4389120" y="4206240"/>
            <a:ext cx="3566160" cy="1920240"/>
          </a:xfrm>
          <a:prstGeom prst="roundRect">
            <a:avLst>
              <a:gd name="adj" fmla="val 4762"/>
            </a:avLst>
          </a:prstGeom>
          <a:solidFill>
            <a:srgbClr val="FFFFFF"/>
          </a:solidFill>
          <a:ln w="15875">
            <a:solidFill>
              <a:srgbClr val="2E6F52"/>
            </a:solidFill>
            <a:prstDash val="solid"/>
          </a:ln>
        </p:spPr>
      </p:sp>
      <p:sp>
        <p:nvSpPr>
          <p:cNvPr id="16" name="Shape 14"/>
          <p:cNvSpPr/>
          <p:nvPr/>
        </p:nvSpPr>
        <p:spPr>
          <a:xfrm>
            <a:off x="4572000" y="4370832"/>
            <a:ext cx="438912" cy="347472"/>
          </a:xfrm>
          <a:prstGeom prst="roundRect">
            <a:avLst>
              <a:gd name="adj" fmla="val 18421"/>
            </a:avLst>
          </a:prstGeom>
          <a:solidFill>
            <a:srgbClr val="2E6F52"/>
          </a:solidFill>
          <a:ln/>
        </p:spPr>
      </p:sp>
      <p:sp>
        <p:nvSpPr>
          <p:cNvPr id="17" name="Text 15"/>
          <p:cNvSpPr/>
          <p:nvPr/>
        </p:nvSpPr>
        <p:spPr>
          <a:xfrm>
            <a:off x="457200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②</a:t>
            </a:r>
            <a:endParaRPr lang="en-US" sz="1400" dirty="0"/>
          </a:p>
        </p:txBody>
      </p:sp>
      <p:sp>
        <p:nvSpPr>
          <p:cNvPr id="18" name="Text 16"/>
          <p:cNvSpPr/>
          <p:nvPr/>
        </p:nvSpPr>
        <p:spPr>
          <a:xfrm>
            <a:off x="507492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助言で企業経営を支えるプロ</a:t>
            </a:r>
            <a:endParaRPr lang="en-US" sz="1350" dirty="0"/>
          </a:p>
        </p:txBody>
      </p:sp>
      <p:sp>
        <p:nvSpPr>
          <p:cNvPr id="19" name="Text 17"/>
          <p:cNvSpPr/>
          <p:nvPr/>
        </p:nvSpPr>
        <p:spPr>
          <a:xfrm>
            <a:off x="4617720" y="4983480"/>
            <a:ext cx="3108960" cy="365760"/>
          </a:xfrm>
          <a:prstGeom prst="rect">
            <a:avLst/>
          </a:prstGeom>
          <a:noFill/>
          <a:ln/>
        </p:spPr>
        <p:txBody>
          <a:bodyPr wrap="square" rtlCol="0" anchor="ctr"/>
          <a:lstStyle/>
          <a:p>
            <a:pPr indent="0" marL="0">
              <a:buNone/>
            </a:pPr>
            <a:r>
              <a:rPr lang="en-US" sz="1300" b="1" dirty="0">
                <a:solidFill>
                  <a:srgbClr val="2E6F52"/>
                </a:solidFill>
                <a:latin typeface="Meiryo UI" pitchFamily="34" charset="0"/>
                <a:ea typeface="Meiryo UI" pitchFamily="34" charset="-122"/>
                <a:cs typeface="Meiryo UI" pitchFamily="34" charset="-120"/>
              </a:rPr>
              <a:t>頭脳＝運用ではなく助言</a:t>
            </a:r>
            <a:endParaRPr lang="en-US" sz="1300" dirty="0"/>
          </a:p>
        </p:txBody>
      </p:sp>
      <p:sp>
        <p:nvSpPr>
          <p:cNvPr id="20" name="Text 18"/>
          <p:cNvSpPr/>
          <p:nvPr/>
        </p:nvSpPr>
        <p:spPr>
          <a:xfrm>
            <a:off x="461772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対象＝企業のガバナンス・株主総会・株主対応</a:t>
            </a:r>
            <a:endParaRPr lang="en-US" sz="1250" dirty="0"/>
          </a:p>
        </p:txBody>
      </p:sp>
      <p:sp>
        <p:nvSpPr>
          <p:cNvPr id="21" name="Shape 19"/>
          <p:cNvSpPr/>
          <p:nvPr/>
        </p:nvSpPr>
        <p:spPr>
          <a:xfrm>
            <a:off x="8229600" y="4206240"/>
            <a:ext cx="3566160" cy="1920240"/>
          </a:xfrm>
          <a:prstGeom prst="roundRect">
            <a:avLst>
              <a:gd name="adj" fmla="val 4762"/>
            </a:avLst>
          </a:prstGeom>
          <a:solidFill>
            <a:srgbClr val="FFFFFF"/>
          </a:solidFill>
          <a:ln w="15875">
            <a:solidFill>
              <a:srgbClr val="8A4B1E"/>
            </a:solidFill>
            <a:prstDash val="solid"/>
          </a:ln>
        </p:spPr>
      </p:sp>
      <p:sp>
        <p:nvSpPr>
          <p:cNvPr id="22" name="Shape 20"/>
          <p:cNvSpPr/>
          <p:nvPr/>
        </p:nvSpPr>
        <p:spPr>
          <a:xfrm>
            <a:off x="8412480" y="4370832"/>
            <a:ext cx="438912" cy="347472"/>
          </a:xfrm>
          <a:prstGeom prst="roundRect">
            <a:avLst>
              <a:gd name="adj" fmla="val 18421"/>
            </a:avLst>
          </a:prstGeom>
          <a:solidFill>
            <a:srgbClr val="8A4B1E"/>
          </a:solidFill>
          <a:ln/>
        </p:spPr>
      </p:sp>
      <p:sp>
        <p:nvSpPr>
          <p:cNvPr id="23" name="Text 21"/>
          <p:cNvSpPr/>
          <p:nvPr/>
        </p:nvSpPr>
        <p:spPr>
          <a:xfrm>
            <a:off x="841248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③</a:t>
            </a:r>
            <a:endParaRPr lang="en-US" sz="1400" dirty="0"/>
          </a:p>
        </p:txBody>
      </p:sp>
      <p:sp>
        <p:nvSpPr>
          <p:cNvPr id="24" name="Text 22"/>
          <p:cNvSpPr/>
          <p:nvPr/>
        </p:nvSpPr>
        <p:spPr>
          <a:xfrm>
            <a:off x="891540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融資・自己資金運用で企業を支えるプロ</a:t>
            </a:r>
            <a:endParaRPr lang="en-US" sz="1350" dirty="0"/>
          </a:p>
        </p:txBody>
      </p:sp>
      <p:sp>
        <p:nvSpPr>
          <p:cNvPr id="25" name="Text 23"/>
          <p:cNvSpPr/>
          <p:nvPr/>
        </p:nvSpPr>
        <p:spPr>
          <a:xfrm>
            <a:off x="8458200" y="4983480"/>
            <a:ext cx="3108960" cy="365760"/>
          </a:xfrm>
          <a:prstGeom prst="rect">
            <a:avLst/>
          </a:prstGeom>
          <a:noFill/>
          <a:ln/>
        </p:spPr>
        <p:txBody>
          <a:bodyPr wrap="square" rtlCol="0" anchor="ctr"/>
          <a:lstStyle/>
          <a:p>
            <a:pPr indent="0" marL="0">
              <a:buNone/>
            </a:pPr>
            <a:r>
              <a:rPr lang="en-US" sz="1300" b="1" dirty="0">
                <a:solidFill>
                  <a:srgbClr val="8A4B1E"/>
                </a:solidFill>
                <a:latin typeface="Meiryo UI" pitchFamily="34" charset="0"/>
                <a:ea typeface="Meiryo UI" pitchFamily="34" charset="-122"/>
                <a:cs typeface="Meiryo UI" pitchFamily="34" charset="-120"/>
              </a:rPr>
              <a:t>頭脳＝自分</a:t>
            </a:r>
            <a:endParaRPr lang="en-US" sz="1300" dirty="0"/>
          </a:p>
        </p:txBody>
      </p:sp>
      <p:sp>
        <p:nvSpPr>
          <p:cNvPr id="26" name="Text 24"/>
          <p:cNvSpPr/>
          <p:nvPr/>
        </p:nvSpPr>
        <p:spPr>
          <a:xfrm>
            <a:off x="845820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対象＝銀行自身の資金。融資（デット）から自己勘定投資・PE（エクイティ）まで</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「何のプロになりたいか」で選び、それぞれに合った職場を経験していく3パターン。</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信託資金で資産形成を支えるプロになる</a:t>
            </a:r>
            <a:endParaRPr lang="en-US" sz="1500" dirty="0"/>
          </a:p>
        </p:txBody>
      </p:sp>
      <p:sp>
        <p:nvSpPr>
          <p:cNvPr id="8" name="Shape 6"/>
          <p:cNvSpPr/>
          <p:nvPr/>
        </p:nvSpPr>
        <p:spPr>
          <a:xfrm>
            <a:off x="804672" y="2468880"/>
            <a:ext cx="566928" cy="566928"/>
          </a:xfrm>
          <a:prstGeom prst="ellipse">
            <a:avLst/>
          </a:prstGeom>
          <a:solidFill>
            <a:srgbClr val="DCE1F0"/>
          </a:solidFill>
          <a:ln w="12700">
            <a:solidFill>
              <a:srgbClr val="1E2761"/>
            </a:solidFill>
            <a:prstDash val="solid"/>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DCE1F0"/>
          </a:solidFill>
          <a:ln w="12700">
            <a:solidFill>
              <a:srgbClr val="1E2761"/>
            </a:solidFill>
            <a:prstDash val="solid"/>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DCE1F0"/>
          </a:solidFill>
          <a:ln w="12700">
            <a:solidFill>
              <a:srgbClr val="1E2761"/>
            </a:solidFill>
            <a:prstDash val="solid"/>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頭脳＝自分で、顧客の信託資金による幅広い資産の運用を極める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助言で企業経営を支えるプロになる</a:t>
            </a:r>
            <a:endParaRPr lang="en-US" sz="1500" dirty="0"/>
          </a:p>
        </p:txBody>
      </p:sp>
      <p:sp>
        <p:nvSpPr>
          <p:cNvPr id="28" name="Shape 23"/>
          <p:cNvSpPr/>
          <p:nvPr/>
        </p:nvSpPr>
        <p:spPr>
          <a:xfrm>
            <a:off x="4645152" y="2468880"/>
            <a:ext cx="566928" cy="566928"/>
          </a:xfrm>
          <a:prstGeom prst="ellipse">
            <a:avLst/>
          </a:prstGeom>
          <a:solidFill>
            <a:srgbClr val="DCEEE3"/>
          </a:solidFill>
          <a:ln w="12700">
            <a:solidFill>
              <a:srgbClr val="2E6F52"/>
            </a:solidFill>
            <a:prstDash val="solid"/>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入行後</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証券代行部門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DCEEE3"/>
          </a:solidFill>
          <a:ln w="12700">
            <a:solidFill>
              <a:srgbClr val="2E6F52"/>
            </a:solidFill>
            <a:prstDash val="solid"/>
          </a:ln>
        </p:spPr>
      </p:sp>
      <p:pic>
        <p:nvPicPr>
          <p:cNvPr id="34" name="Image 4" descr="icon_law.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経験を積んだ後</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部門内の</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ガバナンスコンサルティングチーム</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DCEEE3"/>
          </a:solidFill>
          <a:ln w="12700">
            <a:solidFill>
              <a:srgbClr val="2E6F52"/>
            </a:solidFill>
            <a:prstDash val="solid"/>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将来的に</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シニアコンサルタント</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または管理職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運用ではなく企業経営への助言を極める。証券代行部門が起点</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融資・自己資金運用で企業を支えるプロになる</a:t>
            </a:r>
            <a:endParaRPr lang="en-US" sz="1500" dirty="0"/>
          </a:p>
        </p:txBody>
      </p:sp>
      <p:sp>
        <p:nvSpPr>
          <p:cNvPr id="48" name="Shape 40"/>
          <p:cNvSpPr/>
          <p:nvPr/>
        </p:nvSpPr>
        <p:spPr>
          <a:xfrm>
            <a:off x="8485632" y="2468880"/>
            <a:ext cx="566928" cy="566928"/>
          </a:xfrm>
          <a:prstGeom prst="ellipse">
            <a:avLst/>
          </a:prstGeom>
          <a:solidFill>
            <a:srgbClr val="F1E1C9"/>
          </a:solidFill>
          <a:ln w="12700">
            <a:solidFill>
              <a:srgbClr val="8A4B1E"/>
            </a:solidFill>
            <a:prstDash val="solid"/>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法人融資 or 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F1E1C9"/>
          </a:solidFill>
          <a:ln w="12700">
            <a:solidFill>
              <a:srgbClr val="8A4B1E"/>
            </a:solidFill>
            <a:prstDash val="solid"/>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与信審査 or 自己勘定投資</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F1E1C9"/>
          </a:solidFill>
          <a:ln w="12700">
            <a:solidFill>
              <a:srgbClr val="8A4B1E"/>
            </a:solidFill>
            <a:prstDash val="solid"/>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融資・運用部門の管理職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頭脳＝自分で、銀行自身の資金（デット・エクイティ両方）を企業の成長に振り向ける</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信託資金で資産形成を支えるプロになる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頭脳＝自分。顧客の信託資金をもとに、幅広い資産に投資判断を下す専門性を極める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DCE1F0"/>
          </a:solidFill>
          <a:ln w="12700">
            <a:solidFill>
              <a:srgbClr val="1E2761"/>
            </a:solidFill>
            <a:prstDash val="solid"/>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DCE1F0"/>
          </a:solidFill>
          <a:ln w="12700">
            <a:solidFill>
              <a:srgbClr val="1E2761"/>
            </a:solidFill>
            <a:prstDash val="solid"/>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ファンドマネージャー／アナリストとして「何を買うか」を決める運用の頭脳側を担当。公募投信や年金運用等、幅広い資産クラスで運用を受託する側の実務を経験する。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DCE1F0"/>
          </a:solidFill>
          <a:ln w="12700">
            <a:solidFill>
              <a:srgbClr val="1E2761"/>
            </a:solidFill>
            <a:prstDash val="solid"/>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助言で企業経営を支えるプロになる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頭脳の対象は「運用」ではなく「企業経営」。証券代行部門を起点に、ガバナンス領域の専門性を深める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DCEEE3"/>
          </a:solidFill>
          <a:ln w="12700">
            <a:solidFill>
              <a:srgbClr val="2E6F52"/>
            </a:solidFill>
            <a:prstDash val="solid"/>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入行後</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証券代行部門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株主名簿管理・株主総会運営支援等、証券代行業務の実務を通じて、会社法・金融商品取引法の実務知識を習得する。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企業法ゼミで学んだ会社法の知識を実務に接続する経験、株主総会実務への理解。</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DCEEE3"/>
          </a:solidFill>
          <a:ln w="12700">
            <a:solidFill>
              <a:srgbClr val="2E6F52"/>
            </a:solidFill>
            <a:prstDash val="solid"/>
          </a:ln>
        </p:spPr>
      </p:sp>
      <p:pic>
        <p:nvPicPr>
          <p:cNvPr id="16" name="Image 2" descr="icon_law.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経験を積んだ後</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部門内の</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ガバナンスコンサルティングチーム</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IR・SRコンサルティング、ガバナンスコンサルティング、指名・報酬コンサルティング等、証券代行部門が提供する企業向けの経営助言業務を担当する。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企業法の知識を武器に、財務諸表分析力も組み合わせてガバナンス課題を分析・助言する力。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DCEEE3"/>
          </a:solidFill>
          <a:ln w="12700">
            <a:solidFill>
              <a:srgbClr val="2E6F52"/>
            </a:solidFill>
            <a:prstDash val="solid"/>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将来的に</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シニアコンサルタント</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または管理職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買収防衛策アドバイザリーやアクティビスト対応など、より高度な経営課題への助言をリードする、または部門のマネジメントを担う。</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企業法の専門性を軸に、企業経営そのものへの助言力を持つ、信託銀行ならではの人材としての専門性。</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融資・自己資金運用で企業を支えるプロになる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頭脳＝自分。銀行自身の資金（デット・エクイティ）で企業の成長を支える専門性を極める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F1E1C9"/>
          </a:solidFill>
          <a:ln w="12700">
            <a:solidFill>
              <a:srgbClr val="8A4B1E"/>
            </a:solidFill>
            <a:prstDash val="solid"/>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法人融資 or 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法人融資部門なら企業への与信審査・貸出実務、市場運用部門なら債券・株式等の市場調査やディーリング実務の基礎を習得する。ゆうちょ銀行は市場運用（国債等）が収益の柱であり、代表的な配属先の一つ。</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融資なら財務諸表分析力を与信判断に応用する経験、市場運用ならマーケットを継続的に追う力。銀行自身の資金でリスクを取る感覚を養う。</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F1E1C9"/>
          </a:solidFill>
          <a:ln w="12700">
            <a:solidFill>
              <a:srgbClr val="8A4B1E"/>
            </a:solidFill>
            <a:prstDash val="solid"/>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与信審査 or 自己勘定投資</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融資（デット）なら大口・プロジェクト融資の審査、自己勘定投資（エクイティ）なら債券・株式・PE等の運用を、ALM（資産負債管理）と連携しつつ頭脳役として担う。ゆうちょ銀行は自己資金PE投資でも国内最大級（2025年9月末時点で7.6兆円）。</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財務分析力を活かした与信・投資判断力、PDCAによる審査・運用改善力。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F1E1C9"/>
          </a:solidFill>
          <a:ln w="12700">
            <a:solidFill>
              <a:srgbClr val="8A4B1E"/>
            </a:solidFill>
            <a:prstDash val="solid"/>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融資・運用部門の管理職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融資方針・自己勘定運用方針の立案や部門の統括を担当。頭脳と金庫が同一組織内で完結する体制の中核を担う。ゆうちょ銀行のプライベートエクイティ投資部は2026年4月の組織再編後も市場部門内に存続しており、自社の資金を自社で判断し企業に振り向ける体制が続く。</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デット・エクイティ双方の視点から資金配分戦略を描く視座、他部門を巻き込む統括力。</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信託資金で資産形成を支えるプロになる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助言で企業経営を支えるプロになる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融資・自己資金運用で企業を支えるプロになる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頭脳の対象</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顧客の信託資金・幅広い資産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運用ではなく企業経営への助言</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銀行自身の資金（デット・エクイティ）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主な職場</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資産運用部門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証券代行部門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→ガバナンスコンサルティング</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 法人融資部門 or 市場運用部門（内で完結）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企業法知識→ガバナンス助言に直結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財務分析力→与信・投資判断に直結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幅広い資産の運用判断を極めたい人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企業法・ガバナンスを軸にしたい人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融資・投資の両面で企業を支えたい人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114800"/>
            <a:ext cx="11064240" cy="2514600"/>
          </a:xfrm>
          <a:prstGeom prst="roundRect">
            <a:avLst>
              <a:gd name="adj" fmla="val 3636"/>
            </a:avLst>
          </a:prstGeom>
          <a:solidFill>
            <a:srgbClr val="FFFFFF"/>
          </a:solidFill>
          <a:ln w="19050">
            <a:solidFill>
              <a:srgbClr val="C9A227"/>
            </a:solidFill>
            <a:prstDash val="solid"/>
          </a:ln>
        </p:spPr>
      </p:sp>
      <p:sp>
        <p:nvSpPr>
          <p:cNvPr id="5" name="Text 2"/>
          <p:cNvSpPr/>
          <p:nvPr/>
        </p:nvSpPr>
        <p:spPr>
          <a:xfrm>
            <a:off x="822960" y="4279392"/>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4709160"/>
            <a:ext cx="10332720" cy="1828800"/>
          </a:xfrm>
          <a:prstGeom prst="rect">
            <a:avLst/>
          </a:prstGeom>
          <a:noFill/>
          <a:ln/>
        </p:spPr>
        <p:txBody>
          <a:bodyPr wrap="square" rtlCol="0" anchor="ctr"/>
          <a:lstStyle/>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「幅広い資産の運用判断を極めたい／企業法・ガバナンスを軸にしたい／融資と自己勘定投資の両面で企業を支えたい」のどれに一番惹かれるかを整理し、志望動機に反映する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説明会・面接で「グループAM会社への出向・転籍の実態」「証券代行部門からガバナンスコンサルティングへの異動の実態」「法人融資部門と市場運用部門の異動の実態」を具体的に質問し、パターンの解像度を上げる</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2026-08-23T05:29:38Z</dcterms:created>
  <dcterms:modified xsi:type="dcterms:W3CDTF">2026-08-23T05:29:38Z</dcterms:modified>
</cp:coreProperties>
</file>