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3.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2.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2.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60020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42900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「私は、何のプロになりたいか」を軸に考える、信吾さんの成長ロードマップ</a:t>
            </a:r>
            <a:endParaRPr lang="en-US" sz="1800" dirty="0"/>
          </a:p>
        </p:txBody>
      </p:sp>
      <p:sp>
        <p:nvSpPr>
          <p:cNvPr id="5" name="Text 2"/>
          <p:cNvSpPr/>
          <p:nvPr/>
        </p:nvSpPr>
        <p:spPr>
          <a:xfrm>
            <a:off x="914400" y="4160520"/>
            <a:ext cx="8229600" cy="1371600"/>
          </a:xfrm>
          <a:prstGeom prst="rect">
            <a:avLst/>
          </a:prstGeom>
          <a:noFill/>
          <a:ln/>
        </p:spPr>
        <p:txBody>
          <a:bodyPr wrap="square" rtlCol="0" anchor="ctr"/>
          <a:lstStyle/>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①資産運用のプロになる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②企業法務・ガバナンスのプロになる</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③自己資金で企業を支えるプロになる</a:t>
            </a:r>
            <a:endParaRPr lang="en-US" sz="1600" dirty="0"/>
          </a:p>
        </p:txBody>
      </p:sp>
      <p:sp>
        <p:nvSpPr>
          <p:cNvPr id="6" name="Text 3"/>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どのパターンを選んでも、この3つの強みをどの部署で・どの順番で鍛えるかが軸になります。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考え方の軸：「私は、何のプロになりたいか」</a:t>
            </a:r>
            <a:endParaRPr lang="en-US" sz="28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会社・部署の名前で選ぶのではなく、「何の専門性を鍛えたいか」を先に決め、そのための職場を選ぶという考え方。</a:t>
            </a:r>
            <a:endParaRPr lang="en-US" sz="1400" dirty="0"/>
          </a:p>
        </p:txBody>
      </p:sp>
      <p:sp>
        <p:nvSpPr>
          <p:cNvPr id="4" name="Shape 2"/>
          <p:cNvSpPr/>
          <p:nvPr/>
        </p:nvSpPr>
        <p:spPr>
          <a:xfrm>
            <a:off x="640080" y="1691640"/>
            <a:ext cx="10881360" cy="1737360"/>
          </a:xfrm>
          <a:prstGeom prst="roundRect">
            <a:avLst>
              <a:gd name="adj" fmla="val 5263"/>
            </a:avLst>
          </a:prstGeom>
          <a:solidFill>
            <a:srgbClr val="FFFFFF"/>
          </a:solidFill>
          <a:ln w="15875">
            <a:solidFill>
              <a:srgbClr val="1E2761"/>
            </a:solidFill>
            <a:prstDash val="solid"/>
          </a:ln>
        </p:spPr>
      </p:sp>
      <p:sp>
        <p:nvSpPr>
          <p:cNvPr id="5" name="Text 3"/>
          <p:cNvSpPr/>
          <p:nvPr/>
        </p:nvSpPr>
        <p:spPr>
          <a:xfrm>
            <a:off x="914400" y="1874520"/>
            <a:ext cx="10332720" cy="365760"/>
          </a:xfrm>
          <a:prstGeom prst="rect">
            <a:avLst/>
          </a:prstGeom>
          <a:noFill/>
          <a:ln/>
        </p:spPr>
        <p:txBody>
          <a:bodyPr wrap="square" rtlCol="0" anchor="ctr"/>
          <a:lstStyle/>
          <a:p>
            <a:pPr indent="0" marL="0">
              <a:buNone/>
            </a:pPr>
            <a:r>
              <a:rPr lang="en-US" sz="1600" b="1" dirty="0">
                <a:solidFill>
                  <a:srgbClr val="1E2761"/>
                </a:solidFill>
                <a:latin typeface="Meiryo UI" pitchFamily="34" charset="0"/>
                <a:ea typeface="Meiryo UI" pitchFamily="34" charset="-122"/>
                <a:cs typeface="Meiryo UI" pitchFamily="34" charset="-120"/>
              </a:rPr>
              <a:t>「運用」とは何か？　―　2つの問いに分解できる</a:t>
            </a:r>
            <a:endParaRPr lang="en-US" sz="1600" dirty="0"/>
          </a:p>
        </p:txBody>
      </p:sp>
      <p:sp>
        <p:nvSpPr>
          <p:cNvPr id="6" name="Text 4"/>
          <p:cNvSpPr/>
          <p:nvPr/>
        </p:nvSpPr>
        <p:spPr>
          <a:xfrm>
            <a:off x="91440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①頭脳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誰が「何を買うか・売るか」を判断するのか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自分自身か／他社（運用を委託する相手）か</a:t>
            </a:r>
            <a:endParaRPr lang="en-US" sz="1400" dirty="0"/>
          </a:p>
        </p:txBody>
      </p:sp>
      <p:sp>
        <p:nvSpPr>
          <p:cNvPr id="7" name="Text 5"/>
          <p:cNvSpPr/>
          <p:nvPr/>
        </p:nvSpPr>
        <p:spPr>
          <a:xfrm>
            <a:off x="6263640" y="2331720"/>
            <a:ext cx="5074920" cy="1005840"/>
          </a:xfrm>
          <a:prstGeom prst="rect">
            <a:avLst/>
          </a:prstGeom>
          <a:noFill/>
          <a:ln/>
        </p:spPr>
        <p:txBody>
          <a:bodyPr wrap="square" rtlCol="0" anchor="ctr"/>
          <a:lstStyle/>
          <a:p>
            <a:pPr indent="0" marL="0">
              <a:lnSpc>
                <a:spcPct val="120000"/>
              </a:lnSpc>
              <a:buNone/>
            </a:pPr>
            <a:r>
              <a:rPr lang="en-US" sz="1400" b="1" dirty="0">
                <a:solidFill>
                  <a:srgbClr val="1E2761"/>
                </a:solidFill>
                <a:latin typeface="Meiryo UI" pitchFamily="34" charset="0"/>
                <a:ea typeface="Meiryo UI" pitchFamily="34" charset="-122"/>
                <a:cs typeface="Meiryo UI" pitchFamily="34" charset="-120"/>
              </a:rPr>
              <a:t>②投資対象　</a:t>
            </a:r>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何に投資するのか、誰の資金なのか</a:t>
            </a:r>
            <a:endParaRPr lang="en-US" sz="1400" dirty="0"/>
          </a:p>
          <a:p>
            <a:pPr indent="0" marL="0">
              <a:lnSpc>
                <a:spcPct val="120000"/>
              </a:lnSpc>
              <a:buNone/>
            </a:pPr>
            <a:r>
              <a:rPr lang="en-US" sz="1400" dirty="0">
                <a:solidFill>
                  <a:srgbClr val="000000"/>
                </a:solidFill>
                <a:latin typeface="Meiryo UI" pitchFamily="34" charset="0"/>
                <a:ea typeface="Meiryo UI" pitchFamily="34" charset="-122"/>
                <a:cs typeface="Meiryo UI" pitchFamily="34" charset="-120"/>
              </a:rPr>
              <a:t>　顧客の信託資金か／銀行自身の資金か。伝統資産かオルタナティブか</a:t>
            </a:r>
            <a:endParaRPr lang="en-US" sz="1400" dirty="0"/>
          </a:p>
        </p:txBody>
      </p:sp>
      <p:sp>
        <p:nvSpPr>
          <p:cNvPr id="8" name="Text 6"/>
          <p:cNvSpPr/>
          <p:nvPr/>
        </p:nvSpPr>
        <p:spPr>
          <a:xfrm>
            <a:off x="640080" y="3611880"/>
            <a:ext cx="10881360" cy="45720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この2つの掛け合わせと、「運用そのものではなく企業への助言を極める」という第三の道を合わせ、3つの「なりたいプロ」を設定する。</a:t>
            </a:r>
            <a:endParaRPr lang="en-US" sz="1400" dirty="0"/>
          </a:p>
        </p:txBody>
      </p:sp>
      <p:sp>
        <p:nvSpPr>
          <p:cNvPr id="9" name="Shape 7"/>
          <p:cNvSpPr/>
          <p:nvPr/>
        </p:nvSpPr>
        <p:spPr>
          <a:xfrm>
            <a:off x="548640" y="4206240"/>
            <a:ext cx="3566160" cy="1920240"/>
          </a:xfrm>
          <a:prstGeom prst="roundRect">
            <a:avLst>
              <a:gd name="adj" fmla="val 4762"/>
            </a:avLst>
          </a:prstGeom>
          <a:solidFill>
            <a:srgbClr val="FFFFFF"/>
          </a:solidFill>
          <a:ln w="15875">
            <a:solidFill>
              <a:srgbClr val="1E2761"/>
            </a:solidFill>
            <a:prstDash val="solid"/>
          </a:ln>
        </p:spPr>
      </p:sp>
      <p:sp>
        <p:nvSpPr>
          <p:cNvPr id="10" name="Shape 8"/>
          <p:cNvSpPr/>
          <p:nvPr/>
        </p:nvSpPr>
        <p:spPr>
          <a:xfrm>
            <a:off x="731520" y="4370832"/>
            <a:ext cx="438912" cy="347472"/>
          </a:xfrm>
          <a:prstGeom prst="roundRect">
            <a:avLst>
              <a:gd name="adj" fmla="val 18421"/>
            </a:avLst>
          </a:prstGeom>
          <a:solidFill>
            <a:srgbClr val="1E2761"/>
          </a:solidFill>
          <a:ln/>
        </p:spPr>
      </p:sp>
      <p:sp>
        <p:nvSpPr>
          <p:cNvPr id="11" name="Text 9"/>
          <p:cNvSpPr/>
          <p:nvPr/>
        </p:nvSpPr>
        <p:spPr>
          <a:xfrm>
            <a:off x="73152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①</a:t>
            </a:r>
            <a:endParaRPr lang="en-US" sz="1400" dirty="0"/>
          </a:p>
        </p:txBody>
      </p:sp>
      <p:sp>
        <p:nvSpPr>
          <p:cNvPr id="12" name="Text 10"/>
          <p:cNvSpPr/>
          <p:nvPr/>
        </p:nvSpPr>
        <p:spPr>
          <a:xfrm>
            <a:off x="123444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資産運用のプロ</a:t>
            </a:r>
            <a:endParaRPr lang="en-US" sz="1350" dirty="0"/>
          </a:p>
        </p:txBody>
      </p:sp>
      <p:sp>
        <p:nvSpPr>
          <p:cNvPr id="13" name="Text 11"/>
          <p:cNvSpPr/>
          <p:nvPr/>
        </p:nvSpPr>
        <p:spPr>
          <a:xfrm>
            <a:off x="777240" y="4983480"/>
            <a:ext cx="3108960" cy="365760"/>
          </a:xfrm>
          <a:prstGeom prst="rect">
            <a:avLst/>
          </a:prstGeom>
          <a:noFill/>
          <a:ln/>
        </p:spPr>
        <p:txBody>
          <a:bodyPr wrap="square" rtlCol="0" anchor="ctr"/>
          <a:lstStyle/>
          <a:p>
            <a:pPr indent="0" marL="0">
              <a:buNone/>
            </a:pPr>
            <a:r>
              <a:rPr lang="en-US" sz="1300" b="1" dirty="0">
                <a:solidFill>
                  <a:srgbClr val="1E2761"/>
                </a:solidFill>
                <a:latin typeface="Meiryo UI" pitchFamily="34" charset="0"/>
                <a:ea typeface="Meiryo UI" pitchFamily="34" charset="-122"/>
                <a:cs typeface="Meiryo UI" pitchFamily="34" charset="-120"/>
              </a:rPr>
              <a:t>頭脳＝自分</a:t>
            </a:r>
            <a:endParaRPr lang="en-US" sz="1300" dirty="0"/>
          </a:p>
        </p:txBody>
      </p:sp>
      <p:sp>
        <p:nvSpPr>
          <p:cNvPr id="14" name="Text 12"/>
          <p:cNvSpPr/>
          <p:nvPr/>
        </p:nvSpPr>
        <p:spPr>
          <a:xfrm>
            <a:off x="77724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対象＝顧客の信託資金／幅広い資産（公募投信・年金・オルタナティブ等）</a:t>
            </a:r>
            <a:endParaRPr lang="en-US" sz="1250" dirty="0"/>
          </a:p>
        </p:txBody>
      </p:sp>
      <p:sp>
        <p:nvSpPr>
          <p:cNvPr id="15" name="Shape 13"/>
          <p:cNvSpPr/>
          <p:nvPr/>
        </p:nvSpPr>
        <p:spPr>
          <a:xfrm>
            <a:off x="4389120" y="4206240"/>
            <a:ext cx="3566160" cy="1920240"/>
          </a:xfrm>
          <a:prstGeom prst="roundRect">
            <a:avLst>
              <a:gd name="adj" fmla="val 4762"/>
            </a:avLst>
          </a:prstGeom>
          <a:solidFill>
            <a:srgbClr val="FFFFFF"/>
          </a:solidFill>
          <a:ln w="15875">
            <a:solidFill>
              <a:srgbClr val="2E6F52"/>
            </a:solidFill>
            <a:prstDash val="solid"/>
          </a:ln>
        </p:spPr>
      </p:sp>
      <p:sp>
        <p:nvSpPr>
          <p:cNvPr id="16" name="Shape 14"/>
          <p:cNvSpPr/>
          <p:nvPr/>
        </p:nvSpPr>
        <p:spPr>
          <a:xfrm>
            <a:off x="4572000" y="4370832"/>
            <a:ext cx="438912" cy="347472"/>
          </a:xfrm>
          <a:prstGeom prst="roundRect">
            <a:avLst>
              <a:gd name="adj" fmla="val 18421"/>
            </a:avLst>
          </a:prstGeom>
          <a:solidFill>
            <a:srgbClr val="2E6F52"/>
          </a:solidFill>
          <a:ln/>
        </p:spPr>
      </p:sp>
      <p:sp>
        <p:nvSpPr>
          <p:cNvPr id="17" name="Text 15"/>
          <p:cNvSpPr/>
          <p:nvPr/>
        </p:nvSpPr>
        <p:spPr>
          <a:xfrm>
            <a:off x="457200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②</a:t>
            </a:r>
            <a:endParaRPr lang="en-US" sz="1400" dirty="0"/>
          </a:p>
        </p:txBody>
      </p:sp>
      <p:sp>
        <p:nvSpPr>
          <p:cNvPr id="18" name="Text 16"/>
          <p:cNvSpPr/>
          <p:nvPr/>
        </p:nvSpPr>
        <p:spPr>
          <a:xfrm>
            <a:off x="507492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企業法務・ガバナンスのプロ</a:t>
            </a:r>
            <a:endParaRPr lang="en-US" sz="1350" dirty="0"/>
          </a:p>
        </p:txBody>
      </p:sp>
      <p:sp>
        <p:nvSpPr>
          <p:cNvPr id="19" name="Text 17"/>
          <p:cNvSpPr/>
          <p:nvPr/>
        </p:nvSpPr>
        <p:spPr>
          <a:xfrm>
            <a:off x="4617720" y="4983480"/>
            <a:ext cx="3108960" cy="365760"/>
          </a:xfrm>
          <a:prstGeom prst="rect">
            <a:avLst/>
          </a:prstGeom>
          <a:noFill/>
          <a:ln/>
        </p:spPr>
        <p:txBody>
          <a:bodyPr wrap="square" rtlCol="0" anchor="ctr"/>
          <a:lstStyle/>
          <a:p>
            <a:pPr indent="0" marL="0">
              <a:buNone/>
            </a:pPr>
            <a:r>
              <a:rPr lang="en-US" sz="1300" b="1" dirty="0">
                <a:solidFill>
                  <a:srgbClr val="2E6F52"/>
                </a:solidFill>
                <a:latin typeface="Meiryo UI" pitchFamily="34" charset="0"/>
                <a:ea typeface="Meiryo UI" pitchFamily="34" charset="-122"/>
                <a:cs typeface="Meiryo UI" pitchFamily="34" charset="-120"/>
              </a:rPr>
              <a:t>頭脳＝運用ではなく助言</a:t>
            </a:r>
            <a:endParaRPr lang="en-US" sz="1300" dirty="0"/>
          </a:p>
        </p:txBody>
      </p:sp>
      <p:sp>
        <p:nvSpPr>
          <p:cNvPr id="20" name="Text 18"/>
          <p:cNvSpPr/>
          <p:nvPr/>
        </p:nvSpPr>
        <p:spPr>
          <a:xfrm>
            <a:off x="461772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対象＝企業のガバナンス・株主総会・株主対応</a:t>
            </a:r>
            <a:endParaRPr lang="en-US" sz="1250" dirty="0"/>
          </a:p>
        </p:txBody>
      </p:sp>
      <p:sp>
        <p:nvSpPr>
          <p:cNvPr id="21" name="Shape 19"/>
          <p:cNvSpPr/>
          <p:nvPr/>
        </p:nvSpPr>
        <p:spPr>
          <a:xfrm>
            <a:off x="8229600" y="4206240"/>
            <a:ext cx="3566160" cy="1920240"/>
          </a:xfrm>
          <a:prstGeom prst="roundRect">
            <a:avLst>
              <a:gd name="adj" fmla="val 4762"/>
            </a:avLst>
          </a:prstGeom>
          <a:solidFill>
            <a:srgbClr val="FFFFFF"/>
          </a:solidFill>
          <a:ln w="15875">
            <a:solidFill>
              <a:srgbClr val="8A4B1E"/>
            </a:solidFill>
            <a:prstDash val="solid"/>
          </a:ln>
        </p:spPr>
      </p:sp>
      <p:sp>
        <p:nvSpPr>
          <p:cNvPr id="22" name="Shape 20"/>
          <p:cNvSpPr/>
          <p:nvPr/>
        </p:nvSpPr>
        <p:spPr>
          <a:xfrm>
            <a:off x="8412480" y="4370832"/>
            <a:ext cx="438912" cy="347472"/>
          </a:xfrm>
          <a:prstGeom prst="roundRect">
            <a:avLst>
              <a:gd name="adj" fmla="val 18421"/>
            </a:avLst>
          </a:prstGeom>
          <a:solidFill>
            <a:srgbClr val="8A4B1E"/>
          </a:solidFill>
          <a:ln/>
        </p:spPr>
      </p:sp>
      <p:sp>
        <p:nvSpPr>
          <p:cNvPr id="23" name="Text 21"/>
          <p:cNvSpPr/>
          <p:nvPr/>
        </p:nvSpPr>
        <p:spPr>
          <a:xfrm>
            <a:off x="8412480" y="4370832"/>
            <a:ext cx="438912" cy="347472"/>
          </a:xfrm>
          <a:prstGeom prst="rect">
            <a:avLst/>
          </a:prstGeom>
          <a:noFill/>
          <a:ln/>
        </p:spPr>
        <p:txBody>
          <a:bodyPr wrap="square"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③</a:t>
            </a:r>
            <a:endParaRPr lang="en-US" sz="1400" dirty="0"/>
          </a:p>
        </p:txBody>
      </p:sp>
      <p:sp>
        <p:nvSpPr>
          <p:cNvPr id="24" name="Text 22"/>
          <p:cNvSpPr/>
          <p:nvPr/>
        </p:nvSpPr>
        <p:spPr>
          <a:xfrm>
            <a:off x="8915400" y="4334256"/>
            <a:ext cx="2697480" cy="457200"/>
          </a:xfrm>
          <a:prstGeom prst="rect">
            <a:avLst/>
          </a:prstGeom>
          <a:noFill/>
          <a:ln/>
        </p:spPr>
        <p:txBody>
          <a:bodyPr wrap="square" rtlCol="0" anchor="ctr"/>
          <a:lstStyle/>
          <a:p>
            <a:pPr indent="0" marL="0">
              <a:lnSpc>
                <a:spcPct val="100000"/>
              </a:lnSpc>
              <a:buNone/>
            </a:pPr>
            <a:r>
              <a:rPr lang="en-US" sz="1350" b="1" dirty="0">
                <a:solidFill>
                  <a:srgbClr val="000000"/>
                </a:solidFill>
                <a:latin typeface="Meiryo UI" pitchFamily="34" charset="0"/>
                <a:ea typeface="Meiryo UI" pitchFamily="34" charset="-122"/>
                <a:cs typeface="Meiryo UI" pitchFamily="34" charset="-120"/>
              </a:rPr>
              <a:t>自己資金で企業を支えるプロ</a:t>
            </a:r>
            <a:endParaRPr lang="en-US" sz="1350" dirty="0"/>
          </a:p>
        </p:txBody>
      </p:sp>
      <p:sp>
        <p:nvSpPr>
          <p:cNvPr id="25" name="Text 23"/>
          <p:cNvSpPr/>
          <p:nvPr/>
        </p:nvSpPr>
        <p:spPr>
          <a:xfrm>
            <a:off x="8458200" y="4983480"/>
            <a:ext cx="3108960" cy="365760"/>
          </a:xfrm>
          <a:prstGeom prst="rect">
            <a:avLst/>
          </a:prstGeom>
          <a:noFill/>
          <a:ln/>
        </p:spPr>
        <p:txBody>
          <a:bodyPr wrap="square" rtlCol="0" anchor="ctr"/>
          <a:lstStyle/>
          <a:p>
            <a:pPr indent="0" marL="0">
              <a:buNone/>
            </a:pPr>
            <a:r>
              <a:rPr lang="en-US" sz="1300" b="1" dirty="0">
                <a:solidFill>
                  <a:srgbClr val="8A4B1E"/>
                </a:solidFill>
                <a:latin typeface="Meiryo UI" pitchFamily="34" charset="0"/>
                <a:ea typeface="Meiryo UI" pitchFamily="34" charset="-122"/>
                <a:cs typeface="Meiryo UI" pitchFamily="34" charset="-120"/>
              </a:rPr>
              <a:t>頭脳＝自分</a:t>
            </a:r>
            <a:endParaRPr lang="en-US" sz="1300" dirty="0"/>
          </a:p>
        </p:txBody>
      </p:sp>
      <p:sp>
        <p:nvSpPr>
          <p:cNvPr id="26" name="Text 24"/>
          <p:cNvSpPr/>
          <p:nvPr/>
        </p:nvSpPr>
        <p:spPr>
          <a:xfrm>
            <a:off x="8458200" y="5349240"/>
            <a:ext cx="3108960" cy="685800"/>
          </a:xfrm>
          <a:prstGeom prst="rect">
            <a:avLst/>
          </a:prstGeom>
          <a:noFill/>
          <a:ln/>
        </p:spPr>
        <p:txBody>
          <a:bodyPr wrap="square" rtlCol="0" anchor="ctr"/>
          <a:lstStyle/>
          <a:p>
            <a:pPr indent="0" marL="0">
              <a:lnSpc>
                <a:spcPct val="115000"/>
              </a:lnSpc>
              <a:buNone/>
            </a:pPr>
            <a:r>
              <a:rPr lang="en-US" sz="1250" dirty="0">
                <a:solidFill>
                  <a:srgbClr val="000000"/>
                </a:solidFill>
                <a:latin typeface="Meiryo UI" pitchFamily="34" charset="0"/>
                <a:ea typeface="Meiryo UI" pitchFamily="34" charset="-122"/>
                <a:cs typeface="Meiryo UI" pitchFamily="34" charset="-120"/>
              </a:rPr>
              <a:t>対象＝銀行自身の資金。融資（デット）から自己勘定投資・PE（エクイティ）まで</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3つのキャリアパターン全体像</a:t>
            </a:r>
            <a:endParaRPr lang="en-US" sz="3000" dirty="0"/>
          </a:p>
        </p:txBody>
      </p:sp>
      <p:sp>
        <p:nvSpPr>
          <p:cNvPr id="3" name="Text 1"/>
          <p:cNvSpPr/>
          <p:nvPr/>
        </p:nvSpPr>
        <p:spPr>
          <a:xfrm>
            <a:off x="640080" y="100584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「何のプロになりたいか」で選び、それぞれに合った職場を経験していく3パターン。</a:t>
            </a:r>
            <a:endParaRPr lang="en-US" sz="1400" dirty="0"/>
          </a:p>
        </p:txBody>
      </p:sp>
      <p:sp>
        <p:nvSpPr>
          <p:cNvPr id="4" name="Shape 2"/>
          <p:cNvSpPr/>
          <p:nvPr/>
        </p:nvSpPr>
        <p:spPr>
          <a:xfrm>
            <a:off x="548640" y="1600200"/>
            <a:ext cx="3566160" cy="4892040"/>
          </a:xfrm>
          <a:prstGeom prst="roundRect">
            <a:avLst>
              <a:gd name="adj" fmla="val 2564"/>
            </a:avLst>
          </a:prstGeom>
          <a:solidFill>
            <a:srgbClr val="FFFFFF"/>
          </a:solidFill>
          <a:ln w="19050">
            <a:solidFill>
              <a:srgbClr val="1E2761"/>
            </a:solidFill>
            <a:prstDash val="solid"/>
          </a:ln>
        </p:spPr>
      </p:sp>
      <p:sp>
        <p:nvSpPr>
          <p:cNvPr id="5" name="Shape 3"/>
          <p:cNvSpPr/>
          <p:nvPr/>
        </p:nvSpPr>
        <p:spPr>
          <a:xfrm>
            <a:off x="777240" y="1801368"/>
            <a:ext cx="502920" cy="384048"/>
          </a:xfrm>
          <a:prstGeom prst="roundRect">
            <a:avLst>
              <a:gd name="adj" fmla="val 19048"/>
            </a:avLst>
          </a:prstGeom>
          <a:solidFill>
            <a:srgbClr val="1E2761"/>
          </a:solidFill>
          <a:ln/>
        </p:spPr>
      </p:sp>
      <p:sp>
        <p:nvSpPr>
          <p:cNvPr id="6" name="Text 4"/>
          <p:cNvSpPr/>
          <p:nvPr/>
        </p:nvSpPr>
        <p:spPr>
          <a:xfrm>
            <a:off x="77724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7" name="Text 5"/>
          <p:cNvSpPr/>
          <p:nvPr/>
        </p:nvSpPr>
        <p:spPr>
          <a:xfrm>
            <a:off x="141732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資産運用のプロになる</a:t>
            </a:r>
            <a:endParaRPr lang="en-US" sz="1500" dirty="0"/>
          </a:p>
        </p:txBody>
      </p:sp>
      <p:sp>
        <p:nvSpPr>
          <p:cNvPr id="8" name="Shape 6"/>
          <p:cNvSpPr/>
          <p:nvPr/>
        </p:nvSpPr>
        <p:spPr>
          <a:xfrm>
            <a:off x="804672" y="2468880"/>
            <a:ext cx="566928" cy="566928"/>
          </a:xfrm>
          <a:prstGeom prst="ellipse">
            <a:avLst/>
          </a:prstGeom>
          <a:solidFill>
            <a:srgbClr val="1E2761"/>
          </a:solidFill>
          <a:ln/>
        </p:spPr>
      </p:sp>
      <p:pic>
        <p:nvPicPr>
          <p:cNvPr id="9" name="Image 0" descr="icon_building.png">    </p:cNvPr>
          <p:cNvPicPr>
            <a:picLocks noChangeAspect="1"/>
          </p:cNvPicPr>
          <p:nvPr/>
        </p:nvPicPr>
        <p:blipFill>
          <a:blip r:embed="rId1"/>
          <a:stretch>
            <a:fillRect/>
          </a:stretch>
        </p:blipFill>
        <p:spPr>
          <a:xfrm>
            <a:off x="923544" y="2587752"/>
            <a:ext cx="329184" cy="329184"/>
          </a:xfrm>
          <a:prstGeom prst="rect">
            <a:avLst/>
          </a:prstGeom>
        </p:spPr>
      </p:pic>
      <p:sp>
        <p:nvSpPr>
          <p:cNvPr id="10" name="Text 7"/>
          <p:cNvSpPr/>
          <p:nvPr/>
        </p:nvSpPr>
        <p:spPr>
          <a:xfrm>
            <a:off x="150876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11" name="Text 8"/>
          <p:cNvSpPr/>
          <p:nvPr/>
        </p:nvSpPr>
        <p:spPr>
          <a:xfrm>
            <a:off x="150876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a:t>
            </a:r>
            <a:endParaRPr lang="en-US" sz="1400" dirty="0"/>
          </a:p>
        </p:txBody>
      </p:sp>
      <p:sp>
        <p:nvSpPr>
          <p:cNvPr id="12" name="Text 9"/>
          <p:cNvSpPr/>
          <p:nvPr/>
        </p:nvSpPr>
        <p:spPr>
          <a:xfrm>
            <a:off x="804672" y="3035808"/>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3" name="Shape 10"/>
          <p:cNvSpPr/>
          <p:nvPr/>
        </p:nvSpPr>
        <p:spPr>
          <a:xfrm>
            <a:off x="804672" y="3328416"/>
            <a:ext cx="566928" cy="566928"/>
          </a:xfrm>
          <a:prstGeom prst="ellipse">
            <a:avLst/>
          </a:prstGeom>
          <a:solidFill>
            <a:srgbClr val="1E2761"/>
          </a:solidFill>
          <a:ln/>
        </p:spPr>
      </p:sp>
      <p:pic>
        <p:nvPicPr>
          <p:cNvPr id="14" name="Image 1" descr="icon_exchange.png">    </p:cNvPr>
          <p:cNvPicPr>
            <a:picLocks noChangeAspect="1"/>
          </p:cNvPicPr>
          <p:nvPr/>
        </p:nvPicPr>
        <p:blipFill>
          <a:blip r:embed="rId2"/>
          <a:stretch>
            <a:fillRect/>
          </a:stretch>
        </p:blipFill>
        <p:spPr>
          <a:xfrm>
            <a:off x="923544" y="3447288"/>
            <a:ext cx="329184" cy="329184"/>
          </a:xfrm>
          <a:prstGeom prst="rect">
            <a:avLst/>
          </a:prstGeom>
        </p:spPr>
      </p:pic>
      <p:sp>
        <p:nvSpPr>
          <p:cNvPr id="15" name="Text 11"/>
          <p:cNvSpPr/>
          <p:nvPr/>
        </p:nvSpPr>
        <p:spPr>
          <a:xfrm>
            <a:off x="150876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16" name="Text 12"/>
          <p:cNvSpPr/>
          <p:nvPr/>
        </p:nvSpPr>
        <p:spPr>
          <a:xfrm>
            <a:off x="150876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出向・転籍</a:t>
            </a:r>
            <a:endParaRPr lang="en-US" sz="1400" dirty="0"/>
          </a:p>
        </p:txBody>
      </p:sp>
      <p:sp>
        <p:nvSpPr>
          <p:cNvPr id="17" name="Text 13"/>
          <p:cNvSpPr/>
          <p:nvPr/>
        </p:nvSpPr>
        <p:spPr>
          <a:xfrm>
            <a:off x="804672" y="3895344"/>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8" name="Shape 14"/>
          <p:cNvSpPr/>
          <p:nvPr/>
        </p:nvSpPr>
        <p:spPr>
          <a:xfrm>
            <a:off x="804672" y="4187952"/>
            <a:ext cx="566928" cy="566928"/>
          </a:xfrm>
          <a:prstGeom prst="ellipse">
            <a:avLst/>
          </a:prstGeom>
          <a:solidFill>
            <a:srgbClr val="1E2761"/>
          </a:solidFill>
          <a:ln/>
        </p:spPr>
      </p:sp>
      <p:pic>
        <p:nvPicPr>
          <p:cNvPr id="19" name="Image 2" descr="icon_crown.png">    </p:cNvPr>
          <p:cNvPicPr>
            <a:picLocks noChangeAspect="1"/>
          </p:cNvPicPr>
          <p:nvPr/>
        </p:nvPicPr>
        <p:blipFill>
          <a:blip r:embed="rId3"/>
          <a:stretch>
            <a:fillRect/>
          </a:stretch>
        </p:blipFill>
        <p:spPr>
          <a:xfrm>
            <a:off x="923544" y="4306824"/>
            <a:ext cx="329184" cy="329184"/>
          </a:xfrm>
          <a:prstGeom prst="rect">
            <a:avLst/>
          </a:prstGeom>
        </p:spPr>
      </p:pic>
      <p:sp>
        <p:nvSpPr>
          <p:cNvPr id="20" name="Text 15"/>
          <p:cNvSpPr/>
          <p:nvPr/>
        </p:nvSpPr>
        <p:spPr>
          <a:xfrm>
            <a:off x="150876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21" name="Text 16"/>
          <p:cNvSpPr/>
          <p:nvPr/>
        </p:nvSpPr>
        <p:spPr>
          <a:xfrm>
            <a:off x="150876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信託銀行復帰 or</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AM会社の上級職</a:t>
            </a:r>
            <a:endParaRPr lang="en-US" sz="1400" dirty="0"/>
          </a:p>
        </p:txBody>
      </p:sp>
      <p:sp>
        <p:nvSpPr>
          <p:cNvPr id="22" name="Shape 17"/>
          <p:cNvSpPr/>
          <p:nvPr/>
        </p:nvSpPr>
        <p:spPr>
          <a:xfrm>
            <a:off x="685800" y="5513832"/>
            <a:ext cx="3291840" cy="822960"/>
          </a:xfrm>
          <a:prstGeom prst="roundRect">
            <a:avLst>
              <a:gd name="adj" fmla="val 11111"/>
            </a:avLst>
          </a:prstGeom>
          <a:solidFill>
            <a:srgbClr val="FFFFFF"/>
          </a:solidFill>
          <a:ln w="12700">
            <a:solidFill>
              <a:srgbClr val="1E2761"/>
            </a:solidFill>
            <a:prstDash val="solid"/>
          </a:ln>
        </p:spPr>
      </p:sp>
      <p:sp>
        <p:nvSpPr>
          <p:cNvPr id="23" name="Text 18"/>
          <p:cNvSpPr/>
          <p:nvPr/>
        </p:nvSpPr>
        <p:spPr>
          <a:xfrm>
            <a:off x="822960" y="5577840"/>
            <a:ext cx="3017520" cy="713232"/>
          </a:xfrm>
          <a:prstGeom prst="rect">
            <a:avLst/>
          </a:prstGeom>
          <a:noFill/>
          <a:ln/>
        </p:spPr>
        <p:txBody>
          <a:bodyPr wrap="square" rtlCol="0" anchor="ctr"/>
          <a:lstStyle/>
          <a:p>
            <a:pPr indent="0" marL="0">
              <a:lnSpc>
                <a:spcPct val="115000"/>
              </a:lnSpc>
              <a:buNone/>
            </a:pPr>
            <a:r>
              <a:rPr lang="en-US" sz="1400" b="1" dirty="0">
                <a:solidFill>
                  <a:srgbClr val="1E2761"/>
                </a:solidFill>
                <a:latin typeface="Meiryo UI" pitchFamily="34" charset="0"/>
                <a:ea typeface="Meiryo UI" pitchFamily="34" charset="-122"/>
                <a:cs typeface="Meiryo UI" pitchFamily="34" charset="-120"/>
              </a:rPr>
              <a:t>頭脳＝自分で、顧客の信託資金による幅広い資産の運用を極める</a:t>
            </a:r>
            <a:endParaRPr lang="en-US" sz="1400" dirty="0"/>
          </a:p>
        </p:txBody>
      </p:sp>
      <p:sp>
        <p:nvSpPr>
          <p:cNvPr id="24" name="Shape 19"/>
          <p:cNvSpPr/>
          <p:nvPr/>
        </p:nvSpPr>
        <p:spPr>
          <a:xfrm>
            <a:off x="4389120" y="1600200"/>
            <a:ext cx="3566160" cy="4892040"/>
          </a:xfrm>
          <a:prstGeom prst="roundRect">
            <a:avLst>
              <a:gd name="adj" fmla="val 2564"/>
            </a:avLst>
          </a:prstGeom>
          <a:solidFill>
            <a:srgbClr val="FFFFFF"/>
          </a:solidFill>
          <a:ln w="19050">
            <a:solidFill>
              <a:srgbClr val="2E6F52"/>
            </a:solidFill>
            <a:prstDash val="solid"/>
          </a:ln>
        </p:spPr>
      </p:sp>
      <p:sp>
        <p:nvSpPr>
          <p:cNvPr id="25" name="Shape 20"/>
          <p:cNvSpPr/>
          <p:nvPr/>
        </p:nvSpPr>
        <p:spPr>
          <a:xfrm>
            <a:off x="4617720" y="1801368"/>
            <a:ext cx="502920" cy="384048"/>
          </a:xfrm>
          <a:prstGeom prst="roundRect">
            <a:avLst>
              <a:gd name="adj" fmla="val 19048"/>
            </a:avLst>
          </a:prstGeom>
          <a:solidFill>
            <a:srgbClr val="2E6F52"/>
          </a:solidFill>
          <a:ln/>
        </p:spPr>
      </p:sp>
      <p:sp>
        <p:nvSpPr>
          <p:cNvPr id="26" name="Text 21"/>
          <p:cNvSpPr/>
          <p:nvPr/>
        </p:nvSpPr>
        <p:spPr>
          <a:xfrm>
            <a:off x="461772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7" name="Text 22"/>
          <p:cNvSpPr/>
          <p:nvPr/>
        </p:nvSpPr>
        <p:spPr>
          <a:xfrm>
            <a:off x="525780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企業法務・ガバナンスのプロになる</a:t>
            </a:r>
            <a:endParaRPr lang="en-US" sz="1500" dirty="0"/>
          </a:p>
        </p:txBody>
      </p:sp>
      <p:sp>
        <p:nvSpPr>
          <p:cNvPr id="28" name="Shape 23"/>
          <p:cNvSpPr/>
          <p:nvPr/>
        </p:nvSpPr>
        <p:spPr>
          <a:xfrm>
            <a:off x="4645152" y="2468880"/>
            <a:ext cx="566928" cy="566928"/>
          </a:xfrm>
          <a:prstGeom prst="ellipse">
            <a:avLst/>
          </a:prstGeom>
          <a:solidFill>
            <a:srgbClr val="2E6F52"/>
          </a:solidFill>
          <a:ln/>
        </p:spPr>
      </p:sp>
      <p:pic>
        <p:nvPicPr>
          <p:cNvPr id="29" name="Image 3" descr="icon_contract.png">    </p:cNvPr>
          <p:cNvPicPr>
            <a:picLocks noChangeAspect="1"/>
          </p:cNvPicPr>
          <p:nvPr/>
        </p:nvPicPr>
        <p:blipFill>
          <a:blip r:embed="rId4"/>
          <a:stretch>
            <a:fillRect/>
          </a:stretch>
        </p:blipFill>
        <p:spPr>
          <a:xfrm>
            <a:off x="4764024" y="2587752"/>
            <a:ext cx="329184" cy="329184"/>
          </a:xfrm>
          <a:prstGeom prst="rect">
            <a:avLst/>
          </a:prstGeom>
        </p:spPr>
      </p:pic>
      <p:sp>
        <p:nvSpPr>
          <p:cNvPr id="30" name="Text 24"/>
          <p:cNvSpPr/>
          <p:nvPr/>
        </p:nvSpPr>
        <p:spPr>
          <a:xfrm>
            <a:off x="534924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入行後</a:t>
            </a:r>
            <a:endParaRPr lang="en-US" sz="1300" dirty="0"/>
          </a:p>
        </p:txBody>
      </p:sp>
      <p:sp>
        <p:nvSpPr>
          <p:cNvPr id="31" name="Text 25"/>
          <p:cNvSpPr/>
          <p:nvPr/>
        </p:nvSpPr>
        <p:spPr>
          <a:xfrm>
            <a:off x="534924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証券代行部門</a:t>
            </a:r>
            <a:endParaRPr lang="en-US" sz="1400" dirty="0"/>
          </a:p>
        </p:txBody>
      </p:sp>
      <p:sp>
        <p:nvSpPr>
          <p:cNvPr id="32" name="Text 26"/>
          <p:cNvSpPr/>
          <p:nvPr/>
        </p:nvSpPr>
        <p:spPr>
          <a:xfrm>
            <a:off x="4645152" y="3035808"/>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3" name="Shape 27"/>
          <p:cNvSpPr/>
          <p:nvPr/>
        </p:nvSpPr>
        <p:spPr>
          <a:xfrm>
            <a:off x="4645152" y="3328416"/>
            <a:ext cx="566928" cy="566928"/>
          </a:xfrm>
          <a:prstGeom prst="ellipse">
            <a:avLst/>
          </a:prstGeom>
          <a:solidFill>
            <a:srgbClr val="2E6F52"/>
          </a:solidFill>
          <a:ln/>
        </p:spPr>
      </p:sp>
      <p:pic>
        <p:nvPicPr>
          <p:cNvPr id="34" name="Image 4" descr="icon_law.png">    </p:cNvPr>
          <p:cNvPicPr>
            <a:picLocks noChangeAspect="1"/>
          </p:cNvPicPr>
          <p:nvPr/>
        </p:nvPicPr>
        <p:blipFill>
          <a:blip r:embed="rId5"/>
          <a:stretch>
            <a:fillRect/>
          </a:stretch>
        </p:blipFill>
        <p:spPr>
          <a:xfrm>
            <a:off x="4764024" y="3447288"/>
            <a:ext cx="329184" cy="329184"/>
          </a:xfrm>
          <a:prstGeom prst="rect">
            <a:avLst/>
          </a:prstGeom>
        </p:spPr>
      </p:pic>
      <p:sp>
        <p:nvSpPr>
          <p:cNvPr id="35" name="Text 28"/>
          <p:cNvSpPr/>
          <p:nvPr/>
        </p:nvSpPr>
        <p:spPr>
          <a:xfrm>
            <a:off x="534924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経験を積んだ後</a:t>
            </a:r>
            <a:endParaRPr lang="en-US" sz="1300" dirty="0"/>
          </a:p>
        </p:txBody>
      </p:sp>
      <p:sp>
        <p:nvSpPr>
          <p:cNvPr id="36" name="Text 29"/>
          <p:cNvSpPr/>
          <p:nvPr/>
        </p:nvSpPr>
        <p:spPr>
          <a:xfrm>
            <a:off x="534924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部門内の</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ガバナンスコンサルティングチーム</a:t>
            </a:r>
            <a:endParaRPr lang="en-US" sz="1400" dirty="0"/>
          </a:p>
        </p:txBody>
      </p:sp>
      <p:sp>
        <p:nvSpPr>
          <p:cNvPr id="37" name="Text 30"/>
          <p:cNvSpPr/>
          <p:nvPr/>
        </p:nvSpPr>
        <p:spPr>
          <a:xfrm>
            <a:off x="4645152" y="3895344"/>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8" name="Shape 31"/>
          <p:cNvSpPr/>
          <p:nvPr/>
        </p:nvSpPr>
        <p:spPr>
          <a:xfrm>
            <a:off x="4645152" y="4187952"/>
            <a:ext cx="566928" cy="566928"/>
          </a:xfrm>
          <a:prstGeom prst="ellipse">
            <a:avLst/>
          </a:prstGeom>
          <a:solidFill>
            <a:srgbClr val="2E6F52"/>
          </a:solidFill>
          <a:ln/>
        </p:spPr>
      </p:sp>
      <p:pic>
        <p:nvPicPr>
          <p:cNvPr id="39" name="Image 5" descr="icon_usertie.png">    </p:cNvPr>
          <p:cNvPicPr>
            <a:picLocks noChangeAspect="1"/>
          </p:cNvPicPr>
          <p:nvPr/>
        </p:nvPicPr>
        <p:blipFill>
          <a:blip r:embed="rId6"/>
          <a:stretch>
            <a:fillRect/>
          </a:stretch>
        </p:blipFill>
        <p:spPr>
          <a:xfrm>
            <a:off x="4764024" y="4306824"/>
            <a:ext cx="329184" cy="329184"/>
          </a:xfrm>
          <a:prstGeom prst="rect">
            <a:avLst/>
          </a:prstGeom>
        </p:spPr>
      </p:pic>
      <p:sp>
        <p:nvSpPr>
          <p:cNvPr id="40" name="Text 32"/>
          <p:cNvSpPr/>
          <p:nvPr/>
        </p:nvSpPr>
        <p:spPr>
          <a:xfrm>
            <a:off x="534924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将来的に</a:t>
            </a:r>
            <a:endParaRPr lang="en-US" sz="1300" dirty="0"/>
          </a:p>
        </p:txBody>
      </p:sp>
      <p:sp>
        <p:nvSpPr>
          <p:cNvPr id="41" name="Text 33"/>
          <p:cNvSpPr/>
          <p:nvPr/>
        </p:nvSpPr>
        <p:spPr>
          <a:xfrm>
            <a:off x="534924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シニアコンサルタント</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または管理職</a:t>
            </a:r>
            <a:endParaRPr lang="en-US" sz="1400" dirty="0"/>
          </a:p>
        </p:txBody>
      </p:sp>
      <p:sp>
        <p:nvSpPr>
          <p:cNvPr id="42" name="Shape 34"/>
          <p:cNvSpPr/>
          <p:nvPr/>
        </p:nvSpPr>
        <p:spPr>
          <a:xfrm>
            <a:off x="4526280" y="5513832"/>
            <a:ext cx="3291840" cy="822960"/>
          </a:xfrm>
          <a:prstGeom prst="roundRect">
            <a:avLst>
              <a:gd name="adj" fmla="val 11111"/>
            </a:avLst>
          </a:prstGeom>
          <a:solidFill>
            <a:srgbClr val="FFFFFF"/>
          </a:solidFill>
          <a:ln w="12700">
            <a:solidFill>
              <a:srgbClr val="2E6F52"/>
            </a:solidFill>
            <a:prstDash val="solid"/>
          </a:ln>
        </p:spPr>
      </p:sp>
      <p:sp>
        <p:nvSpPr>
          <p:cNvPr id="43" name="Text 35"/>
          <p:cNvSpPr/>
          <p:nvPr/>
        </p:nvSpPr>
        <p:spPr>
          <a:xfrm>
            <a:off x="4663440" y="5577840"/>
            <a:ext cx="3017520" cy="713232"/>
          </a:xfrm>
          <a:prstGeom prst="rect">
            <a:avLst/>
          </a:prstGeom>
          <a:noFill/>
          <a:ln/>
        </p:spPr>
        <p:txBody>
          <a:bodyPr wrap="square" rtlCol="0" anchor="ctr"/>
          <a:lstStyle/>
          <a:p>
            <a:pPr indent="0" marL="0">
              <a:lnSpc>
                <a:spcPct val="115000"/>
              </a:lnSpc>
              <a:buNone/>
            </a:pPr>
            <a:r>
              <a:rPr lang="en-US" sz="1400" b="1" dirty="0">
                <a:solidFill>
                  <a:srgbClr val="2E6F52"/>
                </a:solidFill>
                <a:latin typeface="Meiryo UI" pitchFamily="34" charset="0"/>
                <a:ea typeface="Meiryo UI" pitchFamily="34" charset="-122"/>
                <a:cs typeface="Meiryo UI" pitchFamily="34" charset="-120"/>
              </a:rPr>
              <a:t>運用ではなく企業経営への助言を極める。証券代行部門が起点</a:t>
            </a:r>
            <a:endParaRPr lang="en-US" sz="1400" dirty="0"/>
          </a:p>
        </p:txBody>
      </p:sp>
      <p:sp>
        <p:nvSpPr>
          <p:cNvPr id="44" name="Shape 36"/>
          <p:cNvSpPr/>
          <p:nvPr/>
        </p:nvSpPr>
        <p:spPr>
          <a:xfrm>
            <a:off x="8229600" y="1600200"/>
            <a:ext cx="3566160" cy="4892040"/>
          </a:xfrm>
          <a:prstGeom prst="roundRect">
            <a:avLst>
              <a:gd name="adj" fmla="val 2564"/>
            </a:avLst>
          </a:prstGeom>
          <a:solidFill>
            <a:srgbClr val="FFFFFF"/>
          </a:solidFill>
          <a:ln w="19050">
            <a:solidFill>
              <a:srgbClr val="8A4B1E"/>
            </a:solidFill>
            <a:prstDash val="solid"/>
          </a:ln>
        </p:spPr>
      </p:sp>
      <p:sp>
        <p:nvSpPr>
          <p:cNvPr id="45" name="Shape 37"/>
          <p:cNvSpPr/>
          <p:nvPr/>
        </p:nvSpPr>
        <p:spPr>
          <a:xfrm>
            <a:off x="8458200" y="1801368"/>
            <a:ext cx="502920" cy="384048"/>
          </a:xfrm>
          <a:prstGeom prst="roundRect">
            <a:avLst>
              <a:gd name="adj" fmla="val 19048"/>
            </a:avLst>
          </a:prstGeom>
          <a:solidFill>
            <a:srgbClr val="8A4B1E"/>
          </a:solidFill>
          <a:ln/>
        </p:spPr>
      </p:sp>
      <p:sp>
        <p:nvSpPr>
          <p:cNvPr id="46" name="Text 38"/>
          <p:cNvSpPr/>
          <p:nvPr/>
        </p:nvSpPr>
        <p:spPr>
          <a:xfrm>
            <a:off x="845820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7" name="Text 39"/>
          <p:cNvSpPr/>
          <p:nvPr/>
        </p:nvSpPr>
        <p:spPr>
          <a:xfrm>
            <a:off x="909828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自己資金で企業を支えるプロになる</a:t>
            </a:r>
            <a:endParaRPr lang="en-US" sz="1500" dirty="0"/>
          </a:p>
        </p:txBody>
      </p:sp>
      <p:sp>
        <p:nvSpPr>
          <p:cNvPr id="48" name="Shape 40"/>
          <p:cNvSpPr/>
          <p:nvPr/>
        </p:nvSpPr>
        <p:spPr>
          <a:xfrm>
            <a:off x="8485632" y="2468880"/>
            <a:ext cx="566928" cy="566928"/>
          </a:xfrm>
          <a:prstGeom prst="ellipse">
            <a:avLst/>
          </a:prstGeom>
          <a:solidFill>
            <a:srgbClr val="8A4B1E"/>
          </a:solidFill>
          <a:ln/>
        </p:spPr>
      </p:sp>
      <p:pic>
        <p:nvPicPr>
          <p:cNvPr id="49" name="Image 6" descr="icon_landmark.png">    </p:cNvPr>
          <p:cNvPicPr>
            <a:picLocks noChangeAspect="1"/>
          </p:cNvPicPr>
          <p:nvPr/>
        </p:nvPicPr>
        <p:blipFill>
          <a:blip r:embed="rId7"/>
          <a:stretch>
            <a:fillRect/>
          </a:stretch>
        </p:blipFill>
        <p:spPr>
          <a:xfrm>
            <a:off x="8604504" y="2587752"/>
            <a:ext cx="329184" cy="329184"/>
          </a:xfrm>
          <a:prstGeom prst="rect">
            <a:avLst/>
          </a:prstGeom>
        </p:spPr>
      </p:pic>
      <p:sp>
        <p:nvSpPr>
          <p:cNvPr id="50" name="Text 41"/>
          <p:cNvSpPr/>
          <p:nvPr/>
        </p:nvSpPr>
        <p:spPr>
          <a:xfrm>
            <a:off x="918972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51" name="Text 42"/>
          <p:cNvSpPr/>
          <p:nvPr/>
        </p:nvSpPr>
        <p:spPr>
          <a:xfrm>
            <a:off x="918972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法人融資 or 市場運用部門</a:t>
            </a:r>
            <a:endParaRPr lang="en-US" sz="1400" dirty="0"/>
          </a:p>
        </p:txBody>
      </p:sp>
      <p:sp>
        <p:nvSpPr>
          <p:cNvPr id="52" name="Text 43"/>
          <p:cNvSpPr/>
          <p:nvPr/>
        </p:nvSpPr>
        <p:spPr>
          <a:xfrm>
            <a:off x="8485632" y="3035808"/>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3" name="Shape 44"/>
          <p:cNvSpPr/>
          <p:nvPr/>
        </p:nvSpPr>
        <p:spPr>
          <a:xfrm>
            <a:off x="8485632" y="3328416"/>
            <a:ext cx="566928" cy="566928"/>
          </a:xfrm>
          <a:prstGeom prst="ellipse">
            <a:avLst/>
          </a:prstGeom>
          <a:solidFill>
            <a:srgbClr val="8A4B1E"/>
          </a:solidFill>
          <a:ln/>
        </p:spPr>
      </p:sp>
      <p:pic>
        <p:nvPicPr>
          <p:cNvPr id="54" name="Image 7" descr="icon_chartpie.png">    </p:cNvPr>
          <p:cNvPicPr>
            <a:picLocks noChangeAspect="1"/>
          </p:cNvPicPr>
          <p:nvPr/>
        </p:nvPicPr>
        <p:blipFill>
          <a:blip r:embed="rId8"/>
          <a:stretch>
            <a:fillRect/>
          </a:stretch>
        </p:blipFill>
        <p:spPr>
          <a:xfrm>
            <a:off x="8604504" y="3447288"/>
            <a:ext cx="329184" cy="329184"/>
          </a:xfrm>
          <a:prstGeom prst="rect">
            <a:avLst/>
          </a:prstGeom>
        </p:spPr>
      </p:pic>
      <p:sp>
        <p:nvSpPr>
          <p:cNvPr id="55" name="Text 45"/>
          <p:cNvSpPr/>
          <p:nvPr/>
        </p:nvSpPr>
        <p:spPr>
          <a:xfrm>
            <a:off x="918972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56" name="Text 46"/>
          <p:cNvSpPr/>
          <p:nvPr/>
        </p:nvSpPr>
        <p:spPr>
          <a:xfrm>
            <a:off x="918972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与信審査 or 自己勘定投資</a:t>
            </a:r>
            <a:endParaRPr lang="en-US" sz="1400" dirty="0"/>
          </a:p>
        </p:txBody>
      </p:sp>
      <p:sp>
        <p:nvSpPr>
          <p:cNvPr id="57" name="Text 47"/>
          <p:cNvSpPr/>
          <p:nvPr/>
        </p:nvSpPr>
        <p:spPr>
          <a:xfrm>
            <a:off x="8485632" y="3895344"/>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8" name="Shape 48"/>
          <p:cNvSpPr/>
          <p:nvPr/>
        </p:nvSpPr>
        <p:spPr>
          <a:xfrm>
            <a:off x="8485632" y="4187952"/>
            <a:ext cx="566928" cy="566928"/>
          </a:xfrm>
          <a:prstGeom prst="ellipse">
            <a:avLst/>
          </a:prstGeom>
          <a:solidFill>
            <a:srgbClr val="8A4B1E"/>
          </a:solidFill>
          <a:ln/>
        </p:spPr>
      </p:sp>
      <p:pic>
        <p:nvPicPr>
          <p:cNvPr id="59" name="Image 8" descr="icon_crown.png">    </p:cNvPr>
          <p:cNvPicPr>
            <a:picLocks noChangeAspect="1"/>
          </p:cNvPicPr>
          <p:nvPr/>
        </p:nvPicPr>
        <p:blipFill>
          <a:blip r:embed="rId9"/>
          <a:stretch>
            <a:fillRect/>
          </a:stretch>
        </p:blipFill>
        <p:spPr>
          <a:xfrm>
            <a:off x="8604504" y="4306824"/>
            <a:ext cx="329184" cy="329184"/>
          </a:xfrm>
          <a:prstGeom prst="rect">
            <a:avLst/>
          </a:prstGeom>
        </p:spPr>
      </p:pic>
      <p:sp>
        <p:nvSpPr>
          <p:cNvPr id="60" name="Text 49"/>
          <p:cNvSpPr/>
          <p:nvPr/>
        </p:nvSpPr>
        <p:spPr>
          <a:xfrm>
            <a:off x="918972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61" name="Text 50"/>
          <p:cNvSpPr/>
          <p:nvPr/>
        </p:nvSpPr>
        <p:spPr>
          <a:xfrm>
            <a:off x="918972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融資・運用部門の管理職</a:t>
            </a:r>
            <a:endParaRPr lang="en-US" sz="1400" dirty="0"/>
          </a:p>
        </p:txBody>
      </p:sp>
      <p:sp>
        <p:nvSpPr>
          <p:cNvPr id="62" name="Shape 51"/>
          <p:cNvSpPr/>
          <p:nvPr/>
        </p:nvSpPr>
        <p:spPr>
          <a:xfrm>
            <a:off x="8366760" y="5513832"/>
            <a:ext cx="3291840" cy="822960"/>
          </a:xfrm>
          <a:prstGeom prst="roundRect">
            <a:avLst>
              <a:gd name="adj" fmla="val 11111"/>
            </a:avLst>
          </a:prstGeom>
          <a:solidFill>
            <a:srgbClr val="FFFFFF"/>
          </a:solidFill>
          <a:ln w="12700">
            <a:solidFill>
              <a:srgbClr val="8A4B1E"/>
            </a:solidFill>
            <a:prstDash val="solid"/>
          </a:ln>
        </p:spPr>
      </p:sp>
      <p:sp>
        <p:nvSpPr>
          <p:cNvPr id="63" name="Text 52"/>
          <p:cNvSpPr/>
          <p:nvPr/>
        </p:nvSpPr>
        <p:spPr>
          <a:xfrm>
            <a:off x="8503920" y="5577840"/>
            <a:ext cx="3017520" cy="713232"/>
          </a:xfrm>
          <a:prstGeom prst="rect">
            <a:avLst/>
          </a:prstGeom>
          <a:noFill/>
          <a:ln/>
        </p:spPr>
        <p:txBody>
          <a:bodyPr wrap="square" rtlCol="0" anchor="ctr"/>
          <a:lstStyle/>
          <a:p>
            <a:pPr indent="0" marL="0">
              <a:lnSpc>
                <a:spcPct val="115000"/>
              </a:lnSpc>
              <a:buNone/>
            </a:pPr>
            <a:r>
              <a:rPr lang="en-US" sz="1400" b="1" dirty="0">
                <a:solidFill>
                  <a:srgbClr val="8A4B1E"/>
                </a:solidFill>
                <a:latin typeface="Meiryo UI" pitchFamily="34" charset="0"/>
                <a:ea typeface="Meiryo UI" pitchFamily="34" charset="-122"/>
                <a:cs typeface="Meiryo UI" pitchFamily="34" charset="-120"/>
              </a:rPr>
              <a:t>頭脳＝自分で、銀行自身の資金（デット・エクイティ両方）を企業の成長に振り向ける</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1E2761"/>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①</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資産運用のプロになる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頭脳＝自分。顧客の信託資金をもとに、幅広い資産に投資判断を下す専門性を極める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1E2761"/>
            </a:solidFill>
            <a:prstDash val="solid"/>
          </a:ln>
        </p:spPr>
      </p:sp>
      <p:sp>
        <p:nvSpPr>
          <p:cNvPr id="7" name="Shape 5"/>
          <p:cNvSpPr/>
          <p:nvPr/>
        </p:nvSpPr>
        <p:spPr>
          <a:xfrm>
            <a:off x="749808" y="1691640"/>
            <a:ext cx="868680" cy="86868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特定金銭信託・年金信託等の運用実務、商品組成、マーケット分析の基礎を、信託銀行の運用担当としてOJTで習得する。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マーケットを見る目と運用商品の基本構造の理解、財務諸表分析力を投資判断に応用する初期経験。</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1E2761"/>
            </a:solidFill>
            <a:prstDash val="solid"/>
          </a:ln>
        </p:spPr>
      </p:sp>
      <p:sp>
        <p:nvSpPr>
          <p:cNvPr id="15" name="Shape 11"/>
          <p:cNvSpPr/>
          <p:nvPr/>
        </p:nvSpPr>
        <p:spPr>
          <a:xfrm>
            <a:off x="4590288" y="1691640"/>
            <a:ext cx="868680" cy="868680"/>
          </a:xfrm>
          <a:prstGeom prst="ellipse">
            <a:avLst/>
          </a:prstGeom>
          <a:solidFill>
            <a:srgbClr val="1E2761"/>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出向・転籍</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ファンドマネージャー／アナリストとして「何を買うか」を決める運用の頭脳側を担当。公募投信や年金運用等、幅広い資産クラスで運用を受託する側の実務を経験する。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投資判断力・リサーチ力を、財務諸表分析力を武器に磨き上げ、運用会社ならではの専門性を確立する。</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1E2761"/>
            </a:solidFill>
            <a:prstDash val="solid"/>
          </a:ln>
        </p:spPr>
      </p:sp>
      <p:sp>
        <p:nvSpPr>
          <p:cNvPr id="23" name="Shape 17"/>
          <p:cNvSpPr/>
          <p:nvPr/>
        </p:nvSpPr>
        <p:spPr>
          <a:xfrm>
            <a:off x="8430768" y="1691640"/>
            <a:ext cx="868680" cy="868680"/>
          </a:xfrm>
          <a:prstGeom prst="ellipse">
            <a:avLst/>
          </a:prstGeom>
          <a:solidFill>
            <a:srgbClr val="1E2761"/>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信託銀行復帰 or</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AM会社の上級職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信託銀行の運用企画部門で外部運用会社を評価・選定する視点も併せ持つマネージャー、またはAM会社のシニアファンドマネージャー・運用部門責任者。</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「頭脳」と「金庫」双方の実務を知る、グループ内でも希少な人材としての専門性。</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2E6F52"/>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②</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企業法務・ガバナンスのプロになる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頭脳の対象は「運用」ではなく「企業経営」。証券代行部門を起点に、ガバナンス領域の専門性を深める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2E6F52"/>
            </a:solidFill>
            <a:prstDash val="solid"/>
          </a:ln>
        </p:spPr>
      </p:sp>
      <p:sp>
        <p:nvSpPr>
          <p:cNvPr id="7" name="Shape 5"/>
          <p:cNvSpPr/>
          <p:nvPr/>
        </p:nvSpPr>
        <p:spPr>
          <a:xfrm>
            <a:off x="749808" y="1691640"/>
            <a:ext cx="868680" cy="868680"/>
          </a:xfrm>
          <a:prstGeom prst="ellipse">
            <a:avLst/>
          </a:prstGeom>
          <a:solidFill>
            <a:srgbClr val="2E6F52"/>
          </a:solidFill>
          <a:ln/>
        </p:spPr>
      </p:sp>
      <p:pic>
        <p:nvPicPr>
          <p:cNvPr id="8" name="Image 0" descr="icon_contract.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入行後</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証券代行部門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株主名簿管理・株主総会運営支援等、証券代行業務の実務を通じて、会社法・金融商品取引法の実務知識を習得する。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企業法ゼミで学んだ会社法の知識を実務に接続する経験、株主総会実務への理解。</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2E6F52"/>
            </a:solidFill>
            <a:prstDash val="solid"/>
          </a:ln>
        </p:spPr>
      </p:sp>
      <p:sp>
        <p:nvSpPr>
          <p:cNvPr id="15" name="Shape 11"/>
          <p:cNvSpPr/>
          <p:nvPr/>
        </p:nvSpPr>
        <p:spPr>
          <a:xfrm>
            <a:off x="4590288" y="1691640"/>
            <a:ext cx="868680" cy="868680"/>
          </a:xfrm>
          <a:prstGeom prst="ellipse">
            <a:avLst/>
          </a:prstGeom>
          <a:solidFill>
            <a:srgbClr val="2E6F52"/>
          </a:solidFill>
          <a:ln/>
        </p:spPr>
      </p:sp>
      <p:pic>
        <p:nvPicPr>
          <p:cNvPr id="16" name="Image 2" descr="icon_law.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経験を積んだ後</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部門内の</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ガバナンスコンサルティングチーム</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IR・SRコンサルティング、ガバナンスコンサルティング、指名・報酬コンサルティング等、証券代行部門が提供する企業向けの経営助言業務を担当する。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企業法の知識を武器に、財務諸表分析力も組み合わせてガバナンス課題を分析・助言する力。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2E6F52"/>
            </a:solidFill>
            <a:prstDash val="solid"/>
          </a:ln>
        </p:spPr>
      </p:sp>
      <p:sp>
        <p:nvSpPr>
          <p:cNvPr id="23" name="Shape 17"/>
          <p:cNvSpPr/>
          <p:nvPr/>
        </p:nvSpPr>
        <p:spPr>
          <a:xfrm>
            <a:off x="8430768" y="1691640"/>
            <a:ext cx="868680" cy="868680"/>
          </a:xfrm>
          <a:prstGeom prst="ellipse">
            <a:avLst/>
          </a:prstGeom>
          <a:solidFill>
            <a:srgbClr val="2E6F52"/>
          </a:solidFill>
          <a:ln/>
        </p:spPr>
      </p:sp>
      <p:pic>
        <p:nvPicPr>
          <p:cNvPr id="24" name="Image 4" descr="icon_usertie.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将来的に</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シニアコンサルタント</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または管理職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買収防衛策アドバイザリーやアクティビスト対応など、より高度な経営課題への助言をリードする、または部門のマネジメントを担う。</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企業法の専門性を軸に、企業経営そのものへの助言力を持つ、信託銀行ならではの人材としての専門性。</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8A4B1E"/>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③</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自己資金で企業を支えるプロになる</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頭脳＝自分。銀行自身の資金（デット・エクイティ）で企業の成長を支える専門性を極める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8A4B1E"/>
            </a:solidFill>
            <a:prstDash val="solid"/>
          </a:ln>
        </p:spPr>
      </p:sp>
      <p:sp>
        <p:nvSpPr>
          <p:cNvPr id="7" name="Shape 5"/>
          <p:cNvSpPr/>
          <p:nvPr/>
        </p:nvSpPr>
        <p:spPr>
          <a:xfrm>
            <a:off x="749808" y="1691640"/>
            <a:ext cx="868680" cy="868680"/>
          </a:xfrm>
          <a:prstGeom prst="ellipse">
            <a:avLst/>
          </a:prstGeom>
          <a:solidFill>
            <a:srgbClr val="8A4B1E"/>
          </a:solidFill>
          <a:ln/>
        </p:spPr>
      </p:sp>
      <p:pic>
        <p:nvPicPr>
          <p:cNvPr id="8" name="Image 0" descr="icon_landmark.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法人融資 or 市場運用部門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法人融資部門なら企業への与信審査・貸出実務、市場運用部門なら債券・株式等の市場調査やディーリング実務の基礎を習得する。ゆうちょ銀行は市場運用（国債等）が収益の柱であり、代表的な配属先の一つ。</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融資なら財務諸表分析力を与信判断に応用する経験、市場運用ならマーケットを継続的に追う力。銀行自身の資金でリスクを取る感覚を養う。</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8A4B1E"/>
            </a:solidFill>
            <a:prstDash val="solid"/>
          </a:ln>
        </p:spPr>
      </p:sp>
      <p:sp>
        <p:nvSpPr>
          <p:cNvPr id="15" name="Shape 11"/>
          <p:cNvSpPr/>
          <p:nvPr/>
        </p:nvSpPr>
        <p:spPr>
          <a:xfrm>
            <a:off x="4590288" y="1691640"/>
            <a:ext cx="868680" cy="868680"/>
          </a:xfrm>
          <a:prstGeom prst="ellipse">
            <a:avLst/>
          </a:prstGeom>
          <a:solidFill>
            <a:srgbClr val="8A4B1E"/>
          </a:solidFill>
          <a:ln/>
        </p:spPr>
      </p:sp>
      <p:pic>
        <p:nvPicPr>
          <p:cNvPr id="16" name="Image 2" descr="icon_chartpi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与信審査 or 自己勘定投資</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融資（デット）なら大口・プロジェクト融資の審査、自己勘定投資（エクイティ）なら債券・株式・PE等の運用を、ALM（資産負債管理）と連携しつつ頭脳役として担う。ゆうちょ銀行は自己資金PE投資でも国内最大級（2025年9月末時点で7.6兆円）。</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財務分析力を活かした与信・投資判断力、PDCAによる審査・運用改善力。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8A4B1E"/>
            </a:solidFill>
            <a:prstDash val="solid"/>
          </a:ln>
        </p:spPr>
      </p:sp>
      <p:sp>
        <p:nvSpPr>
          <p:cNvPr id="23" name="Shape 17"/>
          <p:cNvSpPr/>
          <p:nvPr/>
        </p:nvSpPr>
        <p:spPr>
          <a:xfrm>
            <a:off x="8430768" y="1691640"/>
            <a:ext cx="868680" cy="868680"/>
          </a:xfrm>
          <a:prstGeom prst="ellipse">
            <a:avLst/>
          </a:prstGeom>
          <a:solidFill>
            <a:srgbClr val="8A4B1E"/>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融資・運用部門の管理職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全体の融資方針・自己勘定運用方針の立案や部門の統括を担当。頭脳と金庫が同一組織内で完結する体制の中核を担う。ゆうちょ銀行のプライベートエクイティ投資部は2026年4月の組織再編後も市場部門内に存続しており、自社の資金を自社で判断し企業に振り向ける体制が続く。</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デット・エクイティ双方の視点から資金配分戦略を描く視座、他部門を巻き込む統括力。</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3パターンの比較と次の一歩</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2880360"/>
        </p:xfrm>
        <a:graphic>
          <a:graphicData uri="http://schemas.openxmlformats.org/drawingml/2006/table">
            <a:tbl>
              <a:tblPr/>
              <a:tblGrid>
                <a:gridCol w="1920240"/>
                <a:gridCol w="3044952"/>
                <a:gridCol w="3044952"/>
                <a:gridCol w="3054096"/>
              </a:tblGrid>
              <a:tr h="576072">
                <a:tc>
                  <a:txBody>
                    <a:bodyPr/>
                    <a:lstStyle/>
                    <a:p>
                      <a:pPr indent="0" marL="0">
                        <a:buNone/>
                      </a:pPr>
                      <a:endParaRPr lang="en-US" sz="1200" dirty="0">
                        <a:latin typeface="Meiryo UI" charset="0"/>
                        <a:ea typeface="Meiryo UI" charset="0"/>
                        <a:cs typeface="Meiryo UI" charset="0"/>
                      </a:endParaRPr>
                    </a:p>
                  </a:txBody>
                  <a:tcPr marL="91440" marR="91440" marT="45720" marB="45720">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資産運用のプロになる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企業法務・ガバナンスのプロになる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2E6F52"/>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自己資金で企業を支えるプロになる</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8A4B1E"/>
                    </a:solidFill>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頭脳の対象</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顧客の信託資金・幅広い資産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運用ではなく企業経営への助言</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銀行自身の資金（デット・エクイティ）</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主な職場</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資産運用部門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 証券代行部門</a:t>
                      </a:r>
                      <a:endParaRPr lang="en-US" sz="1300" dirty="0">
                        <a:latin typeface="Meiryo UI" charset="0"/>
                        <a:ea typeface="Meiryo UI" charset="0"/>
                        <a:cs typeface="Meiryo UI" charset="0"/>
                      </a:endParaRPr>
                    </a:p>
                    <a:p>
                      <a:pPr algn="l" indent="0" marL="0">
                        <a:buNone/>
                      </a:pPr>
                      <a:r>
                        <a:rPr lang="en-US" sz="1300" dirty="0">
                          <a:solidFill>
                            <a:srgbClr val="000000"/>
                          </a:solidFill>
                          <a:latin typeface="Meiryo UI" pitchFamily="34" charset="0"/>
                          <a:ea typeface="Meiryo UI" pitchFamily="34" charset="-122"/>
                          <a:cs typeface="Meiryo UI" pitchFamily="34" charset="-120"/>
                        </a:rPr>
                        <a:t>→ガバナンスコンサルティング</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 法人融資部門 or 市場運用部門（内で完結）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強みとの接続</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企業法知識→ガバナンス助言に直結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財務分析力→与信・投資判断に直結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向いている人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幅広い資産の運用判断を極めたい人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企業法・ガバナンスを軸にしたい人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融資・投資の両面で企業を支えたい人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bl>
          </a:graphicData>
        </a:graphic>
      </p:graphicFrame>
      <p:sp>
        <p:nvSpPr>
          <p:cNvPr id="4" name="Shape 1"/>
          <p:cNvSpPr/>
          <p:nvPr/>
        </p:nvSpPr>
        <p:spPr>
          <a:xfrm>
            <a:off x="548640" y="4114800"/>
            <a:ext cx="11064240" cy="2514600"/>
          </a:xfrm>
          <a:prstGeom prst="roundRect">
            <a:avLst>
              <a:gd name="adj" fmla="val 3636"/>
            </a:avLst>
          </a:prstGeom>
          <a:solidFill>
            <a:srgbClr val="FFFFFF"/>
          </a:solidFill>
          <a:ln w="19050">
            <a:solidFill>
              <a:srgbClr val="C9A227"/>
            </a:solidFill>
            <a:prstDash val="solid"/>
          </a:ln>
        </p:spPr>
      </p:sp>
      <p:sp>
        <p:nvSpPr>
          <p:cNvPr id="5" name="Text 2"/>
          <p:cNvSpPr/>
          <p:nvPr/>
        </p:nvSpPr>
        <p:spPr>
          <a:xfrm>
            <a:off x="822960" y="4279392"/>
            <a:ext cx="10424160" cy="32004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6" name="Text 3"/>
          <p:cNvSpPr/>
          <p:nvPr/>
        </p:nvSpPr>
        <p:spPr>
          <a:xfrm>
            <a:off x="960120" y="4709160"/>
            <a:ext cx="10332720" cy="1828800"/>
          </a:xfrm>
          <a:prstGeom prst="rect">
            <a:avLst/>
          </a:prstGeom>
          <a:noFill/>
          <a:ln/>
        </p:spPr>
        <p:txBody>
          <a:bodyPr wrap="square" rtlCol="0" anchor="ctr"/>
          <a:lstStyle/>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3パターンとも「入行後まず信託銀行の実務を経験する」点は共通。面接では、どのパターンでも通用する「財務諸表を読める」強みをまず語る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「幅広い資産の運用判断を極めたい／企業法・ガバナンスを軸にしたい／融資と自己勘定投資の両面で企業を支えたい」のどれに一番惹かれるかを整理し、志望動機に反映する</a:t>
            </a:r>
            <a:endParaRPr lang="en-US" sz="1350" dirty="0"/>
          </a:p>
          <a:p>
            <a:pPr marL="342900" indent="-342900">
              <a:lnSpc>
                <a:spcPct val="120000"/>
              </a:lnSpc>
              <a:spcAft>
                <a:spcPts val="500"/>
              </a:spcAft>
              <a:buSzPct val="100000"/>
              <a:buChar char="•"/>
            </a:pPr>
            <a:r>
              <a:rPr lang="en-US" sz="1350" dirty="0">
                <a:solidFill>
                  <a:srgbClr val="000000"/>
                </a:solidFill>
                <a:latin typeface="Meiryo UI" pitchFamily="34" charset="0"/>
                <a:ea typeface="Meiryo UI" pitchFamily="34" charset="-122"/>
                <a:cs typeface="Meiryo UI" pitchFamily="34" charset="-120"/>
              </a:rPr>
              <a:t>説明会・面接で「グループAM会社への出向・転籍の実態」「証券代行部門からガバナンスコンサルティングへの異動の実態」「法人融資部門と市場運用部門の異動の実態」を具体的に質問し、パターンの解像度を上げる</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2026-08-23T05:20:30Z</dcterms:created>
  <dcterms:modified xsi:type="dcterms:W3CDTF">2026-08-23T05:20:30Z</dcterms:modified>
</cp:coreProperties>
</file>