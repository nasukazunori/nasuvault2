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金融ビジネスモデル研究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経営戦略コンサルティングコース インターン グループディスカッション対策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886200"/>
            <a:ext cx="20116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信吾　|　2026年8月26日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966960" y="4023360"/>
            <a:ext cx="1371600" cy="137160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9860" y="436626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この資料の目的と使い方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NRIの経営戦略コンサルティングコースのGDでは「ビジネスモデル」がテーマになりうるため、金融分野の主要なビジネスモデルの型と、GD本番での考え方の運び方を整理した。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880360"/>
            <a:ext cx="777240" cy="77724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59" y="3055239"/>
            <a:ext cx="427482" cy="4274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2788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型を知る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3182112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金融ビジネスモデルの収益構造を5つの型に整理し、それぞれの儲け方の違いを理解する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2062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4434840"/>
            <a:ext cx="777240" cy="77724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" y="4609719"/>
            <a:ext cx="427482" cy="4274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2024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実例で理解を深める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1920240" y="4736592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銀行・リース・BaaS・ネオバンクなど、伝統型と新興型それぞれの具体例で解像度を上げる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7607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5989320"/>
            <a:ext cx="777240" cy="77724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59" y="6164199"/>
            <a:ext cx="427482" cy="42748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20240" y="5897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GDの思考プロセスに落とす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1920240" y="6291072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ビジネスモデルキャンバスと、課題設定→Why so→True?のループでGD本番の議論を組み立てる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金融ビジネスモデルの5類型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72184"/>
            <a:ext cx="640080" cy="64008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616202"/>
            <a:ext cx="352044" cy="3520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990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①金利収益型（銀行）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39903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預金金利と貸出金利の差（利ざや）で稼ぐ、最も伝統的なモデル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276856"/>
            <a:ext cx="1106424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404872"/>
            <a:ext cx="640080" cy="64008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58" y="2548890"/>
            <a:ext cx="352044" cy="3520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3317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②手数料収益型（証券・信託）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23317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取引仲介・資産管理・コンサルティング等の手数料（フィー）で稼ぐ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209544"/>
            <a:ext cx="1106424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337560"/>
            <a:ext cx="640080" cy="64008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" y="348157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2644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③資産運用報酬型（アセマネ）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5760720" y="326440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預かり資産残高（AUM）に対する運用報酬・信託報酬で稼ぐ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142232"/>
            <a:ext cx="1106424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270248"/>
            <a:ext cx="640080" cy="64008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" y="4414266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19709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④リース・ストック型（リース会社）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4197096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資産を長期契約で貸し出し、リース料として安定収益を積み上げる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202936"/>
            <a:ext cx="640080" cy="64008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58" y="5346954"/>
            <a:ext cx="352044" cy="3520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512978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⑤プラットフォーム型（BaaS等）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5760720" y="5129784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金融機能をAPIで他社に提供し、利用料・レベニューシェアで稼ぐ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銀行：金利収益モデル（利ざや）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預金者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預金金利 約0.1〜0.3%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7373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EAEBE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銀行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3042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調達と運用の差で収益化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95360" y="17373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貸出先（企業・個人）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23042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貸出金利 約1〜3%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3008" y="2130552"/>
            <a:ext cx="1005840" cy="402336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2130552"/>
            <a:ext cx="1005840" cy="40233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68680" y="35661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収益源：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貸出金利（約1〜3%）と預金金利（約0.1〜0.3%）の差＝利ざやが銀行の基本収益。融資量（ボリューム）×利ざや（マージン）で収益規模が決まる。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45720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課題：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低金利環境では利ざやが縮小しやすく、銀行は非金利収益（手数料ビジネス、資産運用、法人向けコンサルティング等）への多角化を進めている。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309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出典：一般的な銀行ビジネスモデルの整理（信吾/銀行研究フォルダの各行研究を参照）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リース会社：ストック型収益モデル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18916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リース料収益の仕組み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顧客は機器・不動産・航空機等を購入せず、リース会社から借りて分割の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リース料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を支払う。リース料には元本回収・金利相当分・利益が含まれ、契約期間（複数年）にわたり安定収益が積み上がる「ストック型」の収益構造。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景気変動の影響を受けにくく、対象資産（不動産・航空機・エネルギー設備等）を広げることで事業ポートフォリオを多角化しやすいのが特徴。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737360"/>
            <a:ext cx="685800" cy="68580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265" y="189166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実例：芙蓉総合リース株式会社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6060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みずほ系リース最大手。連結売上高 6,887億円／連結経常利益 597億円（2023年3月期）。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機器・産業機械・不動産・航空機・船舶等のリースに加え、近年はエネルギー環境、BPO・ICT、ヘルスケア、モビリティ・ロジスティクス等の新領域にも経営資源を配分し、リースの枠を超えた事業ポートフォリオを構築。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5440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出典：信吾/芙蓉総合リース フォルダの企業研究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（2023年3月期実績）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新潮流：BaaS／エンベデッド・ファイナンス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as a Service（BaaS）＝銀行が持つ決済・口座・与信などの金融機能をAPIで外部の事業会社に提供し、事業会社が自社サービスに金融機能を組み込む（エンベデッド・ファイナンス）モデル。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2679192"/>
            <a:ext cx="640080" cy="64008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1378" y="2823210"/>
            <a:ext cx="352044" cy="3520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銀行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0" y="251460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0" y="2679192"/>
            <a:ext cx="640080" cy="64008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98" y="2823210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事業会社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503920" y="251460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</p:spPr>
      </p:sp>
      <p:sp>
        <p:nvSpPr>
          <p:cNvPr id="14" name="Shape 10"/>
          <p:cNvSpPr/>
          <p:nvPr/>
        </p:nvSpPr>
        <p:spPr>
          <a:xfrm>
            <a:off x="9601200" y="2679192"/>
            <a:ext cx="640080" cy="64008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218" y="2823210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392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エンドユーザー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9959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金融ライセンス・インフラを提供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（裏側の“土管”）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39959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APIで金融機能を自社アプリに組込み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（顧客接点を保有）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8503920" y="39959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事業会社のサービスの中で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シームレスに金融機能を利用</a:t>
            </a:r>
            <a:endParaRPr lang="en-US" sz="11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999232"/>
            <a:ext cx="914400" cy="402336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999232"/>
            <a:ext cx="914400" cy="40233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868680" y="5486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銀行免許を持たない事業会社でも金融サービスを提供でき、銀行側は顧客接点を事業会社に譲る代わりにインフラ利用料・手数料で収益化する、役割分担型のビジネスモデル。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新潮流：ネオバンク／デジタル完結型金融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を持たず、スマートフォンアプリ上で口座開設から決済・送金・資産形成までを完結させる金融サービス。既存銀行と差別化されたUXと、少額・多頻度の手数料/サブスクリプション型の収益モデルが特徴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2880360"/>
            <a:ext cx="822960" cy="82296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546" y="3065526"/>
            <a:ext cx="452628" cy="4526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店舗レス・アプリ完結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262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実店舗・紙の手続きを持たず、口座開設からサービス利用までスマホで完結。オペレーションコストを大幅に圧縮できる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5603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3F4F6"/>
          </a:solidFill>
          <a:ln/>
        </p:spPr>
      </p:sp>
      <p:sp>
        <p:nvSpPr>
          <p:cNvPr id="11" name="Shape 8"/>
          <p:cNvSpPr/>
          <p:nvPr/>
        </p:nvSpPr>
        <p:spPr>
          <a:xfrm>
            <a:off x="5692140" y="2880360"/>
            <a:ext cx="822960" cy="82296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306" y="306552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UX（顧客体験）で差別化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5262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手数料の透明性、送金・家計管理のしやすさ等、体験の質そのものが競争力になる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5603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3F4F6"/>
          </a:solidFill>
          <a:ln/>
        </p:spPr>
      </p:sp>
      <p:sp>
        <p:nvSpPr>
          <p:cNvPr id="16" name="Shape 12"/>
          <p:cNvSpPr/>
          <p:nvPr/>
        </p:nvSpPr>
        <p:spPr>
          <a:xfrm>
            <a:off x="9486900" y="2880360"/>
            <a:ext cx="822960" cy="82296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066" y="3065526"/>
            <a:ext cx="452628" cy="4526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少額・多頻度の収益モデル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45262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1件あたりの手数料は小さくても、利用頻度と会員基盤の拡大でスケールさせる／サブスク会費モデルとの併用も多い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伝統型 vs 新興型：ビジネスモデル比較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/>
              <a:tblGrid>
                <a:gridCol w="2194560"/>
                <a:gridCol w="3383280"/>
                <a:gridCol w="2651760"/>
                <a:gridCol w="2834640"/>
              </a:tblGrid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モデル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B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収益源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B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顧客接点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B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参入障壁・規制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BE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銀行（伝統）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貸出金利と預金金利の差（利ざや）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自行の店舗・アプリで直接保有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銀行免許が必要、規制・監督が厳格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リース（伝統）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長期契約のリース料（ストック収益）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法人営業を通じた直接契約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免許不要な領域が多いが資金調達力が必要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BaaS（新興）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API利用料・レベニューシェア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提携する事業会社側が保有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銀行側の免許・態勢は必要、提携交渉力が鍵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ネオバンク（新興）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少額・多頻度の手数料／サブスク会費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自社アプリで直接保有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既存銀行との提携／自社免許取得のいずれか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GD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GDで使える型：簡易ビジネスモデルキャンバス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GDで新しい金融ビジネスモデルを議論・提案する際は、以下の6要素を埋めていくと議論が構造化しやすい。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594360" cy="59436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971" y="2374011"/>
            <a:ext cx="326898" cy="3268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顧客セグメント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26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誰に向けたサービスか（個人／法人、既存顧客／新規顧客層）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240280"/>
            <a:ext cx="594360" cy="59436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31" y="237401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価値提案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926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顧客のどんな課題を、どう解決するか（既存モデルとの違い）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0116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6760" y="2240280"/>
            <a:ext cx="594360" cy="59436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491" y="237401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9828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収益の流れ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2926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何に対して、誰から、どう課金するか（金利／手数料／サブスク等）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3891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617720"/>
            <a:ext cx="594360" cy="59436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71" y="4751451"/>
            <a:ext cx="326898" cy="32689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08760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コスト構造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53035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システム投資、人件費、規制対応コストなど主要な費用項目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43400" y="43891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/>
        </p:spPr>
      </p:sp>
      <p:sp>
        <p:nvSpPr>
          <p:cNvPr id="26" name="Shape 20"/>
          <p:cNvSpPr/>
          <p:nvPr/>
        </p:nvSpPr>
        <p:spPr>
          <a:xfrm>
            <a:off x="4572000" y="4617720"/>
            <a:ext cx="594360" cy="59436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731" y="4751451"/>
            <a:ext cx="326898" cy="32689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03520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チャネル・顧客接点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53035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アプリ、店舗、提携先の顧客基盤など、どこで顧客と接するか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38160" y="43891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/>
        </p:spPr>
      </p:sp>
      <p:sp>
        <p:nvSpPr>
          <p:cNvPr id="31" name="Shape 24"/>
          <p:cNvSpPr/>
          <p:nvPr/>
        </p:nvSpPr>
        <p:spPr>
          <a:xfrm>
            <a:off x="8366760" y="4617720"/>
            <a:ext cx="594360" cy="59436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0491" y="4751451"/>
            <a:ext cx="326898" cy="32689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98280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パートナー・提携先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8366760" y="53035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自社だけで完結しない部分を誰と組んで補うか（銀行・IT企業等）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GDでの考える順序：課題設定→検証のループ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これまでのケース面接の振り返りから得た教訓は、①全体像を捉えたうえでの構造化、②「Why so?」で根本原因に迫ること、③施策を「True?」で批判的に検証することの3点。GDでも同じ順序で議論を進める。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651760"/>
            <a:ext cx="731520" cy="73152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8163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①全体像の構造化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251960"/>
            <a:ext cx="2203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議論の対象（業界・顧客・バリューチェーン）の全体を先に定義し、その後に分解する。切り口を混ぜない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858768"/>
            <a:ext cx="274320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9184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4229100" y="2651760"/>
            <a:ext cx="731520" cy="73152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692" y="28163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7472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②Why so?で本質に迫る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3493008" y="4251960"/>
            <a:ext cx="2203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見えている課題に対し「なぜそれが起きているか」を繰り返し問い、根本原因を特定する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3858768"/>
            <a:ext cx="274320" cy="32918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03504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/>
        </p:spPr>
      </p:sp>
      <p:sp>
        <p:nvSpPr>
          <p:cNvPr id="18" name="Shape 12"/>
          <p:cNvSpPr/>
          <p:nvPr/>
        </p:nvSpPr>
        <p:spPr>
          <a:xfrm>
            <a:off x="6972300" y="2651760"/>
            <a:ext cx="731520" cy="73152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892" y="2816352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21792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③施策仮説の構築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6236208" y="4251960"/>
            <a:ext cx="2203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根本原因に対する打ち手を、具体性・実現可能性・収益性の観点を持って仮説として組み立てる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3858768"/>
            <a:ext cx="274320" cy="32918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77824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/>
        </p:spPr>
      </p:sp>
      <p:sp>
        <p:nvSpPr>
          <p:cNvPr id="24" name="Shape 16"/>
          <p:cNvSpPr/>
          <p:nvPr/>
        </p:nvSpPr>
        <p:spPr>
          <a:xfrm>
            <a:off x="9715500" y="2651760"/>
            <a:ext cx="731520" cy="73152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0092" y="2816352"/>
            <a:ext cx="402336" cy="40233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96112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④True?で批判的に検証</a:t>
            </a:r>
            <a:endParaRPr lang="en-US" sz="1350" dirty="0"/>
          </a:p>
        </p:txBody>
      </p:sp>
      <p:sp>
        <p:nvSpPr>
          <p:cNvPr id="27" name="Text 18"/>
          <p:cNvSpPr txBox="1"/>
          <p:nvPr/>
        </p:nvSpPr>
        <p:spPr>
          <a:xfrm>
            <a:off x="8979408" y="4251960"/>
            <a:ext cx="2203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仮説を「本当にそう言えるか」「反証はないか」で検証し、根拠とリスクを添えて提案する</a:t>
            </a:r>
            <a:endParaRPr lang="en-US" sz="1100" dirty="0"/>
          </a:p>
        </p:txBody>
      </p:sp>
      <p:sp>
        <p:nvSpPr>
          <p:cNvPr id="28" name="Text 19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当日のチェックリスト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8150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459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金融ビジネスモデルの5類型（金利・手数料・運用報酬・リース・プラットフォーム）を即答できるか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87752"/>
            <a:ext cx="548640" cy="54864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711196"/>
            <a:ext cx="301752" cy="30175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54203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「誰が」「何に」「なぜ」お金を払うのか、収益の流れを一言で説明できるか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607308"/>
            <a:ext cx="301752" cy="30175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43814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課題設定→Why so?→施策仮説→True?のループを、時間内に一周できているか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4379976"/>
            <a:ext cx="548640" cy="54864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503420"/>
            <a:ext cx="301752" cy="30175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33425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自分の強み（財務×法務の複眼的な視点）をチーム議論の中でどこで出すかを決めているか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5276088"/>
            <a:ext cx="548640" cy="548640"/>
          </a:xfrm>
          <a:prstGeom prst="ellipse">
            <a:avLst/>
          </a:prstGeom>
          <a:solidFill>
            <a:srgbClr val="EAEBE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5399532"/>
            <a:ext cx="301752" cy="30175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52303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議論の全体像（前提・切り口）をチームで最初に揃えられているか</a:t>
            </a:r>
            <a:endParaRPr lang="en-US" sz="1450" dirty="0"/>
          </a:p>
        </p:txBody>
      </p:sp>
      <p:sp>
        <p:nvSpPr>
          <p:cNvPr id="19" name="Text 1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2026-08-26T12:04:36Z</dcterms:created>
  <dcterms:modified xsi:type="dcterms:W3CDTF">2026-08-26T12:04:36Z</dcterms:modified>
</cp:coreProperties>
</file>